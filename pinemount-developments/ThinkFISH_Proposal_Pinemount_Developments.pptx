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7" r:id="rId101"/>
    <p:sldId id="258" r:id="rId102"/>
    <p:sldId id="259" r:id="rId103"/>
    <p:sldId id="260" r:id="rId104"/>
    <p:sldId id="261" r:id="rId105"/>
    <p:sldId id="262" r:id="rId106"/>
    <p:sldId id="263" r:id="rId107"/>
    <p:sldId id="264" r:id="rId108"/>
    <p:sldId id="265" r:id="rId109"/>
    <p:sldId id="266" r:id="rId110"/>
    <p:sldId id="267" r:id="rId111"/>
    <p:sldId id="268" r:id="rId112"/>
    <p:sldId id="269" r:id="rId113"/>
    <p:sldId id="270" r:id="rId114"/>
    <p:sldId id="271" r:id="rId115"/>
    <p:sldId id="272" r:id="rId116"/>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101" Type="http://schemas.openxmlformats.org/officeDocument/2006/relationships/slide" Target="slides/slide1.xml"/><Relationship Id="rId102" Type="http://schemas.openxmlformats.org/officeDocument/2006/relationships/slide" Target="slides/slide2.xml"/><Relationship Id="rId103" Type="http://schemas.openxmlformats.org/officeDocument/2006/relationships/slide" Target="slides/slide3.xml"/><Relationship Id="rId104" Type="http://schemas.openxmlformats.org/officeDocument/2006/relationships/slide" Target="slides/slide4.xml"/><Relationship Id="rId105" Type="http://schemas.openxmlformats.org/officeDocument/2006/relationships/slide" Target="slides/slide5.xml"/><Relationship Id="rId106" Type="http://schemas.openxmlformats.org/officeDocument/2006/relationships/slide" Target="slides/slide6.xml"/><Relationship Id="rId107" Type="http://schemas.openxmlformats.org/officeDocument/2006/relationships/slide" Target="slides/slide7.xml"/><Relationship Id="rId108" Type="http://schemas.openxmlformats.org/officeDocument/2006/relationships/slide" Target="slides/slide8.xml"/><Relationship Id="rId109" Type="http://schemas.openxmlformats.org/officeDocument/2006/relationships/slide" Target="slides/slide9.xml"/><Relationship Id="rId110" Type="http://schemas.openxmlformats.org/officeDocument/2006/relationships/slide" Target="slides/slide10.xml"/><Relationship Id="rId111" Type="http://schemas.openxmlformats.org/officeDocument/2006/relationships/slide" Target="slides/slide11.xml"/><Relationship Id="rId112" Type="http://schemas.openxmlformats.org/officeDocument/2006/relationships/slide" Target="slides/slide12.xml"/><Relationship Id="rId113" Type="http://schemas.openxmlformats.org/officeDocument/2006/relationships/slide" Target="slides/slide13.xml"/><Relationship Id="rId114" Type="http://schemas.openxmlformats.org/officeDocument/2006/relationships/slide" Target="slides/slide14.xml"/><Relationship Id="rId115" Type="http://schemas.openxmlformats.org/officeDocument/2006/relationships/slide" Target="slides/slide15.xml"/><Relationship Id="rId116" Type="http://schemas.openxmlformats.org/officeDocument/2006/relationships/slide" Target="slides/slide16.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slideLayout" Target="../slideLayouts/slideLayout1.xml"/><Relationship Id="rId20" Type="http://schemas.openxmlformats.org/officeDocument/2006/relationships/image" Target="../media/cover_gradient.jpeg"/><Relationship Id="rId21" Type="http://schemas.openxmlformats.org/officeDocument/2006/relationships/image" Target="../media/cover_ribbon.png"/><Relationship Id="rId22" Type="http://schemas.openxmlformats.org/officeDocument/2006/relationships/image" Target="../media/cover_glow.png"/></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png"/><Relationship Id="rId3"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png"/><Relationship Id="rId3"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image" Target="../media/image-13-2.png"/><Relationship Id="rId3"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a:effectLst/>
      </p:bgPr>
    </p:bg>
    <p:spTree>
      <p:nvGrpSpPr>
        <p:cNvPr id="1" name=""/>
        <p:cNvGrpSpPr/>
        <p:nvPr/>
      </p:nvGrpSpPr>
      <p:grpSpPr>
        <a:xfrm>
          <a:off x="0" y="0"/>
          <a:ext cx="0" cy="0"/>
          <a:chOff x="0" y="0"/>
          <a:chExt cx="0" cy="0"/>
        </a:xfrm>
      </p:grpSpPr>
      <p:pic>
        <p:nvPicPr>
          <p:cNvPr id="300" name="Pic ribbon"/>
          <p:cNvPicPr>
            <a:picLocks noChangeAspect="1"/>
          </p:cNvPicPr>
          <p:nvPr/>
        </p:nvPicPr>
        <p:blipFill>
          <a:blip r:embed="rId21"/>
          <a:srcRect b="17691" l="21282"/>
          <a:stretch>
            <a:fillRect/>
          </a:stretch>
        </p:blipFill>
        <p:spPr>
          <a:xfrm>
            <a:off x="0" y="859536"/>
            <a:ext cx="4937760" cy="5998464"/>
          </a:xfrm>
          <a:prstGeom prst="rect">
            <a:avLst/>
          </a:prstGeom>
        </p:spPr>
      </p:pic>
      <p:pic>
        <p:nvPicPr>
          <p:cNvPr id="301" name="Pic gradient"/>
          <p:cNvPicPr>
            <a:picLocks noChangeAspect="1"/>
          </p:cNvPicPr>
          <p:nvPr/>
        </p:nvPicPr>
        <p:blipFill>
          <a:blip r:embed="rId20">
            <a:alphaModFix amt="37000"/>
          </a:blip>
          <a:srcRect l="4900" r="5000"/>
          <a:stretch>
            <a:fillRect/>
          </a:stretch>
        </p:blipFill>
        <p:spPr>
          <a:xfrm>
            <a:off x="4096512" y="841248"/>
            <a:ext cx="8095183" cy="6016752"/>
          </a:xfrm>
          <a:prstGeom prst="rect">
            <a:avLst/>
          </a:prstGeom>
        </p:spPr>
      </p:pic>
      <p:pic>
        <p:nvPicPr>
          <p:cNvPr id="302" name="Pic glow"/>
          <p:cNvPicPr>
            <a:picLocks noChangeAspect="1"/>
          </p:cNvPicPr>
          <p:nvPr/>
        </p:nvPicPr>
        <p:blipFill>
          <a:blip r:embed="rId22"/>
          <a:srcRect b="21079" l="72900" r="0"/>
          <a:stretch>
            <a:fillRect/>
          </a:stretch>
        </p:blipFill>
        <p:spPr>
          <a:xfrm>
            <a:off x="4096512" y="1106424"/>
            <a:ext cx="1700784" cy="5751576"/>
          </a:xfrm>
          <a:prstGeom prst="rect">
            <a:avLst/>
          </a:prstGeom>
        </p:spPr>
      </p:pic>
      <p:pic>
        <p:nvPicPr>
          <p:cNvPr id="2" name="Image 0" descr="/home/claude/brand/clean/logo_large.png">    </p:cNvPr>
          <p:cNvPicPr>
            <a:picLocks noChangeAspect="1"/>
          </p:cNvPicPr>
          <p:nvPr/>
        </p:nvPicPr>
        <p:blipFill>
          <a:blip r:embed="rId2"/>
          <a:stretch>
            <a:fillRect/>
          </a:stretch>
        </p:blipFill>
        <p:spPr>
          <a:xfrm>
            <a:off x="6818224" y="1280160"/>
            <a:ext cx="2651760" cy="1664208"/>
          </a:xfrm>
          <a:prstGeom prst="rect">
            <a:avLst/>
          </a:prstGeom>
        </p:spPr>
      </p:pic>
      <p:sp>
        <p:nvSpPr>
          <p:cNvPr id="3" name="Text 0"/>
          <p:cNvSpPr/>
          <p:nvPr/>
        </p:nvSpPr>
        <p:spPr>
          <a:xfrm>
            <a:off x="4370832" y="3108960"/>
            <a:ext cx="7546543" cy="868680"/>
          </a:xfrm>
          <a:prstGeom prst="rect">
            <a:avLst/>
          </a:prstGeom>
          <a:noFill/>
          <a:ln/>
        </p:spPr>
        <p:txBody>
          <a:bodyPr wrap="square" lIns="0" tIns="0" rIns="0" bIns="0" rtlCol="0" anchor="ctr"/>
          <a:lstStyle/>
          <a:p>
            <a:pPr algn="ctr" indent="0" marL="0">
              <a:buNone/>
            </a:pPr>
            <a:r>
              <a:rPr lang="en-US" sz="5400" b="1" dirty="0">
                <a:solidFill>
                  <a:srgbClr val="FFFFFF"/>
                </a:solidFill>
                <a:latin typeface="Arial" pitchFamily="34" charset="0"/>
                <a:ea typeface="Arial" pitchFamily="34" charset="-122"/>
                <a:cs typeface="Arial" pitchFamily="34" charset="-120"/>
              </a:rPr>
              <a:t>ThinkFISH</a:t>
            </a:r>
            <a:endParaRPr lang="en-US" sz="5400" dirty="0"/>
          </a:p>
        </p:txBody>
      </p:sp>
      <p:sp>
        <p:nvSpPr>
          <p:cNvPr id="4" name="Text 1"/>
          <p:cNvSpPr/>
          <p:nvPr/>
        </p:nvSpPr>
        <p:spPr>
          <a:xfrm>
            <a:off x="4370832" y="3977640"/>
            <a:ext cx="7546543" cy="320040"/>
          </a:xfrm>
          <a:prstGeom prst="rect">
            <a:avLst/>
          </a:prstGeom>
          <a:noFill/>
          <a:ln/>
        </p:spPr>
        <p:txBody>
          <a:bodyPr wrap="square" lIns="0" tIns="0" rIns="0" bIns="0" rtlCol="0" anchor="ctr"/>
          <a:lstStyle/>
          <a:p>
            <a:pPr algn="ctr" indent="0" marL="0">
              <a:buNone/>
            </a:pPr>
            <a:r>
              <a:rPr lang="en-US" sz="1800" b="1" spc="300" kern="0" dirty="0">
                <a:solidFill>
                  <a:srgbClr val="FFFFFF"/>
                </a:solidFill>
                <a:latin typeface="Arial" pitchFamily="34" charset="0"/>
                <a:ea typeface="Arial" pitchFamily="34" charset="-122"/>
                <a:cs typeface="Arial" pitchFamily="34" charset="-120"/>
              </a:rPr>
              <a:t>&lt;&gt;&lt;</a:t>
            </a:r>
            <a:endParaRPr lang="en-US" sz="1800" dirty="0"/>
          </a:p>
        </p:txBody>
      </p:sp>
      <p:sp>
        <p:nvSpPr>
          <p:cNvPr id="5" name="Text 2"/>
          <p:cNvSpPr/>
          <p:nvPr/>
        </p:nvSpPr>
        <p:spPr>
          <a:xfrm>
            <a:off x="4370832" y="4407408"/>
            <a:ext cx="7546543" cy="502920"/>
          </a:xfrm>
          <a:prstGeom prst="rect">
            <a:avLst/>
          </a:prstGeom>
          <a:noFill/>
          <a:ln/>
        </p:spPr>
        <p:txBody>
          <a:bodyPr wrap="square" lIns="0" tIns="0" rIns="0" bIns="0" rtlCol="0" anchor="ctr"/>
          <a:lstStyle/>
          <a:p>
            <a:pPr algn="ctr" indent="0" marL="0">
              <a:buNone/>
            </a:pPr>
            <a:r>
              <a:rPr lang="en-US" sz="2800" dirty="0">
                <a:solidFill>
                  <a:srgbClr val="FFFFFF"/>
                </a:solidFill>
                <a:latin typeface="Arial" pitchFamily="34" charset="0"/>
                <a:ea typeface="Arial" pitchFamily="34" charset="-122"/>
                <a:cs typeface="Arial" pitchFamily="34" charset="-120"/>
              </a:rPr>
              <a:t>Pinemount Developments Ltd.</a:t>
            </a:r>
            <a:endParaRPr lang="en-US" sz="2800" dirty="0"/>
          </a:p>
        </p:txBody>
      </p:sp>
      <p:sp>
        <p:nvSpPr>
          <p:cNvPr id="6" name="Text 3"/>
          <p:cNvSpPr/>
          <p:nvPr/>
        </p:nvSpPr>
        <p:spPr>
          <a:xfrm>
            <a:off x="4370832" y="5074920"/>
            <a:ext cx="7546543" cy="640080"/>
          </a:xfrm>
          <a:prstGeom prst="rect">
            <a:avLst/>
          </a:prstGeom>
          <a:noFill/>
          <a:ln/>
        </p:spPr>
        <p:txBody>
          <a:bodyPr wrap="square" lIns="0" tIns="0" rIns="0" bIns="0" rtlCol="0" anchor="ctr"/>
          <a:lstStyle/>
          <a:p>
            <a:pPr algn="ctr" indent="0" marL="0">
              <a:buNone/>
            </a:pPr>
            <a:r>
              <a:rPr lang="en-US" sz="1300" dirty="0">
                <a:solidFill>
                  <a:srgbClr val="B9BEDC"/>
                </a:solidFill>
                <a:latin typeface="Arial" pitchFamily="34" charset="0"/>
                <a:ea typeface="Arial" pitchFamily="34" charset="-122"/>
                <a:cs typeface="Arial" pitchFamily="34" charset="-120"/>
              </a:rPr>
              <a:t>Investor Outreach Proposal  ·  September 2026</a:t>
            </a:r>
            <a:endParaRPr lang="en-US" sz="1300" dirty="0"/>
          </a:p>
          <a:p>
            <a:pPr algn="ctr" indent="0" marL="0">
              <a:buNone/>
            </a:pPr>
            <a:r>
              <a:rPr lang="en-US" sz="1300" dirty="0">
                <a:solidFill>
                  <a:srgbClr val="B9BEDC"/>
                </a:solidFill>
                <a:latin typeface="Arial" pitchFamily="34" charset="0"/>
                <a:ea typeface="Arial" pitchFamily="34" charset="-122"/>
                <a:cs typeface="Arial" pitchFamily="34" charset="-120"/>
              </a:rPr>
              <a:t>Prepared for Moshin Sheri</a:t>
            </a:r>
            <a:endParaRPr lang="en-US" sz="1300" dirty="0"/>
          </a:p>
        </p:txBody>
      </p:sp>
      <p:sp>
        <p:nvSpPr>
          <p:cNvPr id="303" name="Text hdr"/>
          <p:cNvSpPr/>
          <p:nvPr/>
        </p:nvSpPr>
        <p:spPr>
          <a:xfrm>
            <a:off x="329184" y="365760"/>
            <a:ext cx="5486400" cy="365760"/>
          </a:xfrm>
          <a:prstGeom prst="rect">
            <a:avLst/>
          </a:prstGeom>
          <a:noFill/>
          <a:ln/>
        </p:spPr>
        <p:txBody>
          <a:bodyPr wrap="square" lIns="0" tIns="0" rIns="0" bIns="0" rtlCol="0" anchor="ctr"/>
          <a:lstStyle/>
          <a:p>
            <a:pPr indent="0" marL="0">
              <a:buNone/>
            </a:pPr>
            <a:r>
              <a:rPr lang="en-US" sz="1500" spc="200" kern="0" dirty="0">
                <a:solidFill>
                  <a:srgbClr val="FFFFFF"/>
                </a:solidFill>
                <a:latin typeface="Arial" pitchFamily="34" charset="0"/>
                <a:ea typeface="Arial" pitchFamily="34" charset="-122"/>
                <a:cs typeface="Arial" pitchFamily="34" charset="-120"/>
              </a:rPr>
              <a:t>THINKFISH LLC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Executive Summary</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ASK, THE PLAN, THE INVESTMENT, WHAT TO EXPECT</a:t>
            </a:r>
            <a:endParaRPr lang="en-US" sz="1400" dirty="0"/>
          </a:p>
        </p:txBody>
      </p:sp>
      <p:sp>
        <p:nvSpPr>
          <p:cNvPr id="6" name="Shape 3"/>
          <p:cNvSpPr/>
          <p:nvPr/>
        </p:nvSpPr>
        <p:spPr>
          <a:xfrm>
            <a:off x="566928"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7" name="Text 4"/>
          <p:cNvSpPr/>
          <p:nvPr/>
        </p:nvSpPr>
        <p:spPr>
          <a:xfrm>
            <a:off x="795528"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ASK</a:t>
            </a:r>
            <a:endParaRPr lang="en-US" sz="1400" dirty="0"/>
          </a:p>
        </p:txBody>
      </p:sp>
      <p:sp>
        <p:nvSpPr>
          <p:cNvPr id="8" name="Text 5"/>
          <p:cNvSpPr/>
          <p:nvPr/>
        </p:nvSpPr>
        <p:spPr>
          <a:xfrm>
            <a:off x="795528" y="2651760"/>
            <a:ext cx="3136392" cy="16002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About $5.5M in new equity across two purpose-built rental projects in Peterborough and Scarborough, each over $100M in project cost: roughly $3.5M within 6–8 months and $2M in about four, the top-ups needed to close CMHC-backed construction financing. Beyond these two, a wider bench of investors for the two to three raises Pinemount runs every year.</a:t>
            </a:r>
            <a:endParaRPr lang="en-US" sz="1050" dirty="0"/>
          </a:p>
        </p:txBody>
      </p:sp>
      <p:sp>
        <p:nvSpPr>
          <p:cNvPr id="9" name="Shape 6"/>
          <p:cNvSpPr/>
          <p:nvPr/>
        </p:nvSpPr>
        <p:spPr>
          <a:xfrm>
            <a:off x="4434840"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0" name="Text 7"/>
          <p:cNvSpPr/>
          <p:nvPr/>
        </p:nvSpPr>
        <p:spPr>
          <a:xfrm>
            <a:off x="4663440"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PLAN</a:t>
            </a:r>
            <a:endParaRPr lang="en-US" sz="1400" dirty="0"/>
          </a:p>
        </p:txBody>
      </p:sp>
      <p:sp>
        <p:nvSpPr>
          <p:cNvPr id="11" name="Text 8"/>
          <p:cNvSpPr/>
          <p:nvPr/>
        </p:nvSpPr>
        <p:spPr>
          <a:xfrm>
            <a:off x="4663440" y="2651760"/>
            <a:ext cx="3136392" cy="16002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Two LinkedIn profiles, Moshin’s and your new IR rep’s, run end to end by ThinkFISH in your voice. Targeting accredited and high-net-worth investors, family offices and business owners with a history in private real estate, plus pre-booked meetings at the events your IR rep attends. Every meeting pre-qualified and approved by you; your team closes.</a:t>
            </a:r>
            <a:endParaRPr lang="en-US" sz="1050" dirty="0"/>
          </a:p>
        </p:txBody>
      </p:sp>
      <p:sp>
        <p:nvSpPr>
          <p:cNvPr id="12" name="Shape 9"/>
          <p:cNvSpPr/>
          <p:nvPr/>
        </p:nvSpPr>
        <p:spPr>
          <a:xfrm>
            <a:off x="8302752"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INVESTMENT</a:t>
            </a:r>
            <a:endParaRPr lang="en-US" sz="1400" dirty="0"/>
          </a:p>
        </p:txBody>
      </p:sp>
      <p:sp>
        <p:nvSpPr>
          <p:cNvPr id="14" name="Text 11"/>
          <p:cNvSpPr/>
          <p:nvPr/>
        </p:nvSpPr>
        <p:spPr>
          <a:xfrm>
            <a:off x="8531352" y="2651760"/>
            <a:ext cx="3136392" cy="16002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$3,000 USD per month, flat, for both profiles. Six-month term with a three-month opt-out. Covers both raises. No setup fee, no success fee, no commission, no carve-out of the equity you’ve already raised, no transaction involvement.</a:t>
            </a:r>
            <a:endParaRPr lang="en-US" sz="1050" dirty="0"/>
          </a:p>
        </p:txBody>
      </p:sp>
      <p:sp>
        <p:nvSpPr>
          <p:cNvPr id="15" name="Shape 12"/>
          <p:cNvSpPr/>
          <p:nvPr/>
        </p:nvSpPr>
        <p:spPr>
          <a:xfrm>
            <a:off x="566928" y="4663440"/>
            <a:ext cx="11338560" cy="1691640"/>
          </a:xfrm>
          <a:prstGeom prst="roundRect">
            <a:avLst>
              <a:gd name="adj" fmla="val 4865"/>
            </a:avLst>
          </a:prstGeom>
          <a:solidFill>
            <a:srgbClr val="0D0D26">
              <a:alpha val="55000"/>
            </a:srgbClr>
          </a:solidFill>
          <a:ln w="9525">
            <a:solidFill>
              <a:srgbClr val="31316A">
                <a:alpha val="75000"/>
              </a:srgbClr>
            </a:solidFill>
            <a:prstDash val="solid"/>
          </a:ln>
        </p:spPr>
      </p:sp>
      <p:sp>
        <p:nvSpPr>
          <p:cNvPr id="16" name="Text 13"/>
          <p:cNvSpPr/>
          <p:nvPr/>
        </p:nvSpPr>
        <p:spPr>
          <a:xfrm>
            <a:off x="795528" y="4828032"/>
            <a:ext cx="8229600" cy="320040"/>
          </a:xfrm>
          <a:prstGeom prst="rect">
            <a:avLst/>
          </a:prstGeom>
          <a:noFill/>
          <a:ln/>
        </p:spPr>
        <p:txBody>
          <a:bodyPr wrap="square" lIns="0" tIns="0" rIns="0" bIns="0" rtlCol="0" anchor="ctr"/>
          <a:lstStyle/>
          <a:p>
            <a:pPr indent="0" marL="0">
              <a:buNone/>
            </a:pPr>
            <a:r>
              <a:rPr lang="en-US" sz="1400" b="1" spc="100" kern="0" dirty="0">
                <a:solidFill>
                  <a:srgbClr val="7C6CFF"/>
                </a:solidFill>
                <a:latin typeface="Arial" pitchFamily="34" charset="0"/>
                <a:ea typeface="Arial" pitchFamily="34" charset="-122"/>
                <a:cs typeface="Arial" pitchFamily="34" charset="-120"/>
              </a:rPr>
              <a:t>WHAT TO EXPECT</a:t>
            </a:r>
            <a:endParaRPr lang="en-US" sz="1400" dirty="0"/>
          </a:p>
        </p:txBody>
      </p:sp>
      <p:sp>
        <p:nvSpPr>
          <p:cNvPr id="17" name="Text 14"/>
          <p:cNvSpPr/>
          <p:nvPr/>
        </p:nvSpPr>
        <p:spPr>
          <a:xfrm>
            <a:off x="795528" y="5175504"/>
            <a:ext cx="10881360" cy="1051560"/>
          </a:xfrm>
          <a:prstGeom prst="rect">
            <a:avLst/>
          </a:prstGeom>
          <a:noFill/>
          <a:ln/>
        </p:spPr>
        <p:txBody>
          <a:bodyPr wrap="square" lIns="0" tIns="0" rIns="0" bIns="0" rtlCol="0" anchor="t"/>
          <a:lstStyle/>
          <a:p>
            <a:pPr indent="0" marL="0">
              <a:lnSpc>
                <a:spcPct val="120000"/>
              </a:lnSpc>
              <a:buNone/>
            </a:pPr>
            <a:r>
              <a:rPr lang="en-US" sz="1200" dirty="0">
                <a:solidFill>
                  <a:srgbClr val="FFFFFF"/>
                </a:solidFill>
                <a:latin typeface="Arial" pitchFamily="34" charset="0"/>
                <a:ea typeface="Arial" pitchFamily="34" charset="-122"/>
                <a:cs typeface="Arial" pitchFamily="34" charset="-120"/>
              </a:rPr>
              <a:t>Outreach live within two weeks of kickoff and the full flow from about day 30: 2–4 qualified meetings per week across both profiles, weekly reporting and a data-driven checkpoint in December. One honest note for ownership: raises historically take 6–12 months from first outreach to capital in the bank. Your track record helps, but a new investor still needs time to diligence a new sponsor, so new relationships are most likely to land in the $3.5M raise and the ones after it. For the $2M due in four months, your existing investors and EMD partners stay the backstop.</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Why ThinkFISH</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TRACK RECORD, BEFORE THE PROCESS</a:t>
            </a:r>
            <a:endParaRPr lang="en-US" sz="1400" dirty="0"/>
          </a:p>
        </p:txBody>
      </p:sp>
      <p:sp>
        <p:nvSpPr>
          <p:cNvPr id="6" name="Shape 3"/>
          <p:cNvSpPr/>
          <p:nvPr/>
        </p:nvSpPr>
        <p:spPr>
          <a:xfrm>
            <a:off x="566928" y="2103120"/>
            <a:ext cx="3593592" cy="960120"/>
          </a:xfrm>
          <a:prstGeom prst="roundRect">
            <a:avLst>
              <a:gd name="adj" fmla="val 8571"/>
            </a:avLst>
          </a:prstGeom>
          <a:solidFill>
            <a:srgbClr val="0D0D26">
              <a:alpha val="55000"/>
            </a:srgbClr>
          </a:solidFill>
          <a:ln w="9525">
            <a:solidFill>
              <a:srgbClr val="31316A">
                <a:alpha val="75000"/>
              </a:srgbClr>
            </a:solidFill>
            <a:prstDash val="solid"/>
          </a:ln>
        </p:spPr>
      </p:sp>
      <p:sp>
        <p:nvSpPr>
          <p:cNvPr id="7" name="Text 4"/>
          <p:cNvSpPr/>
          <p:nvPr/>
        </p:nvSpPr>
        <p:spPr>
          <a:xfrm>
            <a:off x="795528" y="2212848"/>
            <a:ext cx="1554480" cy="731520"/>
          </a:xfrm>
          <a:prstGeom prst="rect">
            <a:avLst/>
          </a:prstGeom>
          <a:noFill/>
          <a:ln/>
        </p:spPr>
        <p:txBody>
          <a:bodyPr wrap="square" lIns="0" tIns="0" rIns="0" bIns="0" rtlCol="0" anchor="ctr"/>
          <a:lstStyle/>
          <a:p>
            <a:pPr indent="0" marL="0">
              <a:buNone/>
            </a:pPr>
            <a:r>
              <a:rPr lang="en-US" sz="2400" b="1" dirty="0">
                <a:solidFill>
                  <a:srgbClr val="43D5FF"/>
                </a:solidFill>
                <a:latin typeface="Arial" pitchFamily="34" charset="0"/>
                <a:ea typeface="Arial" pitchFamily="34" charset="-122"/>
                <a:cs typeface="Arial" pitchFamily="34" charset="-120"/>
              </a:rPr>
              <a:t>$200M+</a:t>
            </a:r>
            <a:endParaRPr lang="en-US" sz="2400" dirty="0"/>
          </a:p>
        </p:txBody>
      </p:sp>
      <p:sp>
        <p:nvSpPr>
          <p:cNvPr id="8" name="Text 5"/>
          <p:cNvSpPr/>
          <p:nvPr/>
        </p:nvSpPr>
        <p:spPr>
          <a:xfrm>
            <a:off x="2350008" y="2212848"/>
            <a:ext cx="1581912" cy="731520"/>
          </a:xfrm>
          <a:prstGeom prst="rect">
            <a:avLst/>
          </a:prstGeom>
          <a:noFill/>
          <a:ln/>
        </p:spPr>
        <p:txBody>
          <a:bodyPr wrap="square" lIns="0" tIns="0" rIns="0" bIns="0" rtlCol="0" anchor="ctr"/>
          <a:lstStyle/>
          <a:p>
            <a:pPr indent="0" marL="0">
              <a:lnSpc>
                <a:spcPct val="110000"/>
              </a:lnSpc>
              <a:buNone/>
            </a:pPr>
            <a:r>
              <a:rPr lang="en-US" sz="1050" dirty="0">
                <a:solidFill>
                  <a:srgbClr val="FFFFFF"/>
                </a:solidFill>
                <a:latin typeface="Arial" pitchFamily="34" charset="0"/>
                <a:ea typeface="Arial" pitchFamily="34" charset="-122"/>
                <a:cs typeface="Arial" pitchFamily="34" charset="-120"/>
              </a:rPr>
              <a:t>client-reported capital raised</a:t>
            </a:r>
            <a:endParaRPr lang="en-US" sz="1050" dirty="0"/>
          </a:p>
        </p:txBody>
      </p:sp>
      <p:sp>
        <p:nvSpPr>
          <p:cNvPr id="9" name="Shape 6"/>
          <p:cNvSpPr/>
          <p:nvPr/>
        </p:nvSpPr>
        <p:spPr>
          <a:xfrm>
            <a:off x="4434840" y="2103120"/>
            <a:ext cx="3593592" cy="960120"/>
          </a:xfrm>
          <a:prstGeom prst="roundRect">
            <a:avLst>
              <a:gd name="adj" fmla="val 8571"/>
            </a:avLst>
          </a:prstGeom>
          <a:solidFill>
            <a:srgbClr val="0D0D26">
              <a:alpha val="55000"/>
            </a:srgbClr>
          </a:solidFill>
          <a:ln w="9525">
            <a:solidFill>
              <a:srgbClr val="31316A">
                <a:alpha val="75000"/>
              </a:srgbClr>
            </a:solidFill>
            <a:prstDash val="solid"/>
          </a:ln>
        </p:spPr>
      </p:sp>
      <p:sp>
        <p:nvSpPr>
          <p:cNvPr id="10" name="Text 7"/>
          <p:cNvSpPr/>
          <p:nvPr/>
        </p:nvSpPr>
        <p:spPr>
          <a:xfrm>
            <a:off x="4663440" y="2212848"/>
            <a:ext cx="1554480" cy="731520"/>
          </a:xfrm>
          <a:prstGeom prst="rect">
            <a:avLst/>
          </a:prstGeom>
          <a:noFill/>
          <a:ln/>
        </p:spPr>
        <p:txBody>
          <a:bodyPr wrap="square" lIns="0" tIns="0" rIns="0" bIns="0" rtlCol="0" anchor="ctr"/>
          <a:lstStyle/>
          <a:p>
            <a:pPr indent="0" marL="0">
              <a:buNone/>
            </a:pPr>
            <a:r>
              <a:rPr lang="en-US" sz="2400" b="1" dirty="0">
                <a:solidFill>
                  <a:srgbClr val="43D5FF"/>
                </a:solidFill>
                <a:latin typeface="Arial" pitchFamily="34" charset="0"/>
                <a:ea typeface="Arial" pitchFamily="34" charset="-122"/>
                <a:cs typeface="Arial" pitchFamily="34" charset="-120"/>
              </a:rPr>
              <a:t>10,000+</a:t>
            </a:r>
            <a:endParaRPr lang="en-US" sz="2400" dirty="0"/>
          </a:p>
        </p:txBody>
      </p:sp>
      <p:sp>
        <p:nvSpPr>
          <p:cNvPr id="11" name="Text 8"/>
          <p:cNvSpPr/>
          <p:nvPr/>
        </p:nvSpPr>
        <p:spPr>
          <a:xfrm>
            <a:off x="6217920" y="2212848"/>
            <a:ext cx="1581912" cy="731520"/>
          </a:xfrm>
          <a:prstGeom prst="rect">
            <a:avLst/>
          </a:prstGeom>
          <a:noFill/>
          <a:ln/>
        </p:spPr>
        <p:txBody>
          <a:bodyPr wrap="square" lIns="0" tIns="0" rIns="0" bIns="0" rtlCol="0" anchor="ctr"/>
          <a:lstStyle/>
          <a:p>
            <a:pPr indent="0" marL="0">
              <a:lnSpc>
                <a:spcPct val="110000"/>
              </a:lnSpc>
              <a:buNone/>
            </a:pPr>
            <a:r>
              <a:rPr lang="en-US" sz="1050" dirty="0">
                <a:solidFill>
                  <a:srgbClr val="FFFFFF"/>
                </a:solidFill>
                <a:latin typeface="Arial" pitchFamily="34" charset="0"/>
                <a:ea typeface="Arial" pitchFamily="34" charset="-122"/>
                <a:cs typeface="Arial" pitchFamily="34" charset="-120"/>
              </a:rPr>
              <a:t>qualified investor meetings booked</a:t>
            </a:r>
            <a:endParaRPr lang="en-US" sz="1050" dirty="0"/>
          </a:p>
        </p:txBody>
      </p:sp>
      <p:sp>
        <p:nvSpPr>
          <p:cNvPr id="12" name="Shape 9"/>
          <p:cNvSpPr/>
          <p:nvPr/>
        </p:nvSpPr>
        <p:spPr>
          <a:xfrm>
            <a:off x="8302752" y="2103120"/>
            <a:ext cx="3593592" cy="960120"/>
          </a:xfrm>
          <a:prstGeom prst="roundRect">
            <a:avLst>
              <a:gd name="adj" fmla="val 8571"/>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212848"/>
            <a:ext cx="1554480" cy="731520"/>
          </a:xfrm>
          <a:prstGeom prst="rect">
            <a:avLst/>
          </a:prstGeom>
          <a:noFill/>
          <a:ln/>
        </p:spPr>
        <p:txBody>
          <a:bodyPr wrap="square" lIns="0" tIns="0" rIns="0" bIns="0" rtlCol="0" anchor="ctr"/>
          <a:lstStyle/>
          <a:p>
            <a:pPr indent="0" marL="0">
              <a:buNone/>
            </a:pPr>
            <a:r>
              <a:rPr lang="en-US" sz="2400" b="1" dirty="0">
                <a:solidFill>
                  <a:srgbClr val="43D5FF"/>
                </a:solidFill>
                <a:latin typeface="Arial" pitchFamily="34" charset="0"/>
                <a:ea typeface="Arial" pitchFamily="34" charset="-122"/>
                <a:cs typeface="Arial" pitchFamily="34" charset="-120"/>
              </a:rPr>
              <a:t>500+</a:t>
            </a:r>
            <a:endParaRPr lang="en-US" sz="2400" dirty="0"/>
          </a:p>
        </p:txBody>
      </p:sp>
      <p:sp>
        <p:nvSpPr>
          <p:cNvPr id="14" name="Text 11"/>
          <p:cNvSpPr/>
          <p:nvPr/>
        </p:nvSpPr>
        <p:spPr>
          <a:xfrm>
            <a:off x="10085832" y="2212848"/>
            <a:ext cx="1581912" cy="731520"/>
          </a:xfrm>
          <a:prstGeom prst="rect">
            <a:avLst/>
          </a:prstGeom>
          <a:noFill/>
          <a:ln/>
        </p:spPr>
        <p:txBody>
          <a:bodyPr wrap="square" lIns="0" tIns="0" rIns="0" bIns="0" rtlCol="0" anchor="ctr"/>
          <a:lstStyle/>
          <a:p>
            <a:pPr indent="0" marL="0">
              <a:lnSpc>
                <a:spcPct val="110000"/>
              </a:lnSpc>
              <a:buNone/>
            </a:pPr>
            <a:r>
              <a:rPr lang="en-US" sz="1050" dirty="0">
                <a:solidFill>
                  <a:srgbClr val="FFFFFF"/>
                </a:solidFill>
                <a:latin typeface="Arial" pitchFamily="34" charset="0"/>
                <a:ea typeface="Arial" pitchFamily="34" charset="-122"/>
                <a:cs typeface="Arial" pitchFamily="34" charset="-120"/>
              </a:rPr>
              <a:t>clients served since 2020</a:t>
            </a:r>
            <a:endParaRPr lang="en-US" sz="1050" dirty="0"/>
          </a:p>
        </p:txBody>
      </p:sp>
      <p:sp>
        <p:nvSpPr>
          <p:cNvPr id="15" name="Shape 12"/>
          <p:cNvSpPr/>
          <p:nvPr/>
        </p:nvSpPr>
        <p:spPr>
          <a:xfrm>
            <a:off x="566928" y="3291840"/>
            <a:ext cx="5532120" cy="1920240"/>
          </a:xfrm>
          <a:prstGeom prst="roundRect">
            <a:avLst>
              <a:gd name="adj" fmla="val 4286"/>
            </a:avLst>
          </a:prstGeom>
          <a:solidFill>
            <a:srgbClr val="0D0D26">
              <a:alpha val="55000"/>
            </a:srgbClr>
          </a:solidFill>
          <a:ln w="9525">
            <a:solidFill>
              <a:srgbClr val="31316A">
                <a:alpha val="75000"/>
              </a:srgbClr>
            </a:solidFill>
            <a:prstDash val="solid"/>
          </a:ln>
        </p:spPr>
      </p:sp>
      <p:sp>
        <p:nvSpPr>
          <p:cNvPr id="18" name="Shape 15"/>
          <p:cNvSpPr/>
          <p:nvPr/>
        </p:nvSpPr>
        <p:spPr>
          <a:xfrm>
            <a:off x="6373368" y="3291840"/>
            <a:ext cx="5532120" cy="1920240"/>
          </a:xfrm>
          <a:prstGeom prst="roundRect">
            <a:avLst>
              <a:gd name="adj" fmla="val 4286"/>
            </a:avLst>
          </a:prstGeom>
          <a:solidFill>
            <a:srgbClr val="0D0D26">
              <a:alpha val="55000"/>
            </a:srgbClr>
          </a:solidFill>
          <a:ln w="9525">
            <a:solidFill>
              <a:srgbClr val="31316A">
                <a:alpha val="75000"/>
              </a:srgbClr>
            </a:solidFill>
            <a:prstDash val="solid"/>
          </a:ln>
        </p:spPr>
      </p:sp>
      <p:sp>
        <p:nvSpPr>
          <p:cNvPr id="21" name="Shape 18"/>
          <p:cNvSpPr/>
          <p:nvPr/>
        </p:nvSpPr>
        <p:spPr>
          <a:xfrm>
            <a:off x="566928" y="5440680"/>
            <a:ext cx="11338560" cy="1005840"/>
          </a:xfrm>
          <a:prstGeom prst="roundRect">
            <a:avLst>
              <a:gd name="adj" fmla="val 8182"/>
            </a:avLst>
          </a:prstGeom>
          <a:solidFill>
            <a:srgbClr val="0D0D26">
              <a:alpha val="55000"/>
            </a:srgbClr>
          </a:solidFill>
          <a:ln w="9525">
            <a:solidFill>
              <a:srgbClr val="31316A">
                <a:alpha val="75000"/>
              </a:srgbClr>
            </a:solidFill>
            <a:prstDash val="solid"/>
          </a:ln>
        </p:spPr>
      </p:sp>
      <p:sp>
        <p:nvSpPr>
          <p:cNvPr id="304" name="Text w0"/>
          <p:cNvSpPr/>
          <p:nvPr/>
        </p:nvSpPr>
        <p:spPr>
          <a:xfrm>
            <a:off x="822960" y="3419856"/>
            <a:ext cx="5029200" cy="256032"/>
          </a:xfrm>
          <a:prstGeom prst="rect">
            <a:avLst/>
          </a:prstGeom>
          <a:noFill/>
          <a:ln/>
        </p:spPr>
        <p:txBody>
          <a:bodyPr wrap="square" lIns="0" tIns="0" rIns="0" bIns="0" rtlCol="0" anchor="ctr"/>
          <a:lstStyle/>
          <a:p>
            <a:pPr indent="0" marL="0">
              <a:buNone/>
            </a:pPr>
            <a:r>
              <a:rPr lang="en-US" sz="1100" b="1" spc="100" kern="0" dirty="0">
                <a:solidFill>
                  <a:srgbClr val="7C6CFF"/>
                </a:solidFill>
                <a:latin typeface="Arial" pitchFamily="34" charset="0"/>
                <a:ea typeface="Arial" pitchFamily="34" charset="-122"/>
                <a:cs typeface="Arial" pitchFamily="34" charset="-120"/>
              </a:rPr>
              <a:t>ISSUANCE  ·  DARREN MARBLE, CEO</a:t>
            </a:r>
            <a:endParaRPr lang="en-US" sz="1100" dirty="0"/>
          </a:p>
        </p:txBody>
      </p:sp>
      <p:sp>
        <p:nvSpPr>
          <p:cNvPr id="305" name="Text q0"/>
          <p:cNvSpPr/>
          <p:nvPr/>
        </p:nvSpPr>
        <p:spPr>
          <a:xfrm>
            <a:off x="822960" y="3712464"/>
            <a:ext cx="5029200" cy="1143000"/>
          </a:xfrm>
          <a:prstGeom prst="rect">
            <a:avLst/>
          </a:prstGeom>
          <a:noFill/>
          <a:ln/>
        </p:spPr>
        <p:txBody>
          <a:bodyPr wrap="square" lIns="0" tIns="0" rIns="0" bIns="0" rtlCol="0" anchor="t"/>
          <a:lstStyle/>
          <a:p>
            <a:pPr indent="0" marL="0">
              <a:lnSpc>
                <a:spcPct val="120000"/>
              </a:lnSpc>
              <a:buNone/>
            </a:pPr>
            <a:r>
              <a:rPr lang="en-US" sz="1200" i="1" dirty="0">
                <a:solidFill>
                  <a:srgbClr val="FFFFFF"/>
                </a:solidFill>
                <a:latin typeface="Arial" pitchFamily="34" charset="0"/>
                <a:ea typeface="Arial" pitchFamily="34" charset="-122"/>
                <a:cs typeface="Arial" pitchFamily="34" charset="-120"/>
              </a:rPr>
              <a:t>“…one of the most effective investor marketing firms I’ve ever worked with when it comes to raising capital for my companies. In the last 60 days alone, FISH has arranged 25 qualified investor meetings for me.”</a:t>
            </a:r>
            <a:endParaRPr lang="en-US" sz="1200" dirty="0"/>
          </a:p>
        </p:txBody>
      </p:sp>
      <p:sp>
        <p:nvSpPr>
          <p:cNvPr id="306" name="Text r0"/>
          <p:cNvSpPr/>
          <p:nvPr/>
        </p:nvSpPr>
        <p:spPr>
          <a:xfrm>
            <a:off x="822960" y="4864608"/>
            <a:ext cx="5029200" cy="256032"/>
          </a:xfrm>
          <a:prstGeom prst="rect">
            <a:avLst/>
          </a:prstGeom>
          <a:noFill/>
          <a:ln/>
        </p:spPr>
        <p:txBody>
          <a:bodyPr wrap="square" lIns="0" tIns="0" rIns="0" bIns="0" rtlCol="0" anchor="ctr"/>
          <a:lstStyle/>
          <a:p>
            <a:pPr indent="0" marL="0">
              <a:buNone/>
            </a:pPr>
            <a:r>
              <a:rPr lang="en-US" sz="1050" b="1" dirty="0">
                <a:solidFill>
                  <a:srgbClr val="43D5FF"/>
                </a:solidFill>
                <a:latin typeface="Arial" pitchFamily="34" charset="0"/>
                <a:ea typeface="Arial" pitchFamily="34" charset="-122"/>
                <a:cs typeface="Arial" pitchFamily="34" charset="-120"/>
              </a:rPr>
              <a:t>25 QUALIFIED INVESTOR MEETINGS IN 60 DAYS</a:t>
            </a:r>
            <a:endParaRPr lang="en-US" sz="1050" dirty="0"/>
          </a:p>
        </p:txBody>
      </p:sp>
      <p:sp>
        <p:nvSpPr>
          <p:cNvPr id="307" name="Text w1"/>
          <p:cNvSpPr/>
          <p:nvPr/>
        </p:nvSpPr>
        <p:spPr>
          <a:xfrm>
            <a:off x="6629400" y="3419856"/>
            <a:ext cx="5029200" cy="256032"/>
          </a:xfrm>
          <a:prstGeom prst="rect">
            <a:avLst/>
          </a:prstGeom>
          <a:noFill/>
          <a:ln/>
        </p:spPr>
        <p:txBody>
          <a:bodyPr wrap="square" lIns="0" tIns="0" rIns="0" bIns="0" rtlCol="0" anchor="ctr"/>
          <a:lstStyle/>
          <a:p>
            <a:pPr indent="0" marL="0">
              <a:buNone/>
            </a:pPr>
            <a:r>
              <a:rPr lang="en-US" sz="1100" b="1" spc="100" kern="0" dirty="0">
                <a:solidFill>
                  <a:srgbClr val="7C6CFF"/>
                </a:solidFill>
                <a:latin typeface="Arial" pitchFamily="34" charset="0"/>
                <a:ea typeface="Arial" pitchFamily="34" charset="-122"/>
                <a:cs typeface="Arial" pitchFamily="34" charset="-120"/>
              </a:rPr>
              <a:t>CARTHAGE CAPITAL  ·  STEPHEN WU</a:t>
            </a:r>
            <a:endParaRPr lang="en-US" sz="1100" dirty="0"/>
          </a:p>
        </p:txBody>
      </p:sp>
      <p:sp>
        <p:nvSpPr>
          <p:cNvPr id="308" name="Text q1"/>
          <p:cNvSpPr/>
          <p:nvPr/>
        </p:nvSpPr>
        <p:spPr>
          <a:xfrm>
            <a:off x="6629400" y="3712464"/>
            <a:ext cx="5029200" cy="1143000"/>
          </a:xfrm>
          <a:prstGeom prst="rect">
            <a:avLst/>
          </a:prstGeom>
          <a:noFill/>
          <a:ln/>
        </p:spPr>
        <p:txBody>
          <a:bodyPr wrap="square" lIns="0" tIns="0" rIns="0" bIns="0" rtlCol="0" anchor="t"/>
          <a:lstStyle/>
          <a:p>
            <a:pPr indent="0" marL="0">
              <a:lnSpc>
                <a:spcPct val="120000"/>
              </a:lnSpc>
              <a:buNone/>
            </a:pPr>
            <a:r>
              <a:rPr lang="en-US" sz="1200" i="1" dirty="0">
                <a:solidFill>
                  <a:srgbClr val="FFFFFF"/>
                </a:solidFill>
                <a:latin typeface="Arial" pitchFamily="34" charset="0"/>
                <a:ea typeface="Arial" pitchFamily="34" charset="-122"/>
                <a:cs typeface="Arial" pitchFamily="34" charset="-120"/>
              </a:rPr>
              <a:t>“ThinkFISH helped me raise $2 to $3 million across around 20 different investors over the past nine months. I basically got two to three meetings every week, consistently, and they’re already interested. I was going to cancel after a quarter if you didn’t deliver. You delivered way above my expectations.”</a:t>
            </a:r>
            <a:endParaRPr lang="en-US" sz="1200" dirty="0"/>
          </a:p>
        </p:txBody>
      </p:sp>
      <p:sp>
        <p:nvSpPr>
          <p:cNvPr id="309" name="Text r1"/>
          <p:cNvSpPr/>
          <p:nvPr/>
        </p:nvSpPr>
        <p:spPr>
          <a:xfrm>
            <a:off x="6629400" y="4864608"/>
            <a:ext cx="5029200" cy="256032"/>
          </a:xfrm>
          <a:prstGeom prst="rect">
            <a:avLst/>
          </a:prstGeom>
          <a:noFill/>
          <a:ln/>
        </p:spPr>
        <p:txBody>
          <a:bodyPr wrap="square" lIns="0" tIns="0" rIns="0" bIns="0" rtlCol="0" anchor="ctr"/>
          <a:lstStyle/>
          <a:p>
            <a:pPr indent="0" marL="0">
              <a:buNone/>
            </a:pPr>
            <a:r>
              <a:rPr lang="en-US" sz="1050" b="1" dirty="0">
                <a:solidFill>
                  <a:srgbClr val="43D5FF"/>
                </a:solidFill>
                <a:latin typeface="Arial" pitchFamily="34" charset="0"/>
                <a:ea typeface="Arial" pitchFamily="34" charset="-122"/>
                <a:cs typeface="Arial" pitchFamily="34" charset="-120"/>
              </a:rPr>
              <a:t>$2–3M RAISED ACROSS ~20 INVESTORS IN 9 MONTHS</a:t>
            </a:r>
            <a:endParaRPr lang="en-US" sz="1050" dirty="0"/>
          </a:p>
        </p:txBody>
      </p:sp>
      <p:sp>
        <p:nvSpPr>
          <p:cNvPr id="310" name="Text bl"/>
          <p:cNvSpPr/>
          <p:nvPr/>
        </p:nvSpPr>
        <p:spPr>
          <a:xfrm>
            <a:off x="795528" y="5559552"/>
            <a:ext cx="5486400" cy="274320"/>
          </a:xfrm>
          <a:prstGeom prst="rect">
            <a:avLst/>
          </a:prstGeom>
          <a:noFill/>
          <a:ln/>
        </p:spPr>
        <p:txBody>
          <a:bodyPr wrap="square" lIns="0" tIns="0" rIns="0" bIns="0" rtlCol="0" anchor="ctr"/>
          <a:lstStyle/>
          <a:p>
            <a:pPr indent="0" marL="0">
              <a:buNone/>
            </a:pPr>
            <a:r>
              <a:rPr lang="en-US" sz="1200" b="1" spc="100" kern="0" dirty="0">
                <a:solidFill>
                  <a:srgbClr val="7C6CFF"/>
                </a:solidFill>
                <a:latin typeface="Arial" pitchFamily="34" charset="0"/>
                <a:ea typeface="Arial" pitchFamily="34" charset="-122"/>
                <a:cs typeface="Arial" pitchFamily="34" charset="-120"/>
              </a:rPr>
              <a:t>FUNDABLE COMPANIES GET FUNDED</a:t>
            </a:r>
            <a:endParaRPr lang="en-US" sz="1200" dirty="0"/>
          </a:p>
        </p:txBody>
      </p:sp>
      <p:sp>
        <p:nvSpPr>
          <p:cNvPr id="311" name="Text bp"/>
          <p:cNvSpPr/>
          <p:nvPr/>
        </p:nvSpPr>
        <p:spPr>
          <a:xfrm>
            <a:off x="795528" y="5852160"/>
            <a:ext cx="10881360" cy="548640"/>
          </a:xfrm>
          <a:prstGeom prst="rect">
            <a:avLst/>
          </a:prstGeom>
          <a:noFill/>
          <a:ln/>
        </p:spPr>
        <p:txBody>
          <a:bodyPr wrap="square" lIns="0" tIns="0" rIns="0" bIns="0" rtlCol="0" anchor="t"/>
          <a:lstStyle/>
          <a:p>
            <a:pPr indent="0" marL="0">
              <a:lnSpc>
                <a:spcPct val="120000"/>
              </a:lnSpc>
              <a:buNone/>
            </a:pPr>
            <a:r>
              <a:rPr lang="en-US" sz="1150" dirty="0">
                <a:solidFill>
                  <a:srgbClr val="FFFFFF"/>
                </a:solidFill>
                <a:latin typeface="Arial" pitchFamily="34" charset="0"/>
                <a:ea typeface="Arial" pitchFamily="34" charset="-122"/>
                <a:cs typeface="Arial" pitchFamily="34" charset="-120"/>
              </a:rPr>
              <a:t>Every client we’ve worked with who was fundable (real product, real traction, a team that can run a process) has received checks from meetings we set. We’re not in the room for those meetings, so we only report what clients report back. Full testimonials and video links are in the appendix.</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What’s Standing Between You and the Close</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GAP WE’RE SOLVING</a:t>
            </a:r>
            <a:endParaRPr lang="en-US" sz="1400" dirty="0"/>
          </a:p>
        </p:txBody>
      </p:sp>
      <p:sp>
        <p:nvSpPr>
          <p:cNvPr id="6" name="Text 3"/>
          <p:cNvSpPr/>
          <p:nvPr/>
        </p:nvSpPr>
        <p:spPr>
          <a:xfrm>
            <a:off x="566928" y="2148840"/>
            <a:ext cx="4297680" cy="2651760"/>
          </a:xfrm>
          <a:prstGeom prst="rect">
            <a:avLst/>
          </a:prstGeom>
          <a:noFill/>
          <a:ln/>
        </p:spPr>
        <p:txBody>
          <a:bodyPr wrap="square" lIns="0" tIns="0" rIns="0" bIns="0" rtlCol="0" anchor="t"/>
          <a:lstStyle/>
          <a:p>
            <a:pPr indent="0" marL="0">
              <a:lnSpc>
                <a:spcPct val="125000"/>
              </a:lnSpc>
              <a:buNone/>
            </a:pPr>
            <a:r>
              <a:rPr lang="en-US" sz="1300" dirty="0">
                <a:solidFill>
                  <a:srgbClr val="FFFFFF"/>
                </a:solidFill>
                <a:latin typeface="Arial" pitchFamily="34" charset="0"/>
                <a:ea typeface="Arial" pitchFamily="34" charset="-122"/>
                <a:cs typeface="Arial" pitchFamily="34" charset="-120"/>
              </a:rPr>
              <a:t>Pinemount’s model works: every project is capitalized through to construction financing, and your investors have stepped up for every equity top-up so far. What’s changed on these two is the check size, not the track record. Top-ups on $100M+ projects are bigger than friends and family have been asked for before, an EMD makes little sense when most of a raise is done, and the headlines are making new real estate investors hesitant even as rental fundamentals hold up.</a:t>
            </a:r>
            <a:endParaRPr lang="en-US" sz="1300" dirty="0"/>
          </a:p>
        </p:txBody>
      </p:sp>
      <p:sp>
        <p:nvSpPr>
          <p:cNvPr id="7" name="Text 4"/>
          <p:cNvSpPr/>
          <p:nvPr/>
        </p:nvSpPr>
        <p:spPr>
          <a:xfrm>
            <a:off x="566928" y="4800600"/>
            <a:ext cx="4297680" cy="1554480"/>
          </a:xfrm>
          <a:prstGeom prst="rect">
            <a:avLst/>
          </a:prstGeom>
          <a:noFill/>
          <a:ln/>
        </p:spPr>
        <p:txBody>
          <a:bodyPr wrap="square" lIns="0" tIns="0" rIns="0" bIns="0" rtlCol="0" anchor="t"/>
          <a:lstStyle/>
          <a:p>
            <a:pPr indent="0" marL="0">
              <a:lnSpc>
                <a:spcPct val="125000"/>
              </a:lnSpc>
              <a:buNone/>
            </a:pPr>
            <a:r>
              <a:rPr lang="en-US" sz="1300" i="1" dirty="0">
                <a:solidFill>
                  <a:srgbClr val="B9BEDC"/>
                </a:solidFill>
                <a:latin typeface="Arial" pitchFamily="34" charset="0"/>
                <a:ea typeface="Arial" pitchFamily="34" charset="-122"/>
                <a:cs typeface="Arial" pitchFamily="34" charset="-120"/>
              </a:rPr>
              <a:t>Raising deal by deal is a bench problem. The variable you control is how many qualified, new investor relationships you add before each top-up is due, so no single raise depends on the same circle of people.</a:t>
            </a:r>
            <a:endParaRPr lang="en-US" sz="1300" dirty="0"/>
          </a:p>
        </p:txBody>
      </p:sp>
      <p:sp>
        <p:nvSpPr>
          <p:cNvPr id="8" name="Shape 5"/>
          <p:cNvSpPr/>
          <p:nvPr/>
        </p:nvSpPr>
        <p:spPr>
          <a:xfrm>
            <a:off x="5257800" y="2148840"/>
            <a:ext cx="6400800" cy="932688"/>
          </a:xfrm>
          <a:prstGeom prst="roundRect">
            <a:avLst>
              <a:gd name="adj" fmla="val 8824"/>
            </a:avLst>
          </a:prstGeom>
          <a:solidFill>
            <a:srgbClr val="0D0D26">
              <a:alpha val="55000"/>
            </a:srgbClr>
          </a:solidFill>
          <a:ln w="9525">
            <a:solidFill>
              <a:srgbClr val="31316A">
                <a:alpha val="75000"/>
              </a:srgbClr>
            </a:solidFill>
            <a:prstDash val="solid"/>
          </a:ln>
        </p:spPr>
      </p:sp>
      <p:sp>
        <p:nvSpPr>
          <p:cNvPr id="9" name="Text 6"/>
          <p:cNvSpPr/>
          <p:nvPr/>
        </p:nvSpPr>
        <p:spPr>
          <a:xfrm>
            <a:off x="5486400" y="2258568"/>
            <a:ext cx="1965960" cy="731520"/>
          </a:xfrm>
          <a:prstGeom prst="rect">
            <a:avLst/>
          </a:prstGeom>
          <a:noFill/>
          <a:ln/>
        </p:spPr>
        <p:txBody>
          <a:bodyPr wrap="square" lIns="0" tIns="0" rIns="0" bIns="0" rtlCol="0" anchor="ctr"/>
          <a:lstStyle/>
          <a:p>
            <a:pPr indent="0" marL="0">
              <a:buNone/>
            </a:pPr>
            <a:r>
              <a:rPr lang="en-US" sz="1250" b="1" dirty="0">
                <a:solidFill>
                  <a:srgbClr val="43D5FF"/>
                </a:solidFill>
                <a:latin typeface="Arial" pitchFamily="34" charset="0"/>
                <a:ea typeface="Arial" pitchFamily="34" charset="-122"/>
                <a:cs typeface="Arial" pitchFamily="34" charset="-120"/>
              </a:rPr>
              <a:t>SURFACE PROBLEM</a:t>
            </a:r>
            <a:endParaRPr lang="en-US" sz="1250" dirty="0"/>
          </a:p>
        </p:txBody>
      </p:sp>
      <p:sp>
        <p:nvSpPr>
          <p:cNvPr id="10" name="Text 7"/>
          <p:cNvSpPr/>
          <p:nvPr/>
        </p:nvSpPr>
        <p:spPr>
          <a:xfrm>
            <a:off x="7498080" y="2240280"/>
            <a:ext cx="3931920" cy="749808"/>
          </a:xfrm>
          <a:prstGeom prst="rect">
            <a:avLst/>
          </a:prstGeom>
          <a:noFill/>
          <a:ln/>
        </p:spPr>
        <p:txBody>
          <a:bodyPr wrap="square" lIns="0" tIns="0" rIns="0" bIns="0" rtlCol="0" anchor="ctr"/>
          <a:lstStyle/>
          <a:p>
            <a:pPr indent="0" marL="0">
              <a:lnSpc>
                <a:spcPct val="110000"/>
              </a:lnSpc>
              <a:buNone/>
            </a:pPr>
            <a:r>
              <a:rPr lang="en-US" sz="1100" dirty="0">
                <a:solidFill>
                  <a:srgbClr val="FFFFFF"/>
                </a:solidFill>
                <a:latin typeface="Arial" pitchFamily="34" charset="0"/>
                <a:ea typeface="Arial" pitchFamily="34" charset="-122"/>
                <a:cs typeface="Arial" pitchFamily="34" charset="-120"/>
              </a:rPr>
              <a:t>Two construction-finance top-ups at once: roughly $3.5M in 6–8 months and $2M in about four, larger checks than your current network usually covers.</a:t>
            </a:r>
            <a:endParaRPr lang="en-US" sz="1100" dirty="0"/>
          </a:p>
        </p:txBody>
      </p:sp>
      <p:sp>
        <p:nvSpPr>
          <p:cNvPr id="11" name="Shape 8"/>
          <p:cNvSpPr/>
          <p:nvPr/>
        </p:nvSpPr>
        <p:spPr>
          <a:xfrm>
            <a:off x="5257800" y="3246120"/>
            <a:ext cx="6400800" cy="932688"/>
          </a:xfrm>
          <a:prstGeom prst="roundRect">
            <a:avLst>
              <a:gd name="adj" fmla="val 8824"/>
            </a:avLst>
          </a:prstGeom>
          <a:solidFill>
            <a:srgbClr val="0D0D26">
              <a:alpha val="55000"/>
            </a:srgbClr>
          </a:solidFill>
          <a:ln w="9525">
            <a:solidFill>
              <a:srgbClr val="31316A">
                <a:alpha val="75000"/>
              </a:srgbClr>
            </a:solidFill>
            <a:prstDash val="solid"/>
          </a:ln>
        </p:spPr>
      </p:sp>
      <p:sp>
        <p:nvSpPr>
          <p:cNvPr id="12" name="Text 9"/>
          <p:cNvSpPr/>
          <p:nvPr/>
        </p:nvSpPr>
        <p:spPr>
          <a:xfrm>
            <a:off x="5486400" y="3355848"/>
            <a:ext cx="1965960" cy="731520"/>
          </a:xfrm>
          <a:prstGeom prst="rect">
            <a:avLst/>
          </a:prstGeom>
          <a:noFill/>
          <a:ln/>
        </p:spPr>
        <p:txBody>
          <a:bodyPr wrap="square" lIns="0" tIns="0" rIns="0" bIns="0" rtlCol="0" anchor="ctr"/>
          <a:lstStyle/>
          <a:p>
            <a:pPr indent="0" marL="0">
              <a:buNone/>
            </a:pPr>
            <a:r>
              <a:rPr lang="en-US" sz="1250" b="1" dirty="0">
                <a:solidFill>
                  <a:srgbClr val="43D5FF"/>
                </a:solidFill>
                <a:latin typeface="Arial" pitchFamily="34" charset="0"/>
                <a:ea typeface="Arial" pitchFamily="34" charset="-122"/>
                <a:cs typeface="Arial" pitchFamily="34" charset="-120"/>
              </a:rPr>
              <a:t>BUSINESS IMPACT</a:t>
            </a:r>
            <a:endParaRPr lang="en-US" sz="1250" dirty="0"/>
          </a:p>
        </p:txBody>
      </p:sp>
      <p:sp>
        <p:nvSpPr>
          <p:cNvPr id="13" name="Text 10"/>
          <p:cNvSpPr/>
          <p:nvPr/>
        </p:nvSpPr>
        <p:spPr>
          <a:xfrm>
            <a:off x="7498080" y="3337560"/>
            <a:ext cx="3931920" cy="749808"/>
          </a:xfrm>
          <a:prstGeom prst="rect">
            <a:avLst/>
          </a:prstGeom>
          <a:noFill/>
          <a:ln/>
        </p:spPr>
        <p:txBody>
          <a:bodyPr wrap="square" lIns="0" tIns="0" rIns="0" bIns="0" rtlCol="0" anchor="ctr"/>
          <a:lstStyle/>
          <a:p>
            <a:pPr indent="0" marL="0">
              <a:lnSpc>
                <a:spcPct val="110000"/>
              </a:lnSpc>
              <a:buNone/>
            </a:pPr>
            <a:r>
              <a:rPr lang="en-US" sz="1100" dirty="0">
                <a:solidFill>
                  <a:srgbClr val="FFFFFF"/>
                </a:solidFill>
                <a:latin typeface="Arial" pitchFamily="34" charset="0"/>
                <a:ea typeface="Arial" pitchFamily="34" charset="-122"/>
                <a:cs typeface="Arial" pitchFamily="34" charset="-120"/>
              </a:rPr>
              <a:t>CMHC-backed construction financing needs the equity in place. Bringing in an EMD this late means carving out a raise that is already mostly done.</a:t>
            </a:r>
            <a:endParaRPr lang="en-US" sz="1100" dirty="0"/>
          </a:p>
        </p:txBody>
      </p:sp>
      <p:sp>
        <p:nvSpPr>
          <p:cNvPr id="14" name="Shape 11"/>
          <p:cNvSpPr/>
          <p:nvPr/>
        </p:nvSpPr>
        <p:spPr>
          <a:xfrm>
            <a:off x="5257800" y="4343400"/>
            <a:ext cx="6400800" cy="932688"/>
          </a:xfrm>
          <a:prstGeom prst="roundRect">
            <a:avLst>
              <a:gd name="adj" fmla="val 8824"/>
            </a:avLst>
          </a:prstGeom>
          <a:solidFill>
            <a:srgbClr val="0D0D26">
              <a:alpha val="55000"/>
            </a:srgbClr>
          </a:solidFill>
          <a:ln w="9525">
            <a:solidFill>
              <a:srgbClr val="31316A">
                <a:alpha val="75000"/>
              </a:srgbClr>
            </a:solidFill>
            <a:prstDash val="solid"/>
          </a:ln>
        </p:spPr>
      </p:sp>
      <p:sp>
        <p:nvSpPr>
          <p:cNvPr id="15" name="Text 12"/>
          <p:cNvSpPr/>
          <p:nvPr/>
        </p:nvSpPr>
        <p:spPr>
          <a:xfrm>
            <a:off x="5486400" y="4453128"/>
            <a:ext cx="1965960" cy="731520"/>
          </a:xfrm>
          <a:prstGeom prst="rect">
            <a:avLst/>
          </a:prstGeom>
          <a:noFill/>
          <a:ln/>
        </p:spPr>
        <p:txBody>
          <a:bodyPr wrap="square" lIns="0" tIns="0" rIns="0" bIns="0" rtlCol="0" anchor="ctr"/>
          <a:lstStyle/>
          <a:p>
            <a:pPr indent="0" marL="0">
              <a:buNone/>
            </a:pPr>
            <a:r>
              <a:rPr lang="en-US" sz="1250" b="1" dirty="0">
                <a:solidFill>
                  <a:srgbClr val="43D5FF"/>
                </a:solidFill>
                <a:latin typeface="Arial" pitchFamily="34" charset="0"/>
                <a:ea typeface="Arial" pitchFamily="34" charset="-122"/>
                <a:cs typeface="Arial" pitchFamily="34" charset="-120"/>
              </a:rPr>
              <a:t>PERSONAL IMPACT</a:t>
            </a:r>
            <a:endParaRPr lang="en-US" sz="1250" dirty="0"/>
          </a:p>
        </p:txBody>
      </p:sp>
      <p:sp>
        <p:nvSpPr>
          <p:cNvPr id="16" name="Text 13"/>
          <p:cNvSpPr/>
          <p:nvPr/>
        </p:nvSpPr>
        <p:spPr>
          <a:xfrm>
            <a:off x="7498080" y="4434840"/>
            <a:ext cx="3931920" cy="749808"/>
          </a:xfrm>
          <a:prstGeom prst="rect">
            <a:avLst/>
          </a:prstGeom>
          <a:noFill/>
          <a:ln/>
        </p:spPr>
        <p:txBody>
          <a:bodyPr wrap="square" lIns="0" tIns="0" rIns="0" bIns="0" rtlCol="0" anchor="ctr"/>
          <a:lstStyle/>
          <a:p>
            <a:pPr indent="0" marL="0">
              <a:lnSpc>
                <a:spcPct val="110000"/>
              </a:lnSpc>
              <a:buNone/>
            </a:pPr>
            <a:r>
              <a:rPr lang="en-US" sz="1100" dirty="0">
                <a:solidFill>
                  <a:srgbClr val="FFFFFF"/>
                </a:solidFill>
                <a:latin typeface="Arial" pitchFamily="34" charset="0"/>
                <a:ea typeface="Arial" pitchFamily="34" charset="-122"/>
                <a:cs typeface="Arial" pitchFamily="34" charset="-120"/>
              </a:rPr>
              <a:t>A new IR rep with a mandate to source investors but no pipeline of new names yet, and a LinkedIn page built for awareness, not for raising.</a:t>
            </a:r>
            <a:endParaRPr lang="en-US" sz="1100" dirty="0"/>
          </a:p>
        </p:txBody>
      </p:sp>
      <p:sp>
        <p:nvSpPr>
          <p:cNvPr id="17" name="Shape 14"/>
          <p:cNvSpPr/>
          <p:nvPr/>
        </p:nvSpPr>
        <p:spPr>
          <a:xfrm>
            <a:off x="5257800" y="5440680"/>
            <a:ext cx="6400800" cy="932688"/>
          </a:xfrm>
          <a:prstGeom prst="roundRect">
            <a:avLst>
              <a:gd name="adj" fmla="val 8824"/>
            </a:avLst>
          </a:prstGeom>
          <a:solidFill>
            <a:srgbClr val="0D0D26">
              <a:alpha val="55000"/>
            </a:srgbClr>
          </a:solidFill>
          <a:ln w="9525">
            <a:solidFill>
              <a:srgbClr val="31316A">
                <a:alpha val="75000"/>
              </a:srgbClr>
            </a:solidFill>
            <a:prstDash val="solid"/>
          </a:ln>
        </p:spPr>
      </p:sp>
      <p:sp>
        <p:nvSpPr>
          <p:cNvPr id="18" name="Text 15"/>
          <p:cNvSpPr/>
          <p:nvPr/>
        </p:nvSpPr>
        <p:spPr>
          <a:xfrm>
            <a:off x="5486400" y="5550408"/>
            <a:ext cx="1965960" cy="731520"/>
          </a:xfrm>
          <a:prstGeom prst="rect">
            <a:avLst/>
          </a:prstGeom>
          <a:noFill/>
          <a:ln/>
        </p:spPr>
        <p:txBody>
          <a:bodyPr wrap="square" lIns="0" tIns="0" rIns="0" bIns="0" rtlCol="0" anchor="ctr"/>
          <a:lstStyle/>
          <a:p>
            <a:pPr indent="0" marL="0">
              <a:buNone/>
            </a:pPr>
            <a:r>
              <a:rPr lang="en-US" sz="1250" b="1" dirty="0">
                <a:solidFill>
                  <a:srgbClr val="43D5FF"/>
                </a:solidFill>
                <a:latin typeface="Arial" pitchFamily="34" charset="0"/>
                <a:ea typeface="Arial" pitchFamily="34" charset="-122"/>
                <a:cs typeface="Arial" pitchFamily="34" charset="-120"/>
              </a:rPr>
              <a:t>COST OF INACTION</a:t>
            </a:r>
            <a:endParaRPr lang="en-US" sz="1250" dirty="0"/>
          </a:p>
        </p:txBody>
      </p:sp>
      <p:sp>
        <p:nvSpPr>
          <p:cNvPr id="19" name="Text 16"/>
          <p:cNvSpPr/>
          <p:nvPr/>
        </p:nvSpPr>
        <p:spPr>
          <a:xfrm>
            <a:off x="7498080" y="5532120"/>
            <a:ext cx="3931920" cy="749808"/>
          </a:xfrm>
          <a:prstGeom prst="rect">
            <a:avLst/>
          </a:prstGeom>
          <a:noFill/>
          <a:ln/>
        </p:spPr>
        <p:txBody>
          <a:bodyPr wrap="square" lIns="0" tIns="0" rIns="0" bIns="0" rtlCol="0" anchor="ctr"/>
          <a:lstStyle/>
          <a:p>
            <a:pPr indent="0" marL="0">
              <a:lnSpc>
                <a:spcPct val="110000"/>
              </a:lnSpc>
              <a:buNone/>
            </a:pPr>
            <a:r>
              <a:rPr lang="en-US" sz="1100" dirty="0">
                <a:solidFill>
                  <a:srgbClr val="FFFFFF"/>
                </a:solidFill>
                <a:latin typeface="Arial" pitchFamily="34" charset="0"/>
                <a:ea typeface="Arial" pitchFamily="34" charset="-122"/>
                <a:cs typeface="Arial" pitchFamily="34" charset="-120"/>
              </a:rPr>
              <a:t>Two to three raises a year across six active projects keep leaning on the same investors, and every future top-up carries the same uncertainty.</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Your Investor ICP</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TARGET SEGMENTS, IN PRIORITY ORDER</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66928" y="2240280"/>
          <a:ext cx="11055096" cy="914400"/>
        </p:xfrm>
        <a:graphic>
          <a:graphicData uri="http://schemas.openxmlformats.org/drawingml/2006/table">
            <a:tbl>
              <a:tblPr/>
              <a:tblGrid>
                <a:gridCol w="3291840"/>
                <a:gridCol w="7763256"/>
              </a:tblGrid>
              <a:tr h="457200">
                <a:tc>
                  <a:txBody>
                    <a:bodyPr/>
                    <a:lstStyle/>
                    <a:p>
                      <a:pPr algn="l" indent="0" marL="0">
                        <a:buNone/>
                      </a:pPr>
                      <a:r>
                        <a:rPr lang="en-US" sz="1200" b="1" dirty="0">
                          <a:solidFill>
                            <a:srgbClr val="43D5FF"/>
                          </a:solidFill>
                          <a:latin typeface="Arial" pitchFamily="34" charset="0"/>
                          <a:ea typeface="Arial" pitchFamily="34" charset="-122"/>
                          <a:cs typeface="Arial" pitchFamily="34" charset="-120"/>
                        </a:rPr>
                        <a:t>SEGMENT</a:t>
                      </a:r>
                      <a:endParaRPr lang="en-US" sz="12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1B1B45">
                        <a:alpha val="75000"/>
                      </a:srgbClr>
                    </a:solidFill>
                  </a:tcPr>
                </a:tc>
                <a:tc>
                  <a:txBody>
                    <a:bodyPr/>
                    <a:lstStyle/>
                    <a:p>
                      <a:pPr algn="l" indent="0" marL="0">
                        <a:buNone/>
                      </a:pPr>
                      <a:r>
                        <a:rPr lang="en-US" sz="1200" b="1" dirty="0">
                          <a:solidFill>
                            <a:srgbClr val="43D5FF"/>
                          </a:solidFill>
                          <a:latin typeface="Arial" pitchFamily="34" charset="0"/>
                          <a:ea typeface="Arial" pitchFamily="34" charset="-122"/>
                          <a:cs typeface="Arial" pitchFamily="34" charset="-120"/>
                        </a:rPr>
                        <a:t>WHO THEY ARE AND WHY THEY FIT</a:t>
                      </a:r>
                      <a:endParaRPr lang="en-US" sz="12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1B1B45">
                        <a:alpha val="75000"/>
                      </a:srgbClr>
                    </a:solidFill>
                  </a:tcPr>
                </a:tc>
              </a:tr>
              <a:tr h="841248">
                <a:tc>
                  <a:txBody>
                    <a:bodyPr/>
                    <a:lstStyle/>
                    <a:p>
                      <a:pPr algn="l" indent="0" marL="0">
                        <a:buNone/>
                      </a:pPr>
                      <a:r>
                        <a:rPr lang="en-US" sz="1400" b="1" dirty="0">
                          <a:solidFill>
                            <a:srgbClr val="FFFFFF"/>
                          </a:solidFill>
                          <a:latin typeface="Arial" pitchFamily="34" charset="0"/>
                          <a:ea typeface="Arial" pitchFamily="34" charset="-122"/>
                          <a:cs typeface="Arial" pitchFamily="34" charset="-120"/>
                        </a:rPr>
                        <a:t>1.  Ontario Accredited &amp; HNW RE Investors</a:t>
                      </a:r>
                      <a:endParaRPr lang="en-US" sz="14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c>
                  <a:txBody>
                    <a:bodyPr/>
                    <a:lstStyle/>
                    <a:p>
                      <a:pPr algn="l" indent="0" marL="0">
                        <a:buNone/>
                      </a:pPr>
                      <a:r>
                        <a:rPr lang="en-US" sz="1250" dirty="0">
                          <a:solidFill>
                            <a:srgbClr val="FFFFFF"/>
                          </a:solidFill>
                          <a:latin typeface="Arial" pitchFamily="34" charset="0"/>
                          <a:ea typeface="Arial" pitchFamily="34" charset="-122"/>
                          <a:cs typeface="Arial" pitchFamily="34" charset="-120"/>
                        </a:rPr>
                        <a:t>Individuals with a history in private real estate LPs or syndications, who already understand CMHC-backed purpose-built rental and a sponsor’s equity top-up.</a:t>
                      </a:r>
                      <a:endParaRPr lang="en-US" sz="125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r>
              <a:tr h="841248">
                <a:tc>
                  <a:txBody>
                    <a:bodyPr/>
                    <a:lstStyle/>
                    <a:p>
                      <a:pPr algn="l" indent="0" marL="0">
                        <a:buNone/>
                      </a:pPr>
                      <a:r>
                        <a:rPr lang="en-US" sz="1400" b="1" dirty="0">
                          <a:solidFill>
                            <a:srgbClr val="FFFFFF"/>
                          </a:solidFill>
                          <a:latin typeface="Arial" pitchFamily="34" charset="0"/>
                          <a:ea typeface="Arial" pitchFamily="34" charset="-122"/>
                          <a:cs typeface="Arial" pitchFamily="34" charset="-120"/>
                        </a:rPr>
                        <a:t>2.  Business Owners &amp; Professionals</a:t>
                      </a:r>
                      <a:endParaRPr lang="en-US" sz="14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c>
                  <a:txBody>
                    <a:bodyPr/>
                    <a:lstStyle/>
                    <a:p>
                      <a:pPr algn="l" indent="0" marL="0">
                        <a:buNone/>
                      </a:pPr>
                      <a:r>
                        <a:rPr lang="en-US" sz="1250" dirty="0">
                          <a:solidFill>
                            <a:srgbClr val="FFFFFF"/>
                          </a:solidFill>
                          <a:latin typeface="Arial" pitchFamily="34" charset="0"/>
                          <a:ea typeface="Arial" pitchFamily="34" charset="-122"/>
                          <a:cs typeface="Arial" pitchFamily="34" charset="-120"/>
                        </a:rPr>
                        <a:t>Owners, physicians and exited founders in the GTA and Ontario showing tax-exposure signals, looking for long-hold, income-producing real estate.</a:t>
                      </a:r>
                      <a:endParaRPr lang="en-US" sz="125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r>
              <a:tr h="841248">
                <a:tc>
                  <a:txBody>
                    <a:bodyPr/>
                    <a:lstStyle/>
                    <a:p>
                      <a:pPr algn="l" indent="0" marL="0">
                        <a:buNone/>
                      </a:pPr>
                      <a:r>
                        <a:rPr lang="en-US" sz="1400" b="1" dirty="0">
                          <a:solidFill>
                            <a:srgbClr val="FFFFFF"/>
                          </a:solidFill>
                          <a:latin typeface="Arial" pitchFamily="34" charset="0"/>
                          <a:ea typeface="Arial" pitchFamily="34" charset="-122"/>
                          <a:cs typeface="Arial" pitchFamily="34" charset="-120"/>
                        </a:rPr>
                        <a:t>3.  Canadian Single &amp; Multi-Family Offices</a:t>
                      </a:r>
                      <a:endParaRPr lang="en-US" sz="14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c>
                  <a:txBody>
                    <a:bodyPr/>
                    <a:lstStyle/>
                    <a:p>
                      <a:pPr algn="l" indent="0" marL="0">
                        <a:buNone/>
                      </a:pPr>
                      <a:r>
                        <a:rPr lang="en-US" sz="1250" dirty="0">
                          <a:solidFill>
                            <a:srgbClr val="FFFFFF"/>
                          </a:solidFill>
                          <a:latin typeface="Arial" pitchFamily="34" charset="0"/>
                          <a:ea typeface="Arial" pitchFamily="34" charset="-122"/>
                          <a:cs typeface="Arial" pitchFamily="34" charset="-120"/>
                        </a:rPr>
                        <a:t>Larger checks per conversation. The segment we lean into if early meetings skew too small for the $3.5M top-up.</a:t>
                      </a:r>
                      <a:endParaRPr lang="en-US" sz="125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r>
              <a:tr h="841248">
                <a:tc>
                  <a:txBody>
                    <a:bodyPr/>
                    <a:lstStyle/>
                    <a:p>
                      <a:pPr algn="l" indent="0" marL="0">
                        <a:buNone/>
                      </a:pPr>
                      <a:r>
                        <a:rPr lang="en-US" sz="1400" b="1" dirty="0">
                          <a:solidFill>
                            <a:srgbClr val="FFFFFF"/>
                          </a:solidFill>
                          <a:latin typeface="Arial" pitchFamily="34" charset="0"/>
                          <a:ea typeface="Arial" pitchFamily="34" charset="-122"/>
                          <a:cs typeface="Arial" pitchFamily="34" charset="-120"/>
                        </a:rPr>
                        <a:t>4.  Real Estate Event Attendees &amp; Speakers</a:t>
                      </a:r>
                      <a:endParaRPr lang="en-US" sz="14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c>
                  <a:txBody>
                    <a:bodyPr/>
                    <a:lstStyle/>
                    <a:p>
                      <a:pPr algn="l" indent="0" marL="0">
                        <a:buNone/>
                      </a:pPr>
                      <a:r>
                        <a:rPr lang="en-US" sz="1250" dirty="0">
                          <a:solidFill>
                            <a:srgbClr val="FFFFFF"/>
                          </a:solidFill>
                          <a:latin typeface="Arial" pitchFamily="34" charset="0"/>
                          <a:ea typeface="Arial" pitchFamily="34" charset="-122"/>
                          <a:cs typeface="Arial" pitchFamily="34" charset="-120"/>
                        </a:rPr>
                        <a:t>Attendees at Toronto, Montreal and New York real estate and private-capital events, pre-targeted so your IR rep meets them in person.</a:t>
                      </a:r>
                      <a:endParaRPr lang="en-US" sz="125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r>
            </a:tbl>
          </a:graphicData>
        </a:graphic>
      </p:graphicFrame>
      <p:sp>
        <p:nvSpPr>
          <p:cNvPr id="312" name="Text 30"/>
          <p:cNvSpPr/>
          <p:nvPr/>
        </p:nvSpPr>
        <p:spPr>
          <a:xfrm>
            <a:off x="566928" y="6199632"/>
            <a:ext cx="11155680" cy="411480"/>
          </a:xfrm>
          <a:prstGeom prst="rect">
            <a:avLst/>
          </a:prstGeom>
          <a:noFill/>
          <a:ln/>
        </p:spPr>
        <p:txBody>
          <a:bodyPr wrap="square" lIns="0" tIns="0" rIns="0" bIns="0" rtlCol="0" anchor="t"/>
          <a:lstStyle/>
          <a:p>
            <a:pPr indent="0" marL="0">
              <a:lnSpc>
                <a:spcPct val="125000"/>
              </a:lnSpc>
              <a:buNone/>
            </a:pPr>
            <a:r>
              <a:rPr lang="en-US" sz="1150" i="1" dirty="0">
                <a:solidFill>
                  <a:srgbClr val="B9BEDC"/>
                </a:solidFill>
                <a:latin typeface="Arial" pitchFamily="34" charset="0"/>
                <a:ea typeface="Arial" pitchFamily="34" charset="-122"/>
                <a:cs typeface="Arial" pitchFamily="34" charset="-120"/>
              </a:rPr>
              <a:t>These segments are our starting point. A more comprehensive outline of investor targets, including minimum check sizes, geographies and exclusions, will be planned with Moshin and your IR rep during onboarding.</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Two Raises, One Engine</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HOW TWO PROFILES FEED ONE CLOSING TEAM</a:t>
            </a:r>
            <a:endParaRPr lang="en-US" sz="1400" dirty="0"/>
          </a:p>
        </p:txBody>
      </p:sp>
      <p:sp>
        <p:nvSpPr>
          <p:cNvPr id="6" name="Shape 3"/>
          <p:cNvSpPr/>
          <p:nvPr/>
        </p:nvSpPr>
        <p:spPr>
          <a:xfrm>
            <a:off x="566928"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7" name="Text 4"/>
          <p:cNvSpPr/>
          <p:nvPr/>
        </p:nvSpPr>
        <p:spPr>
          <a:xfrm>
            <a:off x="795528"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MOSHIN  ·  THE SPONSOR</a:t>
            </a:r>
            <a:endParaRPr lang="en-US" sz="1400" dirty="0"/>
          </a:p>
        </p:txBody>
      </p:sp>
      <p:sp>
        <p:nvSpPr>
          <p:cNvPr id="8" name="Text 5"/>
          <p:cNvSpPr/>
          <p:nvPr/>
        </p:nvSpPr>
        <p:spPr>
          <a:xfrm>
            <a:off x="795528" y="2651760"/>
            <a:ext cx="3136392" cy="1600200"/>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Arial" pitchFamily="34" charset="0"/>
                <a:ea typeface="Arial" pitchFamily="34" charset="-122"/>
                <a:cs typeface="Arial" pitchFamily="34" charset="-120"/>
              </a:rPr>
              <a:t>Moshin’s profile opens conversations with the most senior targets: family offices, business owners and experienced real estate LPs who want to hear from the people behind the projects. Its own audience, its own scripts, its own scorecard.</a:t>
            </a:r>
            <a:endParaRPr lang="en-US" sz="1100" dirty="0"/>
          </a:p>
        </p:txBody>
      </p:sp>
      <p:sp>
        <p:nvSpPr>
          <p:cNvPr id="9" name="Shape 6"/>
          <p:cNvSpPr/>
          <p:nvPr/>
        </p:nvSpPr>
        <p:spPr>
          <a:xfrm>
            <a:off x="4434840"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0" name="Text 7"/>
          <p:cNvSpPr/>
          <p:nvPr/>
        </p:nvSpPr>
        <p:spPr>
          <a:xfrm>
            <a:off x="4663440"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IR REP  ·  THE CLOSER</a:t>
            </a:r>
            <a:endParaRPr lang="en-US" sz="1400" dirty="0"/>
          </a:p>
        </p:txBody>
      </p:sp>
      <p:sp>
        <p:nvSpPr>
          <p:cNvPr id="11" name="Text 8"/>
          <p:cNvSpPr/>
          <p:nvPr/>
        </p:nvSpPr>
        <p:spPr>
          <a:xfrm>
            <a:off x="4663440" y="2651760"/>
            <a:ext cx="3136392" cy="1600200"/>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Arial" pitchFamily="34" charset="0"/>
                <a:ea typeface="Arial" pitchFamily="34" charset="-122"/>
                <a:cs typeface="Arial" pitchFamily="34" charset="-120"/>
              </a:rPr>
              <a:t>Your IR rep’s profile carries outreach to accredited and high-net-worth individuals, and every meeting either profile books goes to the person whose mandate is to onboard them. We source and qualify; he closes.</a:t>
            </a:r>
            <a:endParaRPr lang="en-US" sz="1100" dirty="0"/>
          </a:p>
        </p:txBody>
      </p:sp>
      <p:sp>
        <p:nvSpPr>
          <p:cNvPr id="12" name="Shape 9"/>
          <p:cNvSpPr/>
          <p:nvPr/>
        </p:nvSpPr>
        <p:spPr>
          <a:xfrm>
            <a:off x="8302752"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REEF + EVENTS</a:t>
            </a:r>
            <a:endParaRPr lang="en-US" sz="1400" dirty="0"/>
          </a:p>
        </p:txBody>
      </p:sp>
      <p:sp>
        <p:nvSpPr>
          <p:cNvPr id="14" name="Text 11"/>
          <p:cNvSpPr/>
          <p:nvPr/>
        </p:nvSpPr>
        <p:spPr>
          <a:xfrm>
            <a:off x="8531352" y="2651760"/>
            <a:ext cx="3136392" cy="1600200"/>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Arial" pitchFamily="34" charset="0"/>
                <a:ea typeface="Arial" pitchFamily="34" charset="-122"/>
                <a:cs typeface="Arial" pitchFamily="34" charset="-120"/>
              </a:rPr>
              <a:t>Both raises are retargeted to our 10k+ opt-in investor network and featured in Startup Deal Desk (84k+ subscribers). When your IR rep attends a Toronto, Montreal or New York event, we pre-target attendees and book meetings there.</a:t>
            </a:r>
            <a:endParaRPr lang="en-US" sz="1100" dirty="0"/>
          </a:p>
        </p:txBody>
      </p:sp>
      <p:sp>
        <p:nvSpPr>
          <p:cNvPr id="15" name="Shape 12"/>
          <p:cNvSpPr/>
          <p:nvPr/>
        </p:nvSpPr>
        <p:spPr>
          <a:xfrm>
            <a:off x="566928" y="4663440"/>
            <a:ext cx="11338560" cy="1691640"/>
          </a:xfrm>
          <a:prstGeom prst="roundRect">
            <a:avLst>
              <a:gd name="adj" fmla="val 4865"/>
            </a:avLst>
          </a:prstGeom>
          <a:solidFill>
            <a:srgbClr val="0D0D26">
              <a:alpha val="55000"/>
            </a:srgbClr>
          </a:solidFill>
          <a:ln w="9525">
            <a:solidFill>
              <a:srgbClr val="31316A">
                <a:alpha val="75000"/>
              </a:srgbClr>
            </a:solidFill>
            <a:prstDash val="solid"/>
          </a:ln>
        </p:spPr>
      </p:sp>
      <p:sp>
        <p:nvSpPr>
          <p:cNvPr id="16" name="Text 13"/>
          <p:cNvSpPr/>
          <p:nvPr/>
        </p:nvSpPr>
        <p:spPr>
          <a:xfrm>
            <a:off x="795528" y="4828032"/>
            <a:ext cx="8229600" cy="320040"/>
          </a:xfrm>
          <a:prstGeom prst="rect">
            <a:avLst/>
          </a:prstGeom>
          <a:noFill/>
          <a:ln/>
        </p:spPr>
        <p:txBody>
          <a:bodyPr wrap="square" lIns="0" tIns="0" rIns="0" bIns="0" rtlCol="0" anchor="ctr"/>
          <a:lstStyle/>
          <a:p>
            <a:pPr indent="0" marL="0">
              <a:buNone/>
            </a:pPr>
            <a:r>
              <a:rPr lang="en-US" sz="1400" b="1" spc="100" kern="0" dirty="0">
                <a:solidFill>
                  <a:srgbClr val="7C6CFF"/>
                </a:solidFill>
                <a:latin typeface="Arial" pitchFamily="34" charset="0"/>
                <a:ea typeface="Arial" pitchFamily="34" charset="-122"/>
                <a:cs typeface="Arial" pitchFamily="34" charset="-120"/>
              </a:rPr>
              <a:t>WHY ONE RETAINER COVERS BOTH</a:t>
            </a:r>
            <a:endParaRPr lang="en-US" sz="1400" dirty="0"/>
          </a:p>
        </p:txBody>
      </p:sp>
      <p:sp>
        <p:nvSpPr>
          <p:cNvPr id="17" name="Text 14"/>
          <p:cNvSpPr/>
          <p:nvPr/>
        </p:nvSpPr>
        <p:spPr>
          <a:xfrm>
            <a:off x="795528" y="5175504"/>
            <a:ext cx="10881360" cy="1051560"/>
          </a:xfrm>
          <a:prstGeom prst="rect">
            <a:avLst/>
          </a:prstGeom>
          <a:noFill/>
          <a:ln/>
        </p:spPr>
        <p:txBody>
          <a:bodyPr wrap="square" lIns="0" tIns="0" rIns="0" bIns="0" rtlCol="0" anchor="t"/>
          <a:lstStyle/>
          <a:p>
            <a:pPr indent="0" marL="0">
              <a:lnSpc>
                <a:spcPct val="120000"/>
              </a:lnSpc>
              <a:buNone/>
            </a:pPr>
            <a:r>
              <a:rPr lang="en-US" sz="1250" dirty="0">
                <a:solidFill>
                  <a:srgbClr val="FFFFFF"/>
                </a:solidFill>
                <a:latin typeface="Arial" pitchFamily="34" charset="0"/>
                <a:ea typeface="Arial" pitchFamily="34" charset="-122"/>
                <a:cs typeface="Arial" pitchFamily="34" charset="-120"/>
              </a:rPr>
              <a:t>The engine is shared: one dedicated account manager, one CRM, one weekly report split by project. And it compounds: every investor who meets you on these two raises is a warm name for the next top-up, so the bench grows with each project instead of starting over. The profile split above is our starting assumption; we’ll confirm it with Moshin and your IR rep in the first onboarding session.</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How We Fill Your Calendar</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SIX STEPS, ONE PAGE</a:t>
            </a:r>
            <a:endParaRPr lang="en-US" sz="1400" dirty="0"/>
          </a:p>
        </p:txBody>
      </p:sp>
      <p:sp>
        <p:nvSpPr>
          <p:cNvPr id="313" name="Shape s0"/>
          <p:cNvSpPr/>
          <p:nvPr/>
        </p:nvSpPr>
        <p:spPr>
          <a:xfrm>
            <a:off x="566928" y="2057400"/>
            <a:ext cx="3593592" cy="1417320"/>
          </a:xfrm>
          <a:prstGeom prst="roundRect">
            <a:avLst>
              <a:gd name="adj" fmla="val 3529"/>
            </a:avLst>
          </a:prstGeom>
          <a:solidFill>
            <a:srgbClr val="0D0D26">
              <a:alpha val="55000"/>
            </a:srgbClr>
          </a:solidFill>
          <a:ln w="9525">
            <a:solidFill>
              <a:srgbClr val="31316A">
                <a:alpha val="75000"/>
              </a:srgbClr>
            </a:solidFill>
            <a:prstDash val="solid"/>
          </a:ln>
        </p:spPr>
      </p:sp>
      <p:sp>
        <p:nvSpPr>
          <p:cNvPr id="314" name="Text s0l"/>
          <p:cNvSpPr/>
          <p:nvPr/>
        </p:nvSpPr>
        <p:spPr>
          <a:xfrm>
            <a:off x="795528" y="2185416"/>
            <a:ext cx="3136392" cy="274320"/>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1  ·  MULTI-SOURCE DATA</a:t>
            </a:r>
            <a:endParaRPr lang="en-US" sz="1300" dirty="0"/>
          </a:p>
        </p:txBody>
      </p:sp>
      <p:sp>
        <p:nvSpPr>
          <p:cNvPr id="315" name="Text s0p"/>
          <p:cNvSpPr/>
          <p:nvPr/>
        </p:nvSpPr>
        <p:spPr>
          <a:xfrm>
            <a:off x="795528" y="2496312"/>
            <a:ext cx="3136392" cy="9144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Sales Navigator, your own lists and past conversations, our 10k+ investor database, the 84k-subscriber Startup Deal Desk newsletter, and the events your targets attend.</a:t>
            </a:r>
            <a:endParaRPr lang="en-US" sz="1050" dirty="0"/>
          </a:p>
        </p:txBody>
      </p:sp>
      <p:sp>
        <p:nvSpPr>
          <p:cNvPr id="316" name="Shape s1"/>
          <p:cNvSpPr/>
          <p:nvPr/>
        </p:nvSpPr>
        <p:spPr>
          <a:xfrm>
            <a:off x="4434840" y="2057400"/>
            <a:ext cx="3593592" cy="1417320"/>
          </a:xfrm>
          <a:prstGeom prst="roundRect">
            <a:avLst>
              <a:gd name="adj" fmla="val 3529"/>
            </a:avLst>
          </a:prstGeom>
          <a:solidFill>
            <a:srgbClr val="0D0D26">
              <a:alpha val="55000"/>
            </a:srgbClr>
          </a:solidFill>
          <a:ln w="9525">
            <a:solidFill>
              <a:srgbClr val="31316A">
                <a:alpha val="75000"/>
              </a:srgbClr>
            </a:solidFill>
            <a:prstDash val="solid"/>
          </a:ln>
        </p:spPr>
      </p:sp>
      <p:sp>
        <p:nvSpPr>
          <p:cNvPr id="317" name="Text s1l"/>
          <p:cNvSpPr/>
          <p:nvPr/>
        </p:nvSpPr>
        <p:spPr>
          <a:xfrm>
            <a:off x="4663440" y="2185416"/>
            <a:ext cx="3136392" cy="274320"/>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2  ·  SIGNAL FILTERING</a:t>
            </a:r>
            <a:endParaRPr lang="en-US" sz="1300" dirty="0"/>
          </a:p>
        </p:txBody>
      </p:sp>
      <p:sp>
        <p:nvSpPr>
          <p:cNvPr id="318" name="Text s1p"/>
          <p:cNvSpPr/>
          <p:nvPr/>
        </p:nvSpPr>
        <p:spPr>
          <a:xfrm>
            <a:off x="4663440" y="2496312"/>
            <a:ext cx="3136392" cy="9144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Deal history and live engagement outweigh job titles. Brokers, funding agents, advisor-only contacts and “investors” who are selling services are filtered out.</a:t>
            </a:r>
            <a:endParaRPr lang="en-US" sz="1050" dirty="0"/>
          </a:p>
        </p:txBody>
      </p:sp>
      <p:sp>
        <p:nvSpPr>
          <p:cNvPr id="319" name="Shape s2"/>
          <p:cNvSpPr/>
          <p:nvPr/>
        </p:nvSpPr>
        <p:spPr>
          <a:xfrm>
            <a:off x="8302752" y="2057400"/>
            <a:ext cx="3593592" cy="1417320"/>
          </a:xfrm>
          <a:prstGeom prst="roundRect">
            <a:avLst>
              <a:gd name="adj" fmla="val 3529"/>
            </a:avLst>
          </a:prstGeom>
          <a:solidFill>
            <a:srgbClr val="0D0D26">
              <a:alpha val="55000"/>
            </a:srgbClr>
          </a:solidFill>
          <a:ln w="9525">
            <a:solidFill>
              <a:srgbClr val="31316A">
                <a:alpha val="75000"/>
              </a:srgbClr>
            </a:solidFill>
            <a:prstDash val="solid"/>
          </a:ln>
        </p:spPr>
      </p:sp>
      <p:sp>
        <p:nvSpPr>
          <p:cNvPr id="320" name="Text s2l"/>
          <p:cNvSpPr/>
          <p:nvPr/>
        </p:nvSpPr>
        <p:spPr>
          <a:xfrm>
            <a:off x="8531352" y="2185416"/>
            <a:ext cx="3136392" cy="274320"/>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3  ·  ICP SCORING</a:t>
            </a:r>
            <a:endParaRPr lang="en-US" sz="1300" dirty="0"/>
          </a:p>
        </p:txBody>
      </p:sp>
      <p:sp>
        <p:nvSpPr>
          <p:cNvPr id="321" name="Text s2p"/>
          <p:cNvSpPr/>
          <p:nvPr/>
        </p:nvSpPr>
        <p:spPr>
          <a:xfrm>
            <a:off x="8531352" y="2496312"/>
            <a:ext cx="3136392" cy="9144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Every contact scored high, medium or low fit against a scorecard built with you. High fit goes first. Scripts A/B tested against real replies.</a:t>
            </a:r>
            <a:endParaRPr lang="en-US" sz="1050" dirty="0"/>
          </a:p>
        </p:txBody>
      </p:sp>
      <p:sp>
        <p:nvSpPr>
          <p:cNvPr id="322" name="Shape s3"/>
          <p:cNvSpPr/>
          <p:nvPr/>
        </p:nvSpPr>
        <p:spPr>
          <a:xfrm>
            <a:off x="566928" y="3611880"/>
            <a:ext cx="3593592" cy="1417320"/>
          </a:xfrm>
          <a:prstGeom prst="roundRect">
            <a:avLst>
              <a:gd name="adj" fmla="val 3529"/>
            </a:avLst>
          </a:prstGeom>
          <a:solidFill>
            <a:srgbClr val="0D0D26">
              <a:alpha val="55000"/>
            </a:srgbClr>
          </a:solidFill>
          <a:ln w="9525">
            <a:solidFill>
              <a:srgbClr val="31316A">
                <a:alpha val="75000"/>
              </a:srgbClr>
            </a:solidFill>
            <a:prstDash val="solid"/>
          </a:ln>
        </p:spPr>
      </p:sp>
      <p:sp>
        <p:nvSpPr>
          <p:cNvPr id="323" name="Text s3l"/>
          <p:cNvSpPr/>
          <p:nvPr/>
        </p:nvSpPr>
        <p:spPr>
          <a:xfrm>
            <a:off x="795528" y="3739896"/>
            <a:ext cx="3136392" cy="274320"/>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4  ·  MANUAL REVIEW</a:t>
            </a:r>
            <a:endParaRPr lang="en-US" sz="1300" dirty="0"/>
          </a:p>
        </p:txBody>
      </p:sp>
      <p:sp>
        <p:nvSpPr>
          <p:cNvPr id="324" name="Text s3p"/>
          <p:cNvSpPr/>
          <p:nvPr/>
        </p:nvSpPr>
        <p:spPr>
          <a:xfrm>
            <a:off x="795528" y="4050792"/>
            <a:ext cx="3136392" cy="9144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A dedicated account manager hand-checks every high-fit profile before a message goes out, and learns your story well enough to tell it in your voice.</a:t>
            </a:r>
            <a:endParaRPr lang="en-US" sz="1050" dirty="0"/>
          </a:p>
        </p:txBody>
      </p:sp>
      <p:sp>
        <p:nvSpPr>
          <p:cNvPr id="325" name="Shape s4"/>
          <p:cNvSpPr/>
          <p:nvPr/>
        </p:nvSpPr>
        <p:spPr>
          <a:xfrm>
            <a:off x="4434840" y="3611880"/>
            <a:ext cx="3593592" cy="1417320"/>
          </a:xfrm>
          <a:prstGeom prst="roundRect">
            <a:avLst>
              <a:gd name="adj" fmla="val 3529"/>
            </a:avLst>
          </a:prstGeom>
          <a:solidFill>
            <a:srgbClr val="0D0D26">
              <a:alpha val="55000"/>
            </a:srgbClr>
          </a:solidFill>
          <a:ln w="9525">
            <a:solidFill>
              <a:srgbClr val="31316A">
                <a:alpha val="75000"/>
              </a:srgbClr>
            </a:solidFill>
            <a:prstDash val="solid"/>
          </a:ln>
        </p:spPr>
      </p:sp>
      <p:sp>
        <p:nvSpPr>
          <p:cNvPr id="326" name="Text s4l"/>
          <p:cNvSpPr/>
          <p:nvPr/>
        </p:nvSpPr>
        <p:spPr>
          <a:xfrm>
            <a:off x="4663440" y="3739896"/>
            <a:ext cx="3136392" cy="274320"/>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5  ·  PRE-CALL QUALIFICATION</a:t>
            </a:r>
            <a:endParaRPr lang="en-US" sz="1300" dirty="0"/>
          </a:p>
        </p:txBody>
      </p:sp>
      <p:sp>
        <p:nvSpPr>
          <p:cNvPr id="327" name="Text s4p"/>
          <p:cNvSpPr/>
          <p:nvPr/>
        </p:nvSpPr>
        <p:spPr>
          <a:xfrm>
            <a:off x="4663440" y="4050792"/>
            <a:ext cx="3136392" cy="9144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Every booking routes through a short form: accreditation, check size, timeline, sectors. A briefing before every call; soft letdowns for the wrong fit.</a:t>
            </a:r>
            <a:endParaRPr lang="en-US" sz="1050" dirty="0"/>
          </a:p>
        </p:txBody>
      </p:sp>
      <p:sp>
        <p:nvSpPr>
          <p:cNvPr id="328" name="Shape s5"/>
          <p:cNvSpPr/>
          <p:nvPr/>
        </p:nvSpPr>
        <p:spPr>
          <a:xfrm>
            <a:off x="8302752" y="3611880"/>
            <a:ext cx="3593592" cy="1417320"/>
          </a:xfrm>
          <a:prstGeom prst="roundRect">
            <a:avLst>
              <a:gd name="adj" fmla="val 3529"/>
            </a:avLst>
          </a:prstGeom>
          <a:solidFill>
            <a:srgbClr val="0D0D26">
              <a:alpha val="55000"/>
            </a:srgbClr>
          </a:solidFill>
          <a:ln w="9525">
            <a:solidFill>
              <a:srgbClr val="31316A">
                <a:alpha val="75000"/>
              </a:srgbClr>
            </a:solidFill>
            <a:prstDash val="solid"/>
          </a:ln>
        </p:spPr>
      </p:sp>
      <p:sp>
        <p:nvSpPr>
          <p:cNvPr id="329" name="Text s5l"/>
          <p:cNvSpPr/>
          <p:nvPr/>
        </p:nvSpPr>
        <p:spPr>
          <a:xfrm>
            <a:off x="8531352" y="3739896"/>
            <a:ext cx="3136392" cy="274320"/>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6  ·  YOUR FINAL APPROVAL</a:t>
            </a:r>
            <a:endParaRPr lang="en-US" sz="1300" dirty="0"/>
          </a:p>
        </p:txBody>
      </p:sp>
      <p:sp>
        <p:nvSpPr>
          <p:cNvPr id="330" name="Text s5p"/>
          <p:cNvSpPr/>
          <p:nvPr/>
        </p:nvSpPr>
        <p:spPr>
          <a:xfrm>
            <a:off x="8531352" y="4050792"/>
            <a:ext cx="3136392" cy="9144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Accept, vet further or decline every meeting. Shared CRM from day one, weekly reporting, monthly strategy calls. If something isn’t working, you hear it from us first.</a:t>
            </a:r>
            <a:endParaRPr lang="en-US" sz="1050" dirty="0"/>
          </a:p>
        </p:txBody>
      </p:sp>
      <p:sp>
        <p:nvSpPr>
          <p:cNvPr id="15" name="Shape 12"/>
          <p:cNvSpPr/>
          <p:nvPr/>
        </p:nvSpPr>
        <p:spPr>
          <a:xfrm>
            <a:off x="566928" y="5212080"/>
            <a:ext cx="11338560" cy="1143000"/>
          </a:xfrm>
          <a:prstGeom prst="roundRect">
            <a:avLst>
              <a:gd name="adj" fmla="val 4865"/>
            </a:avLst>
          </a:prstGeom>
          <a:solidFill>
            <a:srgbClr val="0D0D26">
              <a:alpha val="55000"/>
            </a:srgbClr>
          </a:solidFill>
          <a:ln w="9525">
            <a:solidFill>
              <a:srgbClr val="31316A">
                <a:alpha val="75000"/>
              </a:srgbClr>
            </a:solidFill>
            <a:prstDash val="solid"/>
          </a:ln>
        </p:spPr>
      </p:sp>
      <p:sp>
        <p:nvSpPr>
          <p:cNvPr id="16" name="Text 13"/>
          <p:cNvSpPr/>
          <p:nvPr/>
        </p:nvSpPr>
        <p:spPr>
          <a:xfrm>
            <a:off x="795528" y="5340096"/>
            <a:ext cx="2743200" cy="274320"/>
          </a:xfrm>
          <a:prstGeom prst="rect">
            <a:avLst/>
          </a:prstGeom>
          <a:noFill/>
          <a:ln/>
        </p:spPr>
        <p:txBody>
          <a:bodyPr wrap="square" lIns="0" tIns="0" rIns="0" bIns="0" rtlCol="0" anchor="ctr"/>
          <a:lstStyle/>
          <a:p>
            <a:pPr indent="0" marL="0">
              <a:buNone/>
            </a:pPr>
            <a:r>
              <a:rPr lang="en-US" sz="1400" b="1" spc="100" kern="0" dirty="0">
                <a:solidFill>
                  <a:srgbClr val="7C6CFF"/>
                </a:solidFill>
                <a:latin typeface="Arial" pitchFamily="34" charset="0"/>
                <a:ea typeface="Arial" pitchFamily="34" charset="-122"/>
                <a:cs typeface="Arial" pitchFamily="34" charset="-120"/>
              </a:rPr>
              <a:t>THE FLOW</a:t>
            </a:r>
            <a:endParaRPr lang="en-US" sz="1400" dirty="0"/>
          </a:p>
        </p:txBody>
      </p:sp>
      <p:sp>
        <p:nvSpPr>
          <p:cNvPr id="17" name="Text 14"/>
          <p:cNvSpPr/>
          <p:nvPr/>
        </p:nvSpPr>
        <p:spPr>
          <a:xfrm>
            <a:off x="795528" y="5632704"/>
            <a:ext cx="10881360" cy="640080"/>
          </a:xfrm>
          <a:prstGeom prst="rect">
            <a:avLst/>
          </a:prstGeom>
          <a:noFill/>
          <a:ln/>
        </p:spPr>
        <p:txBody>
          <a:bodyPr wrap="square" lIns="0" tIns="0" rIns="0" bIns="0" rtlCol="0" anchor="t"/>
          <a:lstStyle/>
          <a:p>
            <a:pPr indent="0" marL="0">
              <a:lnSpc>
                <a:spcPct val="120000"/>
              </a:lnSpc>
              <a:buNone/>
            </a:pPr>
            <a:r>
              <a:rPr lang="en-US" sz="1200" dirty="0">
                <a:solidFill>
                  <a:srgbClr val="FFFFFF"/>
                </a:solidFill>
                <a:latin typeface="Arial" pitchFamily="34" charset="0"/>
                <a:ea typeface="Arial" pitchFamily="34" charset="-122"/>
                <a:cs typeface="Arial" pitchFamily="34" charset="-120"/>
              </a:rPr>
              <a:t>Multi-source data → signal filters → ICP scoring → manual review → pre-call qualification → your approval. Outreach only happens after the first four steps; a meeting only lands after all six. The briefing you receive before every call is on the next page.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The Call Briefing</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WHAT LANDS IN YOUR INBOX BEFORE EVERY MEETING  ·  A REAL ONE, NAMES WITHHELD</a:t>
            </a:r>
            <a:endParaRPr lang="en-US" sz="1400" dirty="0"/>
          </a:p>
        </p:txBody>
      </p:sp>
      <p:sp>
        <p:nvSpPr>
          <p:cNvPr id="331" name="Shape email"/>
          <p:cNvSpPr/>
          <p:nvPr/>
        </p:nvSpPr>
        <p:spPr>
          <a:xfrm>
            <a:off x="566928" y="1965960"/>
            <a:ext cx="7452360" cy="4617720"/>
          </a:xfrm>
          <a:prstGeom prst="roundRect">
            <a:avLst>
              <a:gd name="adj" fmla="val 2500"/>
            </a:avLst>
          </a:prstGeom>
          <a:solidFill>
            <a:srgbClr val="FFFFFF"/>
          </a:solidFill>
          <a:ln>
            <a:noFill/>
          </a:ln>
        </p:spPr>
      </p:sp>
      <p:sp>
        <p:nvSpPr>
          <p:cNvPr id="332" name="Text e-subj"/>
          <p:cNvSpPr txBox="1"/>
          <p:nvPr/>
        </p:nvSpPr>
        <p:spPr>
          <a:xfrm>
            <a:off x="822960" y="2103120"/>
            <a:ext cx="6940296" cy="256032"/>
          </a:xfrm>
          <a:prstGeom prst="rect">
            <a:avLst/>
          </a:prstGeom>
          <a:noFill/>
        </p:spPr>
        <p:txBody>
          <a:bodyPr wrap="square" lIns="0" tIns="0" rIns="0" bIns="0" rtlCol="0" anchor="t"/>
          <a:lstStyle/>
          <a:p>
            <a:pPr indent="0" marL="0">
              <a:lnSpc>
                <a:spcPct val="112000"/>
              </a:lnSpc>
              <a:spcAft>
                <a:spcPts val="300"/>
              </a:spcAft>
              <a:buNone/>
            </a:pPr>
            <a:r>
              <a:rPr lang="en-US" sz="1150" b="1" dirty="0">
                <a:solidFill>
                  <a:srgbClr val="1A1A2E"/>
                </a:solidFill>
                <a:latin typeface="Arial" pitchFamily="34" charset="0"/>
                <a:ea typeface="Arial" pitchFamily="34" charset="-122"/>
                <a:cs typeface="Arial" pitchFamily="34" charset="-120"/>
              </a:rPr>
              <a:t xml:space="preserve">CONFIRMED MEETING: New Scheduled Call – [Prospect]</a:t>
            </a:r>
            <a:endParaRPr lang="en-US" sz="1150" dirty="0"/>
          </a:p>
        </p:txBody>
      </p:sp>
      <p:sp>
        <p:nvSpPr>
          <p:cNvPr id="333" name="Text e-from"/>
          <p:cNvSpPr txBox="1"/>
          <p:nvPr/>
        </p:nvSpPr>
        <p:spPr>
          <a:xfrm>
            <a:off x="822960" y="2359152"/>
            <a:ext cx="6940296" cy="182880"/>
          </a:xfrm>
          <a:prstGeom prst="rect">
            <a:avLst/>
          </a:prstGeom>
          <a:noFill/>
        </p:spPr>
        <p:txBody>
          <a:bodyPr wrap="square" lIns="0" tIns="0" rIns="0" bIns="0" rtlCol="0" anchor="t"/>
          <a:lstStyle/>
          <a:p>
            <a:pPr indent="0" marL="0">
              <a:lnSpc>
                <a:spcPct val="112000"/>
              </a:lnSpc>
              <a:spcAft>
                <a:spcPts val="300"/>
              </a:spcAft>
              <a:buNone/>
            </a:pPr>
            <a:r>
              <a:rPr lang="en-US" sz="800" dirty="0">
                <a:solidFill>
                  <a:srgbClr val="5F6368"/>
                </a:solidFill>
                <a:latin typeface="Arial" pitchFamily="34" charset="0"/>
                <a:ea typeface="Arial" pitchFamily="34" charset="-122"/>
                <a:cs typeface="Arial" pitchFamily="34" charset="-120"/>
              </a:rPr>
              <a:t xml:space="preserve">From: your ThinkFISH account manager   ·   To: you   ·   Cc: Myra Grama, Freizle Abarrientos   ·   Thu, Sep 17, 2026, 6:26 PM</a:t>
            </a:r>
            <a:endParaRPr lang="en-US" sz="800" dirty="0"/>
          </a:p>
        </p:txBody>
      </p:sp>
      <p:sp>
        <p:nvSpPr>
          <p:cNvPr id="334" name="Shape e-rule"/>
          <p:cNvSpPr/>
          <p:nvPr/>
        </p:nvSpPr>
        <p:spPr>
          <a:xfrm>
            <a:off x="822960" y="2596896"/>
            <a:ext cx="6940296" cy="13716"/>
          </a:xfrm>
          <a:prstGeom prst="rect">
            <a:avLst/>
          </a:prstGeom>
          <a:solidFill>
            <a:srgbClr val="DADCE0"/>
          </a:solidFill>
          <a:ln>
            <a:noFill/>
          </a:ln>
        </p:spPr>
      </p:sp>
      <p:sp>
        <p:nvSpPr>
          <p:cNvPr id="335" name="Text e-2.94"/>
          <p:cNvSpPr txBox="1"/>
          <p:nvPr/>
        </p:nvSpPr>
        <p:spPr>
          <a:xfrm>
            <a:off x="822960" y="2688336"/>
            <a:ext cx="6940296" cy="640080"/>
          </a:xfrm>
          <a:prstGeom prst="rect">
            <a:avLst/>
          </a:prstGeom>
          <a:noFill/>
        </p:spPr>
        <p:txBody>
          <a:bodyPr wrap="square" lIns="0" tIns="0" rIns="0" bIns="0" rtlCol="0" anchor="t"/>
          <a:lstStyle/>
          <a:p>
            <a:pPr indent="0" marL="0">
              <a:lnSpc>
                <a:spcPct val="110000"/>
              </a:lnSpc>
              <a:spcAft>
                <a:spcPts val="150"/>
              </a:spcAft>
              <a:buNone/>
            </a:pPr>
            <a:r>
              <a:rPr lang="en-US" sz="850" dirty="0">
                <a:solidFill>
                  <a:srgbClr val="333333"/>
                </a:solidFill>
                <a:latin typeface="Arial" pitchFamily="34" charset="0"/>
                <a:ea typeface="Arial" pitchFamily="34" charset="-122"/>
                <a:cs typeface="Arial" pitchFamily="34" charset="-120"/>
              </a:rPr>
              <a:t xml:space="preserve">Here is the booking summary for your upcoming call with [Prospect] on Tuesday, September 22, at 5:30pm ET. This meeting came through outbound LinkedIn outreach, and is categorized under </a:t>
            </a:r>
            <a:r>
              <a:rPr lang="en-US" sz="850" b="1" dirty="0">
                <a:solidFill>
                  <a:srgbClr val="333333"/>
                </a:solidFill>
                <a:latin typeface="Arial" pitchFamily="34" charset="0"/>
                <a:ea typeface="Arial" pitchFamily="34" charset="-122"/>
                <a:cs typeface="Arial" pitchFamily="34" charset="-120"/>
              </a:rPr>
              <a:t xml:space="preserve">Segment A (Hospitality-Connected Investors)</a:t>
            </a:r>
            <a:r>
              <a:rPr lang="en-US" sz="850" dirty="0">
                <a:solidFill>
                  <a:srgbClr val="333333"/>
                </a:solidFill>
                <a:latin typeface="Arial" pitchFamily="34" charset="0"/>
                <a:ea typeface="Arial" pitchFamily="34" charset="-122"/>
                <a:cs typeface="Arial" pitchFamily="34" charset="-120"/>
              </a:rPr>
              <a:t xml:space="preserve">, with secondary alignment to </a:t>
            </a:r>
            <a:r>
              <a:rPr lang="en-US" sz="850" b="1" dirty="0">
                <a:solidFill>
                  <a:srgbClr val="333333"/>
                </a:solidFill>
                <a:latin typeface="Arial" pitchFamily="34" charset="0"/>
                <a:ea typeface="Arial" pitchFamily="34" charset="-122"/>
                <a:cs typeface="Arial" pitchFamily="34" charset="-120"/>
              </a:rPr>
              <a:t xml:space="preserve">Segment C (Operator-Turned-Investor / High-Income Professional)</a:t>
            </a:r>
            <a:r>
              <a:rPr lang="en-US" sz="850" dirty="0">
                <a:solidFill>
                  <a:srgbClr val="333333"/>
                </a:solidFill>
                <a:latin typeface="Arial" pitchFamily="34" charset="0"/>
                <a:ea typeface="Arial" pitchFamily="34" charset="-122"/>
                <a:cs typeface="Arial" pitchFamily="34" charset="-120"/>
              </a:rPr>
              <a:t xml:space="preserve">. He initially pushed back hard on the original pitch, questioning whether luggage storage footprint would move a hotel’s P&amp;L, then re-engaged and booked once the conversation was reframed around the raise and his advisory perspective rather than a property-pilot pitch.</a:t>
            </a:r>
            <a:endParaRPr lang="en-US" sz="850" dirty="0"/>
          </a:p>
        </p:txBody>
      </p:sp>
      <p:sp>
        <p:nvSpPr>
          <p:cNvPr id="336" name="Text e-3.78"/>
          <p:cNvSpPr txBox="1"/>
          <p:nvPr/>
        </p:nvSpPr>
        <p:spPr>
          <a:xfrm>
            <a:off x="822960" y="3456432"/>
            <a:ext cx="6940296" cy="868680"/>
          </a:xfrm>
          <a:prstGeom prst="rect">
            <a:avLst/>
          </a:prstGeom>
          <a:noFill/>
        </p:spPr>
        <p:txBody>
          <a:bodyPr wrap="square" lIns="0" tIns="0" rIns="0" bIns="0" rtlCol="0" anchor="t"/>
          <a:lstStyle/>
          <a:p>
            <a:pPr indent="0" marL="0">
              <a:lnSpc>
                <a:spcPct val="110000"/>
              </a:lnSpc>
              <a:spcAft>
                <a:spcPts val="150"/>
              </a:spcAft>
              <a:buNone/>
            </a:pPr>
            <a:r>
              <a:rPr lang="en-US" sz="850" b="1" dirty="0">
                <a:solidFill>
                  <a:srgbClr val="1A1A2E"/>
                </a:solidFill>
                <a:latin typeface="Arial" pitchFamily="34" charset="0"/>
                <a:ea typeface="Arial" pitchFamily="34" charset="-122"/>
                <a:cs typeface="Arial" pitchFamily="34" charset="-120"/>
              </a:rPr>
              <a:t xml:space="preserve">Summary of why he’s a good fit:</a:t>
            </a:r>
            <a:endParaRPr lang="en-US" sz="850" dirty="0"/>
          </a:p>
          <a:p>
            <a:pPr indent="0" marL="0">
              <a:lnSpc>
                <a:spcPct val="110000"/>
              </a:lnSpc>
              <a:spcAft>
                <a:spcPts val="150"/>
              </a:spcAft>
              <a:buNone/>
            </a:pPr>
            <a:r>
              <a:rPr lang="en-US" sz="850" dirty="0">
                <a:solidFill>
                  <a:srgbClr val="333333"/>
                </a:solidFill>
                <a:latin typeface="Arial" pitchFamily="34" charset="0"/>
                <a:ea typeface="Arial" pitchFamily="34" charset="-122"/>
                <a:cs typeface="Arial" pitchFamily="34" charset="-120"/>
              </a:rPr>
              <a:t xml:space="preserve">15+ years of senior hospitality brand leadership: Global Brand Director for Westin Hotels &amp; Resorts and Global Brand lead across Marriott’s premium and lifestyle portfolio, Director of Brand F&amp;B Development (Americas) at Hilton, and a stint at a VC-backed hospitality-tech startup. He now advises private clients across the hospitality sector. </a:t>
            </a:r>
            <a:r>
              <a:rPr lang="en-US" sz="850" b="1" dirty="0">
                <a:solidFill>
                  <a:srgbClr val="333333"/>
                </a:solidFill>
                <a:latin typeface="Arial" pitchFamily="34" charset="0"/>
                <a:ea typeface="Arial" pitchFamily="34" charset="-122"/>
                <a:cs typeface="Arial" pitchFamily="34" charset="-120"/>
              </a:rPr>
              <a:t xml:space="preserve">His own qualifying answers reflect that: he marked himself as not accredited but also selected a $25K–$50K check size, direct investment, and a 30–90 day timeline</a:t>
            </a:r>
            <a:r>
              <a:rPr lang="en-US" sz="850" dirty="0">
                <a:solidFill>
                  <a:srgbClr val="333333"/>
                </a:solidFill>
                <a:latin typeface="Arial" pitchFamily="34" charset="0"/>
                <a:ea typeface="Arial" pitchFamily="34" charset="-122"/>
                <a:cs typeface="Arial" pitchFamily="34" charset="-120"/>
              </a:rPr>
              <a:t xml:space="preserve">, an inconsistency worth being aware of going in. He also selected Advisor/Consultant as his partnership interest, so the call may land better framed as an operator/advisory conversation.</a:t>
            </a:r>
            <a:endParaRPr lang="en-US" sz="850" dirty="0"/>
          </a:p>
        </p:txBody>
      </p:sp>
      <p:sp>
        <p:nvSpPr>
          <p:cNvPr id="337" name="Text e-4.92"/>
          <p:cNvSpPr txBox="1"/>
          <p:nvPr/>
        </p:nvSpPr>
        <p:spPr>
          <a:xfrm>
            <a:off x="822960" y="4498848"/>
            <a:ext cx="6940296" cy="274320"/>
          </a:xfrm>
          <a:prstGeom prst="rect">
            <a:avLst/>
          </a:prstGeom>
          <a:noFill/>
        </p:spPr>
        <p:txBody>
          <a:bodyPr wrap="square" lIns="0" tIns="0" rIns="0" bIns="0" rtlCol="0" anchor="t"/>
          <a:lstStyle/>
          <a:p>
            <a:pPr indent="0" marL="0">
              <a:lnSpc>
                <a:spcPct val="110000"/>
              </a:lnSpc>
              <a:spcAft>
                <a:spcPts val="150"/>
              </a:spcAft>
              <a:buNone/>
            </a:pPr>
            <a:r>
              <a:rPr lang="en-US" sz="850" b="1" dirty="0">
                <a:solidFill>
                  <a:srgbClr val="1A1A2E"/>
                </a:solidFill>
                <a:latin typeface="Arial" pitchFamily="34" charset="0"/>
                <a:ea typeface="Arial" pitchFamily="34" charset="-122"/>
                <a:cs typeface="Arial" pitchFamily="34" charset="-120"/>
              </a:rPr>
              <a:t xml:space="preserve">Mutual Connections: </a:t>
            </a:r>
            <a:r>
              <a:rPr lang="en-US" sz="850" dirty="0">
                <a:solidFill>
                  <a:srgbClr val="333333"/>
                </a:solidFill>
                <a:latin typeface="Arial" pitchFamily="34" charset="0"/>
                <a:ea typeface="Arial" pitchFamily="34" charset="-122"/>
                <a:cs typeface="Arial" pitchFamily="34" charset="-120"/>
              </a:rPr>
              <a:t xml:space="preserve">Matthew and Cherryh.   </a:t>
            </a:r>
            <a:r>
              <a:rPr lang="en-US" sz="850" b="1" dirty="0">
                <a:solidFill>
                  <a:srgbClr val="1A1A2E"/>
                </a:solidFill>
                <a:latin typeface="Arial" pitchFamily="34" charset="0"/>
                <a:ea typeface="Arial" pitchFamily="34" charset="-122"/>
                <a:cs typeface="Arial" pitchFamily="34" charset="-120"/>
              </a:rPr>
              <a:t xml:space="preserve">Network Highlights: </a:t>
            </a:r>
            <a:r>
              <a:rPr lang="en-US" sz="850" dirty="0">
                <a:solidFill>
                  <a:srgbClr val="333333"/>
                </a:solidFill>
                <a:latin typeface="Arial" pitchFamily="34" charset="0"/>
                <a:ea typeface="Arial" pitchFamily="34" charset="-122"/>
                <a:cs typeface="Arial" pitchFamily="34" charset="-120"/>
              </a:rPr>
              <a:t xml:space="preserve">4,251 followers, active on LinkedIn engaging with colleagues’ career milestones; Cornell-affiliated.</a:t>
            </a:r>
            <a:endParaRPr lang="en-US" sz="850" dirty="0"/>
          </a:p>
        </p:txBody>
      </p:sp>
      <p:sp>
        <p:nvSpPr>
          <p:cNvPr id="338" name="Text e-5.3"/>
          <p:cNvSpPr txBox="1"/>
          <p:nvPr/>
        </p:nvSpPr>
        <p:spPr>
          <a:xfrm>
            <a:off x="822960" y="4846320"/>
            <a:ext cx="6940296" cy="512064"/>
          </a:xfrm>
          <a:prstGeom prst="rect">
            <a:avLst/>
          </a:prstGeom>
          <a:noFill/>
        </p:spPr>
        <p:txBody>
          <a:bodyPr wrap="square" lIns="0" tIns="0" rIns="0" bIns="0" rtlCol="0" anchor="t"/>
          <a:lstStyle/>
          <a:p>
            <a:pPr indent="0" marL="0">
              <a:lnSpc>
                <a:spcPct val="110000"/>
              </a:lnSpc>
              <a:spcAft>
                <a:spcPts val="150"/>
              </a:spcAft>
              <a:buNone/>
            </a:pPr>
            <a:r>
              <a:rPr lang="en-US" sz="850" b="1" dirty="0">
                <a:solidFill>
                  <a:srgbClr val="1A1A2E"/>
                </a:solidFill>
                <a:latin typeface="Arial" pitchFamily="34" charset="0"/>
                <a:ea typeface="Arial" pitchFamily="34" charset="-122"/>
                <a:cs typeface="Arial" pitchFamily="34" charset="-120"/>
              </a:rPr>
              <a:t xml:space="preserve">Affiliations &amp; notable initiatives: </a:t>
            </a:r>
            <a:r>
              <a:rPr lang="en-US" sz="850" dirty="0">
                <a:solidFill>
                  <a:srgbClr val="333333"/>
                </a:solidFill>
                <a:latin typeface="Arial" pitchFamily="34" charset="0"/>
                <a:ea typeface="Arial" pitchFamily="34" charset="-122"/>
                <a:cs typeface="Arial" pitchFamily="34" charset="-120"/>
              </a:rPr>
              <a:t xml:space="preserve">VP, Strategy at a hospitality brand consultancy  ·  Former Global Brand Director, Westin Hotels &amp; Resorts (Marriott International)  ·  Former Director, Brand F&amp;B Development (Americas), Hilton  ·  Led global brand strategy across Westin, Sheraton, Autograph Collection, Le Méridien, Renaissance and Delta  ·  Part of a team that drove a 5x revenue increase with 40% margin expansion across 9 markets and 200,000+ hotel guest rooms.</a:t>
            </a:r>
            <a:endParaRPr lang="en-US" sz="850" dirty="0"/>
          </a:p>
        </p:txBody>
      </p:sp>
      <p:sp>
        <p:nvSpPr>
          <p:cNvPr id="339" name="Text e-5.96"/>
          <p:cNvSpPr txBox="1"/>
          <p:nvPr/>
        </p:nvSpPr>
        <p:spPr>
          <a:xfrm>
            <a:off x="822960" y="5449824"/>
            <a:ext cx="6940296" cy="713232"/>
          </a:xfrm>
          <a:prstGeom prst="rect">
            <a:avLst/>
          </a:prstGeom>
          <a:noFill/>
        </p:spPr>
        <p:txBody>
          <a:bodyPr wrap="square" lIns="0" tIns="0" rIns="0" bIns="0" rtlCol="0" anchor="t"/>
          <a:lstStyle/>
          <a:p>
            <a:pPr indent="0" marL="0">
              <a:lnSpc>
                <a:spcPct val="108000"/>
              </a:lnSpc>
              <a:spcAft>
                <a:spcPts val="100"/>
              </a:spcAft>
              <a:buNone/>
            </a:pPr>
            <a:r>
              <a:rPr lang="en-US" sz="800" b="1" dirty="0">
                <a:solidFill>
                  <a:srgbClr val="1A1A2E"/>
                </a:solidFill>
                <a:latin typeface="Arial" pitchFamily="34" charset="0"/>
                <a:ea typeface="Arial" pitchFamily="34" charset="-122"/>
                <a:cs typeface="Arial" pitchFamily="34" charset="-120"/>
              </a:rPr>
              <a:t xml:space="preserve">Conversation Thread:</a:t>
            </a:r>
            <a:endParaRPr lang="en-US" sz="800" dirty="0"/>
          </a:p>
          <a:p>
            <a:pPr indent="0" marL="0">
              <a:lnSpc>
                <a:spcPct val="108000"/>
              </a:lnSpc>
              <a:spcAft>
                <a:spcPts val="100"/>
              </a:spcAft>
              <a:buNone/>
            </a:pPr>
            <a:r>
              <a:rPr lang="en-US" sz="800" b="1" i="1" dirty="0">
                <a:solidFill>
                  <a:srgbClr val="333333"/>
                </a:solidFill>
                <a:latin typeface="Arial" pitchFamily="34" charset="0"/>
                <a:ea typeface="Arial" pitchFamily="34" charset="-122"/>
                <a:cs typeface="Arial" pitchFamily="34" charset="-120"/>
              </a:rPr>
              <a:t xml:space="preserve">Prospect: </a:t>
            </a:r>
            <a:r>
              <a:rPr lang="en-US" sz="800" i="1" dirty="0">
                <a:solidFill>
                  <a:srgbClr val="333333"/>
                </a:solidFill>
                <a:latin typeface="Arial" pitchFamily="34" charset="0"/>
                <a:ea typeface="Arial" pitchFamily="34" charset="-122"/>
                <a:cs typeface="Arial" pitchFamily="34" charset="-120"/>
              </a:rPr>
              <a:t xml:space="preserve">“…Not sure the additional 50 sq meters a luggage storage room would change the hotel P&amp;L much if any. I’m no longer your target audience… Let me know if helpful to chat.”</a:t>
            </a:r>
            <a:endParaRPr lang="en-US" sz="800" dirty="0"/>
          </a:p>
          <a:p>
            <a:pPr indent="0" marL="0">
              <a:lnSpc>
                <a:spcPct val="108000"/>
              </a:lnSpc>
              <a:spcAft>
                <a:spcPts val="100"/>
              </a:spcAft>
              <a:buNone/>
            </a:pPr>
            <a:r>
              <a:rPr lang="en-US" sz="800" b="1" i="1" dirty="0">
                <a:solidFill>
                  <a:srgbClr val="333333"/>
                </a:solidFill>
                <a:latin typeface="Arial" pitchFamily="34" charset="0"/>
                <a:ea typeface="Arial" pitchFamily="34" charset="-122"/>
                <a:cs typeface="Arial" pitchFamily="34" charset="-120"/>
              </a:rPr>
              <a:t xml:space="preserve">Founder: </a:t>
            </a:r>
            <a:r>
              <a:rPr lang="en-US" sz="800" i="1" dirty="0">
                <a:solidFill>
                  <a:srgbClr val="333333"/>
                </a:solidFill>
                <a:latin typeface="Arial" pitchFamily="34" charset="0"/>
                <a:ea typeface="Arial" pitchFamily="34" charset="-122"/>
                <a:cs typeface="Arial" pitchFamily="34" charset="-120"/>
              </a:rPr>
              <a:t xml:space="preserve">“…To be upfront, this outreach is part of a raise we’re running, not a property-pilot pitch… Given your background, I’d genuinely value your take on it from that angle.”</a:t>
            </a:r>
            <a:endParaRPr lang="en-US" sz="800" dirty="0"/>
          </a:p>
          <a:p>
            <a:pPr indent="0" marL="0">
              <a:lnSpc>
                <a:spcPct val="108000"/>
              </a:lnSpc>
              <a:spcAft>
                <a:spcPts val="100"/>
              </a:spcAft>
              <a:buNone/>
            </a:pPr>
            <a:r>
              <a:rPr lang="en-US" sz="800" b="1" i="1" dirty="0">
                <a:solidFill>
                  <a:srgbClr val="333333"/>
                </a:solidFill>
                <a:latin typeface="Arial" pitchFamily="34" charset="0"/>
                <a:ea typeface="Arial" pitchFamily="34" charset="-122"/>
                <a:cs typeface="Arial" pitchFamily="34" charset="-120"/>
              </a:rPr>
              <a:t xml:space="preserve">Prospect: </a:t>
            </a:r>
            <a:r>
              <a:rPr lang="en-US" sz="800" i="1" dirty="0">
                <a:solidFill>
                  <a:srgbClr val="333333"/>
                </a:solidFill>
                <a:latin typeface="Arial" pitchFamily="34" charset="0"/>
                <a:ea typeface="Arial" pitchFamily="34" charset="-122"/>
                <a:cs typeface="Arial" pitchFamily="34" charset="-120"/>
              </a:rPr>
              <a:t xml:space="preserve">“Love it. Let’s connect.”  …  “Perfect. Sent. Looking forward.”</a:t>
            </a:r>
            <a:endParaRPr lang="en-US" sz="800" dirty="0"/>
          </a:p>
        </p:txBody>
      </p:sp>
      <p:sp>
        <p:nvSpPr>
          <p:cNvPr id="340" name="Text e-6.86"/>
          <p:cNvSpPr txBox="1"/>
          <p:nvPr/>
        </p:nvSpPr>
        <p:spPr>
          <a:xfrm>
            <a:off x="822960" y="6272784"/>
            <a:ext cx="6940296" cy="182880"/>
          </a:xfrm>
          <a:prstGeom prst="rect">
            <a:avLst/>
          </a:prstGeom>
          <a:noFill/>
        </p:spPr>
        <p:txBody>
          <a:bodyPr wrap="square" lIns="0" tIns="0" rIns="0" bIns="0" rtlCol="0" anchor="t"/>
          <a:lstStyle/>
          <a:p>
            <a:pPr indent="0" marL="0">
              <a:lnSpc>
                <a:spcPct val="110000"/>
              </a:lnSpc>
              <a:spcAft>
                <a:spcPts val="150"/>
              </a:spcAft>
              <a:buNone/>
            </a:pPr>
            <a:r>
              <a:rPr lang="en-US" sz="850" b="1" dirty="0">
                <a:solidFill>
                  <a:srgbClr val="1A1A2E"/>
                </a:solidFill>
                <a:latin typeface="Arial" pitchFamily="34" charset="0"/>
                <a:ea typeface="Arial" pitchFamily="34" charset="-122"/>
                <a:cs typeface="Arial" pitchFamily="34" charset="-120"/>
              </a:rPr>
              <a:t xml:space="preserve">LinkedIn Profile: </a:t>
            </a:r>
            <a:r>
              <a:rPr lang="en-US" sz="850" dirty="0">
                <a:solidFill>
                  <a:srgbClr val="1A73E8"/>
                </a:solidFill>
                <a:latin typeface="Arial" pitchFamily="34" charset="0"/>
                <a:ea typeface="Arial" pitchFamily="34" charset="-122"/>
                <a:cs typeface="Arial" pitchFamily="34" charset="-120"/>
              </a:rPr>
              <a:t xml:space="preserve">full profile attached below</a:t>
            </a:r>
            <a:r>
              <a:rPr lang="en-US" sz="850" b="1" dirty="0">
                <a:solidFill>
                  <a:srgbClr val="1A1A2E"/>
                </a:solidFill>
                <a:latin typeface="Arial" pitchFamily="34" charset="0"/>
                <a:ea typeface="Arial" pitchFamily="34" charset="-122"/>
                <a:cs typeface="Arial" pitchFamily="34" charset="-120"/>
              </a:rPr>
              <a:t xml:space="preserve">     Calendly booking: </a:t>
            </a:r>
            <a:r>
              <a:rPr lang="en-US" sz="850" dirty="0">
                <a:solidFill>
                  <a:srgbClr val="1A73E8"/>
                </a:solidFill>
                <a:latin typeface="Arial" pitchFamily="34" charset="0"/>
                <a:ea typeface="Arial" pitchFamily="34" charset="-122"/>
                <a:cs typeface="Arial" pitchFamily="34" charset="-120"/>
              </a:rPr>
              <a:t xml:space="preserve">confirmed for Tue, Sep 22, 5:30pm ET</a:t>
            </a:r>
            <a:endParaRPr lang="en-US" sz="850" dirty="0"/>
          </a:p>
        </p:txBody>
      </p:sp>
      <p:sp>
        <p:nvSpPr>
          <p:cNvPr id="341" name="Shape arrow 2.94"/>
          <p:cNvSpPr/>
          <p:nvPr/>
        </p:nvSpPr>
        <p:spPr>
          <a:xfrm>
            <a:off x="8083296" y="2706624"/>
            <a:ext cx="329184" cy="182880"/>
          </a:xfrm>
          <a:prstGeom prst="leftArrow">
            <a:avLst/>
          </a:prstGeom>
          <a:solidFill>
            <a:srgbClr val="43D5FF"/>
          </a:solidFill>
          <a:ln>
            <a:noFill/>
          </a:ln>
        </p:spPr>
      </p:sp>
      <p:sp>
        <p:nvSpPr>
          <p:cNvPr id="342" name="Text co-l 2.94"/>
          <p:cNvSpPr txBox="1"/>
          <p:nvPr/>
        </p:nvSpPr>
        <p:spPr>
          <a:xfrm>
            <a:off x="8522208" y="2670048"/>
            <a:ext cx="3108960" cy="219456"/>
          </a:xfrm>
          <a:prstGeom prst="rect">
            <a:avLst/>
          </a:prstGeom>
          <a:noFill/>
        </p:spPr>
        <p:txBody>
          <a:bodyPr wrap="square" lIns="0" tIns="0" rIns="0" bIns="0" rtlCol="0" anchor="t"/>
          <a:lstStyle/>
          <a:p>
            <a:pPr indent="0" marL="0">
              <a:lnSpc>
                <a:spcPct val="112000"/>
              </a:lnSpc>
              <a:spcAft>
                <a:spcPts val="300"/>
              </a:spcAft>
              <a:buNone/>
            </a:pPr>
            <a:r>
              <a:rPr lang="en-US" sz="1050" b="1" dirty="0">
                <a:solidFill>
                  <a:srgbClr val="43D5FF"/>
                </a:solidFill>
                <a:latin typeface="Arial" pitchFamily="34" charset="0"/>
                <a:ea typeface="Arial" pitchFamily="34" charset="-122"/>
                <a:cs typeface="Arial" pitchFamily="34" charset="-120"/>
              </a:rPr>
              <a:t xml:space="preserve">SEGMENT FIT, STATED</a:t>
            </a:r>
            <a:endParaRPr lang="en-US" sz="1050" dirty="0"/>
          </a:p>
        </p:txBody>
      </p:sp>
      <p:sp>
        <p:nvSpPr>
          <p:cNvPr id="343" name="Text co-t 2.94"/>
          <p:cNvSpPr txBox="1"/>
          <p:nvPr/>
        </p:nvSpPr>
        <p:spPr>
          <a:xfrm>
            <a:off x="8522208" y="2907792"/>
            <a:ext cx="3108960" cy="566928"/>
          </a:xfrm>
          <a:prstGeom prst="rect">
            <a:avLst/>
          </a:prstGeom>
          <a:noFill/>
        </p:spPr>
        <p:txBody>
          <a:bodyPr wrap="square" lIns="0" tIns="0" rIns="0" bIns="0" rtlCol="0" anchor="t"/>
          <a:lstStyle/>
          <a:p>
            <a:pPr indent="0" marL="0">
              <a:lnSpc>
                <a:spcPct val="110000"/>
              </a:lnSpc>
              <a:spcAft>
                <a:spcPts val="0"/>
              </a:spcAft>
              <a:buNone/>
            </a:pPr>
            <a:r>
              <a:rPr lang="en-US" sz="950" dirty="0">
                <a:solidFill>
                  <a:srgbClr val="FFFFFF"/>
                </a:solidFill>
                <a:latin typeface="Arial" pitchFamily="34" charset="0"/>
                <a:ea typeface="Arial" pitchFamily="34" charset="-122"/>
                <a:cs typeface="Arial" pitchFamily="34" charset="-120"/>
              </a:rPr>
              <a:t xml:space="preserve">Which of your ICP segments they matched and how the conversation got to a booking, so nothing is a surprise on the call.</a:t>
            </a:r>
            <a:endParaRPr lang="en-US" sz="950" dirty="0"/>
          </a:p>
        </p:txBody>
      </p:sp>
      <p:sp>
        <p:nvSpPr>
          <p:cNvPr id="344" name="Shape arrow 4"/>
          <p:cNvSpPr/>
          <p:nvPr/>
        </p:nvSpPr>
        <p:spPr>
          <a:xfrm>
            <a:off x="8083296" y="3675888"/>
            <a:ext cx="329184" cy="182880"/>
          </a:xfrm>
          <a:prstGeom prst="leftArrow">
            <a:avLst/>
          </a:prstGeom>
          <a:solidFill>
            <a:srgbClr val="43D5FF"/>
          </a:solidFill>
          <a:ln>
            <a:noFill/>
          </a:ln>
        </p:spPr>
      </p:sp>
      <p:sp>
        <p:nvSpPr>
          <p:cNvPr id="345" name="Text co-l 4"/>
          <p:cNvSpPr txBox="1"/>
          <p:nvPr/>
        </p:nvSpPr>
        <p:spPr>
          <a:xfrm>
            <a:off x="8522208" y="3639312"/>
            <a:ext cx="3108960" cy="219456"/>
          </a:xfrm>
          <a:prstGeom prst="rect">
            <a:avLst/>
          </a:prstGeom>
          <a:noFill/>
        </p:spPr>
        <p:txBody>
          <a:bodyPr wrap="square" lIns="0" tIns="0" rIns="0" bIns="0" rtlCol="0" anchor="t"/>
          <a:lstStyle/>
          <a:p>
            <a:pPr indent="0" marL="0">
              <a:lnSpc>
                <a:spcPct val="112000"/>
              </a:lnSpc>
              <a:spcAft>
                <a:spcPts val="300"/>
              </a:spcAft>
              <a:buNone/>
            </a:pPr>
            <a:r>
              <a:rPr lang="en-US" sz="1050" b="1" dirty="0">
                <a:solidFill>
                  <a:srgbClr val="43D5FF"/>
                </a:solidFill>
                <a:latin typeface="Arial" pitchFamily="34" charset="0"/>
                <a:ea typeface="Arial" pitchFamily="34" charset="-122"/>
                <a:cs typeface="Arial" pitchFamily="34" charset="-120"/>
              </a:rPr>
              <a:t xml:space="preserve">WHY THEY’RE WORTH YOUR TIME</a:t>
            </a:r>
            <a:endParaRPr lang="en-US" sz="1050" dirty="0"/>
          </a:p>
        </p:txBody>
      </p:sp>
      <p:sp>
        <p:nvSpPr>
          <p:cNvPr id="346" name="Text co-t 4"/>
          <p:cNvSpPr txBox="1"/>
          <p:nvPr/>
        </p:nvSpPr>
        <p:spPr>
          <a:xfrm>
            <a:off x="8522208" y="3877056"/>
            <a:ext cx="3108960" cy="566928"/>
          </a:xfrm>
          <a:prstGeom prst="rect">
            <a:avLst/>
          </a:prstGeom>
          <a:noFill/>
        </p:spPr>
        <p:txBody>
          <a:bodyPr wrap="square" lIns="0" tIns="0" rIns="0" bIns="0" rtlCol="0" anchor="t"/>
          <a:lstStyle/>
          <a:p>
            <a:pPr indent="0" marL="0">
              <a:lnSpc>
                <a:spcPct val="110000"/>
              </a:lnSpc>
              <a:spcAft>
                <a:spcPts val="0"/>
              </a:spcAft>
              <a:buNone/>
            </a:pPr>
            <a:r>
              <a:rPr lang="en-US" sz="950" dirty="0">
                <a:solidFill>
                  <a:srgbClr val="FFFFFF"/>
                </a:solidFill>
                <a:latin typeface="Arial" pitchFamily="34" charset="0"/>
                <a:ea typeface="Arial" pitchFamily="34" charset="-122"/>
                <a:cs typeface="Arial" pitchFamily="34" charset="-120"/>
              </a:rPr>
              <a:t xml:space="preserve">Background, their own qualifying answers and an honest read on how to frame the call, inconsistencies included.</a:t>
            </a:r>
            <a:endParaRPr lang="en-US" sz="950" dirty="0"/>
          </a:p>
        </p:txBody>
      </p:sp>
      <p:sp>
        <p:nvSpPr>
          <p:cNvPr id="347" name="Shape arrow 5.14"/>
          <p:cNvSpPr/>
          <p:nvPr/>
        </p:nvSpPr>
        <p:spPr>
          <a:xfrm>
            <a:off x="8083296" y="4718304"/>
            <a:ext cx="329184" cy="182880"/>
          </a:xfrm>
          <a:prstGeom prst="leftArrow">
            <a:avLst/>
          </a:prstGeom>
          <a:solidFill>
            <a:srgbClr val="43D5FF"/>
          </a:solidFill>
          <a:ln>
            <a:noFill/>
          </a:ln>
        </p:spPr>
      </p:sp>
      <p:sp>
        <p:nvSpPr>
          <p:cNvPr id="348" name="Text co-l 5.14"/>
          <p:cNvSpPr txBox="1"/>
          <p:nvPr/>
        </p:nvSpPr>
        <p:spPr>
          <a:xfrm>
            <a:off x="8522208" y="4681728"/>
            <a:ext cx="3108960" cy="219456"/>
          </a:xfrm>
          <a:prstGeom prst="rect">
            <a:avLst/>
          </a:prstGeom>
          <a:noFill/>
        </p:spPr>
        <p:txBody>
          <a:bodyPr wrap="square" lIns="0" tIns="0" rIns="0" bIns="0" rtlCol="0" anchor="t"/>
          <a:lstStyle/>
          <a:p>
            <a:pPr indent="0" marL="0">
              <a:lnSpc>
                <a:spcPct val="112000"/>
              </a:lnSpc>
              <a:spcAft>
                <a:spcPts val="300"/>
              </a:spcAft>
              <a:buNone/>
            </a:pPr>
            <a:r>
              <a:rPr lang="en-US" sz="1050" b="1" dirty="0">
                <a:solidFill>
                  <a:srgbClr val="43D5FF"/>
                </a:solidFill>
                <a:latin typeface="Arial" pitchFamily="34" charset="0"/>
                <a:ea typeface="Arial" pitchFamily="34" charset="-122"/>
                <a:cs typeface="Arial" pitchFamily="34" charset="-120"/>
              </a:rPr>
              <a:t xml:space="preserve">WARM PATHS IN + TRACK RECORD</a:t>
            </a:r>
            <a:endParaRPr lang="en-US" sz="1050" dirty="0"/>
          </a:p>
        </p:txBody>
      </p:sp>
      <p:sp>
        <p:nvSpPr>
          <p:cNvPr id="349" name="Text co-t 5.14"/>
          <p:cNvSpPr txBox="1"/>
          <p:nvPr/>
        </p:nvSpPr>
        <p:spPr>
          <a:xfrm>
            <a:off x="8522208" y="4919472"/>
            <a:ext cx="3108960" cy="566928"/>
          </a:xfrm>
          <a:prstGeom prst="rect">
            <a:avLst/>
          </a:prstGeom>
          <a:noFill/>
        </p:spPr>
        <p:txBody>
          <a:bodyPr wrap="square" lIns="0" tIns="0" rIns="0" bIns="0" rtlCol="0" anchor="t"/>
          <a:lstStyle/>
          <a:p>
            <a:pPr indent="0" marL="0">
              <a:lnSpc>
                <a:spcPct val="110000"/>
              </a:lnSpc>
              <a:spcAft>
                <a:spcPts val="0"/>
              </a:spcAft>
              <a:buNone/>
            </a:pPr>
            <a:r>
              <a:rPr lang="en-US" sz="950" dirty="0">
                <a:solidFill>
                  <a:srgbClr val="FFFFFF"/>
                </a:solidFill>
                <a:latin typeface="Arial" pitchFamily="34" charset="0"/>
                <a:ea typeface="Arial" pitchFamily="34" charset="-122"/>
                <a:cs typeface="Arial" pitchFamily="34" charset="-120"/>
              </a:rPr>
              <a:t xml:space="preserve">Mutual connections, shared schools, roles, affiliations and initiatives that matter to you, each checked by a person.</a:t>
            </a:r>
            <a:endParaRPr lang="en-US" sz="950" dirty="0"/>
          </a:p>
        </p:txBody>
      </p:sp>
      <p:sp>
        <p:nvSpPr>
          <p:cNvPr id="350" name="Shape arrow 6.12"/>
          <p:cNvSpPr/>
          <p:nvPr/>
        </p:nvSpPr>
        <p:spPr>
          <a:xfrm>
            <a:off x="8083296" y="5614416"/>
            <a:ext cx="329184" cy="182880"/>
          </a:xfrm>
          <a:prstGeom prst="leftArrow">
            <a:avLst/>
          </a:prstGeom>
          <a:solidFill>
            <a:srgbClr val="43D5FF"/>
          </a:solidFill>
          <a:ln>
            <a:noFill/>
          </a:ln>
        </p:spPr>
      </p:sp>
      <p:sp>
        <p:nvSpPr>
          <p:cNvPr id="351" name="Text co-l 6.12"/>
          <p:cNvSpPr txBox="1"/>
          <p:nvPr/>
        </p:nvSpPr>
        <p:spPr>
          <a:xfrm>
            <a:off x="8522208" y="5577840"/>
            <a:ext cx="3108960" cy="219456"/>
          </a:xfrm>
          <a:prstGeom prst="rect">
            <a:avLst/>
          </a:prstGeom>
          <a:noFill/>
        </p:spPr>
        <p:txBody>
          <a:bodyPr wrap="square" lIns="0" tIns="0" rIns="0" bIns="0" rtlCol="0" anchor="t"/>
          <a:lstStyle/>
          <a:p>
            <a:pPr indent="0" marL="0">
              <a:lnSpc>
                <a:spcPct val="112000"/>
              </a:lnSpc>
              <a:spcAft>
                <a:spcPts val="300"/>
              </a:spcAft>
              <a:buNone/>
            </a:pPr>
            <a:r>
              <a:rPr lang="en-US" sz="1050" b="1" dirty="0">
                <a:solidFill>
                  <a:srgbClr val="43D5FF"/>
                </a:solidFill>
                <a:latin typeface="Arial" pitchFamily="34" charset="0"/>
                <a:ea typeface="Arial" pitchFamily="34" charset="-122"/>
                <a:cs typeface="Arial" pitchFamily="34" charset="-120"/>
              </a:rPr>
              <a:t xml:space="preserve">THE WHOLE CONVERSATION</a:t>
            </a:r>
            <a:endParaRPr lang="en-US" sz="1050" dirty="0"/>
          </a:p>
        </p:txBody>
      </p:sp>
      <p:sp>
        <p:nvSpPr>
          <p:cNvPr id="352" name="Text co-t 6.12"/>
          <p:cNvSpPr txBox="1"/>
          <p:nvPr/>
        </p:nvSpPr>
        <p:spPr>
          <a:xfrm>
            <a:off x="8522208" y="5815584"/>
            <a:ext cx="3108960" cy="566928"/>
          </a:xfrm>
          <a:prstGeom prst="rect">
            <a:avLst/>
          </a:prstGeom>
          <a:noFill/>
        </p:spPr>
        <p:txBody>
          <a:bodyPr wrap="square" lIns="0" tIns="0" rIns="0" bIns="0" rtlCol="0" anchor="t"/>
          <a:lstStyle/>
          <a:p>
            <a:pPr indent="0" marL="0">
              <a:lnSpc>
                <a:spcPct val="110000"/>
              </a:lnSpc>
              <a:spcAft>
                <a:spcPts val="0"/>
              </a:spcAft>
              <a:buNone/>
            </a:pPr>
            <a:r>
              <a:rPr lang="en-US" sz="950" dirty="0">
                <a:solidFill>
                  <a:srgbClr val="FFFFFF"/>
                </a:solidFill>
                <a:latin typeface="Arial" pitchFamily="34" charset="0"/>
                <a:ea typeface="Arial" pitchFamily="34" charset="-122"/>
                <a:cs typeface="Arial" pitchFamily="34" charset="-120"/>
              </a:rPr>
              <a:t xml:space="preserve">Every message exchanged, so you walk in knowing exactly what was said and promised.</a:t>
            </a:r>
            <a:endParaRPr lang="en-US" sz="950" dirty="0"/>
          </a:p>
        </p:txBody>
      </p:sp>
      <p:sp>
        <p:nvSpPr>
          <p:cNvPr id="353" name="Shape arrow 6.88"/>
          <p:cNvSpPr/>
          <p:nvPr/>
        </p:nvSpPr>
        <p:spPr>
          <a:xfrm>
            <a:off x="8083296" y="6309360"/>
            <a:ext cx="329184" cy="182880"/>
          </a:xfrm>
          <a:prstGeom prst="leftArrow">
            <a:avLst/>
          </a:prstGeom>
          <a:solidFill>
            <a:srgbClr val="43D5FF"/>
          </a:solidFill>
          <a:ln>
            <a:noFill/>
          </a:ln>
        </p:spPr>
      </p:sp>
      <p:sp>
        <p:nvSpPr>
          <p:cNvPr id="354" name="Text co-l 6.88"/>
          <p:cNvSpPr txBox="1"/>
          <p:nvPr/>
        </p:nvSpPr>
        <p:spPr>
          <a:xfrm>
            <a:off x="8522208" y="6272784"/>
            <a:ext cx="3108960" cy="219456"/>
          </a:xfrm>
          <a:prstGeom prst="rect">
            <a:avLst/>
          </a:prstGeom>
          <a:noFill/>
        </p:spPr>
        <p:txBody>
          <a:bodyPr wrap="square" lIns="0" tIns="0" rIns="0" bIns="0" rtlCol="0" anchor="t"/>
          <a:lstStyle/>
          <a:p>
            <a:pPr indent="0" marL="0">
              <a:lnSpc>
                <a:spcPct val="112000"/>
              </a:lnSpc>
              <a:spcAft>
                <a:spcPts val="300"/>
              </a:spcAft>
              <a:buNone/>
            </a:pPr>
            <a:r>
              <a:rPr lang="en-US" sz="1050" b="1" dirty="0">
                <a:solidFill>
                  <a:srgbClr val="43D5FF"/>
                </a:solidFill>
                <a:latin typeface="Arial" pitchFamily="34" charset="0"/>
                <a:ea typeface="Arial" pitchFamily="34" charset="-122"/>
                <a:cs typeface="Arial" pitchFamily="34" charset="-120"/>
              </a:rPr>
              <a:t xml:space="preserve">PROFILE + BOOKING</a:t>
            </a:r>
            <a:endParaRPr lang="en-US" sz="1050" dirty="0"/>
          </a:p>
        </p:txBody>
      </p:sp>
      <p:sp>
        <p:nvSpPr>
          <p:cNvPr id="355" name="Text co-t 6.88"/>
          <p:cNvSpPr txBox="1"/>
          <p:nvPr/>
        </p:nvSpPr>
        <p:spPr>
          <a:xfrm>
            <a:off x="8522208" y="6510528"/>
            <a:ext cx="3108960" cy="566928"/>
          </a:xfrm>
          <a:prstGeom prst="rect">
            <a:avLst/>
          </a:prstGeom>
          <a:noFill/>
        </p:spPr>
        <p:txBody>
          <a:bodyPr wrap="square" lIns="0" tIns="0" rIns="0" bIns="0" rtlCol="0" anchor="t"/>
          <a:lstStyle/>
          <a:p>
            <a:pPr indent="0" marL="0">
              <a:lnSpc>
                <a:spcPct val="110000"/>
              </a:lnSpc>
              <a:spcAft>
                <a:spcPts val="0"/>
              </a:spcAft>
              <a:buNone/>
            </a:pPr>
            <a:r>
              <a:rPr lang="en-US" sz="950" dirty="0">
                <a:solidFill>
                  <a:srgbClr val="FFFFFF"/>
                </a:solidFill>
                <a:latin typeface="Arial" pitchFamily="34" charset="0"/>
                <a:ea typeface="Arial" pitchFamily="34" charset="-122"/>
                <a:cs typeface="Arial" pitchFamily="34" charset="-120"/>
              </a:rPr>
              <a:t xml:space="preserve">Full profile attached; the slot is already on your calendar.</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What To Expect</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VOLUME, MEETINGS, TIMING</a:t>
            </a:r>
            <a:endParaRPr lang="en-US" sz="1400" dirty="0"/>
          </a:p>
        </p:txBody>
      </p:sp>
      <p:sp>
        <p:nvSpPr>
          <p:cNvPr id="6" name="Shape 3"/>
          <p:cNvSpPr/>
          <p:nvPr/>
        </p:nvSpPr>
        <p:spPr>
          <a:xfrm>
            <a:off x="566928" y="2103120"/>
            <a:ext cx="3593592" cy="2514600"/>
          </a:xfrm>
          <a:prstGeom prst="roundRect">
            <a:avLst>
              <a:gd name="adj" fmla="val 3273"/>
            </a:avLst>
          </a:prstGeom>
          <a:solidFill>
            <a:srgbClr val="0D0D26">
              <a:alpha val="55000"/>
            </a:srgbClr>
          </a:solidFill>
          <a:ln w="9525">
            <a:solidFill>
              <a:srgbClr val="31316A">
                <a:alpha val="75000"/>
              </a:srgbClr>
            </a:solidFill>
            <a:prstDash val="solid"/>
          </a:ln>
        </p:spPr>
      </p:sp>
      <p:sp>
        <p:nvSpPr>
          <p:cNvPr id="7" name="Text 4"/>
          <p:cNvSpPr/>
          <p:nvPr/>
        </p:nvSpPr>
        <p:spPr>
          <a:xfrm>
            <a:off x="795528" y="2286000"/>
            <a:ext cx="3136392" cy="292608"/>
          </a:xfrm>
          <a:prstGeom prst="rect">
            <a:avLst/>
          </a:prstGeom>
          <a:noFill/>
          <a:ln/>
        </p:spPr>
        <p:txBody>
          <a:bodyPr wrap="square" lIns="0" tIns="0" rIns="0" bIns="0" rtlCol="0" anchor="ctr"/>
          <a:lstStyle/>
          <a:p>
            <a:pPr indent="0" marL="0">
              <a:buNone/>
            </a:pPr>
            <a:r>
              <a:rPr lang="en-US" sz="1250" b="1" spc="100" kern="0" dirty="0">
                <a:solidFill>
                  <a:srgbClr val="43D5FF"/>
                </a:solidFill>
                <a:latin typeface="Arial" pitchFamily="34" charset="0"/>
                <a:ea typeface="Arial" pitchFamily="34" charset="-122"/>
                <a:cs typeface="Arial" pitchFamily="34" charset="-120"/>
              </a:rPr>
              <a:t>OUTREACH VOLUME</a:t>
            </a:r>
            <a:endParaRPr lang="en-US" sz="1250" dirty="0"/>
          </a:p>
        </p:txBody>
      </p:sp>
      <p:sp>
        <p:nvSpPr>
          <p:cNvPr id="8" name="Text 5"/>
          <p:cNvSpPr/>
          <p:nvPr/>
        </p:nvSpPr>
        <p:spPr>
          <a:xfrm>
            <a:off x="795528" y="2560320"/>
            <a:ext cx="3136392" cy="6858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3,200</a:t>
            </a:r>
            <a:endParaRPr lang="en-US" sz="4400" dirty="0"/>
          </a:p>
        </p:txBody>
      </p:sp>
      <p:sp>
        <p:nvSpPr>
          <p:cNvPr id="9" name="Text 6"/>
          <p:cNvSpPr/>
          <p:nvPr/>
        </p:nvSpPr>
        <p:spPr>
          <a:xfrm>
            <a:off x="795528" y="3255264"/>
            <a:ext cx="3136392" cy="274320"/>
          </a:xfrm>
          <a:prstGeom prst="rect">
            <a:avLst/>
          </a:prstGeom>
          <a:noFill/>
          <a:ln/>
        </p:spPr>
        <p:txBody>
          <a:bodyPr wrap="square" lIns="0" tIns="0" rIns="0" bIns="0" rtlCol="0" anchor="ctr"/>
          <a:lstStyle/>
          <a:p>
            <a:pPr indent="0" marL="0">
              <a:buNone/>
            </a:pPr>
            <a:r>
              <a:rPr lang="en-US" sz="1100" dirty="0">
                <a:solidFill>
                  <a:srgbClr val="B9BEDC"/>
                </a:solidFill>
                <a:latin typeface="Arial" pitchFamily="34" charset="0"/>
                <a:ea typeface="Arial" pitchFamily="34" charset="-122"/>
                <a:cs typeface="Arial" pitchFamily="34" charset="-120"/>
              </a:rPr>
              <a:t>LinkedIn touches / month, two profiles</a:t>
            </a:r>
            <a:endParaRPr lang="en-US" sz="1100" dirty="0"/>
          </a:p>
        </p:txBody>
      </p:sp>
      <p:sp>
        <p:nvSpPr>
          <p:cNvPr id="10" name="Text 7"/>
          <p:cNvSpPr/>
          <p:nvPr/>
        </p:nvSpPr>
        <p:spPr>
          <a:xfrm>
            <a:off x="795528" y="3566160"/>
            <a:ext cx="3136392" cy="868680"/>
          </a:xfrm>
          <a:prstGeom prst="rect">
            <a:avLst/>
          </a:prstGeom>
          <a:noFill/>
          <a:ln/>
        </p:spPr>
        <p:txBody>
          <a:bodyPr wrap="square" lIns="0" tIns="0" rIns="0" bIns="0" rtlCol="0" anchor="t"/>
          <a:lstStyle/>
          <a:p>
            <a:pPr indent="0" marL="0">
              <a:lnSpc>
                <a:spcPct val="112000"/>
              </a:lnSpc>
              <a:buNone/>
            </a:pPr>
            <a:r>
              <a:rPr lang="en-US" sz="1050" dirty="0">
                <a:solidFill>
                  <a:srgbClr val="FFFFFF"/>
                </a:solidFill>
                <a:latin typeface="Arial" pitchFamily="34" charset="0"/>
                <a:ea typeface="Arial" pitchFamily="34" charset="-122"/>
                <a:cs typeface="Arial" pitchFamily="34" charset="-120"/>
              </a:rPr>
              <a:t>800 InMails and 800 connection invites per profile every month, from Moshin’s and your IR rep’s accounts, once fully warmed up. Every touch scored and hand-reviewed before it goes out.</a:t>
            </a:r>
            <a:endParaRPr lang="en-US" sz="1050" dirty="0"/>
          </a:p>
        </p:txBody>
      </p:sp>
      <p:sp>
        <p:nvSpPr>
          <p:cNvPr id="11" name="Shape 8"/>
          <p:cNvSpPr/>
          <p:nvPr/>
        </p:nvSpPr>
        <p:spPr>
          <a:xfrm>
            <a:off x="4434840" y="2103120"/>
            <a:ext cx="3593592" cy="2514600"/>
          </a:xfrm>
          <a:prstGeom prst="roundRect">
            <a:avLst>
              <a:gd name="adj" fmla="val 3273"/>
            </a:avLst>
          </a:prstGeom>
          <a:solidFill>
            <a:srgbClr val="0D0D26">
              <a:alpha val="55000"/>
            </a:srgbClr>
          </a:solidFill>
          <a:ln w="9525">
            <a:solidFill>
              <a:srgbClr val="31316A">
                <a:alpha val="75000"/>
              </a:srgbClr>
            </a:solidFill>
            <a:prstDash val="solid"/>
          </a:ln>
        </p:spPr>
      </p:sp>
      <p:sp>
        <p:nvSpPr>
          <p:cNvPr id="12" name="Text 9"/>
          <p:cNvSpPr/>
          <p:nvPr/>
        </p:nvSpPr>
        <p:spPr>
          <a:xfrm>
            <a:off x="4663440" y="2286000"/>
            <a:ext cx="3136392" cy="292608"/>
          </a:xfrm>
          <a:prstGeom prst="rect">
            <a:avLst/>
          </a:prstGeom>
          <a:noFill/>
          <a:ln/>
        </p:spPr>
        <p:txBody>
          <a:bodyPr wrap="square" lIns="0" tIns="0" rIns="0" bIns="0" rtlCol="0" anchor="ctr"/>
          <a:lstStyle/>
          <a:p>
            <a:pPr indent="0" marL="0">
              <a:buNone/>
            </a:pPr>
            <a:r>
              <a:rPr lang="en-US" sz="1250" b="1" spc="100" kern="0" dirty="0">
                <a:solidFill>
                  <a:srgbClr val="43D5FF"/>
                </a:solidFill>
                <a:latin typeface="Arial" pitchFamily="34" charset="0"/>
                <a:ea typeface="Arial" pitchFamily="34" charset="-122"/>
                <a:cs typeface="Arial" pitchFamily="34" charset="-120"/>
              </a:rPr>
              <a:t>QUALIFIED MEETINGS</a:t>
            </a:r>
            <a:endParaRPr lang="en-US" sz="1250" dirty="0"/>
          </a:p>
        </p:txBody>
      </p:sp>
      <p:sp>
        <p:nvSpPr>
          <p:cNvPr id="13" name="Text 10"/>
          <p:cNvSpPr/>
          <p:nvPr/>
        </p:nvSpPr>
        <p:spPr>
          <a:xfrm>
            <a:off x="4663440" y="2560320"/>
            <a:ext cx="3136392" cy="6858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2–4</a:t>
            </a:r>
            <a:endParaRPr lang="en-US" sz="4400" dirty="0"/>
          </a:p>
        </p:txBody>
      </p:sp>
      <p:sp>
        <p:nvSpPr>
          <p:cNvPr id="14" name="Text 11"/>
          <p:cNvSpPr/>
          <p:nvPr/>
        </p:nvSpPr>
        <p:spPr>
          <a:xfrm>
            <a:off x="4663440" y="3255264"/>
            <a:ext cx="3136392" cy="274320"/>
          </a:xfrm>
          <a:prstGeom prst="rect">
            <a:avLst/>
          </a:prstGeom>
          <a:noFill/>
          <a:ln/>
        </p:spPr>
        <p:txBody>
          <a:bodyPr wrap="square" lIns="0" tIns="0" rIns="0" bIns="0" rtlCol="0" anchor="ctr"/>
          <a:lstStyle/>
          <a:p>
            <a:pPr indent="0" marL="0">
              <a:buNone/>
            </a:pPr>
            <a:r>
              <a:rPr lang="en-US" sz="1100" dirty="0">
                <a:solidFill>
                  <a:srgbClr val="B9BEDC"/>
                </a:solidFill>
                <a:latin typeface="Arial" pitchFamily="34" charset="0"/>
                <a:ea typeface="Arial" pitchFamily="34" charset="-122"/>
                <a:cs typeface="Arial" pitchFamily="34" charset="-120"/>
              </a:rPr>
              <a:t>per week at steady state (month 2 onward)</a:t>
            </a:r>
            <a:endParaRPr lang="en-US" sz="1100" dirty="0"/>
          </a:p>
        </p:txBody>
      </p:sp>
      <p:sp>
        <p:nvSpPr>
          <p:cNvPr id="15" name="Text 12"/>
          <p:cNvSpPr/>
          <p:nvPr/>
        </p:nvSpPr>
        <p:spPr>
          <a:xfrm>
            <a:off x="4663440" y="3566160"/>
            <a:ext cx="3136392" cy="868680"/>
          </a:xfrm>
          <a:prstGeom prst="rect">
            <a:avLst/>
          </a:prstGeom>
          <a:noFill/>
          <a:ln/>
        </p:spPr>
        <p:txBody>
          <a:bodyPr wrap="square" lIns="0" tIns="0" rIns="0" bIns="0" rtlCol="0" anchor="t"/>
          <a:lstStyle/>
          <a:p>
            <a:pPr indent="0" marL="0">
              <a:lnSpc>
                <a:spcPct val="112000"/>
              </a:lnSpc>
              <a:buNone/>
            </a:pPr>
            <a:r>
              <a:rPr lang="en-US" sz="1050" dirty="0">
                <a:solidFill>
                  <a:srgbClr val="FFFFFF"/>
                </a:solidFill>
                <a:latin typeface="Arial" pitchFamily="34" charset="0"/>
                <a:ea typeface="Arial" pitchFamily="34" charset="-122"/>
                <a:cs typeface="Arial" pitchFamily="34" charset="-120"/>
              </a:rPr>
              <a:t>Conservatively 1–2 per profile per week once calibrated; strong audiences run more. Not a guarantee, but the range we plan around.</a:t>
            </a:r>
            <a:endParaRPr lang="en-US" sz="1050" dirty="0"/>
          </a:p>
        </p:txBody>
      </p:sp>
      <p:sp>
        <p:nvSpPr>
          <p:cNvPr id="16" name="Shape 13"/>
          <p:cNvSpPr/>
          <p:nvPr/>
        </p:nvSpPr>
        <p:spPr>
          <a:xfrm>
            <a:off x="8302752" y="2103120"/>
            <a:ext cx="3593592" cy="2514600"/>
          </a:xfrm>
          <a:prstGeom prst="roundRect">
            <a:avLst>
              <a:gd name="adj" fmla="val 3273"/>
            </a:avLst>
          </a:prstGeom>
          <a:solidFill>
            <a:srgbClr val="0D0D26">
              <a:alpha val="55000"/>
            </a:srgbClr>
          </a:solidFill>
          <a:ln w="9525">
            <a:solidFill>
              <a:srgbClr val="31316A">
                <a:alpha val="75000"/>
              </a:srgbClr>
            </a:solidFill>
            <a:prstDash val="solid"/>
          </a:ln>
        </p:spPr>
      </p:sp>
      <p:sp>
        <p:nvSpPr>
          <p:cNvPr id="17" name="Text 14"/>
          <p:cNvSpPr/>
          <p:nvPr/>
        </p:nvSpPr>
        <p:spPr>
          <a:xfrm>
            <a:off x="8531352" y="2286000"/>
            <a:ext cx="3136392" cy="292608"/>
          </a:xfrm>
          <a:prstGeom prst="rect">
            <a:avLst/>
          </a:prstGeom>
          <a:noFill/>
          <a:ln/>
        </p:spPr>
        <p:txBody>
          <a:bodyPr wrap="square" lIns="0" tIns="0" rIns="0" bIns="0" rtlCol="0" anchor="ctr"/>
          <a:lstStyle/>
          <a:p>
            <a:pPr indent="0" marL="0">
              <a:buNone/>
            </a:pPr>
            <a:r>
              <a:rPr lang="en-US" sz="1250" b="1" spc="100" kern="0" dirty="0">
                <a:solidFill>
                  <a:srgbClr val="43D5FF"/>
                </a:solidFill>
                <a:latin typeface="Arial" pitchFamily="34" charset="0"/>
                <a:ea typeface="Arial" pitchFamily="34" charset="-122"/>
                <a:cs typeface="Arial" pitchFamily="34" charset="-120"/>
              </a:rPr>
              <a:t>TIME TO FIRST MEETINGS</a:t>
            </a:r>
            <a:endParaRPr lang="en-US" sz="1250" dirty="0"/>
          </a:p>
        </p:txBody>
      </p:sp>
      <p:sp>
        <p:nvSpPr>
          <p:cNvPr id="18" name="Text 15"/>
          <p:cNvSpPr/>
          <p:nvPr/>
        </p:nvSpPr>
        <p:spPr>
          <a:xfrm>
            <a:off x="8531352" y="2560320"/>
            <a:ext cx="3136392" cy="6858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3–4</a:t>
            </a:r>
            <a:endParaRPr lang="en-US" sz="4400" dirty="0"/>
          </a:p>
        </p:txBody>
      </p:sp>
      <p:sp>
        <p:nvSpPr>
          <p:cNvPr id="19" name="Text 16"/>
          <p:cNvSpPr/>
          <p:nvPr/>
        </p:nvSpPr>
        <p:spPr>
          <a:xfrm>
            <a:off x="8531352" y="3255264"/>
            <a:ext cx="3136392" cy="274320"/>
          </a:xfrm>
          <a:prstGeom prst="rect">
            <a:avLst/>
          </a:prstGeom>
          <a:noFill/>
          <a:ln/>
        </p:spPr>
        <p:txBody>
          <a:bodyPr wrap="square" lIns="0" tIns="0" rIns="0" bIns="0" rtlCol="0" anchor="ctr"/>
          <a:lstStyle/>
          <a:p>
            <a:pPr indent="0" marL="0">
              <a:buNone/>
            </a:pPr>
            <a:r>
              <a:rPr lang="en-US" sz="1100" dirty="0">
                <a:solidFill>
                  <a:srgbClr val="B9BEDC"/>
                </a:solidFill>
                <a:latin typeface="Arial" pitchFamily="34" charset="0"/>
                <a:ea typeface="Arial" pitchFamily="34" charset="-122"/>
                <a:cs typeface="Arial" pitchFamily="34" charset="-120"/>
              </a:rPr>
              <a:t>weeks from kickoff to first booked calls</a:t>
            </a:r>
            <a:endParaRPr lang="en-US" sz="1100" dirty="0"/>
          </a:p>
        </p:txBody>
      </p:sp>
      <p:sp>
        <p:nvSpPr>
          <p:cNvPr id="20" name="Text 17"/>
          <p:cNvSpPr/>
          <p:nvPr/>
        </p:nvSpPr>
        <p:spPr>
          <a:xfrm>
            <a:off x="8531352" y="3566160"/>
            <a:ext cx="3136392" cy="868680"/>
          </a:xfrm>
          <a:prstGeom prst="rect">
            <a:avLst/>
          </a:prstGeom>
          <a:noFill/>
          <a:ln/>
        </p:spPr>
        <p:txBody>
          <a:bodyPr wrap="square" lIns="0" tIns="0" rIns="0" bIns="0" rtlCol="0" anchor="t"/>
          <a:lstStyle/>
          <a:p>
            <a:pPr indent="0" marL="0">
              <a:lnSpc>
                <a:spcPct val="112000"/>
              </a:lnSpc>
              <a:buNone/>
            </a:pPr>
            <a:r>
              <a:rPr lang="en-US" sz="1050" dirty="0">
                <a:solidFill>
                  <a:srgbClr val="FFFFFF"/>
                </a:solidFill>
                <a:latin typeface="Arial" pitchFamily="34" charset="0"/>
                <a:ea typeface="Arial" pitchFamily="34" charset="-122"/>
                <a:cs typeface="Arial" pitchFamily="34" charset="-120"/>
              </a:rPr>
              <a:t>Weeks one and two are setup: ICP, audiences, scripts, profile warm-up. A first meeting can land early; the full flow of meetings starts around day 30.</a:t>
            </a:r>
            <a:endParaRPr lang="en-US" sz="1050" dirty="0"/>
          </a:p>
        </p:txBody>
      </p:sp>
      <p:sp>
        <p:nvSpPr>
          <p:cNvPr id="21" name="Shape 18"/>
          <p:cNvSpPr/>
          <p:nvPr/>
        </p:nvSpPr>
        <p:spPr>
          <a:xfrm>
            <a:off x="566928" y="4846320"/>
            <a:ext cx="11338560" cy="1463040"/>
          </a:xfrm>
          <a:prstGeom prst="roundRect">
            <a:avLst>
              <a:gd name="adj" fmla="val 5625"/>
            </a:avLst>
          </a:prstGeom>
          <a:solidFill>
            <a:srgbClr val="0D0D26">
              <a:alpha val="55000"/>
            </a:srgbClr>
          </a:solidFill>
          <a:ln w="9525">
            <a:solidFill>
              <a:srgbClr val="31316A">
                <a:alpha val="75000"/>
              </a:srgbClr>
            </a:solidFill>
            <a:prstDash val="solid"/>
          </a:ln>
        </p:spPr>
      </p:sp>
      <p:sp>
        <p:nvSpPr>
          <p:cNvPr id="22" name="Text 19"/>
          <p:cNvSpPr/>
          <p:nvPr/>
        </p:nvSpPr>
        <p:spPr>
          <a:xfrm>
            <a:off x="795528" y="5010912"/>
            <a:ext cx="10881360" cy="274320"/>
          </a:xfrm>
          <a:prstGeom prst="rect">
            <a:avLst/>
          </a:prstGeom>
          <a:noFill/>
          <a:ln/>
        </p:spPr>
        <p:txBody>
          <a:bodyPr wrap="square" lIns="0" tIns="0" rIns="0" bIns="0" rtlCol="0" anchor="ctr"/>
          <a:lstStyle/>
          <a:p>
            <a:pPr indent="0" marL="0">
              <a:buNone/>
            </a:pPr>
            <a:r>
              <a:rPr lang="en-US" sz="1200" b="1" spc="100" kern="0" dirty="0">
                <a:solidFill>
                  <a:srgbClr val="7C6CFF"/>
                </a:solidFill>
                <a:latin typeface="Arial" pitchFamily="34" charset="0"/>
                <a:ea typeface="Arial" pitchFamily="34" charset="-122"/>
                <a:cs typeface="Arial" pitchFamily="34" charset="-120"/>
              </a:rPr>
              <a:t>WHAT “QUALIFIED” MEANS, AND THE HONEST TIMELINE</a:t>
            </a:r>
            <a:endParaRPr lang="en-US" sz="1200" dirty="0"/>
          </a:p>
        </p:txBody>
      </p:sp>
      <p:sp>
        <p:nvSpPr>
          <p:cNvPr id="23" name="Text 20"/>
          <p:cNvSpPr/>
          <p:nvPr/>
        </p:nvSpPr>
        <p:spPr>
          <a:xfrm>
            <a:off x="795528" y="5321808"/>
            <a:ext cx="10881360" cy="868680"/>
          </a:xfrm>
          <a:prstGeom prst="rect">
            <a:avLst/>
          </a:prstGeom>
          <a:noFill/>
          <a:ln/>
        </p:spPr>
        <p:txBody>
          <a:bodyPr wrap="square" lIns="0" tIns="0" rIns="0" bIns="0" rtlCol="0" anchor="t"/>
          <a:lstStyle/>
          <a:p>
            <a:pPr indent="0" marL="0">
              <a:lnSpc>
                <a:spcPct val="125000"/>
              </a:lnSpc>
              <a:buNone/>
            </a:pPr>
            <a:r>
              <a:rPr lang="en-US" sz="1150" dirty="0">
                <a:solidFill>
                  <a:srgbClr val="FFFFFF"/>
                </a:solidFill>
                <a:latin typeface="Arial" pitchFamily="34" charset="0"/>
                <a:ea typeface="Arial" pitchFamily="34" charset="-122"/>
                <a:cs typeface="Arial" pitchFamily="34" charset="-120"/>
              </a:rPr>
              <a:t>A qualified meeting is an accredited or high-net-worth individual, fund or family office with a verified history of similar investments, who passed scoring and human review, completed the self-qualification form on booking, and whose briefing you approved. Raises historically take 6–12 months from first outreach to capital in the bank. We’ll have new investors on your calendar quickly; the close depends on your process and their diligence, and we’d rather you hear that from us now.</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Your First 90 Days</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WHAT HAPPENS, AND WHEN</a:t>
            </a:r>
            <a:endParaRPr lang="en-US" sz="1400" dirty="0"/>
          </a:p>
        </p:txBody>
      </p:sp>
      <p:sp>
        <p:nvSpPr>
          <p:cNvPr id="6" name="Shape 3"/>
          <p:cNvSpPr/>
          <p:nvPr/>
        </p:nvSpPr>
        <p:spPr>
          <a:xfrm>
            <a:off x="566928" y="2148840"/>
            <a:ext cx="2724912" cy="2642616"/>
          </a:xfrm>
          <a:prstGeom prst="roundRect">
            <a:avLst>
              <a:gd name="adj" fmla="val 3114"/>
            </a:avLst>
          </a:prstGeom>
          <a:solidFill>
            <a:srgbClr val="0D0D26">
              <a:alpha val="55000"/>
            </a:srgbClr>
          </a:solidFill>
          <a:ln w="9525">
            <a:solidFill>
              <a:srgbClr val="31316A">
                <a:alpha val="75000"/>
              </a:srgbClr>
            </a:solidFill>
            <a:prstDash val="solid"/>
          </a:ln>
        </p:spPr>
      </p:sp>
      <p:sp>
        <p:nvSpPr>
          <p:cNvPr id="7" name="Text 4"/>
          <p:cNvSpPr/>
          <p:nvPr/>
        </p:nvSpPr>
        <p:spPr>
          <a:xfrm>
            <a:off x="768096" y="2350008"/>
            <a:ext cx="2322576" cy="292608"/>
          </a:xfrm>
          <a:prstGeom prst="rect">
            <a:avLst/>
          </a:prstGeom>
          <a:noFill/>
          <a:ln/>
        </p:spPr>
        <p:txBody>
          <a:bodyPr wrap="square" lIns="0" tIns="0" rIns="0" bIns="0" rtlCol="0" anchor="ctr"/>
          <a:lstStyle/>
          <a:p>
            <a:pPr indent="0" marL="0">
              <a:buNone/>
            </a:pPr>
            <a:r>
              <a:rPr lang="en-US" sz="1200" b="1" spc="100" kern="0" dirty="0">
                <a:solidFill>
                  <a:srgbClr val="43D5FF"/>
                </a:solidFill>
                <a:latin typeface="Arial" pitchFamily="34" charset="0"/>
                <a:ea typeface="Arial" pitchFamily="34" charset="-122"/>
                <a:cs typeface="Arial" pitchFamily="34" charset="-120"/>
              </a:rPr>
              <a:t>WEEKS 1-2  ·  EARLY OCT</a:t>
            </a:r>
            <a:endParaRPr lang="en-US" sz="1200" dirty="0"/>
          </a:p>
        </p:txBody>
      </p:sp>
      <p:sp>
        <p:nvSpPr>
          <p:cNvPr id="8" name="Text 5"/>
          <p:cNvSpPr/>
          <p:nvPr/>
        </p:nvSpPr>
        <p:spPr>
          <a:xfrm>
            <a:off x="768096" y="2660904"/>
            <a:ext cx="2322576" cy="56692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Setup &amp; Calibration</a:t>
            </a:r>
            <a:endParaRPr lang="en-US" sz="1600" dirty="0"/>
          </a:p>
        </p:txBody>
      </p:sp>
      <p:sp>
        <p:nvSpPr>
          <p:cNvPr id="9" name="Text 6"/>
          <p:cNvSpPr/>
          <p:nvPr/>
        </p:nvSpPr>
        <p:spPr>
          <a:xfrm>
            <a:off x="768096" y="3337560"/>
            <a:ext cx="2359152" cy="1225296"/>
          </a:xfrm>
          <a:prstGeom prst="rect">
            <a:avLst/>
          </a:prstGeom>
          <a:noFill/>
          <a:ln/>
        </p:spPr>
        <p:txBody>
          <a:bodyPr wrap="square" lIns="0" tIns="0" rIns="0" bIns="0" rtlCol="0" anchor="t"/>
          <a:lstStyle/>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Interviews: Moshin + IR rep</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Investor ICP and audiences built</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Profiles optimized, warmed up</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Scripts approved in your voice</a:t>
            </a:r>
            <a:endParaRPr lang="en-US" sz="1150" dirty="0"/>
          </a:p>
        </p:txBody>
      </p:sp>
      <p:sp>
        <p:nvSpPr>
          <p:cNvPr id="10" name="Shape 7"/>
          <p:cNvSpPr/>
          <p:nvPr/>
        </p:nvSpPr>
        <p:spPr>
          <a:xfrm>
            <a:off x="3447288" y="2148840"/>
            <a:ext cx="2724912" cy="2642616"/>
          </a:xfrm>
          <a:prstGeom prst="roundRect">
            <a:avLst>
              <a:gd name="adj" fmla="val 3114"/>
            </a:avLst>
          </a:prstGeom>
          <a:solidFill>
            <a:srgbClr val="0D0D26">
              <a:alpha val="55000"/>
            </a:srgbClr>
          </a:solidFill>
          <a:ln w="9525">
            <a:solidFill>
              <a:srgbClr val="31316A">
                <a:alpha val="75000"/>
              </a:srgbClr>
            </a:solidFill>
            <a:prstDash val="solid"/>
          </a:ln>
        </p:spPr>
      </p:sp>
      <p:sp>
        <p:nvSpPr>
          <p:cNvPr id="11" name="Text 8"/>
          <p:cNvSpPr/>
          <p:nvPr/>
        </p:nvSpPr>
        <p:spPr>
          <a:xfrm>
            <a:off x="3648456" y="2350008"/>
            <a:ext cx="2322576" cy="292608"/>
          </a:xfrm>
          <a:prstGeom prst="rect">
            <a:avLst/>
          </a:prstGeom>
          <a:noFill/>
          <a:ln/>
        </p:spPr>
        <p:txBody>
          <a:bodyPr wrap="square" lIns="0" tIns="0" rIns="0" bIns="0" rtlCol="0" anchor="ctr"/>
          <a:lstStyle/>
          <a:p>
            <a:pPr indent="0" marL="0">
              <a:buNone/>
            </a:pPr>
            <a:r>
              <a:rPr lang="en-US" sz="1200" b="1" spc="100" kern="0" dirty="0">
                <a:solidFill>
                  <a:srgbClr val="43D5FF"/>
                </a:solidFill>
                <a:latin typeface="Arial" pitchFamily="34" charset="0"/>
                <a:ea typeface="Arial" pitchFamily="34" charset="-122"/>
                <a:cs typeface="Arial" pitchFamily="34" charset="-120"/>
              </a:rPr>
              <a:t>WEEKS 3-4  ·  LATE OCT</a:t>
            </a:r>
            <a:endParaRPr lang="en-US" sz="1200" dirty="0"/>
          </a:p>
        </p:txBody>
      </p:sp>
      <p:sp>
        <p:nvSpPr>
          <p:cNvPr id="12" name="Text 9"/>
          <p:cNvSpPr/>
          <p:nvPr/>
        </p:nvSpPr>
        <p:spPr>
          <a:xfrm>
            <a:off x="3648456" y="2660904"/>
            <a:ext cx="2322576" cy="56692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First Live Outreach</a:t>
            </a:r>
            <a:endParaRPr lang="en-US" sz="1600" dirty="0"/>
          </a:p>
        </p:txBody>
      </p:sp>
      <p:sp>
        <p:nvSpPr>
          <p:cNvPr id="13" name="Text 10"/>
          <p:cNvSpPr/>
          <p:nvPr/>
        </p:nvSpPr>
        <p:spPr>
          <a:xfrm>
            <a:off x="3648456" y="3337560"/>
            <a:ext cx="2359152" cy="1225296"/>
          </a:xfrm>
          <a:prstGeom prst="rect">
            <a:avLst/>
          </a:prstGeom>
          <a:noFill/>
          <a:ln/>
        </p:spPr>
        <p:txBody>
          <a:bodyPr wrap="square" lIns="0" tIns="0" rIns="0" bIns="0" rtlCol="0" anchor="t"/>
          <a:lstStyle/>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Live on both LinkedIn profiles</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Reef retargeting under way</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First replies, first booked meetings</a:t>
            </a:r>
            <a:endParaRPr lang="en-US" sz="1150" dirty="0"/>
          </a:p>
        </p:txBody>
      </p:sp>
      <p:sp>
        <p:nvSpPr>
          <p:cNvPr id="14" name="Shape 11"/>
          <p:cNvSpPr/>
          <p:nvPr/>
        </p:nvSpPr>
        <p:spPr>
          <a:xfrm>
            <a:off x="6327648" y="2148840"/>
            <a:ext cx="2724912" cy="2642616"/>
          </a:xfrm>
          <a:prstGeom prst="roundRect">
            <a:avLst>
              <a:gd name="adj" fmla="val 3114"/>
            </a:avLst>
          </a:prstGeom>
          <a:solidFill>
            <a:srgbClr val="0D0D26">
              <a:alpha val="55000"/>
            </a:srgbClr>
          </a:solidFill>
          <a:ln w="9525">
            <a:solidFill>
              <a:srgbClr val="31316A">
                <a:alpha val="75000"/>
              </a:srgbClr>
            </a:solidFill>
            <a:prstDash val="solid"/>
          </a:ln>
        </p:spPr>
      </p:sp>
      <p:sp>
        <p:nvSpPr>
          <p:cNvPr id="15" name="Text 12"/>
          <p:cNvSpPr/>
          <p:nvPr/>
        </p:nvSpPr>
        <p:spPr>
          <a:xfrm>
            <a:off x="6528816" y="2350008"/>
            <a:ext cx="2322576" cy="292608"/>
          </a:xfrm>
          <a:prstGeom prst="rect">
            <a:avLst/>
          </a:prstGeom>
          <a:noFill/>
          <a:ln/>
        </p:spPr>
        <p:txBody>
          <a:bodyPr wrap="square" lIns="0" tIns="0" rIns="0" bIns="0" rtlCol="0" anchor="ctr"/>
          <a:lstStyle/>
          <a:p>
            <a:pPr indent="0" marL="0">
              <a:buNone/>
            </a:pPr>
            <a:r>
              <a:rPr lang="en-US" sz="1200" b="1" spc="100" kern="0" dirty="0">
                <a:solidFill>
                  <a:srgbClr val="43D5FF"/>
                </a:solidFill>
                <a:latin typeface="Arial" pitchFamily="34" charset="0"/>
                <a:ea typeface="Arial" pitchFamily="34" charset="-122"/>
                <a:cs typeface="Arial" pitchFamily="34" charset="-120"/>
              </a:rPr>
              <a:t>MONTH 2  ·  NOVEMBER</a:t>
            </a:r>
            <a:endParaRPr lang="en-US" sz="1200" dirty="0"/>
          </a:p>
        </p:txBody>
      </p:sp>
      <p:sp>
        <p:nvSpPr>
          <p:cNvPr id="16" name="Text 13"/>
          <p:cNvSpPr/>
          <p:nvPr/>
        </p:nvSpPr>
        <p:spPr>
          <a:xfrm>
            <a:off x="6528816" y="2660904"/>
            <a:ext cx="2322576" cy="56692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Steady Flow</a:t>
            </a:r>
            <a:endParaRPr lang="en-US" sz="1600" dirty="0"/>
          </a:p>
        </p:txBody>
      </p:sp>
      <p:sp>
        <p:nvSpPr>
          <p:cNvPr id="17" name="Text 14"/>
          <p:cNvSpPr/>
          <p:nvPr/>
        </p:nvSpPr>
        <p:spPr>
          <a:xfrm>
            <a:off x="6528816" y="3337560"/>
            <a:ext cx="2359152" cy="1225296"/>
          </a:xfrm>
          <a:prstGeom prst="rect">
            <a:avLst/>
          </a:prstGeom>
          <a:noFill/>
          <a:ln/>
        </p:spPr>
        <p:txBody>
          <a:bodyPr wrap="square" lIns="0" tIns="0" rIns="0" bIns="0" rtlCol="0" anchor="t"/>
          <a:lstStyle/>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Steady weekly flow to your IR rep</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Targeting tightened on real replies</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Event pre-targeting begins</a:t>
            </a:r>
            <a:endParaRPr lang="en-US" sz="1150" dirty="0"/>
          </a:p>
        </p:txBody>
      </p:sp>
      <p:sp>
        <p:nvSpPr>
          <p:cNvPr id="18" name="Shape 15"/>
          <p:cNvSpPr/>
          <p:nvPr/>
        </p:nvSpPr>
        <p:spPr>
          <a:xfrm>
            <a:off x="9208008" y="2148840"/>
            <a:ext cx="2724912" cy="2642616"/>
          </a:xfrm>
          <a:prstGeom prst="roundRect">
            <a:avLst>
              <a:gd name="adj" fmla="val 3114"/>
            </a:avLst>
          </a:prstGeom>
          <a:solidFill>
            <a:srgbClr val="0D0D26">
              <a:alpha val="55000"/>
            </a:srgbClr>
          </a:solidFill>
          <a:ln w="9525">
            <a:solidFill>
              <a:srgbClr val="31316A">
                <a:alpha val="75000"/>
              </a:srgbClr>
            </a:solidFill>
            <a:prstDash val="solid"/>
          </a:ln>
        </p:spPr>
      </p:sp>
      <p:sp>
        <p:nvSpPr>
          <p:cNvPr id="19" name="Text 16"/>
          <p:cNvSpPr/>
          <p:nvPr/>
        </p:nvSpPr>
        <p:spPr>
          <a:xfrm>
            <a:off x="9409176" y="2350008"/>
            <a:ext cx="2322576" cy="292608"/>
          </a:xfrm>
          <a:prstGeom prst="rect">
            <a:avLst/>
          </a:prstGeom>
          <a:noFill/>
          <a:ln/>
        </p:spPr>
        <p:txBody>
          <a:bodyPr wrap="square" lIns="0" tIns="0" rIns="0" bIns="0" rtlCol="0" anchor="ctr"/>
          <a:lstStyle/>
          <a:p>
            <a:pPr indent="0" marL="0">
              <a:buNone/>
            </a:pPr>
            <a:r>
              <a:rPr lang="en-US" sz="1200" b="1" spc="100" kern="0" dirty="0">
                <a:solidFill>
                  <a:srgbClr val="43D5FF"/>
                </a:solidFill>
                <a:latin typeface="Arial" pitchFamily="34" charset="0"/>
                <a:ea typeface="Arial" pitchFamily="34" charset="-122"/>
                <a:cs typeface="Arial" pitchFamily="34" charset="-120"/>
              </a:rPr>
              <a:t>MONTH 3  ·  DECEMBER</a:t>
            </a:r>
            <a:endParaRPr lang="en-US" sz="1200" dirty="0"/>
          </a:p>
        </p:txBody>
      </p:sp>
      <p:sp>
        <p:nvSpPr>
          <p:cNvPr id="20" name="Text 17"/>
          <p:cNvSpPr/>
          <p:nvPr/>
        </p:nvSpPr>
        <p:spPr>
          <a:xfrm>
            <a:off x="9409176" y="2660904"/>
            <a:ext cx="2322576" cy="56692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Prove-Out &amp; Scale</a:t>
            </a:r>
            <a:endParaRPr lang="en-US" sz="1600" dirty="0"/>
          </a:p>
        </p:txBody>
      </p:sp>
      <p:sp>
        <p:nvSpPr>
          <p:cNvPr id="21" name="Text 18"/>
          <p:cNvSpPr/>
          <p:nvPr/>
        </p:nvSpPr>
        <p:spPr>
          <a:xfrm>
            <a:off x="9409176" y="3337560"/>
            <a:ext cx="2359152" cy="1225296"/>
          </a:xfrm>
          <a:prstGeom prst="rect">
            <a:avLst/>
          </a:prstGeom>
          <a:noFill/>
          <a:ln/>
        </p:spPr>
        <p:txBody>
          <a:bodyPr wrap="square" lIns="0" tIns="0" rIns="0" bIns="0" rtlCol="0" anchor="t"/>
          <a:lstStyle/>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Three months of real data</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Your 3-month opt-out checkpoint</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Plan for the next project top-ups</a:t>
            </a:r>
            <a:endParaRPr lang="en-US" sz="1150" dirty="0"/>
          </a:p>
        </p:txBody>
      </p:sp>
      <p:sp>
        <p:nvSpPr>
          <p:cNvPr id="356" name="Shape 20"/>
          <p:cNvSpPr/>
          <p:nvPr/>
        </p:nvSpPr>
        <p:spPr>
          <a:xfrm>
            <a:off x="566928" y="5029200"/>
            <a:ext cx="11338560" cy="1325880"/>
          </a:xfrm>
          <a:prstGeom prst="roundRect">
            <a:avLst>
              <a:gd name="adj" fmla="val 4865"/>
            </a:avLst>
          </a:prstGeom>
          <a:solidFill>
            <a:srgbClr val="0D0D26">
              <a:alpha val="55000"/>
            </a:srgbClr>
          </a:solidFill>
          <a:ln w="9525">
            <a:solidFill>
              <a:srgbClr val="31316A">
                <a:alpha val="75000"/>
              </a:srgbClr>
            </a:solidFill>
            <a:prstDash val="solid"/>
          </a:ln>
        </p:spPr>
      </p:sp>
      <p:sp>
        <p:nvSpPr>
          <p:cNvPr id="357" name="Text 21"/>
          <p:cNvSpPr/>
          <p:nvPr/>
        </p:nvSpPr>
        <p:spPr>
          <a:xfrm>
            <a:off x="795528" y="5175504"/>
            <a:ext cx="5486400" cy="320040"/>
          </a:xfrm>
          <a:prstGeom prst="rect">
            <a:avLst/>
          </a:prstGeom>
          <a:noFill/>
          <a:ln/>
        </p:spPr>
        <p:txBody>
          <a:bodyPr wrap="square" lIns="0" tIns="0" rIns="0" bIns="0" rtlCol="0" anchor="ctr"/>
          <a:lstStyle/>
          <a:p>
            <a:pPr indent="0" marL="0">
              <a:buNone/>
            </a:pPr>
            <a:r>
              <a:rPr lang="en-US" sz="1400" b="1" spc="100" kern="0" dirty="0">
                <a:solidFill>
                  <a:srgbClr val="7C6CFF"/>
                </a:solidFill>
                <a:latin typeface="Arial" pitchFamily="34" charset="0"/>
                <a:ea typeface="Arial" pitchFamily="34" charset="-122"/>
                <a:cs typeface="Arial" pitchFamily="34" charset="-120"/>
              </a:rPr>
              <a:t>THE DECEMBER CHECKPOINT</a:t>
            </a:r>
            <a:endParaRPr lang="en-US" sz="1400" dirty="0"/>
          </a:p>
        </p:txBody>
      </p:sp>
      <p:sp>
        <p:nvSpPr>
          <p:cNvPr id="358" name="Text 22"/>
          <p:cNvSpPr/>
          <p:nvPr/>
        </p:nvSpPr>
        <p:spPr>
          <a:xfrm>
            <a:off x="795528" y="5504688"/>
            <a:ext cx="10881360" cy="777240"/>
          </a:xfrm>
          <a:prstGeom prst="rect">
            <a:avLst/>
          </a:prstGeom>
          <a:noFill/>
          <a:ln/>
        </p:spPr>
        <p:txBody>
          <a:bodyPr wrap="square" lIns="0" tIns="0" rIns="0" bIns="0" rtlCol="0" anchor="t"/>
          <a:lstStyle/>
          <a:p>
            <a:pPr indent="0" marL="0">
              <a:lnSpc>
                <a:spcPct val="120000"/>
              </a:lnSpc>
              <a:buNone/>
            </a:pPr>
            <a:r>
              <a:rPr lang="en-US" sz="1250" dirty="0">
                <a:solidFill>
                  <a:srgbClr val="FFFFFF"/>
                </a:solidFill>
                <a:latin typeface="Arial" pitchFamily="34" charset="0"/>
                <a:ea typeface="Arial" pitchFamily="34" charset="-122"/>
                <a:cs typeface="Arial" pitchFamily="34" charset="-120"/>
              </a:rPr>
              <a:t>By December you’ll have three months of real numbers on audience quality, meeting quality and conversions, as site plan approval (SPA) wraps up on the first site and ahead of the $2M top-up. That is your three-month opt-out checkpoint: continue into the $3.5M raise and the projects behind it, scale, or stop. The decision gets made on data, not on faith.</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Pricing</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FLAT RETAINER. NO SETUP FEES, NO SUCCESS FEES, NO SURPRISES.</a:t>
            </a:r>
            <a:endParaRPr lang="en-US" sz="1400" dirty="0"/>
          </a:p>
        </p:txBody>
      </p:sp>
      <p:sp>
        <p:nvSpPr>
          <p:cNvPr id="6" name="Shape 3"/>
          <p:cNvSpPr/>
          <p:nvPr/>
        </p:nvSpPr>
        <p:spPr>
          <a:xfrm>
            <a:off x="566928" y="2148840"/>
            <a:ext cx="5532120" cy="4114800"/>
          </a:xfrm>
          <a:prstGeom prst="roundRect">
            <a:avLst>
              <a:gd name="adj" fmla="val 2000"/>
            </a:avLst>
          </a:prstGeom>
          <a:solidFill>
            <a:srgbClr val="0D0D26">
              <a:alpha val="55000"/>
            </a:srgbClr>
          </a:solidFill>
          <a:ln w="9525">
            <a:solidFill>
              <a:srgbClr val="31316A">
                <a:alpha val="75000"/>
              </a:srgbClr>
            </a:solidFill>
            <a:prstDash val="solid"/>
          </a:ln>
        </p:spPr>
      </p:sp>
      <p:sp>
        <p:nvSpPr>
          <p:cNvPr id="7" name="Text 4"/>
          <p:cNvSpPr/>
          <p:nvPr/>
        </p:nvSpPr>
        <p:spPr>
          <a:xfrm>
            <a:off x="886968" y="2423160"/>
            <a:ext cx="4892040" cy="292608"/>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THINKFISH FUNDRAISING  ·  DONE-FOR-YOU</a:t>
            </a:r>
            <a:endParaRPr lang="en-US" sz="1300" dirty="0"/>
          </a:p>
        </p:txBody>
      </p:sp>
      <p:sp>
        <p:nvSpPr>
          <p:cNvPr id="8" name="Text 5"/>
          <p:cNvSpPr/>
          <p:nvPr/>
        </p:nvSpPr>
        <p:spPr>
          <a:xfrm>
            <a:off x="886968" y="2770632"/>
            <a:ext cx="4892040" cy="73152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$3,000</a:t>
            </a:r>
            <a:r>
              <a:rPr lang="en-US" sz="1400" dirty="0">
                <a:solidFill>
                  <a:srgbClr val="B9BEDC"/>
                </a:solidFill>
                <a:latin typeface="Arial" pitchFamily="34" charset="0"/>
                <a:ea typeface="Arial" pitchFamily="34" charset="-122"/>
                <a:cs typeface="Arial" pitchFamily="34" charset="-120"/>
              </a:rPr>
              <a:t xml:space="preserve">  / month (USD)</a:t>
            </a:r>
          </a:p>
        </p:txBody>
      </p:sp>
      <p:sp>
        <p:nvSpPr>
          <p:cNvPr id="9" name="Text 6"/>
          <p:cNvSpPr/>
          <p:nvPr/>
        </p:nvSpPr>
        <p:spPr>
          <a:xfrm>
            <a:off x="886968" y="3520440"/>
            <a:ext cx="4892040" cy="320040"/>
          </a:xfrm>
          <a:prstGeom prst="rect">
            <a:avLst/>
          </a:prstGeom>
          <a:noFill/>
          <a:ln/>
        </p:spPr>
        <p:txBody>
          <a:bodyPr wrap="square" lIns="0" tIns="0" rIns="0" bIns="0" rtlCol="0" anchor="ctr"/>
          <a:lstStyle/>
          <a:p>
            <a:pPr indent="0" marL="0">
              <a:buNone/>
            </a:pPr>
            <a:r>
              <a:rPr lang="en-US" sz="1200" i="1" dirty="0">
                <a:solidFill>
                  <a:srgbClr val="B9BEDC"/>
                </a:solidFill>
                <a:latin typeface="Arial" pitchFamily="34" charset="0"/>
                <a:ea typeface="Arial" pitchFamily="34" charset="-122"/>
                <a:cs typeface="Arial" pitchFamily="34" charset="-120"/>
              </a:rPr>
              <a:t>6-month term  ·  3-month opt-out  ·  Both raises included</a:t>
            </a:r>
            <a:endParaRPr lang="en-US" sz="1200" dirty="0"/>
          </a:p>
        </p:txBody>
      </p:sp>
      <p:sp>
        <p:nvSpPr>
          <p:cNvPr id="10" name="Text 7"/>
          <p:cNvSpPr/>
          <p:nvPr/>
        </p:nvSpPr>
        <p:spPr>
          <a:xfrm>
            <a:off x="886968" y="3977640"/>
            <a:ext cx="4892040" cy="2057400"/>
          </a:xfrm>
          <a:prstGeom prst="rect">
            <a:avLst/>
          </a:prstGeom>
          <a:noFill/>
          <a:ln/>
        </p:spPr>
        <p:txBody>
          <a:bodyPr wrap="square" lIns="0" tIns="0" rIns="0" bIns="0" rtlCol="0" anchor="t"/>
          <a:lstStyle/>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Two LinkedIn profiles (Moshin + IR rep), fully managed</a:t>
            </a:r>
            <a:endParaRPr lang="en-US" sz="1250" dirty="0"/>
          </a:p>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Full campaign execution for both raises, end to end</a:t>
            </a:r>
            <a:endParaRPr lang="en-US" sz="1250" dirty="0"/>
          </a:p>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Outreach, inbox management &amp; follow-ups</a:t>
            </a:r>
            <a:endParaRPr lang="en-US" sz="1250" dirty="0"/>
          </a:p>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Lead qualification, pre-call briefings &amp; scheduling</a:t>
            </a:r>
            <a:endParaRPr lang="en-US" sz="1250" dirty="0"/>
          </a:p>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The Reef retargeting &amp; Startup Deal Desk feature</a:t>
            </a:r>
            <a:endParaRPr lang="en-US" sz="1250" dirty="0"/>
          </a:p>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Event pre-targeting for your IR rep’s conferences</a:t>
            </a:r>
            <a:endParaRPr lang="en-US" sz="1250" dirty="0"/>
          </a:p>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CRM, weekly reporting, A/B testing &amp; optimization</a:t>
            </a:r>
            <a:endParaRPr lang="en-US" sz="1250" dirty="0"/>
          </a:p>
        </p:txBody>
      </p:sp>
      <p:sp>
        <p:nvSpPr>
          <p:cNvPr id="359" name="Shape 30"/>
          <p:cNvSpPr/>
          <p:nvPr/>
        </p:nvSpPr>
        <p:spPr>
          <a:xfrm>
            <a:off x="6373368" y="2148840"/>
            <a:ext cx="5532120" cy="4114800"/>
          </a:xfrm>
          <a:prstGeom prst="roundRect">
            <a:avLst>
              <a:gd name="adj" fmla="val 2000"/>
            </a:avLst>
          </a:prstGeom>
          <a:solidFill>
            <a:srgbClr val="0D0D26">
              <a:alpha val="55000"/>
            </a:srgbClr>
          </a:solidFill>
          <a:ln w="9525">
            <a:solidFill>
              <a:srgbClr val="31316A">
                <a:alpha val="75000"/>
              </a:srgbClr>
            </a:solidFill>
            <a:prstDash val="solid"/>
          </a:ln>
        </p:spPr>
      </p:sp>
      <p:sp>
        <p:nvSpPr>
          <p:cNvPr id="360" name="Text 31"/>
          <p:cNvSpPr/>
          <p:nvPr/>
        </p:nvSpPr>
        <p:spPr>
          <a:xfrm>
            <a:off x="6693408" y="2423160"/>
            <a:ext cx="4892040" cy="292608"/>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WHAT THAT BUYS</a:t>
            </a:r>
            <a:endParaRPr lang="en-US" sz="1300" dirty="0"/>
          </a:p>
        </p:txBody>
      </p:sp>
      <p:sp>
        <p:nvSpPr>
          <p:cNvPr id="361" name="Text 32"/>
          <p:cNvSpPr/>
          <p:nvPr/>
        </p:nvSpPr>
        <p:spPr>
          <a:xfrm>
            <a:off x="6693408" y="2834640"/>
            <a:ext cx="4892040" cy="3291840"/>
          </a:xfrm>
          <a:prstGeom prst="rect">
            <a:avLst/>
          </a:prstGeom>
          <a:noFill/>
          <a:ln/>
        </p:spPr>
        <p:txBody>
          <a:bodyPr wrap="square" lIns="0" tIns="0" rIns="0" bIns="0" rtlCol="0" anchor="t"/>
          <a:lstStyle/>
          <a:p>
            <a:pPr marL="127000" indent="-127000">
              <a:lnSpc>
                <a:spcPct val="112000"/>
              </a:lnSpc>
              <a:spcAft>
                <a:spcPts val="1000"/>
              </a:spcAft>
              <a:buSzPct val="100000"/>
              <a:buChar char="•"/>
            </a:pPr>
            <a:r>
              <a:rPr lang="en-US" sz="1150" dirty="0">
                <a:solidFill>
                  <a:srgbClr val="FFFFFF"/>
                </a:solidFill>
                <a:latin typeface="Arial" pitchFamily="34" charset="0"/>
                <a:ea typeface="Arial" pitchFamily="34" charset="-122"/>
                <a:cs typeface="Arial" pitchFamily="34" charset="-120"/>
              </a:rPr>
              <a:t>Both raises on one retainer, and the same engine ready for the next top-up across your six active projects</a:t>
            </a:r>
            <a:endParaRPr lang="en-US" sz="1150" dirty="0"/>
          </a:p>
          <a:p>
            <a:pPr marL="127000" indent="-127000">
              <a:lnSpc>
                <a:spcPct val="112000"/>
              </a:lnSpc>
              <a:spcAft>
                <a:spcPts val="1000"/>
              </a:spcAft>
              <a:buSzPct val="100000"/>
              <a:buChar char="•"/>
            </a:pPr>
            <a:r>
              <a:rPr lang="en-US" sz="1150" dirty="0">
                <a:solidFill>
                  <a:srgbClr val="FFFFFF"/>
                </a:solidFill>
                <a:latin typeface="Arial" pitchFamily="34" charset="0"/>
                <a:ea typeface="Arial" pitchFamily="34" charset="-122"/>
                <a:cs typeface="Arial" pitchFamily="34" charset="-120"/>
              </a:rPr>
              <a:t>A flat fee: no commission, no success fee, no carve-out, so the equity you’ve already raised stays where it is</a:t>
            </a:r>
            <a:endParaRPr lang="en-US" sz="1150" dirty="0"/>
          </a:p>
          <a:p>
            <a:pPr marL="127000" indent="-127000">
              <a:lnSpc>
                <a:spcPct val="112000"/>
              </a:lnSpc>
              <a:spcAft>
                <a:spcPts val="1000"/>
              </a:spcAft>
              <a:buSzPct val="100000"/>
              <a:buChar char="•"/>
            </a:pPr>
            <a:r>
              <a:rPr lang="en-US" sz="1150" dirty="0">
                <a:solidFill>
                  <a:srgbClr val="FFFFFF"/>
                </a:solidFill>
                <a:latin typeface="Arial" pitchFamily="34" charset="0"/>
                <a:ea typeface="Arial" pitchFamily="34" charset="-122"/>
                <a:cs typeface="Arial" pitchFamily="34" charset="-120"/>
              </a:rPr>
              <a:t>A qualified new-investor pipeline for your IR rep to close, instead of a mandate that starts with an empty list</a:t>
            </a:r>
            <a:endParaRPr lang="en-US" sz="1150" dirty="0"/>
          </a:p>
          <a:p>
            <a:pPr marL="127000" indent="-127000">
              <a:lnSpc>
                <a:spcPct val="112000"/>
              </a:lnSpc>
              <a:spcAft>
                <a:spcPts val="1000"/>
              </a:spcAft>
              <a:buSzPct val="100000"/>
              <a:buChar char="•"/>
            </a:pPr>
            <a:r>
              <a:rPr lang="en-US" sz="1150" dirty="0">
                <a:solidFill>
                  <a:srgbClr val="FFFFFF"/>
                </a:solidFill>
                <a:latin typeface="Arial" pitchFamily="34" charset="0"/>
                <a:ea typeface="Arial" pitchFamily="34" charset="-122"/>
                <a:cs typeface="Arial" pitchFamily="34" charset="-120"/>
              </a:rPr>
              <a:t>In-person meetings at Toronto, Montreal or New York events, pre-booked from the people attending</a:t>
            </a:r>
            <a:endParaRPr lang="en-US" sz="1150" dirty="0"/>
          </a:p>
          <a:p>
            <a:pPr marL="127000" indent="-127000">
              <a:lnSpc>
                <a:spcPct val="112000"/>
              </a:lnSpc>
              <a:spcAft>
                <a:spcPts val="1000"/>
              </a:spcAft>
              <a:buSzPct val="100000"/>
              <a:buChar char="•"/>
            </a:pPr>
            <a:r>
              <a:rPr lang="en-US" sz="1150" dirty="0">
                <a:solidFill>
                  <a:srgbClr val="FFFFFF"/>
                </a:solidFill>
                <a:latin typeface="Arial" pitchFamily="34" charset="0"/>
                <a:ea typeface="Arial" pitchFamily="34" charset="-122"/>
                <a:cs typeface="Arial" pitchFamily="34" charset="-120"/>
              </a:rPr>
              <a:t>The three-month opt-out means the December decision is made on real numbers, not on faith</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What We Are, and What We’re Not</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COMPLIANCE QUESTION, ANSWERED UP FRONT</a:t>
            </a:r>
            <a:endParaRPr lang="en-US" sz="1400" dirty="0"/>
          </a:p>
        </p:txBody>
      </p:sp>
      <p:sp>
        <p:nvSpPr>
          <p:cNvPr id="6" name="Shape 3"/>
          <p:cNvSpPr/>
          <p:nvPr/>
        </p:nvSpPr>
        <p:spPr>
          <a:xfrm>
            <a:off x="566928" y="2240280"/>
            <a:ext cx="3593592" cy="3291840"/>
          </a:xfrm>
          <a:prstGeom prst="roundRect">
            <a:avLst>
              <a:gd name="adj" fmla="val 3529"/>
            </a:avLst>
          </a:prstGeom>
          <a:solidFill>
            <a:srgbClr val="0D0D26">
              <a:alpha val="55000"/>
            </a:srgbClr>
          </a:solidFill>
          <a:ln w="9525">
            <a:solidFill>
              <a:srgbClr val="31316A">
                <a:alpha val="75000"/>
              </a:srgbClr>
            </a:solidFill>
            <a:prstDash val="solid"/>
          </a:ln>
        </p:spPr>
      </p:sp>
      <p:sp>
        <p:nvSpPr>
          <p:cNvPr id="7" name="Text 4"/>
          <p:cNvSpPr/>
          <p:nvPr/>
        </p:nvSpPr>
        <p:spPr>
          <a:xfrm>
            <a:off x="795528" y="2468880"/>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WHAT WE ARE</a:t>
            </a:r>
            <a:endParaRPr lang="en-US" sz="1400" dirty="0"/>
          </a:p>
        </p:txBody>
      </p:sp>
      <p:sp>
        <p:nvSpPr>
          <p:cNvPr id="8" name="Text 5"/>
          <p:cNvSpPr/>
          <p:nvPr/>
        </p:nvSpPr>
        <p:spPr>
          <a:xfrm>
            <a:off x="795528" y="2880360"/>
            <a:ext cx="3136392" cy="2514600"/>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A digital media and investor-relations firm. We build and run LinkedIn outreach in your name, qualify the responses, and put pre-vetted investor conversations on your calendar. Flat monthly fee, nothing else.</a:t>
            </a:r>
            <a:endParaRPr lang="en-US" sz="1200" dirty="0"/>
          </a:p>
        </p:txBody>
      </p:sp>
      <p:sp>
        <p:nvSpPr>
          <p:cNvPr id="9" name="Shape 6"/>
          <p:cNvSpPr/>
          <p:nvPr/>
        </p:nvSpPr>
        <p:spPr>
          <a:xfrm>
            <a:off x="4434840" y="2240280"/>
            <a:ext cx="3593592" cy="3291840"/>
          </a:xfrm>
          <a:prstGeom prst="roundRect">
            <a:avLst>
              <a:gd name="adj" fmla="val 3529"/>
            </a:avLst>
          </a:prstGeom>
          <a:solidFill>
            <a:srgbClr val="0D0D26">
              <a:alpha val="55000"/>
            </a:srgbClr>
          </a:solidFill>
          <a:ln w="9525">
            <a:solidFill>
              <a:srgbClr val="31316A">
                <a:alpha val="75000"/>
              </a:srgbClr>
            </a:solidFill>
            <a:prstDash val="solid"/>
          </a:ln>
        </p:spPr>
      </p:sp>
      <p:sp>
        <p:nvSpPr>
          <p:cNvPr id="10" name="Text 7"/>
          <p:cNvSpPr/>
          <p:nvPr/>
        </p:nvSpPr>
        <p:spPr>
          <a:xfrm>
            <a:off x="4663440" y="2468880"/>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WHAT WE ARE NOT</a:t>
            </a:r>
            <a:endParaRPr lang="en-US" sz="1400" dirty="0"/>
          </a:p>
        </p:txBody>
      </p:sp>
      <p:sp>
        <p:nvSpPr>
          <p:cNvPr id="11" name="Text 8"/>
          <p:cNvSpPr/>
          <p:nvPr/>
        </p:nvSpPr>
        <p:spPr>
          <a:xfrm>
            <a:off x="4663440" y="2880360"/>
            <a:ext cx="3136392" cy="2514600"/>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Not a broker-dealer, placement agent or finder. We don’t negotiate terms, don’t take a success fee or commission, don’t touch the transaction, and don’t raise the capital. You run the conversation and you close.</a:t>
            </a:r>
            <a:endParaRPr lang="en-US" sz="1200" dirty="0"/>
          </a:p>
        </p:txBody>
      </p:sp>
      <p:sp>
        <p:nvSpPr>
          <p:cNvPr id="12" name="Shape 9"/>
          <p:cNvSpPr/>
          <p:nvPr/>
        </p:nvSpPr>
        <p:spPr>
          <a:xfrm>
            <a:off x="8302752" y="2240280"/>
            <a:ext cx="3593592" cy="3291840"/>
          </a:xfrm>
          <a:prstGeom prst="roundRect">
            <a:avLst>
              <a:gd name="adj" fmla="val 3529"/>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468880"/>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STAYING COMPLIANT</a:t>
            </a:r>
            <a:endParaRPr lang="en-US" sz="1400" dirty="0"/>
          </a:p>
        </p:txBody>
      </p:sp>
      <p:sp>
        <p:nvSpPr>
          <p:cNvPr id="14" name="Text 11"/>
          <p:cNvSpPr/>
          <p:nvPr/>
        </p:nvSpPr>
        <p:spPr>
          <a:xfrm>
            <a:off x="8531352" y="2880360"/>
            <a:ext cx="3136392" cy="2514600"/>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Early messages are relationship-first and high-level: no deal terms, no structure, no forecasts. Collateral only once interest is real, and you are the first to share a full deck. Every script is approved by you before it goes out.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Your Team</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WHO YOU WILL ACTUALLY BE WORKING WITH</a:t>
            </a:r>
            <a:endParaRPr lang="en-US" sz="1400" dirty="0"/>
          </a:p>
        </p:txBody>
      </p:sp>
      <p:sp>
        <p:nvSpPr>
          <p:cNvPr id="6" name="Shape 3"/>
          <p:cNvSpPr/>
          <p:nvPr/>
        </p:nvSpPr>
        <p:spPr>
          <a:xfrm>
            <a:off x="566928"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7" name="Text 4"/>
          <p:cNvSpPr/>
          <p:nvPr/>
        </p:nvSpPr>
        <p:spPr>
          <a:xfrm>
            <a:off x="795528"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FREIZLE ABARRIENTOS</a:t>
            </a:r>
            <a:endParaRPr lang="en-US" sz="1400" dirty="0"/>
          </a:p>
        </p:txBody>
      </p:sp>
      <p:sp>
        <p:nvSpPr>
          <p:cNvPr id="8" name="Text 5"/>
          <p:cNvSpPr/>
          <p:nvPr/>
        </p:nvSpPr>
        <p:spPr>
          <a:xfrm>
            <a:off x="795528" y="2651760"/>
            <a:ext cx="3136392" cy="1600200"/>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Arial" pitchFamily="34" charset="0"/>
                <a:ea typeface="Arial" pitchFamily="34" charset="-122"/>
                <a:cs typeface="Arial" pitchFamily="34" charset="-120"/>
              </a:rPr>
              <a:t>Chief Operating Officer. Two decades across operations, business development, investor relations and client services; oversees ThinkFISH’s daily operations. Leads strategy and the ICP design, and joins your monthly strategy calls.</a:t>
            </a:r>
            <a:endParaRPr lang="en-US" sz="1100" dirty="0"/>
          </a:p>
        </p:txBody>
      </p:sp>
      <p:sp>
        <p:nvSpPr>
          <p:cNvPr id="9" name="Shape 6"/>
          <p:cNvSpPr/>
          <p:nvPr/>
        </p:nvSpPr>
        <p:spPr>
          <a:xfrm>
            <a:off x="4434840"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0" name="Text 7"/>
          <p:cNvSpPr/>
          <p:nvPr/>
        </p:nvSpPr>
        <p:spPr>
          <a:xfrm>
            <a:off x="4663440"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SAMANTHA COWPER</a:t>
            </a:r>
            <a:endParaRPr lang="en-US" sz="1400" dirty="0"/>
          </a:p>
        </p:txBody>
      </p:sp>
      <p:sp>
        <p:nvSpPr>
          <p:cNvPr id="11" name="Text 8"/>
          <p:cNvSpPr/>
          <p:nvPr/>
        </p:nvSpPr>
        <p:spPr>
          <a:xfrm>
            <a:off x="4663440" y="2651760"/>
            <a:ext cx="3136392" cy="1600200"/>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Arial" pitchFamily="34" charset="0"/>
                <a:ea typeface="Arial" pitchFamily="34" charset="-122"/>
                <a:cs typeface="Arial" pitchFamily="34" charset="-120"/>
              </a:rPr>
              <a:t>Onboarding Manager. Runs your first two weeks: the onboarding interviews with Moshin, profile optimization, the ICP and audiences, and script approval, so the campaign launches on time and in your voice.</a:t>
            </a:r>
            <a:endParaRPr lang="en-US" sz="1100" dirty="0"/>
          </a:p>
        </p:txBody>
      </p:sp>
      <p:sp>
        <p:nvSpPr>
          <p:cNvPr id="12" name="Shape 9"/>
          <p:cNvSpPr/>
          <p:nvPr/>
        </p:nvSpPr>
        <p:spPr>
          <a:xfrm>
            <a:off x="8302752"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MYRA GRAMA</a:t>
            </a:r>
            <a:endParaRPr lang="en-US" sz="1400" dirty="0"/>
          </a:p>
        </p:txBody>
      </p:sp>
      <p:sp>
        <p:nvSpPr>
          <p:cNvPr id="14" name="Text 11"/>
          <p:cNvSpPr/>
          <p:nvPr/>
        </p:nvSpPr>
        <p:spPr>
          <a:xfrm>
            <a:off x="8531352" y="2651760"/>
            <a:ext cx="3136392" cy="1600200"/>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Arial" pitchFamily="34" charset="0"/>
                <a:ea typeface="Arial" pitchFamily="34" charset="-122"/>
                <a:cs typeface="Arial" pitchFamily="34" charset="-120"/>
              </a:rPr>
              <a:t>Account Director. Owns the relationship from launch onward: campaign performance, the weekly report, the monthly strategy call, and the escalation point if anything needs a pivot.</a:t>
            </a:r>
            <a:endParaRPr lang="en-US" sz="1100" dirty="0"/>
          </a:p>
        </p:txBody>
      </p:sp>
      <p:sp>
        <p:nvSpPr>
          <p:cNvPr id="15" name="Shape 12"/>
          <p:cNvSpPr/>
          <p:nvPr/>
        </p:nvSpPr>
        <p:spPr>
          <a:xfrm>
            <a:off x="566928" y="4663440"/>
            <a:ext cx="11338560" cy="1691640"/>
          </a:xfrm>
          <a:prstGeom prst="roundRect">
            <a:avLst>
              <a:gd name="adj" fmla="val 4865"/>
            </a:avLst>
          </a:prstGeom>
          <a:solidFill>
            <a:srgbClr val="0D0D26">
              <a:alpha val="55000"/>
            </a:srgbClr>
          </a:solidFill>
          <a:ln w="9525">
            <a:solidFill>
              <a:srgbClr val="31316A">
                <a:alpha val="75000"/>
              </a:srgbClr>
            </a:solidFill>
            <a:prstDash val="solid"/>
          </a:ln>
        </p:spPr>
      </p:sp>
      <p:sp>
        <p:nvSpPr>
          <p:cNvPr id="16" name="Text 13"/>
          <p:cNvSpPr/>
          <p:nvPr/>
        </p:nvSpPr>
        <p:spPr>
          <a:xfrm>
            <a:off x="795528" y="4828032"/>
            <a:ext cx="8229600" cy="320040"/>
          </a:xfrm>
          <a:prstGeom prst="rect">
            <a:avLst/>
          </a:prstGeom>
          <a:noFill/>
          <a:ln/>
        </p:spPr>
        <p:txBody>
          <a:bodyPr wrap="square" lIns="0" tIns="0" rIns="0" bIns="0" rtlCol="0" anchor="ctr"/>
          <a:lstStyle/>
          <a:p>
            <a:pPr indent="0" marL="0">
              <a:buNone/>
            </a:pPr>
            <a:r>
              <a:rPr lang="en-US" sz="1400" b="1" spc="100" kern="0" dirty="0">
                <a:solidFill>
                  <a:srgbClr val="7C6CFF"/>
                </a:solidFill>
                <a:latin typeface="Arial" pitchFamily="34" charset="0"/>
                <a:ea typeface="Arial" pitchFamily="34" charset="-122"/>
                <a:cs typeface="Arial" pitchFamily="34" charset="-120"/>
              </a:rPr>
              <a:t>YOUR DEDICATED ACCOUNT MANAGER</a:t>
            </a:r>
            <a:endParaRPr lang="en-US" sz="1400" dirty="0"/>
          </a:p>
        </p:txBody>
      </p:sp>
      <p:sp>
        <p:nvSpPr>
          <p:cNvPr id="17" name="Text 14"/>
          <p:cNvSpPr/>
          <p:nvPr/>
        </p:nvSpPr>
        <p:spPr>
          <a:xfrm>
            <a:off x="795528" y="5175504"/>
            <a:ext cx="10881360" cy="1051560"/>
          </a:xfrm>
          <a:prstGeom prst="rect">
            <a:avLst/>
          </a:prstGeom>
          <a:noFill/>
          <a:ln/>
        </p:spPr>
        <p:txBody>
          <a:bodyPr wrap="square" lIns="0" tIns="0" rIns="0" bIns="0" rtlCol="0" anchor="t"/>
          <a:lstStyle/>
          <a:p>
            <a:pPr indent="0" marL="0">
              <a:lnSpc>
                <a:spcPct val="120000"/>
              </a:lnSpc>
              <a:buNone/>
            </a:pPr>
            <a:r>
              <a:rPr lang="en-US" sz="1250" dirty="0">
                <a:solidFill>
                  <a:srgbClr val="FFFFFF"/>
                </a:solidFill>
                <a:latin typeface="Arial" pitchFamily="34" charset="0"/>
                <a:ea typeface="Arial" pitchFamily="34" charset="-122"/>
                <a:cs typeface="Arial" pitchFamily="34" charset="-120"/>
              </a:rPr>
              <a:t>Assigned at kickoff and introduced by Samantha in the first onboarding session. Runs the campaign day to day under Myra: audience building, scripts, inbox, qualification, call briefings and the weekly report. One person who knows your story, reachable on Slack or WhatsApp, not a ticket queue.</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Next Steps</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HOW WE GET STARTED</a:t>
            </a:r>
            <a:endParaRPr lang="en-US" sz="1400" dirty="0"/>
          </a:p>
        </p:txBody>
      </p:sp>
      <p:sp>
        <p:nvSpPr>
          <p:cNvPr id="6" name="Shape 3"/>
          <p:cNvSpPr/>
          <p:nvPr/>
        </p:nvSpPr>
        <p:spPr>
          <a:xfrm>
            <a:off x="566928"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7" name="Text 4"/>
          <p:cNvSpPr/>
          <p:nvPr/>
        </p:nvSpPr>
        <p:spPr>
          <a:xfrm>
            <a:off x="795528"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1  ·  REVIEW</a:t>
            </a:r>
            <a:endParaRPr lang="en-US" sz="1400" dirty="0"/>
          </a:p>
        </p:txBody>
      </p:sp>
      <p:sp>
        <p:nvSpPr>
          <p:cNvPr id="8" name="Text 5"/>
          <p:cNvSpPr/>
          <p:nvPr/>
        </p:nvSpPr>
        <p:spPr>
          <a:xfrm>
            <a:off x="795528" y="2651760"/>
            <a:ext cx="3136392" cy="1600200"/>
          </a:xfrm>
          <a:prstGeom prst="rect">
            <a:avLst/>
          </a:prstGeom>
          <a:noFill/>
          <a:ln/>
        </p:spPr>
        <p:txBody>
          <a:bodyPr wrap="square" lIns="0" tIns="0" rIns="0" bIns="0" rtlCol="0" anchor="t"/>
          <a:lstStyle/>
          <a:p>
            <a:pPr indent="0" marL="0">
              <a:lnSpc>
                <a:spcPct val="115000"/>
              </a:lnSpc>
              <a:buNone/>
            </a:pPr>
            <a:r>
              <a:rPr lang="en-US" sz="1150" dirty="0">
                <a:solidFill>
                  <a:srgbClr val="FFFFFF"/>
                </a:solidFill>
                <a:latin typeface="Arial" pitchFamily="34" charset="0"/>
                <a:ea typeface="Arial" pitchFamily="34" charset="-122"/>
                <a:cs typeface="Arial" pitchFamily="34" charset="-120"/>
              </a:rPr>
              <a:t>Take this to ownership and your IR rep. We have Wednesday, September 30 at 11am booked for questions; Freizle, our COO, who designs the campaign strategy, can join so the people approving it hear the targeting plan first-hand.</a:t>
            </a:r>
            <a:endParaRPr lang="en-US" sz="1150" dirty="0"/>
          </a:p>
        </p:txBody>
      </p:sp>
      <p:sp>
        <p:nvSpPr>
          <p:cNvPr id="9" name="Shape 6"/>
          <p:cNvSpPr/>
          <p:nvPr/>
        </p:nvSpPr>
        <p:spPr>
          <a:xfrm>
            <a:off x="4434840"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0" name="Text 7"/>
          <p:cNvSpPr/>
          <p:nvPr/>
        </p:nvSpPr>
        <p:spPr>
          <a:xfrm>
            <a:off x="4663440"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2  ·  SIGN &amp; KICK OFF</a:t>
            </a:r>
            <a:endParaRPr lang="en-US" sz="1400" dirty="0"/>
          </a:p>
        </p:txBody>
      </p:sp>
      <p:sp>
        <p:nvSpPr>
          <p:cNvPr id="11" name="Text 8"/>
          <p:cNvSpPr/>
          <p:nvPr/>
        </p:nvSpPr>
        <p:spPr>
          <a:xfrm>
            <a:off x="4663440" y="2651760"/>
            <a:ext cx="3136392" cy="1600200"/>
          </a:xfrm>
          <a:prstGeom prst="rect">
            <a:avLst/>
          </a:prstGeom>
          <a:noFill/>
          <a:ln/>
        </p:spPr>
        <p:txBody>
          <a:bodyPr wrap="square" lIns="0" tIns="0" rIns="0" bIns="0" rtlCol="0" anchor="t"/>
          <a:lstStyle/>
          <a:p>
            <a:pPr indent="0" marL="0">
              <a:lnSpc>
                <a:spcPct val="115000"/>
              </a:lnSpc>
              <a:buNone/>
            </a:pPr>
            <a:r>
              <a:rPr lang="en-US" sz="1150" dirty="0">
                <a:solidFill>
                  <a:srgbClr val="FFFFFF"/>
                </a:solidFill>
                <a:latin typeface="Arial" pitchFamily="34" charset="0"/>
                <a:ea typeface="Arial" pitchFamily="34" charset="-122"/>
                <a:cs typeface="Arial" pitchFamily="34" charset="-120"/>
              </a:rPr>
              <a:t>The services agreement comes with this proposal so legal can review the terms in parallel. Once you say yes, onboarding starts that week: interviews with Moshin and your IR rep, and both LinkedIn profiles connected to our system.</a:t>
            </a:r>
            <a:endParaRPr lang="en-US" sz="1150" dirty="0"/>
          </a:p>
        </p:txBody>
      </p:sp>
      <p:sp>
        <p:nvSpPr>
          <p:cNvPr id="12" name="Shape 9"/>
          <p:cNvSpPr/>
          <p:nvPr/>
        </p:nvSpPr>
        <p:spPr>
          <a:xfrm>
            <a:off x="8302752"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3  ·  FIRST MEETINGS</a:t>
            </a:r>
            <a:endParaRPr lang="en-US" sz="1400" dirty="0"/>
          </a:p>
        </p:txBody>
      </p:sp>
      <p:sp>
        <p:nvSpPr>
          <p:cNvPr id="14" name="Text 11"/>
          <p:cNvSpPr/>
          <p:nvPr/>
        </p:nvSpPr>
        <p:spPr>
          <a:xfrm>
            <a:off x="8531352" y="2651760"/>
            <a:ext cx="3136392" cy="1600200"/>
          </a:xfrm>
          <a:prstGeom prst="rect">
            <a:avLst/>
          </a:prstGeom>
          <a:noFill/>
          <a:ln/>
        </p:spPr>
        <p:txBody>
          <a:bodyPr wrap="square" lIns="0" tIns="0" rIns="0" bIns="0" rtlCol="0" anchor="t"/>
          <a:lstStyle/>
          <a:p>
            <a:pPr indent="0" marL="0">
              <a:lnSpc>
                <a:spcPct val="115000"/>
              </a:lnSpc>
              <a:buNone/>
            </a:pPr>
            <a:r>
              <a:rPr lang="en-US" sz="1150" dirty="0">
                <a:solidFill>
                  <a:srgbClr val="FFFFFF"/>
                </a:solidFill>
                <a:latin typeface="Arial" pitchFamily="34" charset="0"/>
                <a:ea typeface="Arial" pitchFamily="34" charset="-122"/>
                <a:cs typeface="Arial" pitchFamily="34" charset="-120"/>
              </a:rPr>
              <a:t>Both profiles are live within two weeks of kickoff. The first qualified investor conversations land in weeks three and four, then build to a steady weekly rhythm through November and into your December checkpoint, ahead of the first top-up.</a:t>
            </a:r>
            <a:endParaRPr lang="en-US" sz="1150" dirty="0"/>
          </a:p>
        </p:txBody>
      </p:sp>
      <p:sp>
        <p:nvSpPr>
          <p:cNvPr id="15" name="Shape 12"/>
          <p:cNvSpPr/>
          <p:nvPr/>
        </p:nvSpPr>
        <p:spPr>
          <a:xfrm>
            <a:off x="566928" y="4663440"/>
            <a:ext cx="11338560" cy="1691640"/>
          </a:xfrm>
          <a:prstGeom prst="roundRect">
            <a:avLst>
              <a:gd name="adj" fmla="val 4865"/>
            </a:avLst>
          </a:prstGeom>
          <a:solidFill>
            <a:srgbClr val="0D0D26">
              <a:alpha val="55000"/>
            </a:srgbClr>
          </a:solidFill>
          <a:ln w="9525">
            <a:solidFill>
              <a:srgbClr val="31316A">
                <a:alpha val="75000"/>
              </a:srgbClr>
            </a:solidFill>
            <a:prstDash val="solid"/>
          </a:ln>
        </p:spPr>
      </p:sp>
      <p:sp>
        <p:nvSpPr>
          <p:cNvPr id="16" name="Text 13"/>
          <p:cNvSpPr/>
          <p:nvPr/>
        </p:nvSpPr>
        <p:spPr>
          <a:xfrm>
            <a:off x="795528" y="4828032"/>
            <a:ext cx="8229600" cy="320040"/>
          </a:xfrm>
          <a:prstGeom prst="rect">
            <a:avLst/>
          </a:prstGeom>
          <a:noFill/>
          <a:ln/>
        </p:spPr>
        <p:txBody>
          <a:bodyPr wrap="square" lIns="0" tIns="0" rIns="0" bIns="0" rtlCol="0" anchor="ctr"/>
          <a:lstStyle/>
          <a:p>
            <a:pPr indent="0" marL="0">
              <a:buNone/>
            </a:pPr>
            <a:r>
              <a:rPr lang="en-US" sz="1400" b="1" spc="100" kern="0" dirty="0">
                <a:solidFill>
                  <a:srgbClr val="7C6CFF"/>
                </a:solidFill>
                <a:latin typeface="Arial" pitchFamily="34" charset="0"/>
                <a:ea typeface="Arial" pitchFamily="34" charset="-122"/>
                <a:cs typeface="Arial" pitchFamily="34" charset="-120"/>
              </a:rPr>
              <a:t>WHAT WE NEED FROM YOU</a:t>
            </a:r>
            <a:endParaRPr lang="en-US" sz="1400" dirty="0"/>
          </a:p>
        </p:txBody>
      </p:sp>
      <p:sp>
        <p:nvSpPr>
          <p:cNvPr id="17" name="Text 14"/>
          <p:cNvSpPr/>
          <p:nvPr/>
        </p:nvSpPr>
        <p:spPr>
          <a:xfrm>
            <a:off x="795528" y="5175504"/>
            <a:ext cx="10881360" cy="1051560"/>
          </a:xfrm>
          <a:prstGeom prst="rect">
            <a:avLst/>
          </a:prstGeom>
          <a:noFill/>
          <a:ln/>
        </p:spPr>
        <p:txBody>
          <a:bodyPr wrap="square" lIns="0" tIns="0" rIns="0" bIns="0" rtlCol="0" anchor="t"/>
          <a:lstStyle/>
          <a:p>
            <a:pPr indent="0" marL="0">
              <a:lnSpc>
                <a:spcPct val="120000"/>
              </a:lnSpc>
              <a:buNone/>
            </a:pPr>
            <a:r>
              <a:rPr lang="en-US" sz="1250" dirty="0">
                <a:solidFill>
                  <a:srgbClr val="FFFFFF"/>
                </a:solidFill>
                <a:latin typeface="Arial" pitchFamily="34" charset="0"/>
                <a:ea typeface="Arial" pitchFamily="34" charset="-122"/>
                <a:cs typeface="Arial" pitchFamily="34" charset="-120"/>
              </a:rPr>
              <a:t>Connect Moshin’s and your IR rep’s LinkedIn accounts to our system (no passwords or login credentials required). Share project summaries and your current investor list so we exclude them, plus anyone who has already passed. One 60-minute onboarding interview. A Calendly link for each of you, the events your IR rep plans to attend, and a do-not-contact list. That’s it. We handle the rest.</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Deliverables</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APPENDIX  ·  THE ENGINE BEHIND THE MEETINGS</a:t>
            </a:r>
            <a:endParaRPr lang="en-US" sz="1400" dirty="0"/>
          </a:p>
        </p:txBody>
      </p:sp>
      <p:sp>
        <p:nvSpPr>
          <p:cNvPr id="6" name="Shape 3"/>
          <p:cNvSpPr/>
          <p:nvPr/>
        </p:nvSpPr>
        <p:spPr>
          <a:xfrm>
            <a:off x="566928" y="2103120"/>
            <a:ext cx="3593592" cy="2514600"/>
          </a:xfrm>
          <a:prstGeom prst="roundRect">
            <a:avLst>
              <a:gd name="adj" fmla="val 3273"/>
            </a:avLst>
          </a:prstGeom>
          <a:solidFill>
            <a:srgbClr val="0D0D26">
              <a:alpha val="55000"/>
            </a:srgbClr>
          </a:solidFill>
          <a:ln w="9525">
            <a:solidFill>
              <a:srgbClr val="31316A">
                <a:alpha val="75000"/>
              </a:srgbClr>
            </a:solidFill>
            <a:prstDash val="solid"/>
          </a:ln>
        </p:spPr>
      </p:sp>
      <p:sp>
        <p:nvSpPr>
          <p:cNvPr id="7" name="Text 4"/>
          <p:cNvSpPr/>
          <p:nvPr/>
        </p:nvSpPr>
        <p:spPr>
          <a:xfrm>
            <a:off x="795528" y="2286000"/>
            <a:ext cx="3136392" cy="292608"/>
          </a:xfrm>
          <a:prstGeom prst="rect">
            <a:avLst/>
          </a:prstGeom>
          <a:noFill/>
          <a:ln/>
        </p:spPr>
        <p:txBody>
          <a:bodyPr wrap="square" lIns="0" tIns="0" rIns="0" bIns="0" rtlCol="0" anchor="ctr"/>
          <a:lstStyle/>
          <a:p>
            <a:pPr indent="0" marL="0">
              <a:buNone/>
            </a:pPr>
            <a:r>
              <a:rPr lang="en-US" sz="1250" b="1" spc="100" kern="0" dirty="0">
                <a:solidFill>
                  <a:srgbClr val="43D5FF"/>
                </a:solidFill>
                <a:latin typeface="Arial" pitchFamily="34" charset="0"/>
                <a:ea typeface="Arial" pitchFamily="34" charset="-122"/>
                <a:cs typeface="Arial" pitchFamily="34" charset="-120"/>
              </a:rPr>
              <a:t>LINKEDIN OUTREACH</a:t>
            </a:r>
            <a:endParaRPr lang="en-US" sz="1250" dirty="0"/>
          </a:p>
        </p:txBody>
      </p:sp>
      <p:sp>
        <p:nvSpPr>
          <p:cNvPr id="8" name="Text 5"/>
          <p:cNvSpPr/>
          <p:nvPr/>
        </p:nvSpPr>
        <p:spPr>
          <a:xfrm>
            <a:off x="795528" y="2560320"/>
            <a:ext cx="3136392" cy="6858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3,200</a:t>
            </a:r>
            <a:endParaRPr lang="en-US" sz="4400" dirty="0"/>
          </a:p>
        </p:txBody>
      </p:sp>
      <p:sp>
        <p:nvSpPr>
          <p:cNvPr id="9" name="Text 6"/>
          <p:cNvSpPr/>
          <p:nvPr/>
        </p:nvSpPr>
        <p:spPr>
          <a:xfrm>
            <a:off x="795528" y="3255264"/>
            <a:ext cx="3136392" cy="274320"/>
          </a:xfrm>
          <a:prstGeom prst="rect">
            <a:avLst/>
          </a:prstGeom>
          <a:noFill/>
          <a:ln/>
        </p:spPr>
        <p:txBody>
          <a:bodyPr wrap="square" lIns="0" tIns="0" rIns="0" bIns="0" rtlCol="0" anchor="ctr"/>
          <a:lstStyle/>
          <a:p>
            <a:pPr indent="0" marL="0">
              <a:buNone/>
            </a:pPr>
            <a:r>
              <a:rPr lang="en-US" sz="1100" dirty="0">
                <a:solidFill>
                  <a:srgbClr val="B9BEDC"/>
                </a:solidFill>
                <a:latin typeface="Arial" pitchFamily="34" charset="0"/>
                <a:ea typeface="Arial" pitchFamily="34" charset="-122"/>
                <a:cs typeface="Arial" pitchFamily="34" charset="-120"/>
              </a:rPr>
              <a:t>LinkedIn touches / month, two profiles</a:t>
            </a:r>
            <a:endParaRPr lang="en-US" sz="1100" dirty="0"/>
          </a:p>
        </p:txBody>
      </p:sp>
      <p:sp>
        <p:nvSpPr>
          <p:cNvPr id="10" name="Text 7"/>
          <p:cNvSpPr/>
          <p:nvPr/>
        </p:nvSpPr>
        <p:spPr>
          <a:xfrm>
            <a:off x="795528" y="3566160"/>
            <a:ext cx="3136392" cy="868680"/>
          </a:xfrm>
          <a:prstGeom prst="rect">
            <a:avLst/>
          </a:prstGeom>
          <a:noFill/>
          <a:ln/>
        </p:spPr>
        <p:txBody>
          <a:bodyPr wrap="square" lIns="0" tIns="0" rIns="0" bIns="0" rtlCol="0" anchor="t"/>
          <a:lstStyle/>
          <a:p>
            <a:pPr indent="0" marL="0">
              <a:lnSpc>
                <a:spcPct val="112000"/>
              </a:lnSpc>
              <a:buNone/>
            </a:pPr>
            <a:r>
              <a:rPr lang="en-US" sz="1050" dirty="0">
                <a:solidFill>
                  <a:srgbClr val="FFFFFF"/>
                </a:solidFill>
                <a:latin typeface="Arial" pitchFamily="34" charset="0"/>
                <a:ea typeface="Arial" pitchFamily="34" charset="-122"/>
                <a:cs typeface="Arial" pitchFamily="34" charset="-120"/>
              </a:rPr>
              <a:t>800 InMails and 800 connection invites per profile every month, from Moshin’s and your IR rep’s accounts, in your voice, once fully warmed up. Every InMail credit in your Sales Navigator plans gets used.</a:t>
            </a:r>
            <a:endParaRPr lang="en-US" sz="1050" dirty="0"/>
          </a:p>
        </p:txBody>
      </p:sp>
      <p:sp>
        <p:nvSpPr>
          <p:cNvPr id="11" name="Shape 8"/>
          <p:cNvSpPr/>
          <p:nvPr/>
        </p:nvSpPr>
        <p:spPr>
          <a:xfrm>
            <a:off x="4434840" y="2103120"/>
            <a:ext cx="3593592" cy="2514600"/>
          </a:xfrm>
          <a:prstGeom prst="roundRect">
            <a:avLst>
              <a:gd name="adj" fmla="val 3273"/>
            </a:avLst>
          </a:prstGeom>
          <a:solidFill>
            <a:srgbClr val="0D0D26">
              <a:alpha val="55000"/>
            </a:srgbClr>
          </a:solidFill>
          <a:ln w="9525">
            <a:solidFill>
              <a:srgbClr val="31316A">
                <a:alpha val="75000"/>
              </a:srgbClr>
            </a:solidFill>
            <a:prstDash val="solid"/>
          </a:ln>
        </p:spPr>
      </p:sp>
      <p:sp>
        <p:nvSpPr>
          <p:cNvPr id="12" name="Text 9"/>
          <p:cNvSpPr/>
          <p:nvPr/>
        </p:nvSpPr>
        <p:spPr>
          <a:xfrm>
            <a:off x="4663440" y="2286000"/>
            <a:ext cx="3136392" cy="292608"/>
          </a:xfrm>
          <a:prstGeom prst="rect">
            <a:avLst/>
          </a:prstGeom>
          <a:noFill/>
          <a:ln/>
        </p:spPr>
        <p:txBody>
          <a:bodyPr wrap="square" lIns="0" tIns="0" rIns="0" bIns="0" rtlCol="0" anchor="ctr"/>
          <a:lstStyle/>
          <a:p>
            <a:pPr indent="0" marL="0">
              <a:buNone/>
            </a:pPr>
            <a:r>
              <a:rPr lang="en-US" sz="1250" b="1" spc="100" kern="0" dirty="0">
                <a:solidFill>
                  <a:srgbClr val="43D5FF"/>
                </a:solidFill>
                <a:latin typeface="Arial" pitchFamily="34" charset="0"/>
                <a:ea typeface="Arial" pitchFamily="34" charset="-122"/>
                <a:cs typeface="Arial" pitchFamily="34" charset="-120"/>
              </a:rPr>
              <a:t>THE REEF</a:t>
            </a:r>
            <a:endParaRPr lang="en-US" sz="1250" dirty="0"/>
          </a:p>
        </p:txBody>
      </p:sp>
      <p:sp>
        <p:nvSpPr>
          <p:cNvPr id="13" name="Text 10"/>
          <p:cNvSpPr/>
          <p:nvPr/>
        </p:nvSpPr>
        <p:spPr>
          <a:xfrm>
            <a:off x="4663440" y="2560320"/>
            <a:ext cx="3136392" cy="6858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10k+</a:t>
            </a:r>
            <a:endParaRPr lang="en-US" sz="4400" dirty="0"/>
          </a:p>
        </p:txBody>
      </p:sp>
      <p:sp>
        <p:nvSpPr>
          <p:cNvPr id="14" name="Text 11"/>
          <p:cNvSpPr/>
          <p:nvPr/>
        </p:nvSpPr>
        <p:spPr>
          <a:xfrm>
            <a:off x="4663440" y="3255264"/>
            <a:ext cx="3136392" cy="274320"/>
          </a:xfrm>
          <a:prstGeom prst="rect">
            <a:avLst/>
          </a:prstGeom>
          <a:noFill/>
          <a:ln/>
        </p:spPr>
        <p:txBody>
          <a:bodyPr wrap="square" lIns="0" tIns="0" rIns="0" bIns="0" rtlCol="0" anchor="ctr"/>
          <a:lstStyle/>
          <a:p>
            <a:pPr indent="0" marL="0">
              <a:buNone/>
            </a:pPr>
            <a:r>
              <a:rPr lang="en-US" sz="1100" dirty="0">
                <a:solidFill>
                  <a:srgbClr val="B9BEDC"/>
                </a:solidFill>
                <a:latin typeface="Arial" pitchFamily="34" charset="0"/>
                <a:ea typeface="Arial" pitchFamily="34" charset="-122"/>
                <a:cs typeface="Arial" pitchFamily="34" charset="-120"/>
              </a:rPr>
              <a:t>curated investor network</a:t>
            </a:r>
            <a:endParaRPr lang="en-US" sz="1100" dirty="0"/>
          </a:p>
        </p:txBody>
      </p:sp>
      <p:sp>
        <p:nvSpPr>
          <p:cNvPr id="15" name="Text 12"/>
          <p:cNvSpPr/>
          <p:nvPr/>
        </p:nvSpPr>
        <p:spPr>
          <a:xfrm>
            <a:off x="4663440" y="3566160"/>
            <a:ext cx="3136392" cy="868680"/>
          </a:xfrm>
          <a:prstGeom prst="rect">
            <a:avLst/>
          </a:prstGeom>
          <a:noFill/>
          <a:ln/>
        </p:spPr>
        <p:txBody>
          <a:bodyPr wrap="square" lIns="0" tIns="0" rIns="0" bIns="0" rtlCol="0" anchor="t"/>
          <a:lstStyle/>
          <a:p>
            <a:pPr indent="0" marL="0">
              <a:lnSpc>
                <a:spcPct val="112000"/>
              </a:lnSpc>
              <a:buNone/>
            </a:pPr>
            <a:r>
              <a:rPr lang="en-US" sz="1050" dirty="0">
                <a:solidFill>
                  <a:srgbClr val="FFFFFF"/>
                </a:solidFill>
                <a:latin typeface="Arial" pitchFamily="34" charset="0"/>
                <a:ea typeface="Arial" pitchFamily="34" charset="-122"/>
                <a:cs typeface="Arial" pitchFamily="34" charset="-120"/>
              </a:rPr>
              <a:t>Our internal network of opt-in investors actively seeking deal flow, retargeted with your raise.</a:t>
            </a:r>
            <a:endParaRPr lang="en-US" sz="1050" dirty="0"/>
          </a:p>
        </p:txBody>
      </p:sp>
      <p:sp>
        <p:nvSpPr>
          <p:cNvPr id="16" name="Shape 13"/>
          <p:cNvSpPr/>
          <p:nvPr/>
        </p:nvSpPr>
        <p:spPr>
          <a:xfrm>
            <a:off x="8302752" y="2103120"/>
            <a:ext cx="3593592" cy="2514600"/>
          </a:xfrm>
          <a:prstGeom prst="roundRect">
            <a:avLst>
              <a:gd name="adj" fmla="val 3273"/>
            </a:avLst>
          </a:prstGeom>
          <a:solidFill>
            <a:srgbClr val="0D0D26">
              <a:alpha val="55000"/>
            </a:srgbClr>
          </a:solidFill>
          <a:ln w="9525">
            <a:solidFill>
              <a:srgbClr val="31316A">
                <a:alpha val="75000"/>
              </a:srgbClr>
            </a:solidFill>
            <a:prstDash val="solid"/>
          </a:ln>
        </p:spPr>
      </p:sp>
      <p:sp>
        <p:nvSpPr>
          <p:cNvPr id="17" name="Text 14"/>
          <p:cNvSpPr/>
          <p:nvPr/>
        </p:nvSpPr>
        <p:spPr>
          <a:xfrm>
            <a:off x="8531352" y="2286000"/>
            <a:ext cx="3136392" cy="292608"/>
          </a:xfrm>
          <a:prstGeom prst="rect">
            <a:avLst/>
          </a:prstGeom>
          <a:noFill/>
          <a:ln/>
        </p:spPr>
        <p:txBody>
          <a:bodyPr wrap="square" lIns="0" tIns="0" rIns="0" bIns="0" rtlCol="0" anchor="ctr"/>
          <a:lstStyle/>
          <a:p>
            <a:pPr indent="0" marL="0">
              <a:buNone/>
            </a:pPr>
            <a:r>
              <a:rPr lang="en-US" sz="1250" b="1" spc="100" kern="0" dirty="0">
                <a:solidFill>
                  <a:srgbClr val="43D5FF"/>
                </a:solidFill>
                <a:latin typeface="Arial" pitchFamily="34" charset="0"/>
                <a:ea typeface="Arial" pitchFamily="34" charset="-122"/>
                <a:cs typeface="Arial" pitchFamily="34" charset="-120"/>
              </a:rPr>
              <a:t>STARTUP DEAL DESK</a:t>
            </a:r>
            <a:endParaRPr lang="en-US" sz="1250" dirty="0"/>
          </a:p>
        </p:txBody>
      </p:sp>
      <p:sp>
        <p:nvSpPr>
          <p:cNvPr id="18" name="Text 15"/>
          <p:cNvSpPr/>
          <p:nvPr/>
        </p:nvSpPr>
        <p:spPr>
          <a:xfrm>
            <a:off x="8531352" y="2560320"/>
            <a:ext cx="3136392" cy="6858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84k+</a:t>
            </a:r>
            <a:endParaRPr lang="en-US" sz="4400" dirty="0"/>
          </a:p>
        </p:txBody>
      </p:sp>
      <p:sp>
        <p:nvSpPr>
          <p:cNvPr id="19" name="Text 16"/>
          <p:cNvSpPr/>
          <p:nvPr/>
        </p:nvSpPr>
        <p:spPr>
          <a:xfrm>
            <a:off x="8531352" y="3255264"/>
            <a:ext cx="3136392" cy="274320"/>
          </a:xfrm>
          <a:prstGeom prst="rect">
            <a:avLst/>
          </a:prstGeom>
          <a:noFill/>
          <a:ln/>
        </p:spPr>
        <p:txBody>
          <a:bodyPr wrap="square" lIns="0" tIns="0" rIns="0" bIns="0" rtlCol="0" anchor="ctr"/>
          <a:lstStyle/>
          <a:p>
            <a:pPr indent="0" marL="0">
              <a:buNone/>
            </a:pPr>
            <a:r>
              <a:rPr lang="en-US" sz="1100" dirty="0">
                <a:solidFill>
                  <a:srgbClr val="B9BEDC"/>
                </a:solidFill>
                <a:latin typeface="Arial" pitchFamily="34" charset="0"/>
                <a:ea typeface="Arial" pitchFamily="34" charset="-122"/>
                <a:cs typeface="Arial" pitchFamily="34" charset="-120"/>
              </a:rPr>
              <a:t>investor subscribers</a:t>
            </a:r>
            <a:endParaRPr lang="en-US" sz="1100" dirty="0"/>
          </a:p>
        </p:txBody>
      </p:sp>
      <p:sp>
        <p:nvSpPr>
          <p:cNvPr id="20" name="Text 17"/>
          <p:cNvSpPr/>
          <p:nvPr/>
        </p:nvSpPr>
        <p:spPr>
          <a:xfrm>
            <a:off x="8531352" y="3566160"/>
            <a:ext cx="3136392" cy="868680"/>
          </a:xfrm>
          <a:prstGeom prst="rect">
            <a:avLst/>
          </a:prstGeom>
          <a:noFill/>
          <a:ln/>
        </p:spPr>
        <p:txBody>
          <a:bodyPr wrap="square" lIns="0" tIns="0" rIns="0" bIns="0" rtlCol="0" anchor="t"/>
          <a:lstStyle/>
          <a:p>
            <a:pPr indent="0" marL="0">
              <a:lnSpc>
                <a:spcPct val="112000"/>
              </a:lnSpc>
              <a:buNone/>
            </a:pPr>
            <a:r>
              <a:rPr lang="en-US" sz="1050" dirty="0">
                <a:solidFill>
                  <a:srgbClr val="FFFFFF"/>
                </a:solidFill>
                <a:latin typeface="Arial" pitchFamily="34" charset="0"/>
                <a:ea typeface="Arial" pitchFamily="34" charset="-122"/>
                <a:cs typeface="Arial" pitchFamily="34" charset="-120"/>
              </a:rPr>
              <a:t>Your company featured in our investor newsletter, putting your raise in front of capital allocators at scale.</a:t>
            </a:r>
            <a:endParaRPr lang="en-US" sz="1050" dirty="0"/>
          </a:p>
        </p:txBody>
      </p:sp>
      <p:sp>
        <p:nvSpPr>
          <p:cNvPr id="21" name="Shape 18"/>
          <p:cNvSpPr/>
          <p:nvPr/>
        </p:nvSpPr>
        <p:spPr>
          <a:xfrm>
            <a:off x="566928" y="4846320"/>
            <a:ext cx="11338560" cy="1463040"/>
          </a:xfrm>
          <a:prstGeom prst="roundRect">
            <a:avLst>
              <a:gd name="adj" fmla="val 5625"/>
            </a:avLst>
          </a:prstGeom>
          <a:solidFill>
            <a:srgbClr val="0D0D26">
              <a:alpha val="55000"/>
            </a:srgbClr>
          </a:solidFill>
          <a:ln w="9525">
            <a:solidFill>
              <a:srgbClr val="31316A">
                <a:alpha val="75000"/>
              </a:srgbClr>
            </a:solidFill>
            <a:prstDash val="solid"/>
          </a:ln>
        </p:spPr>
      </p:sp>
      <p:sp>
        <p:nvSpPr>
          <p:cNvPr id="22" name="Text 19"/>
          <p:cNvSpPr/>
          <p:nvPr/>
        </p:nvSpPr>
        <p:spPr>
          <a:xfrm>
            <a:off x="795528" y="5010912"/>
            <a:ext cx="4572000" cy="274320"/>
          </a:xfrm>
          <a:prstGeom prst="rect">
            <a:avLst/>
          </a:prstGeom>
          <a:noFill/>
          <a:ln/>
        </p:spPr>
        <p:txBody>
          <a:bodyPr wrap="square" lIns="0" tIns="0" rIns="0" bIns="0" rtlCol="0" anchor="ctr"/>
          <a:lstStyle/>
          <a:p>
            <a:pPr indent="0" marL="0">
              <a:buNone/>
            </a:pPr>
            <a:r>
              <a:rPr lang="en-US" sz="1200" b="1" spc="100" kern="0" dirty="0">
                <a:solidFill>
                  <a:srgbClr val="7C6CFF"/>
                </a:solidFill>
                <a:latin typeface="Arial" pitchFamily="34" charset="0"/>
                <a:ea typeface="Arial" pitchFamily="34" charset="-122"/>
                <a:cs typeface="Arial" pitchFamily="34" charset="-120"/>
              </a:rPr>
              <a:t>FULLY MANAGED, END TO END</a:t>
            </a:r>
            <a:endParaRPr lang="en-US" sz="1200" dirty="0"/>
          </a:p>
        </p:txBody>
      </p:sp>
      <p:sp>
        <p:nvSpPr>
          <p:cNvPr id="23" name="Text 20"/>
          <p:cNvSpPr/>
          <p:nvPr/>
        </p:nvSpPr>
        <p:spPr>
          <a:xfrm>
            <a:off x="795528" y="5321808"/>
            <a:ext cx="10881360" cy="868680"/>
          </a:xfrm>
          <a:prstGeom prst="rect">
            <a:avLst/>
          </a:prstGeom>
          <a:noFill/>
          <a:ln/>
        </p:spPr>
        <p:txBody>
          <a:bodyPr wrap="square" lIns="0" tIns="0" rIns="0" bIns="0" rtlCol="0" anchor="t"/>
          <a:lstStyle/>
          <a:p>
            <a:pPr indent="0" marL="0">
              <a:lnSpc>
                <a:spcPct val="125000"/>
              </a:lnSpc>
              <a:buNone/>
            </a:pPr>
            <a:r>
              <a:rPr lang="en-US" sz="1200" dirty="0">
                <a:solidFill>
                  <a:srgbClr val="FFFFFF"/>
                </a:solidFill>
                <a:latin typeface="Arial" pitchFamily="34" charset="0"/>
                <a:ea typeface="Arial" pitchFamily="34" charset="-122"/>
                <a:cs typeface="Arial" pitchFamily="34" charset="-120"/>
              </a:rPr>
              <a:t>Strategy &amp; onboarding  ·  LinkedIn profile optimization  ·  Investor targeting &amp; list building  ·  Outreach execution &amp; inbox management  ·  Lead qualification &amp; meeting scheduling  ·  Pitch positioning &amp; storytelling support  ·  CRM setup &amp; management  ·  Reporting &amp; continuous optimization</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Founders Who’ve Run This Play</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APPENDIX  ·  RESULTS &amp; TESTIMONIALS</a:t>
            </a:r>
            <a:endParaRPr lang="en-US" sz="1400" dirty="0"/>
          </a:p>
        </p:txBody>
      </p:sp>
      <p:sp>
        <p:nvSpPr>
          <p:cNvPr id="6" name="Shape 3"/>
          <p:cNvSpPr/>
          <p:nvPr/>
        </p:nvSpPr>
        <p:spPr>
          <a:xfrm>
            <a:off x="566928" y="2057400"/>
            <a:ext cx="3593592" cy="868680"/>
          </a:xfrm>
          <a:prstGeom prst="roundRect">
            <a:avLst>
              <a:gd name="adj" fmla="val 8571"/>
            </a:avLst>
          </a:prstGeom>
          <a:solidFill>
            <a:srgbClr val="0D0D26">
              <a:alpha val="55000"/>
            </a:srgbClr>
          </a:solidFill>
          <a:ln w="9525">
            <a:solidFill>
              <a:srgbClr val="31316A">
                <a:alpha val="75000"/>
              </a:srgbClr>
            </a:solidFill>
            <a:prstDash val="solid"/>
          </a:ln>
        </p:spPr>
      </p:sp>
      <p:sp>
        <p:nvSpPr>
          <p:cNvPr id="7" name="Text 4"/>
          <p:cNvSpPr/>
          <p:nvPr/>
        </p:nvSpPr>
        <p:spPr>
          <a:xfrm>
            <a:off x="795528" y="2121408"/>
            <a:ext cx="1554480" cy="731520"/>
          </a:xfrm>
          <a:prstGeom prst="rect">
            <a:avLst/>
          </a:prstGeom>
          <a:noFill/>
          <a:ln/>
        </p:spPr>
        <p:txBody>
          <a:bodyPr wrap="square" lIns="0" tIns="0" rIns="0" bIns="0" rtlCol="0" anchor="ctr"/>
          <a:lstStyle/>
          <a:p>
            <a:pPr indent="0" marL="0">
              <a:buNone/>
            </a:pPr>
            <a:r>
              <a:rPr lang="en-US" sz="2400" b="1" dirty="0">
                <a:solidFill>
                  <a:srgbClr val="43D5FF"/>
                </a:solidFill>
                <a:latin typeface="Arial" pitchFamily="34" charset="0"/>
                <a:ea typeface="Arial" pitchFamily="34" charset="-122"/>
                <a:cs typeface="Arial" pitchFamily="34" charset="-120"/>
              </a:rPr>
              <a:t>$200M+</a:t>
            </a:r>
            <a:endParaRPr lang="en-US" sz="2400" dirty="0"/>
          </a:p>
        </p:txBody>
      </p:sp>
      <p:sp>
        <p:nvSpPr>
          <p:cNvPr id="8" name="Text 5"/>
          <p:cNvSpPr/>
          <p:nvPr/>
        </p:nvSpPr>
        <p:spPr>
          <a:xfrm>
            <a:off x="2350008" y="2121408"/>
            <a:ext cx="1581912" cy="731520"/>
          </a:xfrm>
          <a:prstGeom prst="rect">
            <a:avLst/>
          </a:prstGeom>
          <a:noFill/>
          <a:ln/>
        </p:spPr>
        <p:txBody>
          <a:bodyPr wrap="square" lIns="0" tIns="0" rIns="0" bIns="0" rtlCol="0" anchor="ctr"/>
          <a:lstStyle/>
          <a:p>
            <a:pPr indent="0" marL="0">
              <a:lnSpc>
                <a:spcPct val="110000"/>
              </a:lnSpc>
              <a:buNone/>
            </a:pPr>
            <a:r>
              <a:rPr lang="en-US" sz="1050" dirty="0">
                <a:solidFill>
                  <a:srgbClr val="FFFFFF"/>
                </a:solidFill>
                <a:latin typeface="Arial" pitchFamily="34" charset="0"/>
                <a:ea typeface="Arial" pitchFamily="34" charset="-122"/>
                <a:cs typeface="Arial" pitchFamily="34" charset="-120"/>
              </a:rPr>
              <a:t>client-reported capital raised</a:t>
            </a:r>
            <a:endParaRPr lang="en-US" sz="1050" dirty="0"/>
          </a:p>
        </p:txBody>
      </p:sp>
      <p:sp>
        <p:nvSpPr>
          <p:cNvPr id="9" name="Shape 6"/>
          <p:cNvSpPr/>
          <p:nvPr/>
        </p:nvSpPr>
        <p:spPr>
          <a:xfrm>
            <a:off x="4434840" y="2057400"/>
            <a:ext cx="3593592" cy="868680"/>
          </a:xfrm>
          <a:prstGeom prst="roundRect">
            <a:avLst>
              <a:gd name="adj" fmla="val 8571"/>
            </a:avLst>
          </a:prstGeom>
          <a:solidFill>
            <a:srgbClr val="0D0D26">
              <a:alpha val="55000"/>
            </a:srgbClr>
          </a:solidFill>
          <a:ln w="9525">
            <a:solidFill>
              <a:srgbClr val="31316A">
                <a:alpha val="75000"/>
              </a:srgbClr>
            </a:solidFill>
            <a:prstDash val="solid"/>
          </a:ln>
        </p:spPr>
      </p:sp>
      <p:sp>
        <p:nvSpPr>
          <p:cNvPr id="10" name="Text 7"/>
          <p:cNvSpPr/>
          <p:nvPr/>
        </p:nvSpPr>
        <p:spPr>
          <a:xfrm>
            <a:off x="4663440" y="2121408"/>
            <a:ext cx="1554480" cy="731520"/>
          </a:xfrm>
          <a:prstGeom prst="rect">
            <a:avLst/>
          </a:prstGeom>
          <a:noFill/>
          <a:ln/>
        </p:spPr>
        <p:txBody>
          <a:bodyPr wrap="square" lIns="0" tIns="0" rIns="0" bIns="0" rtlCol="0" anchor="ctr"/>
          <a:lstStyle/>
          <a:p>
            <a:pPr indent="0" marL="0">
              <a:buNone/>
            </a:pPr>
            <a:r>
              <a:rPr lang="en-US" sz="2400" b="1" dirty="0">
                <a:solidFill>
                  <a:srgbClr val="43D5FF"/>
                </a:solidFill>
                <a:latin typeface="Arial" pitchFamily="34" charset="0"/>
                <a:ea typeface="Arial" pitchFamily="34" charset="-122"/>
                <a:cs typeface="Arial" pitchFamily="34" charset="-120"/>
              </a:rPr>
              <a:t>10,000+</a:t>
            </a:r>
            <a:endParaRPr lang="en-US" sz="2400" dirty="0"/>
          </a:p>
        </p:txBody>
      </p:sp>
      <p:sp>
        <p:nvSpPr>
          <p:cNvPr id="11" name="Text 8"/>
          <p:cNvSpPr/>
          <p:nvPr/>
        </p:nvSpPr>
        <p:spPr>
          <a:xfrm>
            <a:off x="6217920" y="2121408"/>
            <a:ext cx="1581912" cy="731520"/>
          </a:xfrm>
          <a:prstGeom prst="rect">
            <a:avLst/>
          </a:prstGeom>
          <a:noFill/>
          <a:ln/>
        </p:spPr>
        <p:txBody>
          <a:bodyPr wrap="square" lIns="0" tIns="0" rIns="0" bIns="0" rtlCol="0" anchor="ctr"/>
          <a:lstStyle/>
          <a:p>
            <a:pPr indent="0" marL="0">
              <a:lnSpc>
                <a:spcPct val="110000"/>
              </a:lnSpc>
              <a:buNone/>
            </a:pPr>
            <a:r>
              <a:rPr lang="en-US" sz="1050" dirty="0">
                <a:solidFill>
                  <a:srgbClr val="FFFFFF"/>
                </a:solidFill>
                <a:latin typeface="Arial" pitchFamily="34" charset="0"/>
                <a:ea typeface="Arial" pitchFamily="34" charset="-122"/>
                <a:cs typeface="Arial" pitchFamily="34" charset="-120"/>
              </a:rPr>
              <a:t>qualified investor meetings booked</a:t>
            </a:r>
            <a:endParaRPr lang="en-US" sz="1050" dirty="0"/>
          </a:p>
        </p:txBody>
      </p:sp>
      <p:sp>
        <p:nvSpPr>
          <p:cNvPr id="12" name="Shape 9"/>
          <p:cNvSpPr/>
          <p:nvPr/>
        </p:nvSpPr>
        <p:spPr>
          <a:xfrm>
            <a:off x="8302752" y="2057400"/>
            <a:ext cx="3593592" cy="868680"/>
          </a:xfrm>
          <a:prstGeom prst="roundRect">
            <a:avLst>
              <a:gd name="adj" fmla="val 8571"/>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121408"/>
            <a:ext cx="1554480" cy="731520"/>
          </a:xfrm>
          <a:prstGeom prst="rect">
            <a:avLst/>
          </a:prstGeom>
          <a:noFill/>
          <a:ln/>
        </p:spPr>
        <p:txBody>
          <a:bodyPr wrap="square" lIns="0" tIns="0" rIns="0" bIns="0" rtlCol="0" anchor="ctr"/>
          <a:lstStyle/>
          <a:p>
            <a:pPr indent="0" marL="0">
              <a:buNone/>
            </a:pPr>
            <a:r>
              <a:rPr lang="en-US" sz="2400" b="1" dirty="0">
                <a:solidFill>
                  <a:srgbClr val="43D5FF"/>
                </a:solidFill>
                <a:latin typeface="Arial" pitchFamily="34" charset="0"/>
                <a:ea typeface="Arial" pitchFamily="34" charset="-122"/>
                <a:cs typeface="Arial" pitchFamily="34" charset="-120"/>
              </a:rPr>
              <a:t>500+</a:t>
            </a:r>
            <a:endParaRPr lang="en-US" sz="2400" dirty="0"/>
          </a:p>
        </p:txBody>
      </p:sp>
      <p:sp>
        <p:nvSpPr>
          <p:cNvPr id="14" name="Text 11"/>
          <p:cNvSpPr/>
          <p:nvPr/>
        </p:nvSpPr>
        <p:spPr>
          <a:xfrm>
            <a:off x="10085832" y="2121408"/>
            <a:ext cx="1581912" cy="731520"/>
          </a:xfrm>
          <a:prstGeom prst="rect">
            <a:avLst/>
          </a:prstGeom>
          <a:noFill/>
          <a:ln/>
        </p:spPr>
        <p:txBody>
          <a:bodyPr wrap="square" lIns="0" tIns="0" rIns="0" bIns="0" rtlCol="0" anchor="ctr"/>
          <a:lstStyle/>
          <a:p>
            <a:pPr indent="0" marL="0">
              <a:lnSpc>
                <a:spcPct val="110000"/>
              </a:lnSpc>
              <a:buNone/>
            </a:pPr>
            <a:r>
              <a:rPr lang="en-US" sz="1050" dirty="0">
                <a:solidFill>
                  <a:srgbClr val="FFFFFF"/>
                </a:solidFill>
                <a:latin typeface="Arial" pitchFamily="34" charset="0"/>
                <a:ea typeface="Arial" pitchFamily="34" charset="-122"/>
                <a:cs typeface="Arial" pitchFamily="34" charset="-120"/>
              </a:rPr>
              <a:t>clients served since 2020</a:t>
            </a:r>
            <a:endParaRPr lang="en-US" sz="1050" dirty="0"/>
          </a:p>
        </p:txBody>
      </p:sp>
      <p:sp>
        <p:nvSpPr>
          <p:cNvPr id="362" name="Shape 40"/>
          <p:cNvSpPr/>
          <p:nvPr/>
        </p:nvSpPr>
        <p:spPr>
          <a:xfrm>
            <a:off x="566928" y="3063240"/>
            <a:ext cx="3593592" cy="1920240"/>
          </a:xfrm>
          <a:prstGeom prst="roundRect">
            <a:avLst>
              <a:gd name="adj" fmla="val 4286"/>
            </a:avLst>
          </a:prstGeom>
          <a:solidFill>
            <a:srgbClr val="0D0D26">
              <a:alpha val="55000"/>
            </a:srgbClr>
          </a:solidFill>
          <a:ln w="9525">
            <a:solidFill>
              <a:srgbClr val="31316A">
                <a:alpha val="75000"/>
              </a:srgbClr>
            </a:solidFill>
            <a:prstDash val="solid"/>
          </a:ln>
        </p:spPr>
      </p:sp>
      <p:sp>
        <p:nvSpPr>
          <p:cNvPr id="363" name="Text 40a"/>
          <p:cNvSpPr/>
          <p:nvPr/>
        </p:nvSpPr>
        <p:spPr>
          <a:xfrm>
            <a:off x="795528" y="3145536"/>
            <a:ext cx="3136392" cy="256032"/>
          </a:xfrm>
          <a:prstGeom prst="rect">
            <a:avLst/>
          </a:prstGeom>
          <a:noFill/>
          <a:ln/>
        </p:spPr>
        <p:txBody>
          <a:bodyPr wrap="square" lIns="0" tIns="0" rIns="0" bIns="0" rtlCol="0" anchor="ctr"/>
          <a:lstStyle/>
          <a:p>
            <a:pPr indent="0" marL="0">
              <a:buNone/>
            </a:pPr>
            <a:r>
              <a:rPr lang="en-US" sz="1000" b="1" spc="100" kern="0" dirty="0">
                <a:solidFill>
                  <a:srgbClr val="7C6CFF"/>
                </a:solidFill>
                <a:latin typeface="Arial" pitchFamily="34" charset="0"/>
                <a:ea typeface="Arial" pitchFamily="34" charset="-122"/>
                <a:cs typeface="Arial" pitchFamily="34" charset="-120"/>
              </a:rPr>
              <a:t>ISSUANCE  ·  DARREN MARBLE, CEO</a:t>
            </a:r>
            <a:endParaRPr lang="en-US" sz="1000" dirty="0"/>
          </a:p>
        </p:txBody>
      </p:sp>
      <p:sp>
        <p:nvSpPr>
          <p:cNvPr id="364" name="Text 40b"/>
          <p:cNvSpPr/>
          <p:nvPr/>
        </p:nvSpPr>
        <p:spPr>
          <a:xfrm>
            <a:off x="795528" y="3419856"/>
            <a:ext cx="3136392" cy="1207008"/>
          </a:xfrm>
          <a:prstGeom prst="rect">
            <a:avLst/>
          </a:prstGeom>
          <a:noFill/>
          <a:ln/>
        </p:spPr>
        <p:txBody>
          <a:bodyPr wrap="square" lIns="0" tIns="0" rIns="0" bIns="0" rtlCol="0" anchor="t"/>
          <a:lstStyle/>
          <a:p>
            <a:pPr indent="0" marL="0">
              <a:lnSpc>
                <a:spcPct val="120000"/>
              </a:lnSpc>
              <a:buNone/>
            </a:pPr>
            <a:r>
              <a:rPr lang="en-US" sz="1050" i="1" dirty="0">
                <a:solidFill>
                  <a:srgbClr val="FFFFFF"/>
                </a:solidFill>
                <a:latin typeface="Arial" pitchFamily="34" charset="0"/>
                <a:ea typeface="Arial" pitchFamily="34" charset="-122"/>
                <a:cs typeface="Arial" pitchFamily="34" charset="-120"/>
              </a:rPr>
              <a:t>“…one of the most effective investor marketing firms I’ve ever worked with when it comes to raising capital for my companies. In the last 60 days alone, FISH has arranged 25 qualified investor meetings for me.”</a:t>
            </a:r>
            <a:endParaRPr lang="en-US" sz="1050" dirty="0"/>
          </a:p>
        </p:txBody>
      </p:sp>
      <p:sp>
        <p:nvSpPr>
          <p:cNvPr id="365" name="Text 40c"/>
          <p:cNvSpPr/>
          <p:nvPr/>
        </p:nvSpPr>
        <p:spPr>
          <a:xfrm>
            <a:off x="795528" y="4663440"/>
            <a:ext cx="3136392" cy="256032"/>
          </a:xfrm>
          <a:prstGeom prst="rect">
            <a:avLst/>
          </a:prstGeom>
          <a:noFill/>
          <a:ln/>
        </p:spPr>
        <p:txBody>
          <a:bodyPr wrap="square" lIns="0" tIns="0" rIns="0" bIns="0" rtlCol="0" anchor="ctr"/>
          <a:lstStyle/>
          <a:p>
            <a:pPr indent="0" marL="0">
              <a:buNone/>
            </a:pPr>
            <a:r>
              <a:rPr lang="en-US" sz="1000" b="1" dirty="0">
                <a:solidFill>
                  <a:srgbClr val="43D5FF"/>
                </a:solidFill>
                <a:latin typeface="Arial" pitchFamily="34" charset="0"/>
                <a:ea typeface="Arial" pitchFamily="34" charset="-122"/>
                <a:cs typeface="Arial" pitchFamily="34" charset="-120"/>
              </a:rPr>
              <a:t>25 QUALIFIED INVESTOR MEETINGS IN 60 DAYS</a:t>
            </a:r>
            <a:endParaRPr lang="en-US" sz="1000" dirty="0"/>
          </a:p>
        </p:txBody>
      </p:sp>
      <p:sp>
        <p:nvSpPr>
          <p:cNvPr id="366" name="Shape 41"/>
          <p:cNvSpPr/>
          <p:nvPr/>
        </p:nvSpPr>
        <p:spPr>
          <a:xfrm>
            <a:off x="4434840" y="3063240"/>
            <a:ext cx="3593592" cy="1920240"/>
          </a:xfrm>
          <a:prstGeom prst="roundRect">
            <a:avLst>
              <a:gd name="adj" fmla="val 4286"/>
            </a:avLst>
          </a:prstGeom>
          <a:solidFill>
            <a:srgbClr val="0D0D26">
              <a:alpha val="55000"/>
            </a:srgbClr>
          </a:solidFill>
          <a:ln w="9525">
            <a:solidFill>
              <a:srgbClr val="31316A">
                <a:alpha val="75000"/>
              </a:srgbClr>
            </a:solidFill>
            <a:prstDash val="solid"/>
          </a:ln>
        </p:spPr>
      </p:sp>
      <p:sp>
        <p:nvSpPr>
          <p:cNvPr id="367" name="Text 41a"/>
          <p:cNvSpPr/>
          <p:nvPr/>
        </p:nvSpPr>
        <p:spPr>
          <a:xfrm>
            <a:off x="4663440" y="3145536"/>
            <a:ext cx="3136392" cy="256032"/>
          </a:xfrm>
          <a:prstGeom prst="rect">
            <a:avLst/>
          </a:prstGeom>
          <a:noFill/>
          <a:ln/>
        </p:spPr>
        <p:txBody>
          <a:bodyPr wrap="square" lIns="0" tIns="0" rIns="0" bIns="0" rtlCol="0" anchor="ctr"/>
          <a:lstStyle/>
          <a:p>
            <a:pPr indent="0" marL="0">
              <a:buNone/>
            </a:pPr>
            <a:r>
              <a:rPr lang="en-US" sz="1000" b="1" spc="100" kern="0" dirty="0">
                <a:solidFill>
                  <a:srgbClr val="7C6CFF"/>
                </a:solidFill>
                <a:latin typeface="Arial" pitchFamily="34" charset="0"/>
                <a:ea typeface="Arial" pitchFamily="34" charset="-122"/>
                <a:cs typeface="Arial" pitchFamily="34" charset="-120"/>
              </a:rPr>
              <a:t>CARTHAGE CAPITAL  ·  STEPHEN WU</a:t>
            </a:r>
            <a:endParaRPr lang="en-US" sz="1000" dirty="0"/>
          </a:p>
        </p:txBody>
      </p:sp>
      <p:sp>
        <p:nvSpPr>
          <p:cNvPr id="368" name="Text 41b"/>
          <p:cNvSpPr/>
          <p:nvPr/>
        </p:nvSpPr>
        <p:spPr>
          <a:xfrm>
            <a:off x="4663440" y="3419856"/>
            <a:ext cx="3136392" cy="1207008"/>
          </a:xfrm>
          <a:prstGeom prst="rect">
            <a:avLst/>
          </a:prstGeom>
          <a:noFill/>
          <a:ln/>
        </p:spPr>
        <p:txBody>
          <a:bodyPr wrap="square" lIns="0" tIns="0" rIns="0" bIns="0" rtlCol="0" anchor="t"/>
          <a:lstStyle/>
          <a:p>
            <a:pPr indent="0" marL="0">
              <a:lnSpc>
                <a:spcPct val="120000"/>
              </a:lnSpc>
              <a:buNone/>
            </a:pPr>
            <a:r>
              <a:rPr lang="en-US" sz="1050" i="1" dirty="0">
                <a:solidFill>
                  <a:srgbClr val="FFFFFF"/>
                </a:solidFill>
                <a:latin typeface="Arial" pitchFamily="34" charset="0"/>
                <a:ea typeface="Arial" pitchFamily="34" charset="-122"/>
                <a:cs typeface="Arial" pitchFamily="34" charset="-120"/>
              </a:rPr>
              <a:t>“ThinkFISH helped me raise $2 to $3 million across around 20 different investors over the past nine months. Two to three meetings every week, consistently, and they’re already interested. You delivered way above my expectations.”</a:t>
            </a:r>
            <a:endParaRPr lang="en-US" sz="1050" dirty="0"/>
          </a:p>
        </p:txBody>
      </p:sp>
      <p:sp>
        <p:nvSpPr>
          <p:cNvPr id="369" name="Text 41c"/>
          <p:cNvSpPr/>
          <p:nvPr/>
        </p:nvSpPr>
        <p:spPr>
          <a:xfrm>
            <a:off x="4663440" y="4663440"/>
            <a:ext cx="3136392" cy="256032"/>
          </a:xfrm>
          <a:prstGeom prst="rect">
            <a:avLst/>
          </a:prstGeom>
          <a:noFill/>
          <a:ln/>
        </p:spPr>
        <p:txBody>
          <a:bodyPr wrap="square" lIns="0" tIns="0" rIns="0" bIns="0" rtlCol="0" anchor="ctr"/>
          <a:lstStyle/>
          <a:p>
            <a:pPr indent="0" marL="0">
              <a:buNone/>
            </a:pPr>
            <a:r>
              <a:rPr lang="en-US" sz="1000" b="1" dirty="0">
                <a:solidFill>
                  <a:srgbClr val="43D5FF"/>
                </a:solidFill>
                <a:latin typeface="Arial" pitchFamily="34" charset="0"/>
                <a:ea typeface="Arial" pitchFamily="34" charset="-122"/>
                <a:cs typeface="Arial" pitchFamily="34" charset="-120"/>
              </a:rPr>
              <a:t>$2–3M RAISED  ·  ~20 INVESTORS  ·  9 MONTHS</a:t>
            </a:r>
            <a:endParaRPr lang="en-US" sz="1000" dirty="0"/>
          </a:p>
        </p:txBody>
      </p:sp>
      <p:sp>
        <p:nvSpPr>
          <p:cNvPr id="370" name="Shape 42"/>
          <p:cNvSpPr/>
          <p:nvPr/>
        </p:nvSpPr>
        <p:spPr>
          <a:xfrm>
            <a:off x="8302752" y="3063240"/>
            <a:ext cx="3593592" cy="1920240"/>
          </a:xfrm>
          <a:prstGeom prst="roundRect">
            <a:avLst>
              <a:gd name="adj" fmla="val 4286"/>
            </a:avLst>
          </a:prstGeom>
          <a:solidFill>
            <a:srgbClr val="0D0D26">
              <a:alpha val="55000"/>
            </a:srgbClr>
          </a:solidFill>
          <a:ln w="9525">
            <a:solidFill>
              <a:srgbClr val="31316A">
                <a:alpha val="75000"/>
              </a:srgbClr>
            </a:solidFill>
            <a:prstDash val="solid"/>
          </a:ln>
        </p:spPr>
      </p:sp>
      <p:sp>
        <p:nvSpPr>
          <p:cNvPr id="371" name="Text 42a"/>
          <p:cNvSpPr/>
          <p:nvPr/>
        </p:nvSpPr>
        <p:spPr>
          <a:xfrm>
            <a:off x="8531352" y="3145536"/>
            <a:ext cx="3136392" cy="256032"/>
          </a:xfrm>
          <a:prstGeom prst="rect">
            <a:avLst/>
          </a:prstGeom>
          <a:noFill/>
          <a:ln/>
        </p:spPr>
        <p:txBody>
          <a:bodyPr wrap="square" lIns="0" tIns="0" rIns="0" bIns="0" rtlCol="0" anchor="ctr"/>
          <a:lstStyle/>
          <a:p>
            <a:pPr indent="0" marL="0">
              <a:buNone/>
            </a:pPr>
            <a:r>
              <a:rPr lang="en-US" sz="1000" b="1" spc="100" kern="0" dirty="0">
                <a:solidFill>
                  <a:srgbClr val="7C6CFF"/>
                </a:solidFill>
                <a:latin typeface="Arial" pitchFamily="34" charset="0"/>
                <a:ea typeface="Arial" pitchFamily="34" charset="-122"/>
                <a:cs typeface="Arial" pitchFamily="34" charset="-120"/>
              </a:rPr>
              <a:t>OPTIONSMD  ·  KYLE PIERCE, CEO</a:t>
            </a:r>
            <a:endParaRPr lang="en-US" sz="1000" dirty="0"/>
          </a:p>
        </p:txBody>
      </p:sp>
      <p:sp>
        <p:nvSpPr>
          <p:cNvPr id="372" name="Text 42b"/>
          <p:cNvSpPr/>
          <p:nvPr/>
        </p:nvSpPr>
        <p:spPr>
          <a:xfrm>
            <a:off x="8531352" y="3419856"/>
            <a:ext cx="3136392" cy="1207008"/>
          </a:xfrm>
          <a:prstGeom prst="rect">
            <a:avLst/>
          </a:prstGeom>
          <a:noFill/>
          <a:ln/>
        </p:spPr>
        <p:txBody>
          <a:bodyPr wrap="square" lIns="0" tIns="0" rIns="0" bIns="0" rtlCol="0" anchor="t"/>
          <a:lstStyle/>
          <a:p>
            <a:pPr indent="0" marL="0">
              <a:lnSpc>
                <a:spcPct val="120000"/>
              </a:lnSpc>
              <a:buNone/>
            </a:pPr>
            <a:r>
              <a:rPr lang="en-US" sz="1050" i="1" dirty="0">
                <a:solidFill>
                  <a:srgbClr val="FFFFFF"/>
                </a:solidFill>
                <a:latin typeface="Arial" pitchFamily="34" charset="0"/>
                <a:ea typeface="Arial" pitchFamily="34" charset="-122"/>
                <a:cs typeface="Arial" pitchFamily="34" charset="-120"/>
              </a:rPr>
              <a:t>“We’ve had a great experience with the team. The number and relevance of investor connections have grown quickly, and each meeting has proven valuable. We’ve been pleasantly surprised by the unexpected opportunities that have come from them.”</a:t>
            </a:r>
            <a:endParaRPr lang="en-US" sz="1050" dirty="0"/>
          </a:p>
        </p:txBody>
      </p:sp>
      <p:sp>
        <p:nvSpPr>
          <p:cNvPr id="373" name="Text 42c"/>
          <p:cNvSpPr/>
          <p:nvPr/>
        </p:nvSpPr>
        <p:spPr>
          <a:xfrm>
            <a:off x="8531352" y="4663440"/>
            <a:ext cx="3136392" cy="256032"/>
          </a:xfrm>
          <a:prstGeom prst="rect">
            <a:avLst/>
          </a:prstGeom>
          <a:noFill/>
          <a:ln/>
        </p:spPr>
        <p:txBody>
          <a:bodyPr wrap="square" lIns="0" tIns="0" rIns="0" bIns="0" rtlCol="0" anchor="ctr"/>
          <a:lstStyle/>
          <a:p>
            <a:pPr indent="0" marL="0">
              <a:buNone/>
            </a:pPr>
            <a:r>
              <a:rPr lang="en-US" sz="1000" b="1" dirty="0">
                <a:solidFill>
                  <a:srgbClr val="43D5FF"/>
                </a:solidFill>
                <a:latin typeface="Arial" pitchFamily="34" charset="0"/>
                <a:ea typeface="Arial" pitchFamily="34" charset="-122"/>
                <a:cs typeface="Arial" pitchFamily="34" charset="-120"/>
              </a:rPr>
              <a:t>90 MEETINGS IN 3 MONTHS  ·  LATER ACQUIRED</a:t>
            </a:r>
            <a:endParaRPr lang="en-US" sz="1000" dirty="0"/>
          </a:p>
        </p:txBody>
      </p:sp>
      <p:sp>
        <p:nvSpPr>
          <p:cNvPr id="374" name="Shape 50"/>
          <p:cNvSpPr/>
          <p:nvPr/>
        </p:nvSpPr>
        <p:spPr>
          <a:xfrm>
            <a:off x="566928" y="5120640"/>
            <a:ext cx="5532120" cy="777240"/>
          </a:xfrm>
          <a:prstGeom prst="roundRect">
            <a:avLst>
              <a:gd name="adj" fmla="val 4286"/>
            </a:avLst>
          </a:prstGeom>
          <a:solidFill>
            <a:srgbClr val="0D0D26">
              <a:alpha val="55000"/>
            </a:srgbClr>
          </a:solidFill>
          <a:ln w="9525">
            <a:solidFill>
              <a:srgbClr val="31316A">
                <a:alpha val="75000"/>
              </a:srgbClr>
            </a:solidFill>
            <a:prstDash val="solid"/>
          </a:ln>
        </p:spPr>
      </p:sp>
      <p:sp>
        <p:nvSpPr>
          <p:cNvPr id="375" name="Text 50b"/>
          <p:cNvSpPr/>
          <p:nvPr/>
        </p:nvSpPr>
        <p:spPr>
          <a:xfrm>
            <a:off x="795528" y="5175504"/>
            <a:ext cx="5074920" cy="502920"/>
          </a:xfrm>
          <a:prstGeom prst="rect">
            <a:avLst/>
          </a:prstGeom>
          <a:noFill/>
          <a:ln/>
        </p:spPr>
        <p:txBody>
          <a:bodyPr wrap="square" lIns="0" tIns="0" rIns="0" bIns="0" rtlCol="0" anchor="t"/>
          <a:lstStyle/>
          <a:p>
            <a:pPr indent="0" marL="0">
              <a:lnSpc>
                <a:spcPct val="112000"/>
              </a:lnSpc>
              <a:buNone/>
            </a:pPr>
            <a:r>
              <a:rPr lang="en-US" sz="1000" i="1" dirty="0">
                <a:solidFill>
                  <a:srgbClr val="FFFFFF"/>
                </a:solidFill>
                <a:latin typeface="Arial" pitchFamily="34" charset="0"/>
                <a:ea typeface="Arial" pitchFamily="34" charset="-122"/>
                <a:cs typeface="Arial" pitchFamily="34" charset="-120"/>
              </a:rPr>
              <a:t>“You guys truly exceeded my expectations. Honestly, I viewed it as a $20,000 gamble—like playing blackjack. But ironically, the very first lead you introduced was a solid single, and I was totally blown away.”</a:t>
            </a:r>
            <a:endParaRPr lang="en-US" sz="1000" dirty="0"/>
          </a:p>
        </p:txBody>
      </p:sp>
      <p:sp>
        <p:nvSpPr>
          <p:cNvPr id="376" name="Text 50c"/>
          <p:cNvSpPr/>
          <p:nvPr/>
        </p:nvSpPr>
        <p:spPr>
          <a:xfrm>
            <a:off x="795528" y="5678424"/>
            <a:ext cx="5074920" cy="201168"/>
          </a:xfrm>
          <a:prstGeom prst="rect">
            <a:avLst/>
          </a:prstGeom>
          <a:noFill/>
          <a:ln/>
        </p:spPr>
        <p:txBody>
          <a:bodyPr wrap="square" lIns="0" tIns="0" rIns="0" bIns="0" rtlCol="0" anchor="ctr"/>
          <a:lstStyle/>
          <a:p>
            <a:pPr indent="0" marL="0">
              <a:buNone/>
            </a:pPr>
            <a:r>
              <a:rPr lang="en-US" sz="950" b="1" dirty="0">
                <a:solidFill>
                  <a:srgbClr val="43D5FF"/>
                </a:solidFill>
                <a:latin typeface="Arial" pitchFamily="34" charset="0"/>
                <a:ea typeface="Arial" pitchFamily="34" charset="-122"/>
                <a:cs typeface="Arial" pitchFamily="34" charset="-120"/>
              </a:rPr>
              <a:t>TODD MCALLISTER, CEO, BIOAGE DATA</a:t>
            </a:r>
            <a:endParaRPr lang="en-US" sz="950" dirty="0"/>
          </a:p>
        </p:txBody>
      </p:sp>
      <p:sp>
        <p:nvSpPr>
          <p:cNvPr id="377" name="Shape 51"/>
          <p:cNvSpPr/>
          <p:nvPr/>
        </p:nvSpPr>
        <p:spPr>
          <a:xfrm>
            <a:off x="6373368" y="5120640"/>
            <a:ext cx="5532120" cy="777240"/>
          </a:xfrm>
          <a:prstGeom prst="roundRect">
            <a:avLst>
              <a:gd name="adj" fmla="val 4286"/>
            </a:avLst>
          </a:prstGeom>
          <a:solidFill>
            <a:srgbClr val="0D0D26">
              <a:alpha val="55000"/>
            </a:srgbClr>
          </a:solidFill>
          <a:ln w="9525">
            <a:solidFill>
              <a:srgbClr val="31316A">
                <a:alpha val="75000"/>
              </a:srgbClr>
            </a:solidFill>
            <a:prstDash val="solid"/>
          </a:ln>
        </p:spPr>
      </p:sp>
      <p:sp>
        <p:nvSpPr>
          <p:cNvPr id="378" name="Text 51b"/>
          <p:cNvSpPr/>
          <p:nvPr/>
        </p:nvSpPr>
        <p:spPr>
          <a:xfrm>
            <a:off x="6601968" y="5175504"/>
            <a:ext cx="5074920" cy="502920"/>
          </a:xfrm>
          <a:prstGeom prst="rect">
            <a:avLst/>
          </a:prstGeom>
          <a:noFill/>
          <a:ln/>
        </p:spPr>
        <p:txBody>
          <a:bodyPr wrap="square" lIns="0" tIns="0" rIns="0" bIns="0" rtlCol="0" anchor="t"/>
          <a:lstStyle/>
          <a:p>
            <a:pPr indent="0" marL="0">
              <a:lnSpc>
                <a:spcPct val="112000"/>
              </a:lnSpc>
              <a:buNone/>
            </a:pPr>
            <a:r>
              <a:rPr lang="en-US" sz="1000" i="1" dirty="0">
                <a:solidFill>
                  <a:srgbClr val="FFFFFF"/>
                </a:solidFill>
                <a:latin typeface="Arial" pitchFamily="34" charset="0"/>
                <a:ea typeface="Arial" pitchFamily="34" charset="-122"/>
                <a:cs typeface="Arial" pitchFamily="34" charset="-120"/>
              </a:rPr>
              <a:t>“ThinkFISH has consistently provided a steady stream of leads each week—over 20 so far! … Whenever a prospect doesn’t meet our criteria, they immediately remove them, which saves us valuable time.”</a:t>
            </a:r>
            <a:endParaRPr lang="en-US" sz="1000" dirty="0"/>
          </a:p>
        </p:txBody>
      </p:sp>
      <p:sp>
        <p:nvSpPr>
          <p:cNvPr id="379" name="Text 51c"/>
          <p:cNvSpPr/>
          <p:nvPr/>
        </p:nvSpPr>
        <p:spPr>
          <a:xfrm>
            <a:off x="6601968" y="5678424"/>
            <a:ext cx="5074920" cy="201168"/>
          </a:xfrm>
          <a:prstGeom prst="rect">
            <a:avLst/>
          </a:prstGeom>
          <a:noFill/>
          <a:ln/>
        </p:spPr>
        <p:txBody>
          <a:bodyPr wrap="square" lIns="0" tIns="0" rIns="0" bIns="0" rtlCol="0" anchor="ctr"/>
          <a:lstStyle/>
          <a:p>
            <a:pPr indent="0" marL="0">
              <a:buNone/>
            </a:pPr>
            <a:r>
              <a:rPr lang="en-US" sz="950" b="1" dirty="0">
                <a:solidFill>
                  <a:srgbClr val="43D5FF"/>
                </a:solidFill>
                <a:latin typeface="Arial" pitchFamily="34" charset="0"/>
                <a:ea typeface="Arial" pitchFamily="34" charset="-122"/>
                <a:cs typeface="Arial" pitchFamily="34" charset="-120"/>
              </a:rPr>
              <a:t>MATT SHIH, CO-FOUNDER &amp; CHIEF DESIGN OFFICER, PAINTBOX LABS</a:t>
            </a:r>
            <a:endParaRPr lang="en-US" sz="950" dirty="0"/>
          </a:p>
        </p:txBody>
      </p:sp>
      <p:sp>
        <p:nvSpPr>
          <p:cNvPr id="21" name="Shape 18"/>
          <p:cNvSpPr/>
          <p:nvPr/>
        </p:nvSpPr>
        <p:spPr>
          <a:xfrm>
            <a:off x="566928" y="6035040"/>
            <a:ext cx="11338560" cy="566928"/>
          </a:xfrm>
          <a:prstGeom prst="roundRect">
            <a:avLst>
              <a:gd name="adj" fmla="val 8182"/>
            </a:avLst>
          </a:prstGeom>
          <a:solidFill>
            <a:srgbClr val="0D0D26">
              <a:alpha val="55000"/>
            </a:srgbClr>
          </a:solidFill>
          <a:ln w="9525">
            <a:solidFill>
              <a:srgbClr val="31316A">
                <a:alpha val="75000"/>
              </a:srgbClr>
            </a:solidFill>
            <a:prstDash val="solid"/>
          </a:ln>
        </p:spPr>
      </p:sp>
      <p:sp>
        <p:nvSpPr>
          <p:cNvPr id="22" name="Text 19"/>
          <p:cNvSpPr/>
          <p:nvPr/>
        </p:nvSpPr>
        <p:spPr>
          <a:xfrm>
            <a:off x="795528" y="6089904"/>
            <a:ext cx="10881360" cy="457200"/>
          </a:xfrm>
          <a:prstGeom prst="rect">
            <a:avLst/>
          </a:prstGeom>
          <a:noFill/>
          <a:ln/>
        </p:spPr>
        <p:txBody>
          <a:bodyPr wrap="square" lIns="0" tIns="0" rIns="0" bIns="0" rtlCol="0" anchor="ctr"/>
          <a:lstStyle/>
          <a:p>
            <a:pPr indent="0" marL="0">
              <a:spcAft>
                <a:spcPts val="600"/>
              </a:spcAft>
              <a:buNone/>
            </a:pPr>
            <a:r>
              <a:rPr lang="en-US" sz="1200" b="1" spc="100" kern="0" dirty="0">
                <a:solidFill>
                  <a:srgbClr val="7C6CFF"/>
                </a:solidFill>
                <a:latin typeface="Arial" pitchFamily="34" charset="0"/>
                <a:ea typeface="Arial" pitchFamily="34" charset="-122"/>
                <a:cs typeface="Arial" pitchFamily="34" charset="-120"/>
              </a:rPr>
              <a:t xml:space="preserve">VIDEO TESTIMONIALS   </a:t>
            </a:r>
            <a:r>
              <a:rPr lang="en-US" sz="1300" dirty="0">
                <a:solidFill>
                  <a:srgbClr val="FFFFFF"/>
                </a:solidFill>
                <a:latin typeface="Arial" pitchFamily="34" charset="0"/>
                <a:ea typeface="Arial" pitchFamily="34" charset="-122"/>
                <a:cs typeface="Arial" pitchFamily="34" charset="-120"/>
              </a:rPr>
              <a:t xml:space="preserve">youtube.com/@thinkFISHLLC/videos</a:t>
            </a:r>
            <a:endParaRPr lang="en-US" sz="1200" dirty="0"/>
          </a:p>
          <a:p>
            <a:pPr indent="0" marL="0">
              <a:buNone/>
            </a:pPr>
            <a:r>
              <a:rPr lang="en-US" sz="1200" b="1" spc="100" kern="0" dirty="0">
                <a:solidFill>
                  <a:srgbClr val="7C6CFF"/>
                </a:solidFill>
                <a:latin typeface="Arial" pitchFamily="34" charset="0"/>
                <a:ea typeface="Arial" pitchFamily="34" charset="-122"/>
                <a:cs typeface="Arial" pitchFamily="34" charset="-120"/>
              </a:rPr>
              <a:t xml:space="preserve">HOW WE DO IT   </a:t>
            </a:r>
            <a:r>
              <a:rPr lang="en-US" sz="1300" dirty="0">
                <a:solidFill>
                  <a:srgbClr val="FFFFFF"/>
                </a:solidFill>
                <a:latin typeface="Arial" pitchFamily="34" charset="0"/>
                <a:ea typeface="Arial" pitchFamily="34" charset="-122"/>
                <a:cs typeface="Arial" pitchFamily="34" charset="-120"/>
              </a:rPr>
              <a:t xml:space="preserve">bit.ly/thinkfish_method</a:t>
            </a:r>
            <a:r>
              <a:rPr lang="en-US" sz="1200" b="1" spc="100" kern="0" dirty="0">
                <a:solidFill>
                  <a:srgbClr val="7C6CFF"/>
                </a:solidFill>
                <a:latin typeface="Arial" pitchFamily="34" charset="0"/>
                <a:ea typeface="Arial" pitchFamily="34" charset="-122"/>
                <a:cs typeface="Arial" pitchFamily="34" charset="-120"/>
              </a:rPr>
              <a:t xml:space="preserve">        WHO WE ARE   </a:t>
            </a:r>
            <a:r>
              <a:rPr lang="en-US" sz="1300" dirty="0">
                <a:solidFill>
                  <a:srgbClr val="FFFFFF"/>
                </a:solidFill>
                <a:latin typeface="Arial" pitchFamily="34" charset="0"/>
                <a:ea typeface="Arial" pitchFamily="34" charset="-122"/>
                <a:cs typeface="Arial" pitchFamily="34" charset="-120"/>
              </a:rPr>
              <a:t xml:space="preserve">bit.ly/thinkfish_VSL</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2026-07-20T20:56:15Z</dcterms:created>
  <dcterms:modified xsi:type="dcterms:W3CDTF">2026-07-20T20:56:15Z</dcterms:modified>
</cp:coreProperties>
</file>