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101"/>
    <p:sldId id="258" r:id="rId102"/>
    <p:sldId id="259" r:id="rId103"/>
    <p:sldId id="260" r:id="rId104"/>
    <p:sldId id="261" r:id="rId105"/>
    <p:sldId id="262" r:id="rId106"/>
    <p:sldId id="263" r:id="rId107"/>
    <p:sldId id="264" r:id="rId108"/>
    <p:sldId id="265" r:id="rId109"/>
    <p:sldId id="266" r:id="rId110"/>
    <p:sldId id="267" r:id="rId111"/>
    <p:sldId id="268" r:id="rId112"/>
    <p:sldId id="269" r:id="rId113"/>
    <p:sldId id="270" r:id="rId114"/>
    <p:sldId id="271" r:id="rId115"/>
    <p:sldId id="272" r:id="rId116"/>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101" Type="http://schemas.openxmlformats.org/officeDocument/2006/relationships/slide" Target="slides/slide1.xml"/><Relationship Id="rId102" Type="http://schemas.openxmlformats.org/officeDocument/2006/relationships/slide" Target="slides/slide2.xml"/><Relationship Id="rId103" Type="http://schemas.openxmlformats.org/officeDocument/2006/relationships/slide" Target="slides/slide3.xml"/><Relationship Id="rId104" Type="http://schemas.openxmlformats.org/officeDocument/2006/relationships/slide" Target="slides/slide4.xml"/><Relationship Id="rId105" Type="http://schemas.openxmlformats.org/officeDocument/2006/relationships/slide" Target="slides/slide5.xml"/><Relationship Id="rId106" Type="http://schemas.openxmlformats.org/officeDocument/2006/relationships/slide" Target="slides/slide6.xml"/><Relationship Id="rId107" Type="http://schemas.openxmlformats.org/officeDocument/2006/relationships/slide" Target="slides/slide7.xml"/><Relationship Id="rId108" Type="http://schemas.openxmlformats.org/officeDocument/2006/relationships/slide" Target="slides/slide8.xml"/><Relationship Id="rId109" Type="http://schemas.openxmlformats.org/officeDocument/2006/relationships/slide" Target="slides/slide9.xml"/><Relationship Id="rId110" Type="http://schemas.openxmlformats.org/officeDocument/2006/relationships/slide" Target="slides/slide10.xml"/><Relationship Id="rId111" Type="http://schemas.openxmlformats.org/officeDocument/2006/relationships/slide" Target="slides/slide11.xml"/><Relationship Id="rId112" Type="http://schemas.openxmlformats.org/officeDocument/2006/relationships/slide" Target="slides/slide12.xml"/><Relationship Id="rId113" Type="http://schemas.openxmlformats.org/officeDocument/2006/relationships/slide" Target="slides/slide13.xml"/><Relationship Id="rId114" Type="http://schemas.openxmlformats.org/officeDocument/2006/relationships/slide" Target="slides/slide14.xml"/><Relationship Id="rId115" Type="http://schemas.openxmlformats.org/officeDocument/2006/relationships/slide" Target="slides/slide15.xml"/><Relationship Id="rId116" Type="http://schemas.openxmlformats.org/officeDocument/2006/relationships/slide" Target="slides/slide16.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20" Type="http://schemas.openxmlformats.org/officeDocument/2006/relationships/image" Target="../media/cover_gradient.jpeg"/><Relationship Id="rId21" Type="http://schemas.openxmlformats.org/officeDocument/2006/relationships/image" Target="../media/cover_ribbon.png"/><Relationship Id="rId22" Type="http://schemas.openxmlformats.org/officeDocument/2006/relationships/image" Target="../media/cover_glow.png"/></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pic>
        <p:nvPicPr>
          <p:cNvPr id="300" name="Pic ribbon"/>
          <p:cNvPicPr>
            <a:picLocks noChangeAspect="1"/>
          </p:cNvPicPr>
          <p:nvPr/>
        </p:nvPicPr>
        <p:blipFill>
          <a:blip r:embed="rId21"/>
          <a:srcRect b="17691" l="21282"/>
          <a:stretch>
            <a:fillRect/>
          </a:stretch>
        </p:blipFill>
        <p:spPr>
          <a:xfrm>
            <a:off x="0" y="859536"/>
            <a:ext cx="4937760" cy="5998464"/>
          </a:xfrm>
          <a:prstGeom prst="rect">
            <a:avLst/>
          </a:prstGeom>
        </p:spPr>
      </p:pic>
      <p:pic>
        <p:nvPicPr>
          <p:cNvPr id="301" name="Pic gradient"/>
          <p:cNvPicPr>
            <a:picLocks noChangeAspect="1"/>
          </p:cNvPicPr>
          <p:nvPr/>
        </p:nvPicPr>
        <p:blipFill>
          <a:blip r:embed="rId20">
            <a:alphaModFix amt="37000"/>
          </a:blip>
          <a:srcRect l="4900" r="5000"/>
          <a:stretch>
            <a:fillRect/>
          </a:stretch>
        </p:blipFill>
        <p:spPr>
          <a:xfrm>
            <a:off x="4096512" y="841248"/>
            <a:ext cx="8095183" cy="6016752"/>
          </a:xfrm>
          <a:prstGeom prst="rect">
            <a:avLst/>
          </a:prstGeom>
        </p:spPr>
      </p:pic>
      <p:pic>
        <p:nvPicPr>
          <p:cNvPr id="302" name="Pic glow"/>
          <p:cNvPicPr>
            <a:picLocks noChangeAspect="1"/>
          </p:cNvPicPr>
          <p:nvPr/>
        </p:nvPicPr>
        <p:blipFill>
          <a:blip r:embed="rId22"/>
          <a:srcRect b="21079" l="72900" r="0"/>
          <a:stretch>
            <a:fillRect/>
          </a:stretch>
        </p:blipFill>
        <p:spPr>
          <a:xfrm>
            <a:off x="4096512" y="1106424"/>
            <a:ext cx="1700784" cy="5751576"/>
          </a:xfrm>
          <a:prstGeom prst="rect">
            <a:avLst/>
          </a:prstGeom>
        </p:spPr>
      </p:pic>
      <p:pic>
        <p:nvPicPr>
          <p:cNvPr id="2" name="Image 0" descr="/home/claude/brand/clean/logo_large.png">    </p:cNvPr>
          <p:cNvPicPr>
            <a:picLocks noChangeAspect="1"/>
          </p:cNvPicPr>
          <p:nvPr/>
        </p:nvPicPr>
        <p:blipFill>
          <a:blip r:embed="rId2"/>
          <a:stretch>
            <a:fillRect/>
          </a:stretch>
        </p:blipFill>
        <p:spPr>
          <a:xfrm>
            <a:off x="6818224" y="1280160"/>
            <a:ext cx="2651760" cy="1664208"/>
          </a:xfrm>
          <a:prstGeom prst="rect">
            <a:avLst/>
          </a:prstGeom>
        </p:spPr>
      </p:pic>
      <p:sp>
        <p:nvSpPr>
          <p:cNvPr id="3" name="Text 0"/>
          <p:cNvSpPr/>
          <p:nvPr/>
        </p:nvSpPr>
        <p:spPr>
          <a:xfrm>
            <a:off x="4370832" y="3108960"/>
            <a:ext cx="7546543" cy="868680"/>
          </a:xfrm>
          <a:prstGeom prst="rect">
            <a:avLst/>
          </a:prstGeom>
          <a:noFill/>
          <a:ln/>
        </p:spPr>
        <p:txBody>
          <a:bodyPr wrap="square" lIns="0" tIns="0" rIns="0" bIns="0"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ThinkFISH</a:t>
            </a:r>
            <a:endParaRPr lang="en-US" sz="5400" dirty="0"/>
          </a:p>
        </p:txBody>
      </p:sp>
      <p:sp>
        <p:nvSpPr>
          <p:cNvPr id="4" name="Text 1"/>
          <p:cNvSpPr/>
          <p:nvPr/>
        </p:nvSpPr>
        <p:spPr>
          <a:xfrm>
            <a:off x="4370832" y="3977640"/>
            <a:ext cx="7546543" cy="320040"/>
          </a:xfrm>
          <a:prstGeom prst="rect">
            <a:avLst/>
          </a:prstGeom>
          <a:noFill/>
          <a:ln/>
        </p:spPr>
        <p:txBody>
          <a:bodyPr wrap="square" lIns="0" tIns="0" rIns="0" bIns="0" rtlCol="0" anchor="ctr"/>
          <a:lstStyle/>
          <a:p>
            <a:pPr algn="ctr" indent="0" marL="0">
              <a:buNone/>
            </a:pPr>
            <a:r>
              <a:rPr lang="en-US" sz="1800" b="1" spc="300" kern="0" dirty="0">
                <a:solidFill>
                  <a:srgbClr val="FFFFFF"/>
                </a:solidFill>
                <a:latin typeface="Arial" pitchFamily="34" charset="0"/>
                <a:ea typeface="Arial" pitchFamily="34" charset="-122"/>
                <a:cs typeface="Arial" pitchFamily="34" charset="-120"/>
              </a:rPr>
              <a:t>&lt;&gt;&lt;</a:t>
            </a:r>
            <a:endParaRPr lang="en-US" sz="1800" dirty="0"/>
          </a:p>
        </p:txBody>
      </p:sp>
      <p:sp>
        <p:nvSpPr>
          <p:cNvPr id="5" name="Text 2"/>
          <p:cNvSpPr/>
          <p:nvPr/>
        </p:nvSpPr>
        <p:spPr>
          <a:xfrm>
            <a:off x="4370832" y="4407408"/>
            <a:ext cx="7546543" cy="502920"/>
          </a:xfrm>
          <a:prstGeom prst="rect">
            <a:avLst/>
          </a:prstGeom>
          <a:noFill/>
          <a:ln/>
        </p:spPr>
        <p:txBody>
          <a:bodyPr wrap="square" lIns="0" tIns="0" rIns="0" bIns="0" rtlCol="0" anchor="ctr"/>
          <a:lstStyle/>
          <a:p>
            <a:pPr algn="ctr" indent="0" marL="0">
              <a:buNone/>
            </a:pPr>
            <a:r>
              <a:rPr lang="en-US" sz="2800" dirty="0">
                <a:solidFill>
                  <a:srgbClr val="FFFFFF"/>
                </a:solidFill>
                <a:latin typeface="Arial" pitchFamily="34" charset="0"/>
                <a:ea typeface="Arial" pitchFamily="34" charset="-122"/>
                <a:cs typeface="Arial" pitchFamily="34" charset="-120"/>
              </a:rPr>
              <a:t>Moonshot Foundry</a:t>
            </a:r>
            <a:endParaRPr lang="en-US" sz="2800" dirty="0"/>
          </a:p>
        </p:txBody>
      </p:sp>
      <p:sp>
        <p:nvSpPr>
          <p:cNvPr id="6" name="Text 3"/>
          <p:cNvSpPr/>
          <p:nvPr/>
        </p:nvSpPr>
        <p:spPr>
          <a:xfrm>
            <a:off x="4370832" y="5074920"/>
            <a:ext cx="7546543" cy="640080"/>
          </a:xfrm>
          <a:prstGeom prst="rect">
            <a:avLst/>
          </a:prstGeom>
          <a:noFill/>
          <a:ln/>
        </p:spPr>
        <p:txBody>
          <a:bodyPr wrap="square" lIns="0" tIns="0" rIns="0" bIns="0" rtlCol="0" anchor="ctr"/>
          <a:lstStyle/>
          <a:p>
            <a:pPr algn="ctr" indent="0" marL="0">
              <a:buNone/>
            </a:pPr>
            <a:r>
              <a:rPr lang="en-US" sz="1300" dirty="0">
                <a:solidFill>
                  <a:srgbClr val="B9BEDC"/>
                </a:solidFill>
                <a:latin typeface="Arial" pitchFamily="34" charset="0"/>
                <a:ea typeface="Arial" pitchFamily="34" charset="-122"/>
                <a:cs typeface="Arial" pitchFamily="34" charset="-120"/>
              </a:rPr>
              <a:t>Investor Outreach Proposal  ·  September 2026</a:t>
            </a:r>
            <a:endParaRPr lang="en-US" sz="1300" dirty="0"/>
          </a:p>
          <a:p>
            <a:pPr algn="ctr" indent="0" marL="0">
              <a:buNone/>
            </a:pPr>
            <a:r>
              <a:rPr lang="en-US" sz="1300" dirty="0">
                <a:solidFill>
                  <a:srgbClr val="B9BEDC"/>
                </a:solidFill>
                <a:latin typeface="Arial" pitchFamily="34" charset="0"/>
                <a:ea typeface="Arial" pitchFamily="34" charset="-122"/>
                <a:cs typeface="Arial" pitchFamily="34" charset="-120"/>
              </a:rPr>
              <a:t>Prepared for Jeff Brown</a:t>
            </a:r>
            <a:endParaRPr lang="en-US" sz="1300" dirty="0"/>
          </a:p>
        </p:txBody>
      </p:sp>
      <p:sp>
        <p:nvSpPr>
          <p:cNvPr id="303" name="Text hdr"/>
          <p:cNvSpPr/>
          <p:nvPr/>
        </p:nvSpPr>
        <p:spPr>
          <a:xfrm>
            <a:off x="329184" y="365760"/>
            <a:ext cx="5486400" cy="365760"/>
          </a:xfrm>
          <a:prstGeom prst="rect">
            <a:avLst/>
          </a:prstGeom>
          <a:noFill/>
          <a:ln/>
        </p:spPr>
        <p:txBody>
          <a:bodyPr wrap="square" lIns="0" tIns="0" rIns="0" bIns="0" rtlCol="0" anchor="ctr"/>
          <a:lstStyle/>
          <a:p>
            <a:pPr indent="0" marL="0">
              <a:buNone/>
            </a:pPr>
            <a:r>
              <a:rPr lang="en-US" sz="1500" spc="200" kern="0" dirty="0">
                <a:solidFill>
                  <a:srgbClr val="FFFFFF"/>
                </a:solidFill>
                <a:latin typeface="Arial" pitchFamily="34" charset="0"/>
                <a:ea typeface="Arial" pitchFamily="34" charset="-122"/>
                <a:cs typeface="Arial" pitchFamily="34" charset="-120"/>
              </a:rPr>
              <a:t>THINKFISH LLC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Executive Summary</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ASK, THE PLAN, THE INVESTMENT, WHAT TO EXPECT</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ASK</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$3–5M growth raise for Moonshot Foundry, floor $3M, ideally committed by year-end. Funds go-to-market scaling and infrastructure, about 25% into tech platform expansion, and about 20% into the Foundry operations behind 10–12 new InsurTech launches a year.</a:t>
            </a:r>
            <a:endParaRPr lang="en-US" sz="105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PLAN</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Your LinkedIn profile, run end to end by ThinkFISH in your voice. Targeting investors who already think in InsurTech terms, family offices, angels and the wave of new InsurTech-focused funds, instead of generalist VCs who need convincing from zero. Every meeting pre-qualified and approved by you.</a:t>
            </a:r>
            <a:endParaRPr lang="en-US" sz="105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INVESTMENT</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$2,500 per month for one account, or $3,000 for two, flat. Six-month term with a three-month opt-out. No setup fee, no success fee, no commission, no transaction involvement.</a:t>
            </a:r>
            <a:endParaRPr lang="en-US" sz="105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WHAT TO EXPECT</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00" dirty="0">
                <a:solidFill>
                  <a:srgbClr val="FFFFFF"/>
                </a:solidFill>
                <a:latin typeface="Arial" pitchFamily="34" charset="0"/>
                <a:ea typeface="Arial" pitchFamily="34" charset="-122"/>
                <a:cs typeface="Arial" pitchFamily="34" charset="-120"/>
              </a:rPr>
              <a:t>Outreach live within two weeks of kickoff. First qualified investor conversations in weeks three and four, building to a steady 1–3 qualified meetings per week from month two, with weekly reporting and a data-driven checkpoint at the three-month opt-out. One honest note: early-growth raises historically take 6–12 months from first outreach to capital in the bank, in line with what you've already budgeted for. We can have the right investors on your calendar quickly; whether commitments close by year-end depends on your process and each investor's diligence, and we'd rather you hear that from us now.</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Why ThinkFISH</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TRACK RECORD, BEFORE THE PROCESS</a:t>
            </a:r>
            <a:endParaRPr lang="en-US" sz="1400" dirty="0"/>
          </a:p>
        </p:txBody>
      </p:sp>
      <p:sp>
        <p:nvSpPr>
          <p:cNvPr id="6" name="Shape 3"/>
          <p:cNvSpPr/>
          <p:nvPr/>
        </p:nvSpPr>
        <p:spPr>
          <a:xfrm>
            <a:off x="566928"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7" name="Text 4"/>
          <p:cNvSpPr/>
          <p:nvPr/>
        </p:nvSpPr>
        <p:spPr>
          <a:xfrm>
            <a:off x="795528"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$200M+</a:t>
            </a:r>
            <a:endParaRPr lang="en-US" sz="2400" dirty="0"/>
          </a:p>
        </p:txBody>
      </p:sp>
      <p:sp>
        <p:nvSpPr>
          <p:cNvPr id="8" name="Text 5"/>
          <p:cNvSpPr/>
          <p:nvPr/>
        </p:nvSpPr>
        <p:spPr>
          <a:xfrm>
            <a:off x="2350008"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client-reported capital raised</a:t>
            </a:r>
            <a:endParaRPr lang="en-US" sz="1050" dirty="0"/>
          </a:p>
        </p:txBody>
      </p:sp>
      <p:sp>
        <p:nvSpPr>
          <p:cNvPr id="9" name="Shape 6"/>
          <p:cNvSpPr/>
          <p:nvPr/>
        </p:nvSpPr>
        <p:spPr>
          <a:xfrm>
            <a:off x="4434840"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10" name="Text 7"/>
          <p:cNvSpPr/>
          <p:nvPr/>
        </p:nvSpPr>
        <p:spPr>
          <a:xfrm>
            <a:off x="4663440"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10,000+</a:t>
            </a:r>
            <a:endParaRPr lang="en-US" sz="2400" dirty="0"/>
          </a:p>
        </p:txBody>
      </p:sp>
      <p:sp>
        <p:nvSpPr>
          <p:cNvPr id="11" name="Text 8"/>
          <p:cNvSpPr/>
          <p:nvPr/>
        </p:nvSpPr>
        <p:spPr>
          <a:xfrm>
            <a:off x="6217920"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qualified investor meetings booked</a:t>
            </a:r>
            <a:endParaRPr lang="en-US" sz="1050" dirty="0"/>
          </a:p>
        </p:txBody>
      </p:sp>
      <p:sp>
        <p:nvSpPr>
          <p:cNvPr id="12" name="Shape 9"/>
          <p:cNvSpPr/>
          <p:nvPr/>
        </p:nvSpPr>
        <p:spPr>
          <a:xfrm>
            <a:off x="8302752"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500+</a:t>
            </a:r>
            <a:endParaRPr lang="en-US" sz="2400" dirty="0"/>
          </a:p>
        </p:txBody>
      </p:sp>
      <p:sp>
        <p:nvSpPr>
          <p:cNvPr id="14" name="Text 11"/>
          <p:cNvSpPr/>
          <p:nvPr/>
        </p:nvSpPr>
        <p:spPr>
          <a:xfrm>
            <a:off x="10085832"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clients served since 2020</a:t>
            </a:r>
            <a:endParaRPr lang="en-US" sz="1050" dirty="0"/>
          </a:p>
        </p:txBody>
      </p:sp>
      <p:sp>
        <p:nvSpPr>
          <p:cNvPr id="15" name="Shape 12"/>
          <p:cNvSpPr/>
          <p:nvPr/>
        </p:nvSpPr>
        <p:spPr>
          <a:xfrm>
            <a:off x="566928" y="3291840"/>
            <a:ext cx="5532120"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18" name="Shape 15"/>
          <p:cNvSpPr/>
          <p:nvPr/>
        </p:nvSpPr>
        <p:spPr>
          <a:xfrm>
            <a:off x="6373368" y="3291840"/>
            <a:ext cx="5532120"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21" name="Shape 18"/>
          <p:cNvSpPr/>
          <p:nvPr/>
        </p:nvSpPr>
        <p:spPr>
          <a:xfrm>
            <a:off x="566928" y="5440680"/>
            <a:ext cx="11338560" cy="1005840"/>
          </a:xfrm>
          <a:prstGeom prst="roundRect">
            <a:avLst>
              <a:gd name="adj" fmla="val 8182"/>
            </a:avLst>
          </a:prstGeom>
          <a:solidFill>
            <a:srgbClr val="0D0D26">
              <a:alpha val="55000"/>
            </a:srgbClr>
          </a:solidFill>
          <a:ln w="9525">
            <a:solidFill>
              <a:srgbClr val="31316A">
                <a:alpha val="75000"/>
              </a:srgbClr>
            </a:solidFill>
            <a:prstDash val="solid"/>
          </a:ln>
        </p:spPr>
      </p:sp>
      <p:sp>
        <p:nvSpPr>
          <p:cNvPr id="304" name="Text w0"/>
          <p:cNvSpPr/>
          <p:nvPr/>
        </p:nvSpPr>
        <p:spPr>
          <a:xfrm>
            <a:off x="822960" y="3419856"/>
            <a:ext cx="5029200" cy="256032"/>
          </a:xfrm>
          <a:prstGeom prst="rect">
            <a:avLst/>
          </a:prstGeom>
          <a:noFill/>
          <a:ln/>
        </p:spPr>
        <p:txBody>
          <a:bodyPr wrap="square" lIns="0" tIns="0" rIns="0" bIns="0" rtlCol="0" anchor="ctr"/>
          <a:lstStyle/>
          <a:p>
            <a:pPr indent="0" marL="0">
              <a:buNone/>
            </a:pPr>
            <a:r>
              <a:rPr lang="en-US" sz="1100" b="1" spc="100" kern="0" dirty="0">
                <a:solidFill>
                  <a:srgbClr val="7C6CFF"/>
                </a:solidFill>
                <a:latin typeface="Arial" pitchFamily="34" charset="0"/>
                <a:ea typeface="Arial" pitchFamily="34" charset="-122"/>
                <a:cs typeface="Arial" pitchFamily="34" charset="-120"/>
              </a:rPr>
              <a:t>ISSUANCE  ·  DARREN MARBLE, CEO</a:t>
            </a:r>
            <a:endParaRPr lang="en-US" sz="1100" dirty="0"/>
          </a:p>
        </p:txBody>
      </p:sp>
      <p:sp>
        <p:nvSpPr>
          <p:cNvPr id="305" name="Text q0"/>
          <p:cNvSpPr/>
          <p:nvPr/>
        </p:nvSpPr>
        <p:spPr>
          <a:xfrm>
            <a:off x="822960" y="3712464"/>
            <a:ext cx="5029200" cy="1143000"/>
          </a:xfrm>
          <a:prstGeom prst="rect">
            <a:avLst/>
          </a:prstGeom>
          <a:noFill/>
          <a:ln/>
        </p:spPr>
        <p:txBody>
          <a:bodyPr wrap="square" lIns="0" tIns="0" rIns="0" bIns="0" rtlCol="0" anchor="t"/>
          <a:lstStyle/>
          <a:p>
            <a:pPr indent="0" marL="0">
              <a:lnSpc>
                <a:spcPct val="120000"/>
              </a:lnSpc>
              <a:buNone/>
            </a:pPr>
            <a:r>
              <a:rPr lang="en-US" sz="1200" i="1" dirty="0">
                <a:solidFill>
                  <a:srgbClr val="FFFFFF"/>
                </a:solidFill>
                <a:latin typeface="Arial" pitchFamily="34" charset="0"/>
                <a:ea typeface="Arial" pitchFamily="34" charset="-122"/>
                <a:cs typeface="Arial" pitchFamily="34" charset="-120"/>
              </a:rPr>
              <a:t>“…one of the most effective investor marketing firms I’ve ever worked with when it comes to raising capital for my companies. In the last 60 days alone, FISH has arranged 25 qualified investor meetings for me.”</a:t>
            </a:r>
            <a:endParaRPr lang="en-US" sz="1200" dirty="0"/>
          </a:p>
        </p:txBody>
      </p:sp>
      <p:sp>
        <p:nvSpPr>
          <p:cNvPr id="306" name="Text r0"/>
          <p:cNvSpPr/>
          <p:nvPr/>
        </p:nvSpPr>
        <p:spPr>
          <a:xfrm>
            <a:off x="822960" y="4864608"/>
            <a:ext cx="5029200" cy="256032"/>
          </a:xfrm>
          <a:prstGeom prst="rect">
            <a:avLst/>
          </a:prstGeom>
          <a:noFill/>
          <a:ln/>
        </p:spPr>
        <p:txBody>
          <a:bodyPr wrap="square" lIns="0" tIns="0" rIns="0" bIns="0" rtlCol="0" anchor="ctr"/>
          <a:lstStyle/>
          <a:p>
            <a:pPr indent="0" marL="0">
              <a:buNone/>
            </a:pPr>
            <a:r>
              <a:rPr lang="en-US" sz="1050" b="1" dirty="0">
                <a:solidFill>
                  <a:srgbClr val="43D5FF"/>
                </a:solidFill>
                <a:latin typeface="Arial" pitchFamily="34" charset="0"/>
                <a:ea typeface="Arial" pitchFamily="34" charset="-122"/>
                <a:cs typeface="Arial" pitchFamily="34" charset="-120"/>
              </a:rPr>
              <a:t>25 QUALIFIED INVESTOR MEETINGS IN 60 DAYS</a:t>
            </a:r>
            <a:endParaRPr lang="en-US" sz="1050" dirty="0"/>
          </a:p>
        </p:txBody>
      </p:sp>
      <p:sp>
        <p:nvSpPr>
          <p:cNvPr id="307" name="Text w1"/>
          <p:cNvSpPr/>
          <p:nvPr/>
        </p:nvSpPr>
        <p:spPr>
          <a:xfrm>
            <a:off x="6629400" y="3419856"/>
            <a:ext cx="5029200" cy="256032"/>
          </a:xfrm>
          <a:prstGeom prst="rect">
            <a:avLst/>
          </a:prstGeom>
          <a:noFill/>
          <a:ln/>
        </p:spPr>
        <p:txBody>
          <a:bodyPr wrap="square" lIns="0" tIns="0" rIns="0" bIns="0" rtlCol="0" anchor="ctr"/>
          <a:lstStyle/>
          <a:p>
            <a:pPr indent="0" marL="0">
              <a:buNone/>
            </a:pPr>
            <a:r>
              <a:rPr lang="en-US" sz="1100" b="1" spc="100" kern="0" dirty="0">
                <a:solidFill>
                  <a:srgbClr val="7C6CFF"/>
                </a:solidFill>
                <a:latin typeface="Arial" pitchFamily="34" charset="0"/>
                <a:ea typeface="Arial" pitchFamily="34" charset="-122"/>
                <a:cs typeface="Arial" pitchFamily="34" charset="-120"/>
              </a:rPr>
              <a:t>CARTHAGE CAPITAL  ·  STEPHEN WU</a:t>
            </a:r>
            <a:endParaRPr lang="en-US" sz="1100" dirty="0"/>
          </a:p>
        </p:txBody>
      </p:sp>
      <p:sp>
        <p:nvSpPr>
          <p:cNvPr id="308" name="Text q1"/>
          <p:cNvSpPr/>
          <p:nvPr/>
        </p:nvSpPr>
        <p:spPr>
          <a:xfrm>
            <a:off x="6629400" y="3712464"/>
            <a:ext cx="5029200" cy="1143000"/>
          </a:xfrm>
          <a:prstGeom prst="rect">
            <a:avLst/>
          </a:prstGeom>
          <a:noFill/>
          <a:ln/>
        </p:spPr>
        <p:txBody>
          <a:bodyPr wrap="square" lIns="0" tIns="0" rIns="0" bIns="0" rtlCol="0" anchor="t"/>
          <a:lstStyle/>
          <a:p>
            <a:pPr indent="0" marL="0">
              <a:lnSpc>
                <a:spcPct val="120000"/>
              </a:lnSpc>
              <a:buNone/>
            </a:pPr>
            <a:r>
              <a:rPr lang="en-US" sz="1200" i="1" dirty="0">
                <a:solidFill>
                  <a:srgbClr val="FFFFFF"/>
                </a:solidFill>
                <a:latin typeface="Arial" pitchFamily="34" charset="0"/>
                <a:ea typeface="Arial" pitchFamily="34" charset="-122"/>
                <a:cs typeface="Arial" pitchFamily="34" charset="-120"/>
              </a:rPr>
              <a:t>“ThinkFISH helped me raise $2 to $3 million across around 20 different investors over the past nine months. I basically got two to three meetings every week, consistently, and they’re already interested. I was going to cancel after a quarter if you didn’t deliver. You delivered way above my expectations.”</a:t>
            </a:r>
            <a:endParaRPr lang="en-US" sz="1200" dirty="0"/>
          </a:p>
        </p:txBody>
      </p:sp>
      <p:sp>
        <p:nvSpPr>
          <p:cNvPr id="309" name="Text r1"/>
          <p:cNvSpPr/>
          <p:nvPr/>
        </p:nvSpPr>
        <p:spPr>
          <a:xfrm>
            <a:off x="6629400" y="4864608"/>
            <a:ext cx="5029200" cy="256032"/>
          </a:xfrm>
          <a:prstGeom prst="rect">
            <a:avLst/>
          </a:prstGeom>
          <a:noFill/>
          <a:ln/>
        </p:spPr>
        <p:txBody>
          <a:bodyPr wrap="square" lIns="0" tIns="0" rIns="0" bIns="0" rtlCol="0" anchor="ctr"/>
          <a:lstStyle/>
          <a:p>
            <a:pPr indent="0" marL="0">
              <a:buNone/>
            </a:pPr>
            <a:r>
              <a:rPr lang="en-US" sz="1050" b="1" dirty="0">
                <a:solidFill>
                  <a:srgbClr val="43D5FF"/>
                </a:solidFill>
                <a:latin typeface="Arial" pitchFamily="34" charset="0"/>
                <a:ea typeface="Arial" pitchFamily="34" charset="-122"/>
                <a:cs typeface="Arial" pitchFamily="34" charset="-120"/>
              </a:rPr>
              <a:t>$2–3M RAISED ACROSS ~20 INVESTORS IN 9 MONTHS</a:t>
            </a:r>
            <a:endParaRPr lang="en-US" sz="1050" dirty="0"/>
          </a:p>
        </p:txBody>
      </p:sp>
      <p:sp>
        <p:nvSpPr>
          <p:cNvPr id="310" name="Text bl"/>
          <p:cNvSpPr/>
          <p:nvPr/>
        </p:nvSpPr>
        <p:spPr>
          <a:xfrm>
            <a:off x="795528" y="5559552"/>
            <a:ext cx="548640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FUNDABLE COMPANIES GET FUNDED</a:t>
            </a:r>
            <a:endParaRPr lang="en-US" sz="1200" dirty="0"/>
          </a:p>
        </p:txBody>
      </p:sp>
      <p:sp>
        <p:nvSpPr>
          <p:cNvPr id="311" name="Text bp"/>
          <p:cNvSpPr/>
          <p:nvPr/>
        </p:nvSpPr>
        <p:spPr>
          <a:xfrm>
            <a:off x="795528" y="5852160"/>
            <a:ext cx="10881360" cy="548640"/>
          </a:xfrm>
          <a:prstGeom prst="rect">
            <a:avLst/>
          </a:prstGeom>
          <a:noFill/>
          <a:ln/>
        </p:spPr>
        <p:txBody>
          <a:bodyPr wrap="square" lIns="0" tIns="0" rIns="0" bIns="0" rtlCol="0" anchor="t"/>
          <a:lstStyle/>
          <a:p>
            <a:pPr indent="0" marL="0">
              <a:lnSpc>
                <a:spcPct val="120000"/>
              </a:lnSpc>
              <a:buNone/>
            </a:pPr>
            <a:r>
              <a:rPr lang="en-US" sz="1150" dirty="0">
                <a:solidFill>
                  <a:srgbClr val="FFFFFF"/>
                </a:solidFill>
                <a:latin typeface="Arial" pitchFamily="34" charset="0"/>
                <a:ea typeface="Arial" pitchFamily="34" charset="-122"/>
                <a:cs typeface="Arial" pitchFamily="34" charset="-120"/>
              </a:rPr>
              <a:t>Every client we’ve worked with who was fundable (real product, real traction, a team that can run a process) has received checks from meetings we set. We’re not in the room for those meetings, so we only report what clients report back. Full testimonials and video links are in the appendix.</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What’s Standing Between You and the Close</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GAP WE’RE SOLVING</a:t>
            </a:r>
            <a:endParaRPr lang="en-US" sz="1400" dirty="0"/>
          </a:p>
        </p:txBody>
      </p:sp>
      <p:sp>
        <p:nvSpPr>
          <p:cNvPr id="6" name="Text 3"/>
          <p:cNvSpPr/>
          <p:nvPr/>
        </p:nvSpPr>
        <p:spPr>
          <a:xfrm>
            <a:off x="566928" y="2148840"/>
            <a:ext cx="4297680" cy="2651760"/>
          </a:xfrm>
          <a:prstGeom prst="rect">
            <a:avLst/>
          </a:prstGeom>
          <a:noFill/>
          <a:ln/>
        </p:spPr>
        <p:txBody>
          <a:bodyPr wrap="square" lIns="0" tIns="0" rIns="0" bIns="0" rtlCol="0" anchor="t"/>
          <a:lstStyle/>
          <a:p>
            <a:pPr indent="0" marL="0">
              <a:lnSpc>
                <a:spcPct val="125000"/>
              </a:lnSpc>
              <a:buNone/>
            </a:pPr>
            <a:r>
              <a:rPr lang="en-US" sz="1300" dirty="0">
                <a:solidFill>
                  <a:srgbClr val="FFFFFF"/>
                </a:solidFill>
                <a:latin typeface="Arial" pitchFamily="34" charset="0"/>
                <a:ea typeface="Arial" pitchFamily="34" charset="-122"/>
                <a:cs typeface="Arial" pitchFamily="34" charset="-120"/>
              </a:rPr>
              <a:t>You've built something real: three rolled-up InsurTech businesses running about $2M this year, a Foundry model already producing two live joint ventures, and roughly $1.1M raised through your own network. What's stalling isn't the story, it's the audience. VCs keep passing because the aggregation-plus-incubation model doesn't fit a pure SaaS or pure-AI thesis, and your own network, tapped for everything it has, is now returning 5–10% response rates on cold outreach.</a:t>
            </a:r>
            <a:endParaRPr lang="en-US" sz="1300" dirty="0"/>
          </a:p>
        </p:txBody>
      </p:sp>
      <p:sp>
        <p:nvSpPr>
          <p:cNvPr id="7" name="Text 4"/>
          <p:cNvSpPr/>
          <p:nvPr/>
        </p:nvSpPr>
        <p:spPr>
          <a:xfrm>
            <a:off x="566928" y="4800600"/>
            <a:ext cx="4297680" cy="1554480"/>
          </a:xfrm>
          <a:prstGeom prst="rect">
            <a:avLst/>
          </a:prstGeom>
          <a:noFill/>
          <a:ln/>
        </p:spPr>
        <p:txBody>
          <a:bodyPr wrap="square" lIns="0" tIns="0" rIns="0" bIns="0" rtlCol="0" anchor="t"/>
          <a:lstStyle/>
          <a:p>
            <a:pPr indent="0" marL="0">
              <a:lnSpc>
                <a:spcPct val="125000"/>
              </a:lnSpc>
              <a:buNone/>
            </a:pPr>
            <a:r>
              <a:rPr lang="en-US" sz="1300" i="1" dirty="0">
                <a:solidFill>
                  <a:srgbClr val="B9BEDC"/>
                </a:solidFill>
                <a:latin typeface="Arial" pitchFamily="34" charset="0"/>
                <a:ea typeface="Arial" pitchFamily="34" charset="-122"/>
                <a:cs typeface="Arial" pitchFamily="34" charset="-120"/>
              </a:rPr>
              <a:t>Your raise isn't short on interest, it's short on investors who already speak InsurTech and don't need weeks of education before a check gets written. Finding that specific pool at volume is a targeting problem, not a pitch problem.</a:t>
            </a:r>
            <a:endParaRPr lang="en-US" sz="1300" dirty="0"/>
          </a:p>
        </p:txBody>
      </p:sp>
      <p:sp>
        <p:nvSpPr>
          <p:cNvPr id="8" name="Shape 5"/>
          <p:cNvSpPr/>
          <p:nvPr/>
        </p:nvSpPr>
        <p:spPr>
          <a:xfrm>
            <a:off x="5257800" y="214884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9" name="Text 6"/>
          <p:cNvSpPr/>
          <p:nvPr/>
        </p:nvSpPr>
        <p:spPr>
          <a:xfrm>
            <a:off x="5486400" y="225856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SURFACE PROBLEM</a:t>
            </a:r>
            <a:endParaRPr lang="en-US" sz="1250" dirty="0"/>
          </a:p>
        </p:txBody>
      </p:sp>
      <p:sp>
        <p:nvSpPr>
          <p:cNvPr id="10" name="Text 7"/>
          <p:cNvSpPr/>
          <p:nvPr/>
        </p:nvSpPr>
        <p:spPr>
          <a:xfrm>
            <a:off x="7498080" y="224028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Warm network capped near $1.1M committed; cold outreach off your own AI-built list is landing 5–10% response, well below the volume a $3–5M raise needs.</a:t>
            </a:r>
            <a:endParaRPr lang="en-US" sz="1100" dirty="0"/>
          </a:p>
        </p:txBody>
      </p:sp>
      <p:sp>
        <p:nvSpPr>
          <p:cNvPr id="11" name="Shape 8"/>
          <p:cNvSpPr/>
          <p:nvPr/>
        </p:nvSpPr>
        <p:spPr>
          <a:xfrm>
            <a:off x="5257800" y="324612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2" name="Text 9"/>
          <p:cNvSpPr/>
          <p:nvPr/>
        </p:nvSpPr>
        <p:spPr>
          <a:xfrm>
            <a:off x="5486400" y="335584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BUSINESS IMPACT</a:t>
            </a:r>
            <a:endParaRPr lang="en-US" sz="1250" dirty="0"/>
          </a:p>
        </p:txBody>
      </p:sp>
      <p:sp>
        <p:nvSpPr>
          <p:cNvPr id="13" name="Text 10"/>
          <p:cNvSpPr/>
          <p:nvPr/>
        </p:nvSpPr>
        <p:spPr>
          <a:xfrm>
            <a:off x="7498080" y="333756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Go-to-market scaling, the 25% tech platform build-out and the 20% Foundry allocation behind 10–12 planned launches a year, all wait on capital that hasn't closed.</a:t>
            </a:r>
            <a:endParaRPr lang="en-US" sz="1100" dirty="0"/>
          </a:p>
        </p:txBody>
      </p:sp>
      <p:sp>
        <p:nvSpPr>
          <p:cNvPr id="14" name="Shape 11"/>
          <p:cNvSpPr/>
          <p:nvPr/>
        </p:nvSpPr>
        <p:spPr>
          <a:xfrm>
            <a:off x="5257800" y="434340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5" name="Text 12"/>
          <p:cNvSpPr/>
          <p:nvPr/>
        </p:nvSpPr>
        <p:spPr>
          <a:xfrm>
            <a:off x="5486400" y="445312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PERSONAL IMPACT</a:t>
            </a:r>
            <a:endParaRPr lang="en-US" sz="1250" dirty="0"/>
          </a:p>
        </p:txBody>
      </p:sp>
      <p:sp>
        <p:nvSpPr>
          <p:cNvPr id="16" name="Text 13"/>
          <p:cNvSpPr/>
          <p:nvPr/>
        </p:nvSpPr>
        <p:spPr>
          <a:xfrm>
            <a:off x="7498080" y="443484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You're running three companies and a launch pipeline while also sourcing investors and educating generalists on a niche most outsiders don't understand.</a:t>
            </a:r>
            <a:endParaRPr lang="en-US" sz="1100" dirty="0"/>
          </a:p>
        </p:txBody>
      </p:sp>
      <p:sp>
        <p:nvSpPr>
          <p:cNvPr id="17" name="Shape 14"/>
          <p:cNvSpPr/>
          <p:nvPr/>
        </p:nvSpPr>
        <p:spPr>
          <a:xfrm>
            <a:off x="5257800" y="544068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8" name="Text 15"/>
          <p:cNvSpPr/>
          <p:nvPr/>
        </p:nvSpPr>
        <p:spPr>
          <a:xfrm>
            <a:off x="5486400" y="555040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COST OF INACTION</a:t>
            </a:r>
            <a:endParaRPr lang="en-US" sz="1250" dirty="0"/>
          </a:p>
        </p:txBody>
      </p:sp>
      <p:sp>
        <p:nvSpPr>
          <p:cNvPr id="19" name="Text 16"/>
          <p:cNvSpPr/>
          <p:nvPr/>
        </p:nvSpPr>
        <p:spPr>
          <a:xfrm>
            <a:off x="7498080" y="553212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Every month spent explaining the model to the wrong investor pushes the close further past year-end and delays the next round of Foundry launches behind it.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Investor ICP</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TARGET SEGMENTS, IN PRIORITY ORDER</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5096" cy="914400"/>
        </p:xfrm>
        <a:graphic>
          <a:graphicData uri="http://schemas.openxmlformats.org/drawingml/2006/table">
            <a:tbl>
              <a:tblPr/>
              <a:tblGrid>
                <a:gridCol w="3291840"/>
                <a:gridCol w="7763256"/>
              </a:tblGrid>
              <a:tr h="457200">
                <a:tc>
                  <a:txBody>
                    <a:bodyPr/>
                    <a:lstStyle/>
                    <a:p>
                      <a:pPr algn="l" indent="0" marL="0">
                        <a:buNone/>
                      </a:pPr>
                      <a:r>
                        <a:rPr lang="en-US" sz="1200" b="1" dirty="0">
                          <a:solidFill>
                            <a:srgbClr val="43D5FF"/>
                          </a:solidFill>
                          <a:latin typeface="Arial" pitchFamily="34" charset="0"/>
                          <a:ea typeface="Arial" pitchFamily="34" charset="-122"/>
                          <a:cs typeface="Arial" pitchFamily="34" charset="-120"/>
                        </a:rPr>
                        <a:t>SEGMENT</a:t>
                      </a:r>
                      <a:endParaRPr lang="en-US" sz="12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1B1B45">
                        <a:alpha val="75000"/>
                      </a:srgbClr>
                    </a:solidFill>
                  </a:tcPr>
                </a:tc>
                <a:tc>
                  <a:txBody>
                    <a:bodyPr/>
                    <a:lstStyle/>
                    <a:p>
                      <a:pPr algn="l" indent="0" marL="0">
                        <a:buNone/>
                      </a:pPr>
                      <a:r>
                        <a:rPr lang="en-US" sz="1200" b="1" dirty="0">
                          <a:solidFill>
                            <a:srgbClr val="43D5FF"/>
                          </a:solidFill>
                          <a:latin typeface="Arial" pitchFamily="34" charset="0"/>
                          <a:ea typeface="Arial" pitchFamily="34" charset="-122"/>
                          <a:cs typeface="Arial" pitchFamily="34" charset="-120"/>
                        </a:rPr>
                        <a:t>WHO THEY ARE AND WHY THEY FIT</a:t>
                      </a:r>
                      <a:endParaRPr lang="en-US" sz="12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1B1B45">
                        <a:alpha val="75000"/>
                      </a:srgbClr>
                    </a:solidFill>
                  </a:tcPr>
                </a:tc>
              </a:tr>
              <a:tr h="841248">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1.  InsurTech-Native Angels &amp; Family Offices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A documented InsurTech thesis and similar checks written in the last 12 months, the investors who need no education on the market.</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841248">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2.  New InsurTech-Focused Funds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First-time managers launching funds built specifically around InsurTech, 100+ opened in the last 18 months, actively deploying.</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841248">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3.  Complementary-Vertical Operators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Angels and family offices experienced in SaaS, fintech or payments who've shown willingness to stretch into adjacent verticals.</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841248">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4.  Roll-Up &amp; Portfolio-Model Investors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Investors comfortable backing an aggregation-plus-incubation structure rather than a single-product SaaS story.</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bl>
          </a:graphicData>
        </a:graphic>
      </p:graphicFrame>
      <p:sp>
        <p:nvSpPr>
          <p:cNvPr id="312" name="Text 30"/>
          <p:cNvSpPr/>
          <p:nvPr/>
        </p:nvSpPr>
        <p:spPr>
          <a:xfrm>
            <a:off x="566928" y="6199632"/>
            <a:ext cx="11155680" cy="411480"/>
          </a:xfrm>
          <a:prstGeom prst="rect">
            <a:avLst/>
          </a:prstGeom>
          <a:noFill/>
          <a:ln/>
        </p:spPr>
        <p:txBody>
          <a:bodyPr wrap="square" lIns="0" tIns="0" rIns="0" bIns="0" rtlCol="0" anchor="t"/>
          <a:lstStyle/>
          <a:p>
            <a:pPr indent="0" marL="0">
              <a:lnSpc>
                <a:spcPct val="125000"/>
              </a:lnSpc>
              <a:buNone/>
            </a:pPr>
            <a:r>
              <a:rPr lang="en-US" sz="1150" i="1" dirty="0">
                <a:solidFill>
                  <a:srgbClr val="B9BEDC"/>
                </a:solidFill>
                <a:latin typeface="Arial" pitchFamily="34" charset="0"/>
                <a:ea typeface="Arial" pitchFamily="34" charset="-122"/>
                <a:cs typeface="Arial" pitchFamily="34" charset="-120"/>
              </a:rPr>
              <a:t>This is our starting point. The full target outline, including check sizes and exclusions, gets planned with you during onboarding.</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This Raise, and the Partnership Beyond</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HOW ONE ENGAGEMENT SUPPORTS THE FOUNDRY MODEL</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MOONSHOT RAISE</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This engagement runs the $3–5M growth raise for Moonshot Foundry itself, the capital behind go-to-market scaling, the tech platform build-out and the Foundry operations that power 10–12 new InsurTech launches a year.</a:t>
            </a:r>
            <a:endParaRPr lang="en-US" sz="110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FOUNDRY PIPELINE</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Each MGA, JV or InsurTech launch that follows carries its own future raise and its own future investor conversations, the same problem you're solving today, repeated roughly a dozen times a year.</a:t>
            </a:r>
            <a:endParaRPr lang="en-US" sz="110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A STANDING PARTNERSHIP</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Once the model is proven on this raise, the same account team and targeting are ready for each subsequent venture's capital raise, without rebuilding trust or process from zero every time.</a:t>
            </a:r>
            <a:endParaRPr lang="en-US" sz="110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WHY THIS MATTERS NOW</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You asked us to weave in how a longer-term relationship across future launches could work. Proving the model on Moonshot's own raise is the fastest way there: once we know how to find InsurTech-literate capital for you, the same engine can point at each new venture, cyber MGAs, AI-agent insurance, whatever launches next, without starting from zero.</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How We Fill Your Calendar</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SIX STEPS, ONE PAGE</a:t>
            </a:r>
            <a:endParaRPr lang="en-US" sz="1400" dirty="0"/>
          </a:p>
        </p:txBody>
      </p:sp>
      <p:sp>
        <p:nvSpPr>
          <p:cNvPr id="313" name="Shape s0"/>
          <p:cNvSpPr/>
          <p:nvPr/>
        </p:nvSpPr>
        <p:spPr>
          <a:xfrm>
            <a:off x="566928"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14" name="Text s0l"/>
          <p:cNvSpPr/>
          <p:nvPr/>
        </p:nvSpPr>
        <p:spPr>
          <a:xfrm>
            <a:off x="795528"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1  ·  MULTI-SOURCE DATA</a:t>
            </a:r>
            <a:endParaRPr lang="en-US" sz="1300" dirty="0"/>
          </a:p>
        </p:txBody>
      </p:sp>
      <p:sp>
        <p:nvSpPr>
          <p:cNvPr id="315" name="Text s0p"/>
          <p:cNvSpPr/>
          <p:nvPr/>
        </p:nvSpPr>
        <p:spPr>
          <a:xfrm>
            <a:off x="795528"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Sales Navigator, your own lists and past conversations, our 10k+ investor database, the 84k-subscriber Startup Deal Desk newsletter, and the events your targets attend.</a:t>
            </a:r>
            <a:endParaRPr lang="en-US" sz="1050" dirty="0"/>
          </a:p>
        </p:txBody>
      </p:sp>
      <p:sp>
        <p:nvSpPr>
          <p:cNvPr id="316" name="Shape s1"/>
          <p:cNvSpPr/>
          <p:nvPr/>
        </p:nvSpPr>
        <p:spPr>
          <a:xfrm>
            <a:off x="4434840"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17" name="Text s1l"/>
          <p:cNvSpPr/>
          <p:nvPr/>
        </p:nvSpPr>
        <p:spPr>
          <a:xfrm>
            <a:off x="4663440"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2  ·  SIGNAL FILTERING</a:t>
            </a:r>
            <a:endParaRPr lang="en-US" sz="1300" dirty="0"/>
          </a:p>
        </p:txBody>
      </p:sp>
      <p:sp>
        <p:nvSpPr>
          <p:cNvPr id="318" name="Text s1p"/>
          <p:cNvSpPr/>
          <p:nvPr/>
        </p:nvSpPr>
        <p:spPr>
          <a:xfrm>
            <a:off x="4663440"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Deal history and live engagement outweigh job titles. Brokers, funding agents, advisor-only contacts and “investors” who are selling services are filtered out.</a:t>
            </a:r>
            <a:endParaRPr lang="en-US" sz="1050" dirty="0"/>
          </a:p>
        </p:txBody>
      </p:sp>
      <p:sp>
        <p:nvSpPr>
          <p:cNvPr id="319" name="Shape s2"/>
          <p:cNvSpPr/>
          <p:nvPr/>
        </p:nvSpPr>
        <p:spPr>
          <a:xfrm>
            <a:off x="8302752"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0" name="Text s2l"/>
          <p:cNvSpPr/>
          <p:nvPr/>
        </p:nvSpPr>
        <p:spPr>
          <a:xfrm>
            <a:off x="8531352"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3  ·  ICP SCORING</a:t>
            </a:r>
            <a:endParaRPr lang="en-US" sz="1300" dirty="0"/>
          </a:p>
        </p:txBody>
      </p:sp>
      <p:sp>
        <p:nvSpPr>
          <p:cNvPr id="321" name="Text s2p"/>
          <p:cNvSpPr/>
          <p:nvPr/>
        </p:nvSpPr>
        <p:spPr>
          <a:xfrm>
            <a:off x="8531352"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Every contact scored high, medium or low fit against a scorecard built with you. High fit goes first. Scripts A/B tested against real replies.</a:t>
            </a:r>
            <a:endParaRPr lang="en-US" sz="1050" dirty="0"/>
          </a:p>
        </p:txBody>
      </p:sp>
      <p:sp>
        <p:nvSpPr>
          <p:cNvPr id="322" name="Shape s3"/>
          <p:cNvSpPr/>
          <p:nvPr/>
        </p:nvSpPr>
        <p:spPr>
          <a:xfrm>
            <a:off x="566928"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3" name="Text s3l"/>
          <p:cNvSpPr/>
          <p:nvPr/>
        </p:nvSpPr>
        <p:spPr>
          <a:xfrm>
            <a:off x="795528"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4  ·  MANUAL REVIEW</a:t>
            </a:r>
            <a:endParaRPr lang="en-US" sz="1300" dirty="0"/>
          </a:p>
        </p:txBody>
      </p:sp>
      <p:sp>
        <p:nvSpPr>
          <p:cNvPr id="324" name="Text s3p"/>
          <p:cNvSpPr/>
          <p:nvPr/>
        </p:nvSpPr>
        <p:spPr>
          <a:xfrm>
            <a:off x="795528"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A dedicated account manager hand-checks every high-fit profile before a message goes out, and learns your story well enough to tell it in your voice.</a:t>
            </a:r>
            <a:endParaRPr lang="en-US" sz="1050" dirty="0"/>
          </a:p>
        </p:txBody>
      </p:sp>
      <p:sp>
        <p:nvSpPr>
          <p:cNvPr id="325" name="Shape s4"/>
          <p:cNvSpPr/>
          <p:nvPr/>
        </p:nvSpPr>
        <p:spPr>
          <a:xfrm>
            <a:off x="4434840"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6" name="Text s4l"/>
          <p:cNvSpPr/>
          <p:nvPr/>
        </p:nvSpPr>
        <p:spPr>
          <a:xfrm>
            <a:off x="4663440"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5  ·  PRE-CALL QUALIFICATION</a:t>
            </a:r>
            <a:endParaRPr lang="en-US" sz="1300" dirty="0"/>
          </a:p>
        </p:txBody>
      </p:sp>
      <p:sp>
        <p:nvSpPr>
          <p:cNvPr id="327" name="Text s4p"/>
          <p:cNvSpPr/>
          <p:nvPr/>
        </p:nvSpPr>
        <p:spPr>
          <a:xfrm>
            <a:off x="4663440"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Every booking routes through a short form: accreditation, check size, timeline, sectors. A briefing before every call; soft letdowns for the wrong fit.</a:t>
            </a:r>
            <a:endParaRPr lang="en-US" sz="1050" dirty="0"/>
          </a:p>
        </p:txBody>
      </p:sp>
      <p:sp>
        <p:nvSpPr>
          <p:cNvPr id="328" name="Shape s5"/>
          <p:cNvSpPr/>
          <p:nvPr/>
        </p:nvSpPr>
        <p:spPr>
          <a:xfrm>
            <a:off x="8302752"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9" name="Text s5l"/>
          <p:cNvSpPr/>
          <p:nvPr/>
        </p:nvSpPr>
        <p:spPr>
          <a:xfrm>
            <a:off x="8531352"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6  ·  YOUR FINAL APPROVAL</a:t>
            </a:r>
            <a:endParaRPr lang="en-US" sz="1300" dirty="0"/>
          </a:p>
        </p:txBody>
      </p:sp>
      <p:sp>
        <p:nvSpPr>
          <p:cNvPr id="330" name="Text s5p"/>
          <p:cNvSpPr/>
          <p:nvPr/>
        </p:nvSpPr>
        <p:spPr>
          <a:xfrm>
            <a:off x="8531352"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Accept, vet further or decline every meeting. Shared CRM from day one, weekly reporting, monthly strategy calls. If something isn’t working, you hear it from us first.</a:t>
            </a:r>
            <a:endParaRPr lang="en-US" sz="1050" dirty="0"/>
          </a:p>
        </p:txBody>
      </p:sp>
      <p:sp>
        <p:nvSpPr>
          <p:cNvPr id="15" name="Shape 12"/>
          <p:cNvSpPr/>
          <p:nvPr/>
        </p:nvSpPr>
        <p:spPr>
          <a:xfrm>
            <a:off x="566928" y="5212080"/>
            <a:ext cx="11338560" cy="114300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5340096"/>
            <a:ext cx="2743200" cy="27432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THE FLOW</a:t>
            </a:r>
            <a:endParaRPr lang="en-US" sz="1400" dirty="0"/>
          </a:p>
        </p:txBody>
      </p:sp>
      <p:sp>
        <p:nvSpPr>
          <p:cNvPr id="17" name="Text 14"/>
          <p:cNvSpPr/>
          <p:nvPr/>
        </p:nvSpPr>
        <p:spPr>
          <a:xfrm>
            <a:off x="795528" y="5632704"/>
            <a:ext cx="10881360" cy="640080"/>
          </a:xfrm>
          <a:prstGeom prst="rect">
            <a:avLst/>
          </a:prstGeom>
          <a:noFill/>
          <a:ln/>
        </p:spPr>
        <p:txBody>
          <a:bodyPr wrap="square" lIns="0" tIns="0" rIns="0" bIns="0" rtlCol="0" anchor="t"/>
          <a:lstStyle/>
          <a:p>
            <a:pPr indent="0" marL="0">
              <a:lnSpc>
                <a:spcPct val="120000"/>
              </a:lnSpc>
              <a:buNone/>
            </a:pPr>
            <a:r>
              <a:rPr lang="en-US" sz="1200" dirty="0">
                <a:solidFill>
                  <a:srgbClr val="FFFFFF"/>
                </a:solidFill>
                <a:latin typeface="Arial" pitchFamily="34" charset="0"/>
                <a:ea typeface="Arial" pitchFamily="34" charset="-122"/>
                <a:cs typeface="Arial" pitchFamily="34" charset="-120"/>
              </a:rPr>
              <a:t>Multi-source data → signal filters → ICP scoring → manual review → pre-call qualification → your approval. Outreach only happens after the first four steps; a meeting only lands after all six. The briefing you receive before every call is on the next page.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The Call Briefing</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LANDS IN YOUR INBOX BEFORE EVERY MEETING  ·  A REAL ONE, NAMES WITHHELD</a:t>
            </a:r>
            <a:endParaRPr lang="en-US" sz="1400" dirty="0"/>
          </a:p>
        </p:txBody>
      </p:sp>
      <p:sp>
        <p:nvSpPr>
          <p:cNvPr id="331" name="Shape email"/>
          <p:cNvSpPr/>
          <p:nvPr/>
        </p:nvSpPr>
        <p:spPr>
          <a:xfrm>
            <a:off x="566928" y="1965960"/>
            <a:ext cx="7452360" cy="4617720"/>
          </a:xfrm>
          <a:prstGeom prst="roundRect">
            <a:avLst>
              <a:gd name="adj" fmla="val 2500"/>
            </a:avLst>
          </a:prstGeom>
          <a:solidFill>
            <a:srgbClr val="FFFFFF"/>
          </a:solidFill>
          <a:ln>
            <a:noFill/>
          </a:ln>
        </p:spPr>
      </p:sp>
      <p:sp>
        <p:nvSpPr>
          <p:cNvPr id="332" name="Text e-subj"/>
          <p:cNvSpPr txBox="1"/>
          <p:nvPr/>
        </p:nvSpPr>
        <p:spPr>
          <a:xfrm>
            <a:off x="822960" y="2103120"/>
            <a:ext cx="6940296" cy="256032"/>
          </a:xfrm>
          <a:prstGeom prst="rect">
            <a:avLst/>
          </a:prstGeom>
          <a:noFill/>
        </p:spPr>
        <p:txBody>
          <a:bodyPr wrap="square" lIns="0" tIns="0" rIns="0" bIns="0" rtlCol="0" anchor="t"/>
          <a:lstStyle/>
          <a:p>
            <a:pPr indent="0" marL="0">
              <a:lnSpc>
                <a:spcPct val="112000"/>
              </a:lnSpc>
              <a:spcAft>
                <a:spcPts val="300"/>
              </a:spcAft>
              <a:buNone/>
            </a:pPr>
            <a:r>
              <a:rPr lang="en-US" sz="1150" b="1" dirty="0">
                <a:solidFill>
                  <a:srgbClr val="1A1A2E"/>
                </a:solidFill>
                <a:latin typeface="Arial" pitchFamily="34" charset="0"/>
                <a:ea typeface="Arial" pitchFamily="34" charset="-122"/>
                <a:cs typeface="Arial" pitchFamily="34" charset="-120"/>
              </a:rPr>
              <a:t xml:space="preserve">CONFIRMED MEETING: New Scheduled Call – [Prospect]</a:t>
            </a:r>
            <a:endParaRPr lang="en-US" sz="1150" dirty="0"/>
          </a:p>
        </p:txBody>
      </p:sp>
      <p:sp>
        <p:nvSpPr>
          <p:cNvPr id="333" name="Text e-from"/>
          <p:cNvSpPr txBox="1"/>
          <p:nvPr/>
        </p:nvSpPr>
        <p:spPr>
          <a:xfrm>
            <a:off x="822960" y="2359152"/>
            <a:ext cx="6940296" cy="182880"/>
          </a:xfrm>
          <a:prstGeom prst="rect">
            <a:avLst/>
          </a:prstGeom>
          <a:noFill/>
        </p:spPr>
        <p:txBody>
          <a:bodyPr wrap="square" lIns="0" tIns="0" rIns="0" bIns="0" rtlCol="0" anchor="t"/>
          <a:lstStyle/>
          <a:p>
            <a:pPr indent="0" marL="0">
              <a:lnSpc>
                <a:spcPct val="112000"/>
              </a:lnSpc>
              <a:spcAft>
                <a:spcPts val="300"/>
              </a:spcAft>
              <a:buNone/>
            </a:pPr>
            <a:r>
              <a:rPr lang="en-US" sz="800" dirty="0">
                <a:solidFill>
                  <a:srgbClr val="5F6368"/>
                </a:solidFill>
                <a:latin typeface="Arial" pitchFamily="34" charset="0"/>
                <a:ea typeface="Arial" pitchFamily="34" charset="-122"/>
                <a:cs typeface="Arial" pitchFamily="34" charset="-120"/>
              </a:rPr>
              <a:t xml:space="preserve">From: your ThinkFISH account manager   ·   To: you   ·   Cc: Myra Grama, Freizle Abarrientos   ·   Thu, Sep 17, 2026, 6:26 PM</a:t>
            </a:r>
            <a:endParaRPr lang="en-US" sz="800" dirty="0"/>
          </a:p>
        </p:txBody>
      </p:sp>
      <p:sp>
        <p:nvSpPr>
          <p:cNvPr id="334" name="Shape e-rule"/>
          <p:cNvSpPr/>
          <p:nvPr/>
        </p:nvSpPr>
        <p:spPr>
          <a:xfrm>
            <a:off x="822960" y="2596896"/>
            <a:ext cx="6940296" cy="13716"/>
          </a:xfrm>
          <a:prstGeom prst="rect">
            <a:avLst/>
          </a:prstGeom>
          <a:solidFill>
            <a:srgbClr val="DADCE0"/>
          </a:solidFill>
          <a:ln>
            <a:noFill/>
          </a:ln>
        </p:spPr>
      </p:sp>
      <p:sp>
        <p:nvSpPr>
          <p:cNvPr id="335" name="Text e-2.94"/>
          <p:cNvSpPr txBox="1"/>
          <p:nvPr/>
        </p:nvSpPr>
        <p:spPr>
          <a:xfrm>
            <a:off x="822960" y="2688336"/>
            <a:ext cx="6940296" cy="640080"/>
          </a:xfrm>
          <a:prstGeom prst="rect">
            <a:avLst/>
          </a:prstGeom>
          <a:noFill/>
        </p:spPr>
        <p:txBody>
          <a:bodyPr wrap="square" lIns="0" tIns="0" rIns="0" bIns="0" rtlCol="0" anchor="t"/>
          <a:lstStyle/>
          <a:p>
            <a:pPr indent="0" marL="0">
              <a:lnSpc>
                <a:spcPct val="110000"/>
              </a:lnSpc>
              <a:spcAft>
                <a:spcPts val="150"/>
              </a:spcAft>
              <a:buNone/>
            </a:pPr>
            <a:r>
              <a:rPr lang="en-US" sz="850" dirty="0">
                <a:solidFill>
                  <a:srgbClr val="333333"/>
                </a:solidFill>
                <a:latin typeface="Arial" pitchFamily="34" charset="0"/>
                <a:ea typeface="Arial" pitchFamily="34" charset="-122"/>
                <a:cs typeface="Arial" pitchFamily="34" charset="-120"/>
              </a:rPr>
              <a:t xml:space="preserve">Here is the booking summary for your upcoming call with [Prospect] on Tuesday, September 22, at 5:30pm ET. This meeting came through outbound LinkedIn outreach, and is categorized under </a:t>
            </a:r>
            <a:r>
              <a:rPr lang="en-US" sz="850" b="1" dirty="0">
                <a:solidFill>
                  <a:srgbClr val="333333"/>
                </a:solidFill>
                <a:latin typeface="Arial" pitchFamily="34" charset="0"/>
                <a:ea typeface="Arial" pitchFamily="34" charset="-122"/>
                <a:cs typeface="Arial" pitchFamily="34" charset="-120"/>
              </a:rPr>
              <a:t xml:space="preserve">Segment A (Hospitality-Connected Investors)</a:t>
            </a:r>
            <a:r>
              <a:rPr lang="en-US" sz="850" dirty="0">
                <a:solidFill>
                  <a:srgbClr val="333333"/>
                </a:solidFill>
                <a:latin typeface="Arial" pitchFamily="34" charset="0"/>
                <a:ea typeface="Arial" pitchFamily="34" charset="-122"/>
                <a:cs typeface="Arial" pitchFamily="34" charset="-120"/>
              </a:rPr>
              <a:t xml:space="preserve">, with secondary alignment to </a:t>
            </a:r>
            <a:r>
              <a:rPr lang="en-US" sz="850" b="1" dirty="0">
                <a:solidFill>
                  <a:srgbClr val="333333"/>
                </a:solidFill>
                <a:latin typeface="Arial" pitchFamily="34" charset="0"/>
                <a:ea typeface="Arial" pitchFamily="34" charset="-122"/>
                <a:cs typeface="Arial" pitchFamily="34" charset="-120"/>
              </a:rPr>
              <a:t xml:space="preserve">Segment C (Operator-Turned-Investor / High-Income Professional)</a:t>
            </a:r>
            <a:r>
              <a:rPr lang="en-US" sz="850" dirty="0">
                <a:solidFill>
                  <a:srgbClr val="333333"/>
                </a:solidFill>
                <a:latin typeface="Arial" pitchFamily="34" charset="0"/>
                <a:ea typeface="Arial" pitchFamily="34" charset="-122"/>
                <a:cs typeface="Arial" pitchFamily="34" charset="-120"/>
              </a:rPr>
              <a:t xml:space="preserve">. He initially pushed back hard on the original pitch, questioning whether luggage storage footprint would move a hotel’s P&amp;L, then re-engaged and booked once the conversation was reframed around the raise and his advisory perspective rather than a property-pilot pitch.</a:t>
            </a:r>
            <a:endParaRPr lang="en-US" sz="850" dirty="0"/>
          </a:p>
        </p:txBody>
      </p:sp>
      <p:sp>
        <p:nvSpPr>
          <p:cNvPr id="336" name="Text e-3.78"/>
          <p:cNvSpPr txBox="1"/>
          <p:nvPr/>
        </p:nvSpPr>
        <p:spPr>
          <a:xfrm>
            <a:off x="822960" y="3456432"/>
            <a:ext cx="6940296" cy="86868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Summary of why he’s a good fit:</a:t>
            </a:r>
            <a:endParaRPr lang="en-US" sz="850" dirty="0"/>
          </a:p>
          <a:p>
            <a:pPr indent="0" marL="0">
              <a:lnSpc>
                <a:spcPct val="110000"/>
              </a:lnSpc>
              <a:spcAft>
                <a:spcPts val="150"/>
              </a:spcAft>
              <a:buNone/>
            </a:pPr>
            <a:r>
              <a:rPr lang="en-US" sz="850" dirty="0">
                <a:solidFill>
                  <a:srgbClr val="333333"/>
                </a:solidFill>
                <a:latin typeface="Arial" pitchFamily="34" charset="0"/>
                <a:ea typeface="Arial" pitchFamily="34" charset="-122"/>
                <a:cs typeface="Arial" pitchFamily="34" charset="-120"/>
              </a:rPr>
              <a:t xml:space="preserve">15+ years of senior hospitality brand leadership: Global Brand Director for Westin Hotels &amp; Resorts and Global Brand lead across Marriott’s premium and lifestyle portfolio, Director of Brand F&amp;B Development (Americas) at Hilton, and a stint at a VC-backed hospitality-tech startup. He now advises private clients across the hospitality sector. </a:t>
            </a:r>
            <a:r>
              <a:rPr lang="en-US" sz="850" b="1" dirty="0">
                <a:solidFill>
                  <a:srgbClr val="333333"/>
                </a:solidFill>
                <a:latin typeface="Arial" pitchFamily="34" charset="0"/>
                <a:ea typeface="Arial" pitchFamily="34" charset="-122"/>
                <a:cs typeface="Arial" pitchFamily="34" charset="-120"/>
              </a:rPr>
              <a:t xml:space="preserve">His own qualifying answers reflect that: he marked himself as not accredited but also selected a $25K–$50K check size, direct investment, and a 30–90 day timeline</a:t>
            </a:r>
            <a:r>
              <a:rPr lang="en-US" sz="850" dirty="0">
                <a:solidFill>
                  <a:srgbClr val="333333"/>
                </a:solidFill>
                <a:latin typeface="Arial" pitchFamily="34" charset="0"/>
                <a:ea typeface="Arial" pitchFamily="34" charset="-122"/>
                <a:cs typeface="Arial" pitchFamily="34" charset="-120"/>
              </a:rPr>
              <a:t xml:space="preserve">, an inconsistency worth being aware of going in. He also selected Advisor/Consultant as his partnership interest, so the call may land better framed as an operator/advisory conversation.</a:t>
            </a:r>
            <a:endParaRPr lang="en-US" sz="850" dirty="0"/>
          </a:p>
        </p:txBody>
      </p:sp>
      <p:sp>
        <p:nvSpPr>
          <p:cNvPr id="337" name="Text e-4.92"/>
          <p:cNvSpPr txBox="1"/>
          <p:nvPr/>
        </p:nvSpPr>
        <p:spPr>
          <a:xfrm>
            <a:off x="822960" y="4498848"/>
            <a:ext cx="6940296" cy="27432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Mutual Connections: </a:t>
            </a:r>
            <a:r>
              <a:rPr lang="en-US" sz="850" dirty="0">
                <a:solidFill>
                  <a:srgbClr val="333333"/>
                </a:solidFill>
                <a:latin typeface="Arial" pitchFamily="34" charset="0"/>
                <a:ea typeface="Arial" pitchFamily="34" charset="-122"/>
                <a:cs typeface="Arial" pitchFamily="34" charset="-120"/>
              </a:rPr>
              <a:t xml:space="preserve">Matthew and Cherryh.   </a:t>
            </a:r>
            <a:r>
              <a:rPr lang="en-US" sz="850" b="1" dirty="0">
                <a:solidFill>
                  <a:srgbClr val="1A1A2E"/>
                </a:solidFill>
                <a:latin typeface="Arial" pitchFamily="34" charset="0"/>
                <a:ea typeface="Arial" pitchFamily="34" charset="-122"/>
                <a:cs typeface="Arial" pitchFamily="34" charset="-120"/>
              </a:rPr>
              <a:t xml:space="preserve">Network Highlights: </a:t>
            </a:r>
            <a:r>
              <a:rPr lang="en-US" sz="850" dirty="0">
                <a:solidFill>
                  <a:srgbClr val="333333"/>
                </a:solidFill>
                <a:latin typeface="Arial" pitchFamily="34" charset="0"/>
                <a:ea typeface="Arial" pitchFamily="34" charset="-122"/>
                <a:cs typeface="Arial" pitchFamily="34" charset="-120"/>
              </a:rPr>
              <a:t xml:space="preserve">4,251 followers, active on LinkedIn engaging with colleagues’ career milestones; Cornell-affiliated.</a:t>
            </a:r>
            <a:endParaRPr lang="en-US" sz="850" dirty="0"/>
          </a:p>
        </p:txBody>
      </p:sp>
      <p:sp>
        <p:nvSpPr>
          <p:cNvPr id="338" name="Text e-5.3"/>
          <p:cNvSpPr txBox="1"/>
          <p:nvPr/>
        </p:nvSpPr>
        <p:spPr>
          <a:xfrm>
            <a:off x="822960" y="4846320"/>
            <a:ext cx="6940296" cy="512064"/>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Affiliations &amp; notable initiatives: </a:t>
            </a:r>
            <a:r>
              <a:rPr lang="en-US" sz="850" dirty="0">
                <a:solidFill>
                  <a:srgbClr val="333333"/>
                </a:solidFill>
                <a:latin typeface="Arial" pitchFamily="34" charset="0"/>
                <a:ea typeface="Arial" pitchFamily="34" charset="-122"/>
                <a:cs typeface="Arial" pitchFamily="34" charset="-120"/>
              </a:rPr>
              <a:t xml:space="preserve">VP, Strategy at a hospitality brand consultancy  ·  Former Global Brand Director, Westin Hotels &amp; Resorts (Marriott International)  ·  Former Director, Brand F&amp;B Development (Americas), Hilton  ·  Led global brand strategy across Westin, Sheraton, Autograph Collection, Le Méridien, Renaissance and Delta  ·  Part of a team that drove a 5x revenue increase with 40% margin expansion across 9 markets and 200,000+ hotel guest rooms.</a:t>
            </a:r>
            <a:endParaRPr lang="en-US" sz="850" dirty="0"/>
          </a:p>
        </p:txBody>
      </p:sp>
      <p:sp>
        <p:nvSpPr>
          <p:cNvPr id="339" name="Text e-5.96"/>
          <p:cNvSpPr txBox="1"/>
          <p:nvPr/>
        </p:nvSpPr>
        <p:spPr>
          <a:xfrm>
            <a:off x="822960" y="5449824"/>
            <a:ext cx="6940296" cy="713232"/>
          </a:xfrm>
          <a:prstGeom prst="rect">
            <a:avLst/>
          </a:prstGeom>
          <a:noFill/>
        </p:spPr>
        <p:txBody>
          <a:bodyPr wrap="square" lIns="0" tIns="0" rIns="0" bIns="0" rtlCol="0" anchor="t"/>
          <a:lstStyle/>
          <a:p>
            <a:pPr indent="0" marL="0">
              <a:lnSpc>
                <a:spcPct val="108000"/>
              </a:lnSpc>
              <a:spcAft>
                <a:spcPts val="100"/>
              </a:spcAft>
              <a:buNone/>
            </a:pPr>
            <a:r>
              <a:rPr lang="en-US" sz="800" b="1" dirty="0">
                <a:solidFill>
                  <a:srgbClr val="1A1A2E"/>
                </a:solidFill>
                <a:latin typeface="Arial" pitchFamily="34" charset="0"/>
                <a:ea typeface="Arial" pitchFamily="34" charset="-122"/>
                <a:cs typeface="Arial" pitchFamily="34" charset="-120"/>
              </a:rPr>
              <a:t xml:space="preserve">Conversation Thread:</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Prospect: </a:t>
            </a:r>
            <a:r>
              <a:rPr lang="en-US" sz="800" i="1" dirty="0">
                <a:solidFill>
                  <a:srgbClr val="333333"/>
                </a:solidFill>
                <a:latin typeface="Arial" pitchFamily="34" charset="0"/>
                <a:ea typeface="Arial" pitchFamily="34" charset="-122"/>
                <a:cs typeface="Arial" pitchFamily="34" charset="-120"/>
              </a:rPr>
              <a:t xml:space="preserve">“…Not sure the additional 50 sq meters a luggage storage room would change the hotel P&amp;L much if any. I’m no longer your target audience… Let me know if helpful to chat.”</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Founder: </a:t>
            </a:r>
            <a:r>
              <a:rPr lang="en-US" sz="800" i="1" dirty="0">
                <a:solidFill>
                  <a:srgbClr val="333333"/>
                </a:solidFill>
                <a:latin typeface="Arial" pitchFamily="34" charset="0"/>
                <a:ea typeface="Arial" pitchFamily="34" charset="-122"/>
                <a:cs typeface="Arial" pitchFamily="34" charset="-120"/>
              </a:rPr>
              <a:t xml:space="preserve">“…To be upfront, this outreach is part of a raise we’re running, not a property-pilot pitch… Given your background, I’d genuinely value your take on it from that angle.”</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Prospect: </a:t>
            </a:r>
            <a:r>
              <a:rPr lang="en-US" sz="800" i="1" dirty="0">
                <a:solidFill>
                  <a:srgbClr val="333333"/>
                </a:solidFill>
                <a:latin typeface="Arial" pitchFamily="34" charset="0"/>
                <a:ea typeface="Arial" pitchFamily="34" charset="-122"/>
                <a:cs typeface="Arial" pitchFamily="34" charset="-120"/>
              </a:rPr>
              <a:t xml:space="preserve">“Love it. Let’s connect.”  …  “Perfect. Sent. Looking forward.”</a:t>
            </a:r>
            <a:endParaRPr lang="en-US" sz="800" dirty="0"/>
          </a:p>
        </p:txBody>
      </p:sp>
      <p:sp>
        <p:nvSpPr>
          <p:cNvPr id="340" name="Text e-6.86"/>
          <p:cNvSpPr txBox="1"/>
          <p:nvPr/>
        </p:nvSpPr>
        <p:spPr>
          <a:xfrm>
            <a:off x="822960" y="6272784"/>
            <a:ext cx="6940296" cy="18288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LinkedIn Profile: </a:t>
            </a:r>
            <a:r>
              <a:rPr lang="en-US" sz="850" dirty="0">
                <a:solidFill>
                  <a:srgbClr val="1A73E8"/>
                </a:solidFill>
                <a:latin typeface="Arial" pitchFamily="34" charset="0"/>
                <a:ea typeface="Arial" pitchFamily="34" charset="-122"/>
                <a:cs typeface="Arial" pitchFamily="34" charset="-120"/>
              </a:rPr>
              <a:t xml:space="preserve">full profile attached below</a:t>
            </a:r>
            <a:r>
              <a:rPr lang="en-US" sz="850" b="1" dirty="0">
                <a:solidFill>
                  <a:srgbClr val="1A1A2E"/>
                </a:solidFill>
                <a:latin typeface="Arial" pitchFamily="34" charset="0"/>
                <a:ea typeface="Arial" pitchFamily="34" charset="-122"/>
                <a:cs typeface="Arial" pitchFamily="34" charset="-120"/>
              </a:rPr>
              <a:t xml:space="preserve">     Calendly booking: </a:t>
            </a:r>
            <a:r>
              <a:rPr lang="en-US" sz="850" dirty="0">
                <a:solidFill>
                  <a:srgbClr val="1A73E8"/>
                </a:solidFill>
                <a:latin typeface="Arial" pitchFamily="34" charset="0"/>
                <a:ea typeface="Arial" pitchFamily="34" charset="-122"/>
                <a:cs typeface="Arial" pitchFamily="34" charset="-120"/>
              </a:rPr>
              <a:t xml:space="preserve">confirmed for Tue, Sep 22, 5:30pm ET</a:t>
            </a:r>
            <a:endParaRPr lang="en-US" sz="850" dirty="0"/>
          </a:p>
        </p:txBody>
      </p:sp>
      <p:sp>
        <p:nvSpPr>
          <p:cNvPr id="341" name="Shape arrow 2.94"/>
          <p:cNvSpPr/>
          <p:nvPr/>
        </p:nvSpPr>
        <p:spPr>
          <a:xfrm>
            <a:off x="8083296" y="2706624"/>
            <a:ext cx="329184" cy="182880"/>
          </a:xfrm>
          <a:prstGeom prst="leftArrow">
            <a:avLst/>
          </a:prstGeom>
          <a:solidFill>
            <a:srgbClr val="43D5FF"/>
          </a:solidFill>
          <a:ln>
            <a:noFill/>
          </a:ln>
        </p:spPr>
      </p:sp>
      <p:sp>
        <p:nvSpPr>
          <p:cNvPr id="342" name="Text co-l 2.94"/>
          <p:cNvSpPr txBox="1"/>
          <p:nvPr/>
        </p:nvSpPr>
        <p:spPr>
          <a:xfrm>
            <a:off x="8522208" y="2670048"/>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SEGMENT FIT, STATED</a:t>
            </a:r>
            <a:endParaRPr lang="en-US" sz="1050" dirty="0"/>
          </a:p>
        </p:txBody>
      </p:sp>
      <p:sp>
        <p:nvSpPr>
          <p:cNvPr id="343" name="Text co-t 2.94"/>
          <p:cNvSpPr txBox="1"/>
          <p:nvPr/>
        </p:nvSpPr>
        <p:spPr>
          <a:xfrm>
            <a:off x="8522208" y="2907792"/>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Which of your ICP segments they matched and how the conversation got to a booking, so nothing is a surprise on the call.</a:t>
            </a:r>
            <a:endParaRPr lang="en-US" sz="950" dirty="0"/>
          </a:p>
        </p:txBody>
      </p:sp>
      <p:sp>
        <p:nvSpPr>
          <p:cNvPr id="344" name="Shape arrow 4"/>
          <p:cNvSpPr/>
          <p:nvPr/>
        </p:nvSpPr>
        <p:spPr>
          <a:xfrm>
            <a:off x="8083296" y="3675888"/>
            <a:ext cx="329184" cy="182880"/>
          </a:xfrm>
          <a:prstGeom prst="leftArrow">
            <a:avLst/>
          </a:prstGeom>
          <a:solidFill>
            <a:srgbClr val="43D5FF"/>
          </a:solidFill>
          <a:ln>
            <a:noFill/>
          </a:ln>
        </p:spPr>
      </p:sp>
      <p:sp>
        <p:nvSpPr>
          <p:cNvPr id="345" name="Text co-l 4"/>
          <p:cNvSpPr txBox="1"/>
          <p:nvPr/>
        </p:nvSpPr>
        <p:spPr>
          <a:xfrm>
            <a:off x="8522208" y="3639312"/>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WHY THEY’RE WORTH YOUR TIME</a:t>
            </a:r>
            <a:endParaRPr lang="en-US" sz="1050" dirty="0"/>
          </a:p>
        </p:txBody>
      </p:sp>
      <p:sp>
        <p:nvSpPr>
          <p:cNvPr id="346" name="Text co-t 4"/>
          <p:cNvSpPr txBox="1"/>
          <p:nvPr/>
        </p:nvSpPr>
        <p:spPr>
          <a:xfrm>
            <a:off x="8522208" y="3877056"/>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Background, their own qualifying answers and an honest read on how to frame the call, inconsistencies included.</a:t>
            </a:r>
            <a:endParaRPr lang="en-US" sz="950" dirty="0"/>
          </a:p>
        </p:txBody>
      </p:sp>
      <p:sp>
        <p:nvSpPr>
          <p:cNvPr id="347" name="Shape arrow 5.14"/>
          <p:cNvSpPr/>
          <p:nvPr/>
        </p:nvSpPr>
        <p:spPr>
          <a:xfrm>
            <a:off x="8083296" y="4718304"/>
            <a:ext cx="329184" cy="182880"/>
          </a:xfrm>
          <a:prstGeom prst="leftArrow">
            <a:avLst/>
          </a:prstGeom>
          <a:solidFill>
            <a:srgbClr val="43D5FF"/>
          </a:solidFill>
          <a:ln>
            <a:noFill/>
          </a:ln>
        </p:spPr>
      </p:sp>
      <p:sp>
        <p:nvSpPr>
          <p:cNvPr id="348" name="Text co-l 5.14"/>
          <p:cNvSpPr txBox="1"/>
          <p:nvPr/>
        </p:nvSpPr>
        <p:spPr>
          <a:xfrm>
            <a:off x="8522208" y="4681728"/>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WARM PATHS IN + TRACK RECORD</a:t>
            </a:r>
            <a:endParaRPr lang="en-US" sz="1050" dirty="0"/>
          </a:p>
        </p:txBody>
      </p:sp>
      <p:sp>
        <p:nvSpPr>
          <p:cNvPr id="349" name="Text co-t 5.14"/>
          <p:cNvSpPr txBox="1"/>
          <p:nvPr/>
        </p:nvSpPr>
        <p:spPr>
          <a:xfrm>
            <a:off x="8522208" y="4919472"/>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Mutual connections, shared schools, roles, affiliations and initiatives that matter to you, each checked by a person.</a:t>
            </a:r>
            <a:endParaRPr lang="en-US" sz="950" dirty="0"/>
          </a:p>
        </p:txBody>
      </p:sp>
      <p:sp>
        <p:nvSpPr>
          <p:cNvPr id="350" name="Shape arrow 6.12"/>
          <p:cNvSpPr/>
          <p:nvPr/>
        </p:nvSpPr>
        <p:spPr>
          <a:xfrm>
            <a:off x="8083296" y="5614416"/>
            <a:ext cx="329184" cy="182880"/>
          </a:xfrm>
          <a:prstGeom prst="leftArrow">
            <a:avLst/>
          </a:prstGeom>
          <a:solidFill>
            <a:srgbClr val="43D5FF"/>
          </a:solidFill>
          <a:ln>
            <a:noFill/>
          </a:ln>
        </p:spPr>
      </p:sp>
      <p:sp>
        <p:nvSpPr>
          <p:cNvPr id="351" name="Text co-l 6.12"/>
          <p:cNvSpPr txBox="1"/>
          <p:nvPr/>
        </p:nvSpPr>
        <p:spPr>
          <a:xfrm>
            <a:off x="8522208" y="5577840"/>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THE WHOLE CONVERSATION</a:t>
            </a:r>
            <a:endParaRPr lang="en-US" sz="1050" dirty="0"/>
          </a:p>
        </p:txBody>
      </p:sp>
      <p:sp>
        <p:nvSpPr>
          <p:cNvPr id="352" name="Text co-t 6.12"/>
          <p:cNvSpPr txBox="1"/>
          <p:nvPr/>
        </p:nvSpPr>
        <p:spPr>
          <a:xfrm>
            <a:off x="8522208" y="5815584"/>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Every message exchanged, so you walk in knowing exactly what was said and promised.</a:t>
            </a:r>
            <a:endParaRPr lang="en-US" sz="950" dirty="0"/>
          </a:p>
        </p:txBody>
      </p:sp>
      <p:sp>
        <p:nvSpPr>
          <p:cNvPr id="353" name="Shape arrow 6.88"/>
          <p:cNvSpPr/>
          <p:nvPr/>
        </p:nvSpPr>
        <p:spPr>
          <a:xfrm>
            <a:off x="8083296" y="6309360"/>
            <a:ext cx="329184" cy="182880"/>
          </a:xfrm>
          <a:prstGeom prst="leftArrow">
            <a:avLst/>
          </a:prstGeom>
          <a:solidFill>
            <a:srgbClr val="43D5FF"/>
          </a:solidFill>
          <a:ln>
            <a:noFill/>
          </a:ln>
        </p:spPr>
      </p:sp>
      <p:sp>
        <p:nvSpPr>
          <p:cNvPr id="354" name="Text co-l 6.88"/>
          <p:cNvSpPr txBox="1"/>
          <p:nvPr/>
        </p:nvSpPr>
        <p:spPr>
          <a:xfrm>
            <a:off x="8522208" y="6272784"/>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PROFILE + BOOKING</a:t>
            </a:r>
            <a:endParaRPr lang="en-US" sz="1050" dirty="0"/>
          </a:p>
        </p:txBody>
      </p:sp>
      <p:sp>
        <p:nvSpPr>
          <p:cNvPr id="355" name="Text co-t 6.88"/>
          <p:cNvSpPr txBox="1"/>
          <p:nvPr/>
        </p:nvSpPr>
        <p:spPr>
          <a:xfrm>
            <a:off x="8522208" y="6510528"/>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Full profile attached; the slot is already on your calendar.</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 To Expect</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VOLUME, MEETINGS, TIMING</a:t>
            </a:r>
            <a:endParaRPr lang="en-US" sz="1400" dirty="0"/>
          </a:p>
        </p:txBody>
      </p:sp>
      <p:sp>
        <p:nvSpPr>
          <p:cNvPr id="6" name="Shape 3"/>
          <p:cNvSpPr/>
          <p:nvPr/>
        </p:nvSpPr>
        <p:spPr>
          <a:xfrm>
            <a:off x="566928"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7" name="Text 4"/>
          <p:cNvSpPr/>
          <p:nvPr/>
        </p:nvSpPr>
        <p:spPr>
          <a:xfrm>
            <a:off x="795528"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OUTREACH VOLUME</a:t>
            </a:r>
            <a:endParaRPr lang="en-US" sz="1250" dirty="0"/>
          </a:p>
        </p:txBody>
      </p:sp>
      <p:sp>
        <p:nvSpPr>
          <p:cNvPr id="8" name="Text 5"/>
          <p:cNvSpPr/>
          <p:nvPr/>
        </p:nvSpPr>
        <p:spPr>
          <a:xfrm>
            <a:off x="795528"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1,600</a:t>
            </a:r>
            <a:endParaRPr lang="en-US" sz="4400" dirty="0"/>
          </a:p>
        </p:txBody>
      </p:sp>
      <p:sp>
        <p:nvSpPr>
          <p:cNvPr id="9" name="Text 6"/>
          <p:cNvSpPr/>
          <p:nvPr/>
        </p:nvSpPr>
        <p:spPr>
          <a:xfrm>
            <a:off x="795528"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LinkedIn touches / month, one account</a:t>
            </a:r>
            <a:endParaRPr lang="en-US" sz="1100" dirty="0"/>
          </a:p>
        </p:txBody>
      </p:sp>
      <p:sp>
        <p:nvSpPr>
          <p:cNvPr id="10" name="Text 7"/>
          <p:cNvSpPr/>
          <p:nvPr/>
        </p:nvSpPr>
        <p:spPr>
          <a:xfrm>
            <a:off x="795528"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800 InMails and 800 connection invites every month from your profile, once fully warmed up. Every touch scored and hand-reviewed before it goes out.</a:t>
            </a:r>
            <a:endParaRPr lang="en-US" sz="1050" dirty="0"/>
          </a:p>
        </p:txBody>
      </p:sp>
      <p:sp>
        <p:nvSpPr>
          <p:cNvPr id="11" name="Shape 8"/>
          <p:cNvSpPr/>
          <p:nvPr/>
        </p:nvSpPr>
        <p:spPr>
          <a:xfrm>
            <a:off x="4434840"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2" name="Text 9"/>
          <p:cNvSpPr/>
          <p:nvPr/>
        </p:nvSpPr>
        <p:spPr>
          <a:xfrm>
            <a:off x="4663440"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QUALIFIED MEETINGS</a:t>
            </a:r>
            <a:endParaRPr lang="en-US" sz="1250" dirty="0"/>
          </a:p>
        </p:txBody>
      </p:sp>
      <p:sp>
        <p:nvSpPr>
          <p:cNvPr id="13" name="Text 10"/>
          <p:cNvSpPr/>
          <p:nvPr/>
        </p:nvSpPr>
        <p:spPr>
          <a:xfrm>
            <a:off x="4663440"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1–3</a:t>
            </a:r>
            <a:endParaRPr lang="en-US" sz="4400" dirty="0"/>
          </a:p>
        </p:txBody>
      </p:sp>
      <p:sp>
        <p:nvSpPr>
          <p:cNvPr id="14" name="Text 11"/>
          <p:cNvSpPr/>
          <p:nvPr/>
        </p:nvSpPr>
        <p:spPr>
          <a:xfrm>
            <a:off x="4663440"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per week at steady state (month 2 onward)</a:t>
            </a:r>
            <a:endParaRPr lang="en-US" sz="1100" dirty="0"/>
          </a:p>
        </p:txBody>
      </p:sp>
      <p:sp>
        <p:nvSpPr>
          <p:cNvPr id="15" name="Text 12"/>
          <p:cNvSpPr/>
          <p:nvPr/>
        </p:nvSpPr>
        <p:spPr>
          <a:xfrm>
            <a:off x="4663440"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Conservatively 1–3 per week from one account once calibrated. Add a second account and the range moves with it.</a:t>
            </a:r>
            <a:endParaRPr lang="en-US" sz="1050" dirty="0"/>
          </a:p>
        </p:txBody>
      </p:sp>
      <p:sp>
        <p:nvSpPr>
          <p:cNvPr id="16" name="Shape 13"/>
          <p:cNvSpPr/>
          <p:nvPr/>
        </p:nvSpPr>
        <p:spPr>
          <a:xfrm>
            <a:off x="8302752"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7" name="Text 14"/>
          <p:cNvSpPr/>
          <p:nvPr/>
        </p:nvSpPr>
        <p:spPr>
          <a:xfrm>
            <a:off x="8531352"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TIME TO FIRST MEETINGS</a:t>
            </a:r>
            <a:endParaRPr lang="en-US" sz="1250" dirty="0"/>
          </a:p>
        </p:txBody>
      </p:sp>
      <p:sp>
        <p:nvSpPr>
          <p:cNvPr id="18" name="Text 15"/>
          <p:cNvSpPr/>
          <p:nvPr/>
        </p:nvSpPr>
        <p:spPr>
          <a:xfrm>
            <a:off x="8531352"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3–4</a:t>
            </a:r>
            <a:endParaRPr lang="en-US" sz="4400" dirty="0"/>
          </a:p>
        </p:txBody>
      </p:sp>
      <p:sp>
        <p:nvSpPr>
          <p:cNvPr id="19" name="Text 16"/>
          <p:cNvSpPr/>
          <p:nvPr/>
        </p:nvSpPr>
        <p:spPr>
          <a:xfrm>
            <a:off x="8531352"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weeks from kickoff to first booked calls</a:t>
            </a:r>
            <a:endParaRPr lang="en-US" sz="1100" dirty="0"/>
          </a:p>
        </p:txBody>
      </p:sp>
      <p:sp>
        <p:nvSpPr>
          <p:cNvPr id="20" name="Text 17"/>
          <p:cNvSpPr/>
          <p:nvPr/>
        </p:nvSpPr>
        <p:spPr>
          <a:xfrm>
            <a:off x="8531352"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Weeks one and two are setup: ICP, audiences, scripts, profile warm-up. Live outreach starts in week three, first replies and bookings follow within days.</a:t>
            </a:r>
            <a:endParaRPr lang="en-US" sz="1050" dirty="0"/>
          </a:p>
        </p:txBody>
      </p:sp>
      <p:sp>
        <p:nvSpPr>
          <p:cNvPr id="21" name="Shape 18"/>
          <p:cNvSpPr/>
          <p:nvPr/>
        </p:nvSpPr>
        <p:spPr>
          <a:xfrm>
            <a:off x="566928" y="4846320"/>
            <a:ext cx="11338560" cy="1463040"/>
          </a:xfrm>
          <a:prstGeom prst="roundRect">
            <a:avLst>
              <a:gd name="adj" fmla="val 5625"/>
            </a:avLst>
          </a:prstGeom>
          <a:solidFill>
            <a:srgbClr val="0D0D26">
              <a:alpha val="55000"/>
            </a:srgbClr>
          </a:solidFill>
          <a:ln w="9525">
            <a:solidFill>
              <a:srgbClr val="31316A">
                <a:alpha val="75000"/>
              </a:srgbClr>
            </a:solidFill>
            <a:prstDash val="solid"/>
          </a:ln>
        </p:spPr>
      </p:sp>
      <p:sp>
        <p:nvSpPr>
          <p:cNvPr id="22" name="Text 19"/>
          <p:cNvSpPr/>
          <p:nvPr/>
        </p:nvSpPr>
        <p:spPr>
          <a:xfrm>
            <a:off x="795528" y="5010912"/>
            <a:ext cx="1088136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WHAT “QUALIFIED” MEANS, AND THE HONEST TIMELINE</a:t>
            </a:r>
            <a:endParaRPr lang="en-US" sz="1200" dirty="0"/>
          </a:p>
        </p:txBody>
      </p:sp>
      <p:sp>
        <p:nvSpPr>
          <p:cNvPr id="23" name="Text 20"/>
          <p:cNvSpPr/>
          <p:nvPr/>
        </p:nvSpPr>
        <p:spPr>
          <a:xfrm>
            <a:off x="795528" y="5321808"/>
            <a:ext cx="10881360" cy="868680"/>
          </a:xfrm>
          <a:prstGeom prst="rect">
            <a:avLst/>
          </a:prstGeom>
          <a:noFill/>
          <a:ln/>
        </p:spPr>
        <p:txBody>
          <a:bodyPr wrap="square" lIns="0" tIns="0" rIns="0" bIns="0" rtlCol="0" anchor="t"/>
          <a:lstStyle/>
          <a:p>
            <a:pPr indent="0" marL="0">
              <a:lnSpc>
                <a:spcPct val="125000"/>
              </a:lnSpc>
              <a:buNone/>
            </a:pPr>
            <a:r>
              <a:rPr lang="en-US" sz="1150" dirty="0">
                <a:solidFill>
                  <a:srgbClr val="FFFFFF"/>
                </a:solidFill>
                <a:latin typeface="Arial" pitchFamily="34" charset="0"/>
                <a:ea typeface="Arial" pitchFamily="34" charset="-122"/>
                <a:cs typeface="Arial" pitchFamily="34" charset="-120"/>
              </a:rPr>
              <a:t>A qualified meeting is a high-net-worth individual, fund or family office with a verified history of similar investments, who passed scoring and human review, completed the self-qualification form on booking, and whose briefing you approved. Pre-revenue raises historically take 6–12 months from first outreach to capital in the bank. We’ll have the right investors on your calendars quickly; the close depends on your process and their diligence, and we’d rather you hear that from us now.</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First 90 Days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HAPPENS, AND WHEN</a:t>
            </a:r>
            <a:endParaRPr lang="en-US" sz="1400" dirty="0"/>
          </a:p>
        </p:txBody>
      </p:sp>
      <p:sp>
        <p:nvSpPr>
          <p:cNvPr id="6" name="Shape 3"/>
          <p:cNvSpPr/>
          <p:nvPr/>
        </p:nvSpPr>
        <p:spPr>
          <a:xfrm>
            <a:off x="56692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7" name="Text 4"/>
          <p:cNvSpPr/>
          <p:nvPr/>
        </p:nvSpPr>
        <p:spPr>
          <a:xfrm>
            <a:off x="76809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WEEKS 1-2  ·  OCTOBER</a:t>
            </a:r>
            <a:endParaRPr lang="en-US" sz="1200" dirty="0"/>
          </a:p>
        </p:txBody>
      </p:sp>
      <p:sp>
        <p:nvSpPr>
          <p:cNvPr id="8" name="Text 5"/>
          <p:cNvSpPr/>
          <p:nvPr/>
        </p:nvSpPr>
        <p:spPr>
          <a:xfrm>
            <a:off x="76809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Setup &amp; Calibration</a:t>
            </a:r>
            <a:endParaRPr lang="en-US" sz="1600" dirty="0"/>
          </a:p>
        </p:txBody>
      </p:sp>
      <p:sp>
        <p:nvSpPr>
          <p:cNvPr id="9" name="Text 6"/>
          <p:cNvSpPr/>
          <p:nvPr/>
        </p:nvSpPr>
        <p:spPr>
          <a:xfrm>
            <a:off x="76809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Onboarding interview with Jeff</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InsurTech investor ICP built</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Profile optimized, account warmed</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Scripts locked in your voice</a:t>
            </a:r>
            <a:endParaRPr lang="en-US" sz="1150" dirty="0"/>
          </a:p>
        </p:txBody>
      </p:sp>
      <p:sp>
        <p:nvSpPr>
          <p:cNvPr id="10" name="Shape 7"/>
          <p:cNvSpPr/>
          <p:nvPr/>
        </p:nvSpPr>
        <p:spPr>
          <a:xfrm>
            <a:off x="344728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1" name="Text 8"/>
          <p:cNvSpPr/>
          <p:nvPr/>
        </p:nvSpPr>
        <p:spPr>
          <a:xfrm>
            <a:off x="364845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WEEKS 3-4  ·  LATE OCT</a:t>
            </a:r>
            <a:endParaRPr lang="en-US" sz="1200" dirty="0"/>
          </a:p>
        </p:txBody>
      </p:sp>
      <p:sp>
        <p:nvSpPr>
          <p:cNvPr id="12" name="Text 9"/>
          <p:cNvSpPr/>
          <p:nvPr/>
        </p:nvSpPr>
        <p:spPr>
          <a:xfrm>
            <a:off x="364845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First Live Outreach</a:t>
            </a:r>
            <a:endParaRPr lang="en-US" sz="1600" dirty="0"/>
          </a:p>
        </p:txBody>
      </p:sp>
      <p:sp>
        <p:nvSpPr>
          <p:cNvPr id="13" name="Text 10"/>
          <p:cNvSpPr/>
          <p:nvPr/>
        </p:nvSpPr>
        <p:spPr>
          <a:xfrm>
            <a:off x="364845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Live on LinkedIn</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First replies, first meetings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A/B testing InsurTech segments</a:t>
            </a:r>
            <a:endParaRPr lang="en-US" sz="1150" dirty="0"/>
          </a:p>
        </p:txBody>
      </p:sp>
      <p:sp>
        <p:nvSpPr>
          <p:cNvPr id="14" name="Shape 11"/>
          <p:cNvSpPr/>
          <p:nvPr/>
        </p:nvSpPr>
        <p:spPr>
          <a:xfrm>
            <a:off x="632764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5" name="Text 12"/>
          <p:cNvSpPr/>
          <p:nvPr/>
        </p:nvSpPr>
        <p:spPr>
          <a:xfrm>
            <a:off x="652881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MONTH 2  ·  NOVEMBER</a:t>
            </a:r>
            <a:endParaRPr lang="en-US" sz="1200" dirty="0"/>
          </a:p>
        </p:txBody>
      </p:sp>
      <p:sp>
        <p:nvSpPr>
          <p:cNvPr id="16" name="Text 13"/>
          <p:cNvSpPr/>
          <p:nvPr/>
        </p:nvSpPr>
        <p:spPr>
          <a:xfrm>
            <a:off x="652881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Steady Flow</a:t>
            </a:r>
            <a:endParaRPr lang="en-US" sz="1600" dirty="0"/>
          </a:p>
        </p:txBody>
      </p:sp>
      <p:sp>
        <p:nvSpPr>
          <p:cNvPr id="17" name="Text 14"/>
          <p:cNvSpPr/>
          <p:nvPr/>
        </p:nvSpPr>
        <p:spPr>
          <a:xfrm>
            <a:off x="652881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Targeting tightened on replies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Weekly volume predictable</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Segment reporting: what converts</a:t>
            </a:r>
            <a:endParaRPr lang="en-US" sz="1150" dirty="0"/>
          </a:p>
        </p:txBody>
      </p:sp>
      <p:sp>
        <p:nvSpPr>
          <p:cNvPr id="18" name="Shape 15"/>
          <p:cNvSpPr/>
          <p:nvPr/>
        </p:nvSpPr>
        <p:spPr>
          <a:xfrm>
            <a:off x="920800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9" name="Text 16"/>
          <p:cNvSpPr/>
          <p:nvPr/>
        </p:nvSpPr>
        <p:spPr>
          <a:xfrm>
            <a:off x="940917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MONTH 3  ·  DECEMBER</a:t>
            </a:r>
            <a:endParaRPr lang="en-US" sz="1200" dirty="0"/>
          </a:p>
        </p:txBody>
      </p:sp>
      <p:sp>
        <p:nvSpPr>
          <p:cNvPr id="20" name="Text 17"/>
          <p:cNvSpPr/>
          <p:nvPr/>
        </p:nvSpPr>
        <p:spPr>
          <a:xfrm>
            <a:off x="940917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Prove-Out &amp; Scale</a:t>
            </a:r>
            <a:endParaRPr lang="en-US" sz="1600" dirty="0"/>
          </a:p>
        </p:txBody>
      </p:sp>
      <p:sp>
        <p:nvSpPr>
          <p:cNvPr id="21" name="Text 18"/>
          <p:cNvSpPr/>
          <p:nvPr/>
        </p:nvSpPr>
        <p:spPr>
          <a:xfrm>
            <a:off x="940917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Three months of real data</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3-month opt-out checkpoint</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Scale: add accounts, or next raise</a:t>
            </a:r>
            <a:endParaRPr lang="en-US" sz="1150" dirty="0"/>
          </a:p>
        </p:txBody>
      </p:sp>
      <p:sp>
        <p:nvSpPr>
          <p:cNvPr id="356" name="Shape 20"/>
          <p:cNvSpPr/>
          <p:nvPr/>
        </p:nvSpPr>
        <p:spPr>
          <a:xfrm>
            <a:off x="566928" y="5029200"/>
            <a:ext cx="11338560" cy="1325880"/>
          </a:xfrm>
          <a:prstGeom prst="roundRect">
            <a:avLst>
              <a:gd name="adj" fmla="val 4865"/>
            </a:avLst>
          </a:prstGeom>
          <a:solidFill>
            <a:srgbClr val="0D0D26">
              <a:alpha val="55000"/>
            </a:srgbClr>
          </a:solidFill>
          <a:ln w="9525">
            <a:solidFill>
              <a:srgbClr val="31316A">
                <a:alpha val="75000"/>
              </a:srgbClr>
            </a:solidFill>
            <a:prstDash val="solid"/>
          </a:ln>
        </p:spPr>
      </p:sp>
      <p:sp>
        <p:nvSpPr>
          <p:cNvPr id="357" name="Text 21"/>
          <p:cNvSpPr/>
          <p:nvPr/>
        </p:nvSpPr>
        <p:spPr>
          <a:xfrm>
            <a:off x="795528" y="5175504"/>
            <a:ext cx="54864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THE DECEMBER CHECKPOINT</a:t>
            </a:r>
            <a:endParaRPr lang="en-US" sz="1400" dirty="0"/>
          </a:p>
        </p:txBody>
      </p:sp>
      <p:sp>
        <p:nvSpPr>
          <p:cNvPr id="358" name="Text 22"/>
          <p:cNvSpPr/>
          <p:nvPr/>
        </p:nvSpPr>
        <p:spPr>
          <a:xfrm>
            <a:off x="795528" y="5504688"/>
            <a:ext cx="10881360" cy="77724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By the December review you'll have three months of real numbers on audience quality, meeting quality and conversions. That's your three-month opt-out checkpoint: continue, add a second account, or stop. When the Foundry's next venture is ready to raise, the same account team and engine are already calibrated to InsurTech capital.</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Pricing</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FLAT RETAINER. NO SETUP FEES, NO SUCCESS FEES, NO SURPRISES.</a:t>
            </a:r>
            <a:endParaRPr lang="en-US" sz="1400" dirty="0"/>
          </a:p>
        </p:txBody>
      </p:sp>
      <p:sp>
        <p:nvSpPr>
          <p:cNvPr id="6" name="Shape 3"/>
          <p:cNvSpPr/>
          <p:nvPr/>
        </p:nvSpPr>
        <p:spPr>
          <a:xfrm>
            <a:off x="566928" y="2148840"/>
            <a:ext cx="5532120" cy="4114800"/>
          </a:xfrm>
          <a:prstGeom prst="roundRect">
            <a:avLst>
              <a:gd name="adj" fmla="val 2000"/>
            </a:avLst>
          </a:prstGeom>
          <a:solidFill>
            <a:srgbClr val="0D0D26">
              <a:alpha val="55000"/>
            </a:srgbClr>
          </a:solidFill>
          <a:ln w="9525">
            <a:solidFill>
              <a:srgbClr val="31316A">
                <a:alpha val="75000"/>
              </a:srgbClr>
            </a:solidFill>
            <a:prstDash val="solid"/>
          </a:ln>
        </p:spPr>
      </p:sp>
      <p:sp>
        <p:nvSpPr>
          <p:cNvPr id="7" name="Text 4"/>
          <p:cNvSpPr/>
          <p:nvPr/>
        </p:nvSpPr>
        <p:spPr>
          <a:xfrm>
            <a:off x="886968" y="2423160"/>
            <a:ext cx="4892040" cy="292608"/>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THINKFISH FUNDRAISING  ·  DONE-FOR-YOU</a:t>
            </a:r>
            <a:endParaRPr lang="en-US" sz="1300" dirty="0"/>
          </a:p>
        </p:txBody>
      </p:sp>
      <p:sp>
        <p:nvSpPr>
          <p:cNvPr id="8" name="Text 5"/>
          <p:cNvSpPr/>
          <p:nvPr/>
        </p:nvSpPr>
        <p:spPr>
          <a:xfrm>
            <a:off x="886968" y="2770632"/>
            <a:ext cx="4892040" cy="10058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$2,500</a:t>
            </a:r>
            <a:r>
              <a:rPr lang="en-US" sz="1400" dirty="0">
                <a:solidFill>
                  <a:srgbClr val="B9BEDC"/>
                </a:solidFill>
                <a:latin typeface="Arial" pitchFamily="34" charset="0"/>
                <a:ea typeface="Arial" pitchFamily="34" charset="-122"/>
                <a:cs typeface="Arial" pitchFamily="34" charset="-120"/>
              </a:rPr>
              <a:t xml:space="preserve">  / 1 account</a:t>
            </a:r>
          </a:p>
          <a:p>
            <a:pPr indent="0" marL="0">
              <a:buNone/>
            </a:pPr>
            <a:r>
              <a:rPr lang="en-US" sz="3000" b="1" dirty="0">
                <a:solidFill>
                  <a:srgbClr val="FFFFFF"/>
                </a:solidFill>
                <a:latin typeface="Arial" pitchFamily="34" charset="0"/>
                <a:ea typeface="Arial" pitchFamily="34" charset="-122"/>
                <a:cs typeface="Arial" pitchFamily="34" charset="-120"/>
              </a:rPr>
              <a:t>$3,000</a:t>
            </a:r>
            <a:r>
              <a:rPr lang="en-US" sz="1400" dirty="0">
                <a:solidFill>
                  <a:srgbClr val="B9BEDC"/>
                </a:solidFill>
                <a:latin typeface="Arial" pitchFamily="34" charset="0"/>
                <a:ea typeface="Arial" pitchFamily="34" charset="-122"/>
                <a:cs typeface="Arial" pitchFamily="34" charset="-120"/>
              </a:rPr>
              <a:t xml:space="preserve">  / 2 accounts</a:t>
            </a:r>
          </a:p>
        </p:txBody>
      </p:sp>
      <p:sp>
        <p:nvSpPr>
          <p:cNvPr id="9" name="Text 6"/>
          <p:cNvSpPr/>
          <p:nvPr/>
        </p:nvSpPr>
        <p:spPr>
          <a:xfrm>
            <a:off x="886968" y="3794760"/>
            <a:ext cx="4892040" cy="320040"/>
          </a:xfrm>
          <a:prstGeom prst="rect">
            <a:avLst/>
          </a:prstGeom>
          <a:noFill/>
          <a:ln/>
        </p:spPr>
        <p:txBody>
          <a:bodyPr wrap="square" lIns="0" tIns="0" rIns="0" bIns="0" rtlCol="0" anchor="ctr"/>
          <a:lstStyle/>
          <a:p>
            <a:pPr indent="0" marL="0">
              <a:buNone/>
            </a:pPr>
            <a:r>
              <a:rPr lang="en-US" sz="1200" i="1" dirty="0">
                <a:solidFill>
                  <a:srgbClr val="B9BEDC"/>
                </a:solidFill>
                <a:latin typeface="Arial" pitchFamily="34" charset="0"/>
                <a:ea typeface="Arial" pitchFamily="34" charset="-122"/>
                <a:cs typeface="Arial" pitchFamily="34" charset="-120"/>
              </a:rPr>
              <a:t>6-month term  ·  3-month opt-out</a:t>
            </a:r>
            <a:endParaRPr lang="en-US" sz="1200" dirty="0"/>
          </a:p>
        </p:txBody>
      </p:sp>
      <p:sp>
        <p:nvSpPr>
          <p:cNvPr id="10" name="Text 7"/>
          <p:cNvSpPr/>
          <p:nvPr/>
        </p:nvSpPr>
        <p:spPr>
          <a:xfrm>
            <a:off x="886968" y="4206240"/>
            <a:ext cx="4892040" cy="1874520"/>
          </a:xfrm>
          <a:prstGeom prst="rect">
            <a:avLst/>
          </a:prstGeom>
          <a:noFill/>
          <a:ln/>
        </p:spPr>
        <p:txBody>
          <a:bodyPr wrap="square" lIns="0" tIns="0" rIns="0" bIns="0" rtlCol="0" anchor="t"/>
          <a:lstStyle/>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One LinkedIn profile, fully managed end to end</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Full campaign execution, start to finish</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Outreach, inbox management &amp; follow-ups</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Lead qualification, pre-call briefings &amp; scheduling</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The Reef retargeting &amp; Startup Deal Desk feature</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Profile optimization &amp; messaging support</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CRM, weekly reporting &amp; continuous optimization</a:t>
            </a:r>
            <a:endParaRPr lang="en-US" sz="1250" dirty="0"/>
          </a:p>
        </p:txBody>
      </p:sp>
      <p:sp>
        <p:nvSpPr>
          <p:cNvPr id="359" name="Shape 30"/>
          <p:cNvSpPr/>
          <p:nvPr/>
        </p:nvSpPr>
        <p:spPr>
          <a:xfrm>
            <a:off x="6373368" y="2148840"/>
            <a:ext cx="5532120" cy="4114800"/>
          </a:xfrm>
          <a:prstGeom prst="roundRect">
            <a:avLst>
              <a:gd name="adj" fmla="val 2000"/>
            </a:avLst>
          </a:prstGeom>
          <a:solidFill>
            <a:srgbClr val="0D0D26">
              <a:alpha val="55000"/>
            </a:srgbClr>
          </a:solidFill>
          <a:ln w="9525">
            <a:solidFill>
              <a:srgbClr val="31316A">
                <a:alpha val="75000"/>
              </a:srgbClr>
            </a:solidFill>
            <a:prstDash val="solid"/>
          </a:ln>
        </p:spPr>
      </p:sp>
      <p:sp>
        <p:nvSpPr>
          <p:cNvPr id="360" name="Text 31"/>
          <p:cNvSpPr/>
          <p:nvPr/>
        </p:nvSpPr>
        <p:spPr>
          <a:xfrm>
            <a:off x="6693408" y="2423160"/>
            <a:ext cx="4892040" cy="292608"/>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WHAT THAT BUYS</a:t>
            </a:r>
            <a:endParaRPr lang="en-US" sz="1300" dirty="0"/>
          </a:p>
        </p:txBody>
      </p:sp>
      <p:sp>
        <p:nvSpPr>
          <p:cNvPr id="361" name="Text 32"/>
          <p:cNvSpPr/>
          <p:nvPr/>
        </p:nvSpPr>
        <p:spPr>
          <a:xfrm>
            <a:off x="6693408" y="2834640"/>
            <a:ext cx="4892040" cy="3291840"/>
          </a:xfrm>
          <a:prstGeom prst="rect">
            <a:avLst/>
          </a:prstGeom>
          <a:noFill/>
          <a:ln/>
        </p:spPr>
        <p:txBody>
          <a:bodyPr wrap="square" lIns="0" tIns="0" rIns="0" bIns="0" rtlCol="0" anchor="t"/>
          <a:lstStyle/>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Add accounts as volume needs grow: $2,500 (1) → $3,000 (2) → $3,500 (3) → $4,000 (4) per month, same flat terms</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Compare: investment bankers decline sub-$10M mandates; crowdfunding platforms cost 20–30% of the raise in marketing spend</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One dedicated account manager and one CRM from day one, whether you're running one account or four</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The three-month opt-out means the review before you commit further is made on real numbers</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The same account team and engine are ready for each Foundry venture's raise when the time comes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 We Are, and What We’re Not</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COMPLIANCE QUESTION, ANSWERED UP FRONT</a:t>
            </a:r>
            <a:endParaRPr lang="en-US" sz="1400" dirty="0"/>
          </a:p>
        </p:txBody>
      </p:sp>
      <p:sp>
        <p:nvSpPr>
          <p:cNvPr id="6" name="Shape 3"/>
          <p:cNvSpPr/>
          <p:nvPr/>
        </p:nvSpPr>
        <p:spPr>
          <a:xfrm>
            <a:off x="566928"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WE ARE</a:t>
            </a:r>
            <a:endParaRPr lang="en-US" sz="1400" dirty="0"/>
          </a:p>
        </p:txBody>
      </p:sp>
      <p:sp>
        <p:nvSpPr>
          <p:cNvPr id="8" name="Text 5"/>
          <p:cNvSpPr/>
          <p:nvPr/>
        </p:nvSpPr>
        <p:spPr>
          <a:xfrm>
            <a:off x="795528"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A digital media and investor-relations firm. We build and run LinkedIn outreach in your name, qualify the responses, and put pre-vetted investor conversations on your calendar. Flat monthly fee, nothing else.</a:t>
            </a:r>
            <a:endParaRPr lang="en-US" sz="1200" dirty="0"/>
          </a:p>
        </p:txBody>
      </p:sp>
      <p:sp>
        <p:nvSpPr>
          <p:cNvPr id="9" name="Shape 6"/>
          <p:cNvSpPr/>
          <p:nvPr/>
        </p:nvSpPr>
        <p:spPr>
          <a:xfrm>
            <a:off x="4434840"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WE ARE NOT</a:t>
            </a:r>
            <a:endParaRPr lang="en-US" sz="1400" dirty="0"/>
          </a:p>
        </p:txBody>
      </p:sp>
      <p:sp>
        <p:nvSpPr>
          <p:cNvPr id="11" name="Text 8"/>
          <p:cNvSpPr/>
          <p:nvPr/>
        </p:nvSpPr>
        <p:spPr>
          <a:xfrm>
            <a:off x="4663440"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Not a broker-dealer, placement agent or finder. We don’t negotiate terms, don’t take a success fee or commission, don’t touch the transaction, and don’t raise the capital. You run the conversation and you close.</a:t>
            </a:r>
            <a:endParaRPr lang="en-US" sz="1200" dirty="0"/>
          </a:p>
        </p:txBody>
      </p:sp>
      <p:sp>
        <p:nvSpPr>
          <p:cNvPr id="12" name="Shape 9"/>
          <p:cNvSpPr/>
          <p:nvPr/>
        </p:nvSpPr>
        <p:spPr>
          <a:xfrm>
            <a:off x="8302752"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STAYING COMPLIANT</a:t>
            </a:r>
            <a:endParaRPr lang="en-US" sz="1400" dirty="0"/>
          </a:p>
        </p:txBody>
      </p:sp>
      <p:sp>
        <p:nvSpPr>
          <p:cNvPr id="14" name="Text 11"/>
          <p:cNvSpPr/>
          <p:nvPr/>
        </p:nvSpPr>
        <p:spPr>
          <a:xfrm>
            <a:off x="8531352"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Early messages are relationship-first and high-level: no deal terms, no structure, no forecasts. Collateral only once interest is real, and you are the first to share a full deck. Every script is approved by you before it goes out.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Team</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WHO YOU WILL ACTUALLY BE WORKING WITH</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FREIZLE ABARRIENTOS</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Chief Operating Officer. Two decades across operations, business development, investor relations and client services; oversees ThinkFISH’s daily operations. Leads strategy and the ICP design, and joins your monthly strategy calls.</a:t>
            </a:r>
            <a:endParaRPr lang="en-US" sz="110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SAMANTHA COWPER</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Onboarding Manager. Runs your first two weeks: the onboarding interviews with Jeff, profile optimization, the ICP and audiences, and script approval, so the campaign launches on time and in your voice.</a:t>
            </a:r>
            <a:endParaRPr lang="en-US" sz="110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MYRA GRAMA</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Account Director. Owns the relationship from launch onward: campaign performance, the weekly report, the monthly strategy call, and the escalation point if anything needs a pivot.</a:t>
            </a:r>
            <a:endParaRPr lang="en-US" sz="110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YOUR DEDICATED ACCOUNT MANAGER</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Assigned at kickoff and introduced by Samantha in the first onboarding session. Runs the campaign day to day under Myra: audience building, scripts, inbox, qualification, call briefings and the weekly report. One person who knows your story, reachable on Slack or WhatsApp, not a ticket queue.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Next Steps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HOW WE GET STARTED</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1  ·  REVIEW</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Take this to your co-founders and send us the questions that come back. If it helps, Freizle will join a 20-minute call with your team to field the technical, targeting and compliance questions directly.</a:t>
            </a:r>
            <a:endParaRPr lang="en-US" sz="115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2  ·  SIGN &amp; KICK OFF</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We send the services agreement the same day you say yes. Onboarding starts that week: one 60-minute interview, and we connect your LinkedIn profile to our system, no passwords required.</a:t>
            </a:r>
            <a:endParaRPr lang="en-US" sz="115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3  ·  FIRST MEETINGS</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Your profile is live within two weeks of kickoff. The first qualified investor conversations land on your calendar in weeks three and four, then build to a steady weekly rhythm through your December checkpoint.</a:t>
            </a:r>
            <a:endParaRPr lang="en-US" sz="115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WHAT WE NEED FROM YOU</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Connect your LinkedIn account to our system (no passwords or login credentials required). Share your target list, past investor conversations and anyone who's already passed. One 60-minute onboarding interview. A Calendly link, and a do-not-contact list if there's anyone we should avoid. That's it. We handle the rest.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Deliverables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APPENDIX  ·  THE ENGINE BEHIND THE MEETINGS</a:t>
            </a:r>
            <a:endParaRPr lang="en-US" sz="1400" dirty="0"/>
          </a:p>
        </p:txBody>
      </p:sp>
      <p:sp>
        <p:nvSpPr>
          <p:cNvPr id="6" name="Shape 3"/>
          <p:cNvSpPr/>
          <p:nvPr/>
        </p:nvSpPr>
        <p:spPr>
          <a:xfrm>
            <a:off x="566928"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7" name="Text 4"/>
          <p:cNvSpPr/>
          <p:nvPr/>
        </p:nvSpPr>
        <p:spPr>
          <a:xfrm>
            <a:off x="795528"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LINKEDIN OUTREACH</a:t>
            </a:r>
            <a:endParaRPr lang="en-US" sz="1250" dirty="0"/>
          </a:p>
        </p:txBody>
      </p:sp>
      <p:sp>
        <p:nvSpPr>
          <p:cNvPr id="8" name="Text 5"/>
          <p:cNvSpPr/>
          <p:nvPr/>
        </p:nvSpPr>
        <p:spPr>
          <a:xfrm>
            <a:off x="795528"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1,600</a:t>
            </a:r>
            <a:endParaRPr lang="en-US" sz="4400" dirty="0"/>
          </a:p>
        </p:txBody>
      </p:sp>
      <p:sp>
        <p:nvSpPr>
          <p:cNvPr id="9" name="Text 6"/>
          <p:cNvSpPr/>
          <p:nvPr/>
        </p:nvSpPr>
        <p:spPr>
          <a:xfrm>
            <a:off x="795528"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LinkedIn touches / month, per profile</a:t>
            </a:r>
            <a:endParaRPr lang="en-US" sz="1100" dirty="0"/>
          </a:p>
        </p:txBody>
      </p:sp>
      <p:sp>
        <p:nvSpPr>
          <p:cNvPr id="10" name="Text 7"/>
          <p:cNvSpPr/>
          <p:nvPr/>
        </p:nvSpPr>
        <p:spPr>
          <a:xfrm>
            <a:off x="795528"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800 InMails and 800 connection invites per profile every month, in your voice, once fully warmed up. Every InMail credit in your Sales Navigator plan gets used.</a:t>
            </a:r>
            <a:endParaRPr lang="en-US" sz="1050" dirty="0"/>
          </a:p>
        </p:txBody>
      </p:sp>
      <p:sp>
        <p:nvSpPr>
          <p:cNvPr id="11" name="Shape 8"/>
          <p:cNvSpPr/>
          <p:nvPr/>
        </p:nvSpPr>
        <p:spPr>
          <a:xfrm>
            <a:off x="4434840"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2" name="Text 9"/>
          <p:cNvSpPr/>
          <p:nvPr/>
        </p:nvSpPr>
        <p:spPr>
          <a:xfrm>
            <a:off x="4663440"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THE REEF</a:t>
            </a:r>
            <a:endParaRPr lang="en-US" sz="1250" dirty="0"/>
          </a:p>
        </p:txBody>
      </p:sp>
      <p:sp>
        <p:nvSpPr>
          <p:cNvPr id="13" name="Text 10"/>
          <p:cNvSpPr/>
          <p:nvPr/>
        </p:nvSpPr>
        <p:spPr>
          <a:xfrm>
            <a:off x="4663440"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10k+</a:t>
            </a:r>
            <a:endParaRPr lang="en-US" sz="4400" dirty="0"/>
          </a:p>
        </p:txBody>
      </p:sp>
      <p:sp>
        <p:nvSpPr>
          <p:cNvPr id="14" name="Text 11"/>
          <p:cNvSpPr/>
          <p:nvPr/>
        </p:nvSpPr>
        <p:spPr>
          <a:xfrm>
            <a:off x="4663440"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curated investor network</a:t>
            </a:r>
            <a:endParaRPr lang="en-US" sz="1100" dirty="0"/>
          </a:p>
        </p:txBody>
      </p:sp>
      <p:sp>
        <p:nvSpPr>
          <p:cNvPr id="15" name="Text 12"/>
          <p:cNvSpPr/>
          <p:nvPr/>
        </p:nvSpPr>
        <p:spPr>
          <a:xfrm>
            <a:off x="4663440"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Our internal network of opt-in investors actively seeking deal flow, retargeted with your raise.</a:t>
            </a:r>
            <a:endParaRPr lang="en-US" sz="1050" dirty="0"/>
          </a:p>
        </p:txBody>
      </p:sp>
      <p:sp>
        <p:nvSpPr>
          <p:cNvPr id="16" name="Shape 13"/>
          <p:cNvSpPr/>
          <p:nvPr/>
        </p:nvSpPr>
        <p:spPr>
          <a:xfrm>
            <a:off x="8302752"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7" name="Text 14"/>
          <p:cNvSpPr/>
          <p:nvPr/>
        </p:nvSpPr>
        <p:spPr>
          <a:xfrm>
            <a:off x="8531352"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STARTUP DEAL DESK</a:t>
            </a:r>
            <a:endParaRPr lang="en-US" sz="1250" dirty="0"/>
          </a:p>
        </p:txBody>
      </p:sp>
      <p:sp>
        <p:nvSpPr>
          <p:cNvPr id="18" name="Text 15"/>
          <p:cNvSpPr/>
          <p:nvPr/>
        </p:nvSpPr>
        <p:spPr>
          <a:xfrm>
            <a:off x="8531352"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84k+</a:t>
            </a:r>
            <a:endParaRPr lang="en-US" sz="4400" dirty="0"/>
          </a:p>
        </p:txBody>
      </p:sp>
      <p:sp>
        <p:nvSpPr>
          <p:cNvPr id="19" name="Text 16"/>
          <p:cNvSpPr/>
          <p:nvPr/>
        </p:nvSpPr>
        <p:spPr>
          <a:xfrm>
            <a:off x="8531352"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investor subscribers</a:t>
            </a:r>
            <a:endParaRPr lang="en-US" sz="1100" dirty="0"/>
          </a:p>
        </p:txBody>
      </p:sp>
      <p:sp>
        <p:nvSpPr>
          <p:cNvPr id="20" name="Text 17"/>
          <p:cNvSpPr/>
          <p:nvPr/>
        </p:nvSpPr>
        <p:spPr>
          <a:xfrm>
            <a:off x="8531352"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Your company featured in our investor newsletter, putting your raise in front of capital allocators at scale.</a:t>
            </a:r>
            <a:endParaRPr lang="en-US" sz="1050" dirty="0"/>
          </a:p>
        </p:txBody>
      </p:sp>
      <p:sp>
        <p:nvSpPr>
          <p:cNvPr id="21" name="Shape 18"/>
          <p:cNvSpPr/>
          <p:nvPr/>
        </p:nvSpPr>
        <p:spPr>
          <a:xfrm>
            <a:off x="566928" y="4846320"/>
            <a:ext cx="11338560" cy="1463040"/>
          </a:xfrm>
          <a:prstGeom prst="roundRect">
            <a:avLst>
              <a:gd name="adj" fmla="val 5625"/>
            </a:avLst>
          </a:prstGeom>
          <a:solidFill>
            <a:srgbClr val="0D0D26">
              <a:alpha val="55000"/>
            </a:srgbClr>
          </a:solidFill>
          <a:ln w="9525">
            <a:solidFill>
              <a:srgbClr val="31316A">
                <a:alpha val="75000"/>
              </a:srgbClr>
            </a:solidFill>
            <a:prstDash val="solid"/>
          </a:ln>
        </p:spPr>
      </p:sp>
      <p:sp>
        <p:nvSpPr>
          <p:cNvPr id="22" name="Text 19"/>
          <p:cNvSpPr/>
          <p:nvPr/>
        </p:nvSpPr>
        <p:spPr>
          <a:xfrm>
            <a:off x="795528" y="5010912"/>
            <a:ext cx="457200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FULLY MANAGED, END TO END</a:t>
            </a:r>
            <a:endParaRPr lang="en-US" sz="1200" dirty="0"/>
          </a:p>
        </p:txBody>
      </p:sp>
      <p:sp>
        <p:nvSpPr>
          <p:cNvPr id="23" name="Text 20"/>
          <p:cNvSpPr/>
          <p:nvPr/>
        </p:nvSpPr>
        <p:spPr>
          <a:xfrm>
            <a:off x="795528" y="5321808"/>
            <a:ext cx="10881360" cy="868680"/>
          </a:xfrm>
          <a:prstGeom prst="rect">
            <a:avLst/>
          </a:prstGeom>
          <a:noFill/>
          <a:ln/>
        </p:spPr>
        <p:txBody>
          <a:bodyPr wrap="square" lIns="0" tIns="0" rIns="0" bIns="0" rtlCol="0" anchor="t"/>
          <a:lstStyle/>
          <a:p>
            <a:pPr indent="0" marL="0">
              <a:lnSpc>
                <a:spcPct val="125000"/>
              </a:lnSpc>
              <a:buNone/>
            </a:pPr>
            <a:r>
              <a:rPr lang="en-US" sz="1200" dirty="0">
                <a:solidFill>
                  <a:srgbClr val="FFFFFF"/>
                </a:solidFill>
                <a:latin typeface="Arial" pitchFamily="34" charset="0"/>
                <a:ea typeface="Arial" pitchFamily="34" charset="-122"/>
                <a:cs typeface="Arial" pitchFamily="34" charset="-120"/>
              </a:rPr>
              <a:t>Strategy &amp; onboarding  ·  LinkedIn profile optimization  ·  Investor targeting &amp; list building  ·  Outreach execution &amp; inbox management  ·  Lead qualification &amp; meeting scheduling  ·  Pitch positioning &amp; storytelling support  ·  CRM setup &amp; management  ·  Reporting &amp; continuous optimization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Founders Who’ve Run This Play</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APPENDIX  ·  RESULTS &amp; TESTIMONIALS</a:t>
            </a:r>
            <a:endParaRPr lang="en-US" sz="1400" dirty="0"/>
          </a:p>
        </p:txBody>
      </p:sp>
      <p:sp>
        <p:nvSpPr>
          <p:cNvPr id="6" name="Shape 3"/>
          <p:cNvSpPr/>
          <p:nvPr/>
        </p:nvSpPr>
        <p:spPr>
          <a:xfrm>
            <a:off x="566928"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7" name="Text 4"/>
          <p:cNvSpPr/>
          <p:nvPr/>
        </p:nvSpPr>
        <p:spPr>
          <a:xfrm>
            <a:off x="795528"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$200M+</a:t>
            </a:r>
            <a:endParaRPr lang="en-US" sz="2400" dirty="0"/>
          </a:p>
        </p:txBody>
      </p:sp>
      <p:sp>
        <p:nvSpPr>
          <p:cNvPr id="8" name="Text 5"/>
          <p:cNvSpPr/>
          <p:nvPr/>
        </p:nvSpPr>
        <p:spPr>
          <a:xfrm>
            <a:off x="2350008"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client-reported capital raised</a:t>
            </a:r>
            <a:endParaRPr lang="en-US" sz="1050" dirty="0"/>
          </a:p>
        </p:txBody>
      </p:sp>
      <p:sp>
        <p:nvSpPr>
          <p:cNvPr id="9" name="Shape 6"/>
          <p:cNvSpPr/>
          <p:nvPr/>
        </p:nvSpPr>
        <p:spPr>
          <a:xfrm>
            <a:off x="4434840"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10" name="Text 7"/>
          <p:cNvSpPr/>
          <p:nvPr/>
        </p:nvSpPr>
        <p:spPr>
          <a:xfrm>
            <a:off x="4663440"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10,000+</a:t>
            </a:r>
            <a:endParaRPr lang="en-US" sz="2400" dirty="0"/>
          </a:p>
        </p:txBody>
      </p:sp>
      <p:sp>
        <p:nvSpPr>
          <p:cNvPr id="11" name="Text 8"/>
          <p:cNvSpPr/>
          <p:nvPr/>
        </p:nvSpPr>
        <p:spPr>
          <a:xfrm>
            <a:off x="6217920"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qualified investor meetings booked</a:t>
            </a:r>
            <a:endParaRPr lang="en-US" sz="1050" dirty="0"/>
          </a:p>
        </p:txBody>
      </p:sp>
      <p:sp>
        <p:nvSpPr>
          <p:cNvPr id="12" name="Shape 9"/>
          <p:cNvSpPr/>
          <p:nvPr/>
        </p:nvSpPr>
        <p:spPr>
          <a:xfrm>
            <a:off x="8302752"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500+</a:t>
            </a:r>
            <a:endParaRPr lang="en-US" sz="2400" dirty="0"/>
          </a:p>
        </p:txBody>
      </p:sp>
      <p:sp>
        <p:nvSpPr>
          <p:cNvPr id="14" name="Text 11"/>
          <p:cNvSpPr/>
          <p:nvPr/>
        </p:nvSpPr>
        <p:spPr>
          <a:xfrm>
            <a:off x="10085832"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clients served since 2020</a:t>
            </a:r>
            <a:endParaRPr lang="en-US" sz="1050" dirty="0"/>
          </a:p>
        </p:txBody>
      </p:sp>
      <p:sp>
        <p:nvSpPr>
          <p:cNvPr id="362" name="Shape 40"/>
          <p:cNvSpPr/>
          <p:nvPr/>
        </p:nvSpPr>
        <p:spPr>
          <a:xfrm>
            <a:off x="566928"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63" name="Text 40a"/>
          <p:cNvSpPr/>
          <p:nvPr/>
        </p:nvSpPr>
        <p:spPr>
          <a:xfrm>
            <a:off x="795528"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ISSUANCE  ·  DARREN MARBLE, CEO</a:t>
            </a:r>
            <a:endParaRPr lang="en-US" sz="1000" dirty="0"/>
          </a:p>
        </p:txBody>
      </p:sp>
      <p:sp>
        <p:nvSpPr>
          <p:cNvPr id="364" name="Text 40b"/>
          <p:cNvSpPr/>
          <p:nvPr/>
        </p:nvSpPr>
        <p:spPr>
          <a:xfrm>
            <a:off x="795528"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“…one of the most effective investor marketing firms I’ve ever worked with when it comes to raising capital for my companies. In the last 60 days alone, FISH has arranged 25 qualified investor meetings for me.”</a:t>
            </a:r>
            <a:endParaRPr lang="en-US" sz="1050" dirty="0"/>
          </a:p>
        </p:txBody>
      </p:sp>
      <p:sp>
        <p:nvSpPr>
          <p:cNvPr id="365" name="Text 40c"/>
          <p:cNvSpPr/>
          <p:nvPr/>
        </p:nvSpPr>
        <p:spPr>
          <a:xfrm>
            <a:off x="795528"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25 QUALIFIED INVESTOR MEETINGS IN 60 DAYS</a:t>
            </a:r>
            <a:endParaRPr lang="en-US" sz="1000" dirty="0"/>
          </a:p>
        </p:txBody>
      </p:sp>
      <p:sp>
        <p:nvSpPr>
          <p:cNvPr id="366" name="Shape 41"/>
          <p:cNvSpPr/>
          <p:nvPr/>
        </p:nvSpPr>
        <p:spPr>
          <a:xfrm>
            <a:off x="4434840"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67" name="Text 41a"/>
          <p:cNvSpPr/>
          <p:nvPr/>
        </p:nvSpPr>
        <p:spPr>
          <a:xfrm>
            <a:off x="4663440"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CARTHAGE CAPITAL  ·  STEPHEN WU</a:t>
            </a:r>
            <a:endParaRPr lang="en-US" sz="1000" dirty="0"/>
          </a:p>
        </p:txBody>
      </p:sp>
      <p:sp>
        <p:nvSpPr>
          <p:cNvPr id="368" name="Text 41b"/>
          <p:cNvSpPr/>
          <p:nvPr/>
        </p:nvSpPr>
        <p:spPr>
          <a:xfrm>
            <a:off x="4663440"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“ThinkFISH helped me raise $2 to $3 million across around 20 different investors over the past nine months. Two to three meetings every week, consistently, and they’re already interested. You delivered way above my expectations.”</a:t>
            </a:r>
            <a:endParaRPr lang="en-US" sz="1050" dirty="0"/>
          </a:p>
        </p:txBody>
      </p:sp>
      <p:sp>
        <p:nvSpPr>
          <p:cNvPr id="369" name="Text 41c"/>
          <p:cNvSpPr/>
          <p:nvPr/>
        </p:nvSpPr>
        <p:spPr>
          <a:xfrm>
            <a:off x="4663440"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$2–3M RAISED  ·  ~20 INVESTORS  ·  9 MONTHS</a:t>
            </a:r>
            <a:endParaRPr lang="en-US" sz="1000" dirty="0"/>
          </a:p>
        </p:txBody>
      </p:sp>
      <p:sp>
        <p:nvSpPr>
          <p:cNvPr id="370" name="Shape 42"/>
          <p:cNvSpPr/>
          <p:nvPr/>
        </p:nvSpPr>
        <p:spPr>
          <a:xfrm>
            <a:off x="8302752"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1" name="Text 42a"/>
          <p:cNvSpPr/>
          <p:nvPr/>
        </p:nvSpPr>
        <p:spPr>
          <a:xfrm>
            <a:off x="8531352"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OPTIONSMD  ·  KYLE PIERCE, CEO</a:t>
            </a:r>
            <a:endParaRPr lang="en-US" sz="1000" dirty="0"/>
          </a:p>
        </p:txBody>
      </p:sp>
      <p:sp>
        <p:nvSpPr>
          <p:cNvPr id="372" name="Text 42b"/>
          <p:cNvSpPr/>
          <p:nvPr/>
        </p:nvSpPr>
        <p:spPr>
          <a:xfrm>
            <a:off x="8531352"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“We’ve had a great experience with the team. The number and relevance of investor connections have grown quickly, and each meeting has proven valuable. We’ve been pleasantly surprised by the unexpected opportunities that have come from them.”</a:t>
            </a:r>
            <a:endParaRPr lang="en-US" sz="1050" dirty="0"/>
          </a:p>
        </p:txBody>
      </p:sp>
      <p:sp>
        <p:nvSpPr>
          <p:cNvPr id="373" name="Text 42c"/>
          <p:cNvSpPr/>
          <p:nvPr/>
        </p:nvSpPr>
        <p:spPr>
          <a:xfrm>
            <a:off x="8531352"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90 MEETINGS IN 3 MONTHS  ·  LATER ACQUIRED</a:t>
            </a:r>
            <a:endParaRPr lang="en-US" sz="1000" dirty="0"/>
          </a:p>
        </p:txBody>
      </p:sp>
      <p:sp>
        <p:nvSpPr>
          <p:cNvPr id="374" name="Shape 50"/>
          <p:cNvSpPr/>
          <p:nvPr/>
        </p:nvSpPr>
        <p:spPr>
          <a:xfrm>
            <a:off x="566928" y="5120640"/>
            <a:ext cx="5532120" cy="777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5" name="Text 50b"/>
          <p:cNvSpPr/>
          <p:nvPr/>
        </p:nvSpPr>
        <p:spPr>
          <a:xfrm>
            <a:off x="795528" y="5175504"/>
            <a:ext cx="5074920" cy="502920"/>
          </a:xfrm>
          <a:prstGeom prst="rect">
            <a:avLst/>
          </a:prstGeom>
          <a:noFill/>
          <a:ln/>
        </p:spPr>
        <p:txBody>
          <a:bodyPr wrap="square" lIns="0" tIns="0" rIns="0" bIns="0" rtlCol="0" anchor="t"/>
          <a:lstStyle/>
          <a:p>
            <a:pPr indent="0" marL="0">
              <a:lnSpc>
                <a:spcPct val="112000"/>
              </a:lnSpc>
              <a:buNone/>
            </a:pPr>
            <a:r>
              <a:rPr lang="en-US" sz="1000" i="1" dirty="0">
                <a:solidFill>
                  <a:srgbClr val="FFFFFF"/>
                </a:solidFill>
                <a:latin typeface="Arial" pitchFamily="34" charset="0"/>
                <a:ea typeface="Arial" pitchFamily="34" charset="-122"/>
                <a:cs typeface="Arial" pitchFamily="34" charset="-120"/>
              </a:rPr>
              <a:t>“You guys truly exceeded my expectations. Honestly, I viewed it as a $20,000 gamble—like playing blackjack. But ironically, the very first lead you introduced was a solid single, and I was totally blown away.”</a:t>
            </a:r>
            <a:endParaRPr lang="en-US" sz="1000" dirty="0"/>
          </a:p>
        </p:txBody>
      </p:sp>
      <p:sp>
        <p:nvSpPr>
          <p:cNvPr id="376" name="Text 50c"/>
          <p:cNvSpPr/>
          <p:nvPr/>
        </p:nvSpPr>
        <p:spPr>
          <a:xfrm>
            <a:off x="795528" y="5678424"/>
            <a:ext cx="5074920" cy="201168"/>
          </a:xfrm>
          <a:prstGeom prst="rect">
            <a:avLst/>
          </a:prstGeom>
          <a:noFill/>
          <a:ln/>
        </p:spPr>
        <p:txBody>
          <a:bodyPr wrap="square" lIns="0" tIns="0" rIns="0" bIns="0" rtlCol="0" anchor="ctr"/>
          <a:lstStyle/>
          <a:p>
            <a:pPr indent="0" marL="0">
              <a:buNone/>
            </a:pPr>
            <a:r>
              <a:rPr lang="en-US" sz="950" b="1" dirty="0">
                <a:solidFill>
                  <a:srgbClr val="43D5FF"/>
                </a:solidFill>
                <a:latin typeface="Arial" pitchFamily="34" charset="0"/>
                <a:ea typeface="Arial" pitchFamily="34" charset="-122"/>
                <a:cs typeface="Arial" pitchFamily="34" charset="-120"/>
              </a:rPr>
              <a:t>TODD MCALLISTER, CEO, BIOAGE DATA</a:t>
            </a:r>
            <a:endParaRPr lang="en-US" sz="950" dirty="0"/>
          </a:p>
        </p:txBody>
      </p:sp>
      <p:sp>
        <p:nvSpPr>
          <p:cNvPr id="377" name="Shape 51"/>
          <p:cNvSpPr/>
          <p:nvPr/>
        </p:nvSpPr>
        <p:spPr>
          <a:xfrm>
            <a:off x="6373368" y="5120640"/>
            <a:ext cx="5532120" cy="777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8" name="Text 51b"/>
          <p:cNvSpPr/>
          <p:nvPr/>
        </p:nvSpPr>
        <p:spPr>
          <a:xfrm>
            <a:off x="6601968" y="5175504"/>
            <a:ext cx="5074920" cy="502920"/>
          </a:xfrm>
          <a:prstGeom prst="rect">
            <a:avLst/>
          </a:prstGeom>
          <a:noFill/>
          <a:ln/>
        </p:spPr>
        <p:txBody>
          <a:bodyPr wrap="square" lIns="0" tIns="0" rIns="0" bIns="0" rtlCol="0" anchor="t"/>
          <a:lstStyle/>
          <a:p>
            <a:pPr indent="0" marL="0">
              <a:lnSpc>
                <a:spcPct val="112000"/>
              </a:lnSpc>
              <a:buNone/>
            </a:pPr>
            <a:r>
              <a:rPr lang="en-US" sz="1000" i="1" dirty="0">
                <a:solidFill>
                  <a:srgbClr val="FFFFFF"/>
                </a:solidFill>
                <a:latin typeface="Arial" pitchFamily="34" charset="0"/>
                <a:ea typeface="Arial" pitchFamily="34" charset="-122"/>
                <a:cs typeface="Arial" pitchFamily="34" charset="-120"/>
              </a:rPr>
              <a:t>“ThinkFISH has consistently provided a steady stream of leads each week—over 20 so far! … Whenever a prospect doesn’t meet our criteria, they immediately remove them, which saves us valuable time.”</a:t>
            </a:r>
            <a:endParaRPr lang="en-US" sz="1000" dirty="0"/>
          </a:p>
        </p:txBody>
      </p:sp>
      <p:sp>
        <p:nvSpPr>
          <p:cNvPr id="379" name="Text 51c"/>
          <p:cNvSpPr/>
          <p:nvPr/>
        </p:nvSpPr>
        <p:spPr>
          <a:xfrm>
            <a:off x="6601968" y="5678424"/>
            <a:ext cx="5074920" cy="201168"/>
          </a:xfrm>
          <a:prstGeom prst="rect">
            <a:avLst/>
          </a:prstGeom>
          <a:noFill/>
          <a:ln/>
        </p:spPr>
        <p:txBody>
          <a:bodyPr wrap="square" lIns="0" tIns="0" rIns="0" bIns="0" rtlCol="0" anchor="ctr"/>
          <a:lstStyle/>
          <a:p>
            <a:pPr indent="0" marL="0">
              <a:buNone/>
            </a:pPr>
            <a:r>
              <a:rPr lang="en-US" sz="950" b="1" dirty="0">
                <a:solidFill>
                  <a:srgbClr val="43D5FF"/>
                </a:solidFill>
                <a:latin typeface="Arial" pitchFamily="34" charset="0"/>
                <a:ea typeface="Arial" pitchFamily="34" charset="-122"/>
                <a:cs typeface="Arial" pitchFamily="34" charset="-120"/>
              </a:rPr>
              <a:t>MATT SHIH, CO-FOUNDER &amp; CHIEF DESIGN OFFICER, PAINTBOX LABS</a:t>
            </a:r>
            <a:endParaRPr lang="en-US" sz="950" dirty="0"/>
          </a:p>
        </p:txBody>
      </p:sp>
      <p:sp>
        <p:nvSpPr>
          <p:cNvPr id="21" name="Shape 18"/>
          <p:cNvSpPr/>
          <p:nvPr/>
        </p:nvSpPr>
        <p:spPr>
          <a:xfrm>
            <a:off x="566928" y="6035040"/>
            <a:ext cx="11338560" cy="566928"/>
          </a:xfrm>
          <a:prstGeom prst="roundRect">
            <a:avLst>
              <a:gd name="adj" fmla="val 8182"/>
            </a:avLst>
          </a:prstGeom>
          <a:solidFill>
            <a:srgbClr val="0D0D26">
              <a:alpha val="55000"/>
            </a:srgbClr>
          </a:solidFill>
          <a:ln w="9525">
            <a:solidFill>
              <a:srgbClr val="31316A">
                <a:alpha val="75000"/>
              </a:srgbClr>
            </a:solidFill>
            <a:prstDash val="solid"/>
          </a:ln>
        </p:spPr>
      </p:sp>
      <p:sp>
        <p:nvSpPr>
          <p:cNvPr id="22" name="Text 19"/>
          <p:cNvSpPr/>
          <p:nvPr/>
        </p:nvSpPr>
        <p:spPr>
          <a:xfrm>
            <a:off x="795528" y="6089904"/>
            <a:ext cx="10881360" cy="457200"/>
          </a:xfrm>
          <a:prstGeom prst="rect">
            <a:avLst/>
          </a:prstGeom>
          <a:noFill/>
          <a:ln/>
        </p:spPr>
        <p:txBody>
          <a:bodyPr wrap="square" lIns="0" tIns="0" rIns="0" bIns="0" rtlCol="0" anchor="ctr"/>
          <a:lstStyle/>
          <a:p>
            <a:pPr indent="0" marL="0">
              <a:spcAft>
                <a:spcPts val="600"/>
              </a:spcAft>
              <a:buNone/>
            </a:pPr>
            <a:r>
              <a:rPr lang="en-US" sz="1200" b="1" spc="100" kern="0" dirty="0">
                <a:solidFill>
                  <a:srgbClr val="7C6CFF"/>
                </a:solidFill>
                <a:latin typeface="Arial" pitchFamily="34" charset="0"/>
                <a:ea typeface="Arial" pitchFamily="34" charset="-122"/>
                <a:cs typeface="Arial" pitchFamily="34" charset="-120"/>
              </a:rPr>
              <a:t xml:space="preserve">VIDEO TESTIMONIALS   </a:t>
            </a:r>
            <a:r>
              <a:rPr lang="en-US" sz="1300" dirty="0">
                <a:solidFill>
                  <a:srgbClr val="FFFFFF"/>
                </a:solidFill>
                <a:latin typeface="Arial" pitchFamily="34" charset="0"/>
                <a:ea typeface="Arial" pitchFamily="34" charset="-122"/>
                <a:cs typeface="Arial" pitchFamily="34" charset="-120"/>
              </a:rPr>
              <a:t xml:space="preserve">youtube.com/@thinkFISHLLC/videos</a:t>
            </a:r>
            <a:endParaRPr lang="en-US" sz="1200" dirty="0"/>
          </a:p>
          <a:p>
            <a:pPr indent="0" marL="0">
              <a:buNone/>
            </a:pPr>
            <a:r>
              <a:rPr lang="en-US" sz="1200" b="1" spc="100" kern="0" dirty="0">
                <a:solidFill>
                  <a:srgbClr val="7C6CFF"/>
                </a:solidFill>
                <a:latin typeface="Arial" pitchFamily="34" charset="0"/>
                <a:ea typeface="Arial" pitchFamily="34" charset="-122"/>
                <a:cs typeface="Arial" pitchFamily="34" charset="-120"/>
              </a:rPr>
              <a:t xml:space="preserve">HOW WE DO IT   </a:t>
            </a:r>
            <a:r>
              <a:rPr lang="en-US" sz="1300" dirty="0">
                <a:solidFill>
                  <a:srgbClr val="FFFFFF"/>
                </a:solidFill>
                <a:latin typeface="Arial" pitchFamily="34" charset="0"/>
                <a:ea typeface="Arial" pitchFamily="34" charset="-122"/>
                <a:cs typeface="Arial" pitchFamily="34" charset="-120"/>
              </a:rPr>
              <a:t xml:space="preserve">bit.ly/thinkfish_method</a:t>
            </a:r>
            <a:r>
              <a:rPr lang="en-US" sz="1200" b="1" spc="100" kern="0" dirty="0">
                <a:solidFill>
                  <a:srgbClr val="7C6CFF"/>
                </a:solidFill>
                <a:latin typeface="Arial" pitchFamily="34" charset="0"/>
                <a:ea typeface="Arial" pitchFamily="34" charset="-122"/>
                <a:cs typeface="Arial" pitchFamily="34" charset="-120"/>
              </a:rPr>
              <a:t xml:space="preserve">        WHO WE ARE   </a:t>
            </a:r>
            <a:r>
              <a:rPr lang="en-US" sz="1300" dirty="0">
                <a:solidFill>
                  <a:srgbClr val="FFFFFF"/>
                </a:solidFill>
                <a:latin typeface="Arial" pitchFamily="34" charset="0"/>
                <a:ea typeface="Arial" pitchFamily="34" charset="-122"/>
                <a:cs typeface="Arial" pitchFamily="34" charset="-120"/>
              </a:rPr>
              <a:t xml:space="preserve">bit.ly/thinkfish_VSL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2026-07-20T20:56:15Z</dcterms:created>
  <dcterms:modified xsi:type="dcterms:W3CDTF">2026-07-20T20:56:15Z</dcterms:modified>
</cp:coreProperties>
</file>