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101" Type="http://schemas.openxmlformats.org/officeDocument/2006/relationships/slide" Target="slides/slide1.xml"/><Relationship Id="rId102" Type="http://schemas.openxmlformats.org/officeDocument/2006/relationships/slide" Target="slides/slide2.xml"/><Relationship Id="rId103" Type="http://schemas.openxmlformats.org/officeDocument/2006/relationships/slide" Target="slides/slide3.xml"/><Relationship Id="rId104" Type="http://schemas.openxmlformats.org/officeDocument/2006/relationships/slide" Target="slides/slide4.xml"/><Relationship Id="rId105" Type="http://schemas.openxmlformats.org/officeDocument/2006/relationships/slide" Target="slides/slide5.xml"/><Relationship Id="rId106" Type="http://schemas.openxmlformats.org/officeDocument/2006/relationships/slide" Target="slides/slide6.xml"/><Relationship Id="rId107" Type="http://schemas.openxmlformats.org/officeDocument/2006/relationships/slide" Target="slides/slide7.xml"/><Relationship Id="rId108" Type="http://schemas.openxmlformats.org/officeDocument/2006/relationships/slide" Target="slides/slide8.xml"/><Relationship Id="rId109" Type="http://schemas.openxmlformats.org/officeDocument/2006/relationships/slide" Target="slides/slide9.xml"/><Relationship Id="rId110" Type="http://schemas.openxmlformats.org/officeDocument/2006/relationships/slide" Target="slides/slide10.xml"/><Relationship Id="rId111" Type="http://schemas.openxmlformats.org/officeDocument/2006/relationships/slide" Target="slides/slide11.xml"/><Relationship Id="rId112" Type="http://schemas.openxmlformats.org/officeDocument/2006/relationships/slide" Target="slides/slide12.xml"/><Relationship Id="rId113" Type="http://schemas.openxmlformats.org/officeDocument/2006/relationships/slide" Target="slides/slide13.xml"/><Relationship Id="rId114" Type="http://schemas.openxmlformats.org/officeDocument/2006/relationships/slide" Target="slides/slide14.xml"/><Relationship Id="rId115" Type="http://schemas.openxmlformats.org/officeDocument/2006/relationships/slide" Target="slides/slide15.xml"/><Relationship Id="rId116" Type="http://schemas.openxmlformats.org/officeDocument/2006/relationships/slide" Target="slides/slide16.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20" Type="http://schemas.openxmlformats.org/officeDocument/2006/relationships/image" Target="../media/cover_gradient.jpeg"/><Relationship Id="rId21" Type="http://schemas.openxmlformats.org/officeDocument/2006/relationships/image" Target="../media/cover_ribbon.png"/><Relationship Id="rId22" Type="http://schemas.openxmlformats.org/officeDocument/2006/relationships/image" Target="../media/cover_glow.png"/></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a:effectLst/>
      </p:bgPr>
    </p:bg>
    <p:spTree>
      <p:nvGrpSpPr>
        <p:cNvPr id="1" name=""/>
        <p:cNvGrpSpPr/>
        <p:nvPr/>
      </p:nvGrpSpPr>
      <p:grpSpPr>
        <a:xfrm>
          <a:off x="0" y="0"/>
          <a:ext cx="0" cy="0"/>
          <a:chOff x="0" y="0"/>
          <a:chExt cx="0" cy="0"/>
        </a:xfrm>
      </p:grpSpPr>
      <p:pic>
        <p:nvPicPr>
          <p:cNvPr id="300" name="Pic ribbon"/>
          <p:cNvPicPr>
            <a:picLocks noChangeAspect="1"/>
          </p:cNvPicPr>
          <p:nvPr/>
        </p:nvPicPr>
        <p:blipFill>
          <a:blip r:embed="rId21"/>
          <a:srcRect b="17691" l="21282"/>
          <a:stretch>
            <a:fillRect/>
          </a:stretch>
        </p:blipFill>
        <p:spPr>
          <a:xfrm>
            <a:off x="0" y="859536"/>
            <a:ext cx="4937760" cy="5998464"/>
          </a:xfrm>
          <a:prstGeom prst="rect">
            <a:avLst/>
          </a:prstGeom>
        </p:spPr>
      </p:pic>
      <p:pic>
        <p:nvPicPr>
          <p:cNvPr id="301" name="Pic gradient"/>
          <p:cNvPicPr>
            <a:picLocks noChangeAspect="1"/>
          </p:cNvPicPr>
          <p:nvPr/>
        </p:nvPicPr>
        <p:blipFill>
          <a:blip r:embed="rId20">
            <a:alphaModFix amt="37000"/>
          </a:blip>
          <a:srcRect l="4900" r="5000"/>
          <a:stretch>
            <a:fillRect/>
          </a:stretch>
        </p:blipFill>
        <p:spPr>
          <a:xfrm>
            <a:off x="4096512" y="841248"/>
            <a:ext cx="8095183" cy="6016752"/>
          </a:xfrm>
          <a:prstGeom prst="rect">
            <a:avLst/>
          </a:prstGeom>
        </p:spPr>
      </p:pic>
      <p:pic>
        <p:nvPicPr>
          <p:cNvPr id="302" name="Pic glow"/>
          <p:cNvPicPr>
            <a:picLocks noChangeAspect="1"/>
          </p:cNvPicPr>
          <p:nvPr/>
        </p:nvPicPr>
        <p:blipFill>
          <a:blip r:embed="rId22"/>
          <a:srcRect b="21079" l="72900" r="0"/>
          <a:stretch>
            <a:fillRect/>
          </a:stretch>
        </p:blipFill>
        <p:spPr>
          <a:xfrm>
            <a:off x="4096512" y="1106424"/>
            <a:ext cx="1700784" cy="5751576"/>
          </a:xfrm>
          <a:prstGeom prst="rect">
            <a:avLst/>
          </a:prstGeom>
        </p:spPr>
      </p:pic>
      <p:pic>
        <p:nvPicPr>
          <p:cNvPr id="2" name="Image 0" descr="/home/claude/brand/clean/logo_large.png">    </p:cNvPr>
          <p:cNvPicPr>
            <a:picLocks noChangeAspect="1"/>
          </p:cNvPicPr>
          <p:nvPr/>
        </p:nvPicPr>
        <p:blipFill>
          <a:blip r:embed="rId2"/>
          <a:stretch>
            <a:fillRect/>
          </a:stretch>
        </p:blipFill>
        <p:spPr>
          <a:xfrm>
            <a:off x="6818224" y="1280160"/>
            <a:ext cx="2651760" cy="1664208"/>
          </a:xfrm>
          <a:prstGeom prst="rect">
            <a:avLst/>
          </a:prstGeom>
        </p:spPr>
      </p:pic>
      <p:sp>
        <p:nvSpPr>
          <p:cNvPr id="3" name="Text 0"/>
          <p:cNvSpPr/>
          <p:nvPr/>
        </p:nvSpPr>
        <p:spPr>
          <a:xfrm>
            <a:off x="4370832" y="3108960"/>
            <a:ext cx="7546543" cy="868680"/>
          </a:xfrm>
          <a:prstGeom prst="rect">
            <a:avLst/>
          </a:prstGeom>
          <a:noFill/>
          <a:ln/>
        </p:spPr>
        <p:txBody>
          <a:bodyPr wrap="square" lIns="0" tIns="0" rIns="0" bIns="0"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ThinkFISH</a:t>
            </a:r>
            <a:endParaRPr lang="en-US" sz="5400" dirty="0"/>
          </a:p>
        </p:txBody>
      </p:sp>
      <p:sp>
        <p:nvSpPr>
          <p:cNvPr id="4" name="Text 1"/>
          <p:cNvSpPr/>
          <p:nvPr/>
        </p:nvSpPr>
        <p:spPr>
          <a:xfrm>
            <a:off x="4370832" y="3977640"/>
            <a:ext cx="7546543" cy="320040"/>
          </a:xfrm>
          <a:prstGeom prst="rect">
            <a:avLst/>
          </a:prstGeom>
          <a:noFill/>
          <a:ln/>
        </p:spPr>
        <p:txBody>
          <a:bodyPr wrap="square" lIns="0" tIns="0" rIns="0" bIns="0" rtlCol="0" anchor="ctr"/>
          <a:lstStyle/>
          <a:p>
            <a:pPr algn="ctr" indent="0" marL="0">
              <a:buNone/>
            </a:pPr>
            <a:r>
              <a:rPr lang="en-US" sz="1800" b="1" spc="300" kern="0" dirty="0">
                <a:solidFill>
                  <a:srgbClr val="FFFFFF"/>
                </a:solidFill>
                <a:latin typeface="Arial" pitchFamily="34" charset="0"/>
                <a:ea typeface="Arial" pitchFamily="34" charset="-122"/>
                <a:cs typeface="Arial" pitchFamily="34" charset="-120"/>
              </a:rPr>
              <a:t>&lt;&gt;&lt;</a:t>
            </a:r>
            <a:endParaRPr lang="en-US" sz="1800" dirty="0"/>
          </a:p>
        </p:txBody>
      </p:sp>
      <p:sp>
        <p:nvSpPr>
          <p:cNvPr id="5" name="Text 2"/>
          <p:cNvSpPr/>
          <p:nvPr/>
        </p:nvSpPr>
        <p:spPr>
          <a:xfrm>
            <a:off x="4370832" y="4407408"/>
            <a:ext cx="7546543" cy="502920"/>
          </a:xfrm>
          <a:prstGeom prst="rect">
            <a:avLst/>
          </a:prstGeom>
          <a:noFill/>
          <a:ln/>
        </p:spPr>
        <p:txBody>
          <a:bodyPr wrap="square" lIns="0" tIns="0" rIns="0" bIns="0" rtlCol="0" anchor="ctr"/>
          <a:lstStyle/>
          <a:p>
            <a:pPr algn="ctr" indent="0" marL="0">
              <a:buNone/>
            </a:pPr>
            <a:r>
              <a:rPr lang="en-US" sz="2800" dirty="0">
                <a:solidFill>
                  <a:srgbClr val="FFFFFF"/>
                </a:solidFill>
                <a:latin typeface="Arial" pitchFamily="34" charset="0"/>
                <a:ea typeface="Arial" pitchFamily="34" charset="-122"/>
                <a:cs typeface="Arial" pitchFamily="34" charset="-120"/>
              </a:rPr>
              <a:t>Jetstream Venture Fund</a:t>
            </a:r>
            <a:endParaRPr lang="en-US" sz="2800" dirty="0"/>
          </a:p>
        </p:txBody>
      </p:sp>
      <p:sp>
        <p:nvSpPr>
          <p:cNvPr id="6" name="Text 3"/>
          <p:cNvSpPr/>
          <p:nvPr/>
        </p:nvSpPr>
        <p:spPr>
          <a:xfrm>
            <a:off x="4370832" y="5074920"/>
            <a:ext cx="7546543" cy="640080"/>
          </a:xfrm>
          <a:prstGeom prst="rect">
            <a:avLst/>
          </a:prstGeom>
          <a:noFill/>
          <a:ln/>
        </p:spPr>
        <p:txBody>
          <a:bodyPr wrap="square" lIns="0" tIns="0" rIns="0" bIns="0" rtlCol="0" anchor="ctr"/>
          <a:lstStyle/>
          <a:p>
            <a:pPr algn="ctr" indent="0" marL="0">
              <a:buNone/>
            </a:pPr>
            <a:r>
              <a:rPr lang="en-US" sz="1300" dirty="0">
                <a:solidFill>
                  <a:srgbClr val="B9BEDC"/>
                </a:solidFill>
                <a:latin typeface="Arial" pitchFamily="34" charset="0"/>
                <a:ea typeface="Arial" pitchFamily="34" charset="-122"/>
                <a:cs typeface="Arial" pitchFamily="34" charset="-120"/>
              </a:rPr>
              <a:t>Investor Outreach Proposal  ·  October 2026</a:t>
            </a:r>
            <a:endParaRPr lang="en-US" sz="1300" dirty="0"/>
          </a:p>
          <a:p>
            <a:pPr algn="ctr" indent="0" marL="0">
              <a:buNone/>
            </a:pPr>
            <a:r>
              <a:rPr lang="en-US" sz="1300" dirty="0">
                <a:solidFill>
                  <a:srgbClr val="B9BEDC"/>
                </a:solidFill>
                <a:latin typeface="Arial" pitchFamily="34" charset="0"/>
                <a:ea typeface="Arial" pitchFamily="34" charset="-122"/>
                <a:cs typeface="Arial" pitchFamily="34" charset="-120"/>
              </a:rPr>
              <a:t>Prepared for Michael Shufeldt &amp; Doug Sylvester</a:t>
            </a:r>
            <a:endParaRPr lang="en-US" sz="1300" dirty="0"/>
          </a:p>
        </p:txBody>
      </p:sp>
      <p:sp>
        <p:nvSpPr>
          <p:cNvPr id="303" name="Text hdr"/>
          <p:cNvSpPr/>
          <p:nvPr/>
        </p:nvSpPr>
        <p:spPr>
          <a:xfrm>
            <a:off x="329184" y="365760"/>
            <a:ext cx="5486400" cy="365760"/>
          </a:xfrm>
          <a:prstGeom prst="rect">
            <a:avLst/>
          </a:prstGeom>
          <a:noFill/>
          <a:ln/>
        </p:spPr>
        <p:txBody>
          <a:bodyPr wrap="square" lIns="0" tIns="0" rIns="0" bIns="0" rtlCol="0" anchor="ctr"/>
          <a:lstStyle/>
          <a:p>
            <a:pPr indent="0" marL="0">
              <a:buNone/>
            </a:pPr>
            <a:r>
              <a:rPr lang="en-US" sz="1500" spc="200" kern="0" dirty="0">
                <a:solidFill>
                  <a:srgbClr val="FFFFFF"/>
                </a:solidFill>
                <a:latin typeface="Arial" pitchFamily="34" charset="0"/>
                <a:ea typeface="Arial" pitchFamily="34" charset="-122"/>
                <a:cs typeface="Arial" pitchFamily="34" charset="-120"/>
              </a:rPr>
              <a:t>THINKFISH LLC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Executive Summary</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THE ASK, THE PLAN, THE INVESTMENT, WHAT TO EXPECT</a:t>
            </a:r>
            <a:endParaRPr lang="en-US" sz="1400" dirty="0"/>
          </a:p>
        </p:txBody>
      </p:sp>
      <p:sp>
        <p:nvSpPr>
          <p:cNvPr id="6" name="Shape 3"/>
          <p:cNvSpPr/>
          <p:nvPr/>
        </p:nvSpPr>
        <p:spPr>
          <a:xfrm>
            <a:off x="566928" y="2121408"/>
            <a:ext cx="3593592" cy="2331720"/>
          </a:xfrm>
          <a:prstGeom prst="roundRect">
            <a:avLst>
              <a:gd name="adj" fmla="val 3529"/>
            </a:avLst>
          </a:prstGeom>
          <a:solidFill>
            <a:srgbClr val="0D0D26">
              <a:alpha val="55000"/>
            </a:srgbClr>
          </a:solidFill>
          <a:ln w="9525">
            <a:solidFill>
              <a:srgbClr val="31316A">
                <a:alpha val="75000"/>
              </a:srgbClr>
            </a:solidFill>
            <a:prstDash val="solid"/>
          </a:ln>
        </p:spPr>
      </p:sp>
      <p:sp>
        <p:nvSpPr>
          <p:cNvPr id="7" name="Text 4"/>
          <p:cNvSpPr/>
          <p:nvPr/>
        </p:nvSpPr>
        <p:spPr>
          <a:xfrm>
            <a:off x="795528" y="2304288"/>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THE GOAL</a:t>
            </a:r>
            <a:endParaRPr lang="en-US" sz="1400" dirty="0"/>
          </a:p>
        </p:txBody>
      </p:sp>
      <p:sp>
        <p:nvSpPr>
          <p:cNvPr id="8" name="Text 5"/>
          <p:cNvSpPr/>
          <p:nvPr/>
        </p:nvSpPr>
        <p:spPr>
          <a:xfrm>
            <a:off x="795528" y="2651760"/>
            <a:ext cx="3136392" cy="1600200"/>
          </a:xfrm>
          <a:prstGeom prst="rect">
            <a:avLst/>
          </a:prstGeom>
          <a:noFill/>
          <a:ln/>
        </p:spPr>
        <p:txBody>
          <a:bodyPr wrap="square" lIns="0" tIns="0" rIns="0" bIns="0" rtlCol="0" anchor="t"/>
          <a:lstStyle/>
          <a:p>
            <a:pPr indent="0" marL="0">
              <a:lnSpc>
                <a:spcPct val="115000"/>
              </a:lnSpc>
              <a:buNone/>
            </a:pPr>
            <a:r>
              <a:rPr lang="en-US" sz="1050" dirty="0">
                <a:solidFill>
                  <a:srgbClr val="FFFFFF"/>
                </a:solidFill>
                <a:latin typeface="Arial" pitchFamily="34" charset="0"/>
                <a:ea typeface="Arial" pitchFamily="34" charset="-122"/>
                <a:cs typeface="Arial" pitchFamily="34" charset="-120"/>
              </a:rPr>
              <a:t>More investor meetings for Jetstream Venture Fund, every week, primarily with $50K+ checkwriters: family offices, high-net-worth individuals and seasoned angels, the tier between retail and institutions. Investors below $50K are segmented into their own track, so smaller interest still converts without taking the partners’ one-on-one time.</a:t>
            </a:r>
            <a:endParaRPr lang="en-US" sz="1050" dirty="0"/>
          </a:p>
        </p:txBody>
      </p:sp>
      <p:sp>
        <p:nvSpPr>
          <p:cNvPr id="9" name="Shape 6"/>
          <p:cNvSpPr/>
          <p:nvPr/>
        </p:nvSpPr>
        <p:spPr>
          <a:xfrm>
            <a:off x="4434840" y="2121408"/>
            <a:ext cx="3593592" cy="2331720"/>
          </a:xfrm>
          <a:prstGeom prst="roundRect">
            <a:avLst>
              <a:gd name="adj" fmla="val 3529"/>
            </a:avLst>
          </a:prstGeom>
          <a:solidFill>
            <a:srgbClr val="0D0D26">
              <a:alpha val="55000"/>
            </a:srgbClr>
          </a:solidFill>
          <a:ln w="9525">
            <a:solidFill>
              <a:srgbClr val="31316A">
                <a:alpha val="75000"/>
              </a:srgbClr>
            </a:solidFill>
            <a:prstDash val="solid"/>
          </a:ln>
        </p:spPr>
      </p:sp>
      <p:sp>
        <p:nvSpPr>
          <p:cNvPr id="10" name="Text 7"/>
          <p:cNvSpPr/>
          <p:nvPr/>
        </p:nvSpPr>
        <p:spPr>
          <a:xfrm>
            <a:off x="4663440" y="2304288"/>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THE PLAN</a:t>
            </a:r>
            <a:endParaRPr lang="en-US" sz="1400" dirty="0"/>
          </a:p>
        </p:txBody>
      </p:sp>
      <p:sp>
        <p:nvSpPr>
          <p:cNvPr id="11" name="Text 8"/>
          <p:cNvSpPr/>
          <p:nvPr/>
        </p:nvSpPr>
        <p:spPr>
          <a:xfrm>
            <a:off x="4663440" y="2651760"/>
            <a:ext cx="3136392" cy="1600200"/>
          </a:xfrm>
          <a:prstGeom prst="rect">
            <a:avLst/>
          </a:prstGeom>
          <a:noFill/>
          <a:ln/>
        </p:spPr>
        <p:txBody>
          <a:bodyPr wrap="square" lIns="0" tIns="0" rIns="0" bIns="0" rtlCol="0" anchor="t"/>
          <a:lstStyle/>
          <a:p>
            <a:pPr indent="0" marL="0">
              <a:lnSpc>
                <a:spcPct val="115000"/>
              </a:lnSpc>
              <a:buNone/>
            </a:pPr>
            <a:r>
              <a:rPr lang="en-US" sz="1050" dirty="0">
                <a:solidFill>
                  <a:srgbClr val="FFFFFF"/>
                </a:solidFill>
                <a:latin typeface="Arial" pitchFamily="34" charset="0"/>
                <a:ea typeface="Arial" pitchFamily="34" charset="-122"/>
                <a:cs typeface="Arial" pitchFamily="34" charset="-120"/>
              </a:rPr>
              <a:t>Three partner profiles (Michael’s, John’s and Doug’s), run end to end by ThinkFISH in your voices, each aimed at the network it already speaks to: military and aviation, physicians, and legal professionals, alongside family offices and angels. Every meeting pre-qualified, sorted at the $50K line, and approved by you.</a:t>
            </a:r>
            <a:endParaRPr lang="en-US" sz="1050" dirty="0"/>
          </a:p>
        </p:txBody>
      </p:sp>
      <p:sp>
        <p:nvSpPr>
          <p:cNvPr id="12" name="Shape 9"/>
          <p:cNvSpPr/>
          <p:nvPr/>
        </p:nvSpPr>
        <p:spPr>
          <a:xfrm>
            <a:off x="8302752" y="2121408"/>
            <a:ext cx="3593592" cy="2331720"/>
          </a:xfrm>
          <a:prstGeom prst="roundRect">
            <a:avLst>
              <a:gd name="adj" fmla="val 3529"/>
            </a:avLst>
          </a:prstGeom>
          <a:solidFill>
            <a:srgbClr val="0D0D26">
              <a:alpha val="55000"/>
            </a:srgbClr>
          </a:solidFill>
          <a:ln w="9525">
            <a:solidFill>
              <a:srgbClr val="31316A">
                <a:alpha val="75000"/>
              </a:srgbClr>
            </a:solidFill>
            <a:prstDash val="solid"/>
          </a:ln>
        </p:spPr>
      </p:sp>
      <p:sp>
        <p:nvSpPr>
          <p:cNvPr id="13" name="Text 10"/>
          <p:cNvSpPr/>
          <p:nvPr/>
        </p:nvSpPr>
        <p:spPr>
          <a:xfrm>
            <a:off x="8531352" y="2304288"/>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THE INVESTMENT</a:t>
            </a:r>
            <a:endParaRPr lang="en-US" sz="1400" dirty="0"/>
          </a:p>
        </p:txBody>
      </p:sp>
      <p:sp>
        <p:nvSpPr>
          <p:cNvPr id="14" name="Text 11"/>
          <p:cNvSpPr/>
          <p:nvPr/>
        </p:nvSpPr>
        <p:spPr>
          <a:xfrm>
            <a:off x="8531352" y="2651760"/>
            <a:ext cx="3136392" cy="1600200"/>
          </a:xfrm>
          <a:prstGeom prst="rect">
            <a:avLst/>
          </a:prstGeom>
          <a:noFill/>
          <a:ln/>
        </p:spPr>
        <p:txBody>
          <a:bodyPr wrap="square" lIns="0" tIns="0" rIns="0" bIns="0" rtlCol="0" anchor="t"/>
          <a:lstStyle/>
          <a:p>
            <a:pPr indent="0" marL="0">
              <a:lnSpc>
                <a:spcPct val="115000"/>
              </a:lnSpc>
              <a:buNone/>
            </a:pPr>
            <a:r>
              <a:rPr lang="en-US" sz="1050" dirty="0">
                <a:solidFill>
                  <a:srgbClr val="FFFFFF"/>
                </a:solidFill>
                <a:latin typeface="Arial" pitchFamily="34" charset="0"/>
                <a:ea typeface="Arial" pitchFamily="34" charset="-122"/>
                <a:cs typeface="Arial" pitchFamily="34" charset="-120"/>
              </a:rPr>
              <a:t>$3,000 per month, flat, for three profiles. Add Chris as a fourth profile for $3,500 per month. Four-month committed term. No setup fee, no success fee, no commission, no transaction involvement.</a:t>
            </a:r>
            <a:endParaRPr lang="en-US" sz="1050" dirty="0"/>
          </a:p>
        </p:txBody>
      </p:sp>
      <p:sp>
        <p:nvSpPr>
          <p:cNvPr id="15" name="Shape 12"/>
          <p:cNvSpPr/>
          <p:nvPr/>
        </p:nvSpPr>
        <p:spPr>
          <a:xfrm>
            <a:off x="566928" y="4663440"/>
            <a:ext cx="11338560" cy="1691640"/>
          </a:xfrm>
          <a:prstGeom prst="roundRect">
            <a:avLst>
              <a:gd name="adj" fmla="val 4865"/>
            </a:avLst>
          </a:prstGeom>
          <a:solidFill>
            <a:srgbClr val="0D0D26">
              <a:alpha val="55000"/>
            </a:srgbClr>
          </a:solidFill>
          <a:ln w="9525">
            <a:solidFill>
              <a:srgbClr val="31316A">
                <a:alpha val="75000"/>
              </a:srgbClr>
            </a:solidFill>
            <a:prstDash val="solid"/>
          </a:ln>
        </p:spPr>
      </p:sp>
      <p:sp>
        <p:nvSpPr>
          <p:cNvPr id="16" name="Text 13"/>
          <p:cNvSpPr/>
          <p:nvPr/>
        </p:nvSpPr>
        <p:spPr>
          <a:xfrm>
            <a:off x="795528" y="4828032"/>
            <a:ext cx="8229600" cy="320040"/>
          </a:xfrm>
          <a:prstGeom prst="rect">
            <a:avLst/>
          </a:prstGeom>
          <a:noFill/>
          <a:ln/>
        </p:spPr>
        <p:txBody>
          <a:bodyPr wrap="square" lIns="0" tIns="0" rIns="0" bIns="0" rtlCol="0" anchor="ctr"/>
          <a:lstStyle/>
          <a:p>
            <a:pPr indent="0" marL="0">
              <a:buNone/>
            </a:pPr>
            <a:r>
              <a:rPr lang="en-US" sz="1400" b="1" spc="100" kern="0" dirty="0">
                <a:solidFill>
                  <a:srgbClr val="7C6CFF"/>
                </a:solidFill>
                <a:latin typeface="Arial" pitchFamily="34" charset="0"/>
                <a:ea typeface="Arial" pitchFamily="34" charset="-122"/>
                <a:cs typeface="Arial" pitchFamily="34" charset="-120"/>
              </a:rPr>
              <a:t>WHAT TO EXPECT</a:t>
            </a:r>
            <a:endParaRPr lang="en-US" sz="1400" dirty="0"/>
          </a:p>
        </p:txBody>
      </p:sp>
      <p:sp>
        <p:nvSpPr>
          <p:cNvPr id="17" name="Text 14"/>
          <p:cNvSpPr/>
          <p:nvPr/>
        </p:nvSpPr>
        <p:spPr>
          <a:xfrm>
            <a:off x="795528" y="5175504"/>
            <a:ext cx="10881360" cy="1051560"/>
          </a:xfrm>
          <a:prstGeom prst="rect">
            <a:avLst/>
          </a:prstGeom>
          <a:noFill/>
          <a:ln/>
        </p:spPr>
        <p:txBody>
          <a:bodyPr wrap="square" lIns="0" tIns="0" rIns="0" bIns="0" rtlCol="0" anchor="t"/>
          <a:lstStyle/>
          <a:p>
            <a:pPr indent="0" marL="0">
              <a:lnSpc>
                <a:spcPct val="120000"/>
              </a:lnSpc>
              <a:buNone/>
            </a:pPr>
            <a:r>
              <a:rPr lang="en-US" sz="1200" dirty="0">
                <a:solidFill>
                  <a:srgbClr val="FFFFFF"/>
                </a:solidFill>
                <a:latin typeface="Arial" pitchFamily="34" charset="0"/>
                <a:ea typeface="Arial" pitchFamily="34" charset="-122"/>
                <a:cs typeface="Arial" pitchFamily="34" charset="-120"/>
              </a:rPr>
              <a:t>Outreach live within two weeks of kickoff. First qualified investor conversations in weeks three and four, building to a steady 3–6 qualified meetings per week across the three profiles from month two, with weekly reporting by profile and segment. One honest note: larger allocators move more slowly than the $5–10K investors you close today. Diligence on a fund takes time, and many will start with a test allocation and add as they watch the share price, exactly as your current investors have. We’d rather you hear that from us now.</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Why ThinkFISH</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THE TRACK RECORD, BEFORE THE PROCESS</a:t>
            </a:r>
            <a:endParaRPr lang="en-US" sz="1400" dirty="0"/>
          </a:p>
        </p:txBody>
      </p:sp>
      <p:sp>
        <p:nvSpPr>
          <p:cNvPr id="6" name="Shape 3"/>
          <p:cNvSpPr/>
          <p:nvPr/>
        </p:nvSpPr>
        <p:spPr>
          <a:xfrm>
            <a:off x="566928" y="2103120"/>
            <a:ext cx="3593592" cy="960120"/>
          </a:xfrm>
          <a:prstGeom prst="roundRect">
            <a:avLst>
              <a:gd name="adj" fmla="val 8571"/>
            </a:avLst>
          </a:prstGeom>
          <a:solidFill>
            <a:srgbClr val="0D0D26">
              <a:alpha val="55000"/>
            </a:srgbClr>
          </a:solidFill>
          <a:ln w="9525">
            <a:solidFill>
              <a:srgbClr val="31316A">
                <a:alpha val="75000"/>
              </a:srgbClr>
            </a:solidFill>
            <a:prstDash val="solid"/>
          </a:ln>
        </p:spPr>
      </p:sp>
      <p:sp>
        <p:nvSpPr>
          <p:cNvPr id="7" name="Text 4"/>
          <p:cNvSpPr/>
          <p:nvPr/>
        </p:nvSpPr>
        <p:spPr>
          <a:xfrm>
            <a:off x="795528" y="2212848"/>
            <a:ext cx="1554480" cy="731520"/>
          </a:xfrm>
          <a:prstGeom prst="rect">
            <a:avLst/>
          </a:prstGeom>
          <a:noFill/>
          <a:ln/>
        </p:spPr>
        <p:txBody>
          <a:bodyPr wrap="square" lIns="0" tIns="0" rIns="0" bIns="0" rtlCol="0" anchor="ctr"/>
          <a:lstStyle/>
          <a:p>
            <a:pPr indent="0" marL="0">
              <a:buNone/>
            </a:pPr>
            <a:r>
              <a:rPr lang="en-US" sz="2400" b="1" dirty="0">
                <a:solidFill>
                  <a:srgbClr val="43D5FF"/>
                </a:solidFill>
                <a:latin typeface="Arial" pitchFamily="34" charset="0"/>
                <a:ea typeface="Arial" pitchFamily="34" charset="-122"/>
                <a:cs typeface="Arial" pitchFamily="34" charset="-120"/>
              </a:rPr>
              <a:t>$200M+</a:t>
            </a:r>
            <a:endParaRPr lang="en-US" sz="2400" dirty="0"/>
          </a:p>
        </p:txBody>
      </p:sp>
      <p:sp>
        <p:nvSpPr>
          <p:cNvPr id="8" name="Text 5"/>
          <p:cNvSpPr/>
          <p:nvPr/>
        </p:nvSpPr>
        <p:spPr>
          <a:xfrm>
            <a:off x="2350008" y="2212848"/>
            <a:ext cx="1581912" cy="731520"/>
          </a:xfrm>
          <a:prstGeom prst="rect">
            <a:avLst/>
          </a:prstGeom>
          <a:noFill/>
          <a:ln/>
        </p:spPr>
        <p:txBody>
          <a:bodyPr wrap="square" lIns="0" tIns="0" rIns="0" bIns="0" rtlCol="0" anchor="ctr"/>
          <a:lstStyle/>
          <a:p>
            <a:pPr indent="0" marL="0">
              <a:lnSpc>
                <a:spcPct val="110000"/>
              </a:lnSpc>
              <a:buNone/>
            </a:pPr>
            <a:r>
              <a:rPr lang="en-US" sz="1050" dirty="0">
                <a:solidFill>
                  <a:srgbClr val="FFFFFF"/>
                </a:solidFill>
                <a:latin typeface="Arial" pitchFamily="34" charset="0"/>
                <a:ea typeface="Arial" pitchFamily="34" charset="-122"/>
                <a:cs typeface="Arial" pitchFamily="34" charset="-120"/>
              </a:rPr>
              <a:t>client-reported capital raised</a:t>
            </a:r>
            <a:endParaRPr lang="en-US" sz="1050" dirty="0"/>
          </a:p>
        </p:txBody>
      </p:sp>
      <p:sp>
        <p:nvSpPr>
          <p:cNvPr id="9" name="Shape 6"/>
          <p:cNvSpPr/>
          <p:nvPr/>
        </p:nvSpPr>
        <p:spPr>
          <a:xfrm>
            <a:off x="4434840" y="2103120"/>
            <a:ext cx="3593592" cy="960120"/>
          </a:xfrm>
          <a:prstGeom prst="roundRect">
            <a:avLst>
              <a:gd name="adj" fmla="val 8571"/>
            </a:avLst>
          </a:prstGeom>
          <a:solidFill>
            <a:srgbClr val="0D0D26">
              <a:alpha val="55000"/>
            </a:srgbClr>
          </a:solidFill>
          <a:ln w="9525">
            <a:solidFill>
              <a:srgbClr val="31316A">
                <a:alpha val="75000"/>
              </a:srgbClr>
            </a:solidFill>
            <a:prstDash val="solid"/>
          </a:ln>
        </p:spPr>
      </p:sp>
      <p:sp>
        <p:nvSpPr>
          <p:cNvPr id="10" name="Text 7"/>
          <p:cNvSpPr/>
          <p:nvPr/>
        </p:nvSpPr>
        <p:spPr>
          <a:xfrm>
            <a:off x="4663440" y="2212848"/>
            <a:ext cx="1554480" cy="731520"/>
          </a:xfrm>
          <a:prstGeom prst="rect">
            <a:avLst/>
          </a:prstGeom>
          <a:noFill/>
          <a:ln/>
        </p:spPr>
        <p:txBody>
          <a:bodyPr wrap="square" lIns="0" tIns="0" rIns="0" bIns="0" rtlCol="0" anchor="ctr"/>
          <a:lstStyle/>
          <a:p>
            <a:pPr indent="0" marL="0">
              <a:buNone/>
            </a:pPr>
            <a:r>
              <a:rPr lang="en-US" sz="2400" b="1" dirty="0">
                <a:solidFill>
                  <a:srgbClr val="43D5FF"/>
                </a:solidFill>
                <a:latin typeface="Arial" pitchFamily="34" charset="0"/>
                <a:ea typeface="Arial" pitchFamily="34" charset="-122"/>
                <a:cs typeface="Arial" pitchFamily="34" charset="-120"/>
              </a:rPr>
              <a:t>10,000+</a:t>
            </a:r>
            <a:endParaRPr lang="en-US" sz="2400" dirty="0"/>
          </a:p>
        </p:txBody>
      </p:sp>
      <p:sp>
        <p:nvSpPr>
          <p:cNvPr id="11" name="Text 8"/>
          <p:cNvSpPr/>
          <p:nvPr/>
        </p:nvSpPr>
        <p:spPr>
          <a:xfrm>
            <a:off x="6217920" y="2212848"/>
            <a:ext cx="1581912" cy="731520"/>
          </a:xfrm>
          <a:prstGeom prst="rect">
            <a:avLst/>
          </a:prstGeom>
          <a:noFill/>
          <a:ln/>
        </p:spPr>
        <p:txBody>
          <a:bodyPr wrap="square" lIns="0" tIns="0" rIns="0" bIns="0" rtlCol="0" anchor="ctr"/>
          <a:lstStyle/>
          <a:p>
            <a:pPr indent="0" marL="0">
              <a:lnSpc>
                <a:spcPct val="110000"/>
              </a:lnSpc>
              <a:buNone/>
            </a:pPr>
            <a:r>
              <a:rPr lang="en-US" sz="1050" dirty="0">
                <a:solidFill>
                  <a:srgbClr val="FFFFFF"/>
                </a:solidFill>
                <a:latin typeface="Arial" pitchFamily="34" charset="0"/>
                <a:ea typeface="Arial" pitchFamily="34" charset="-122"/>
                <a:cs typeface="Arial" pitchFamily="34" charset="-120"/>
              </a:rPr>
              <a:t>qualified investor meetings booked</a:t>
            </a:r>
            <a:endParaRPr lang="en-US" sz="1050" dirty="0"/>
          </a:p>
        </p:txBody>
      </p:sp>
      <p:sp>
        <p:nvSpPr>
          <p:cNvPr id="12" name="Shape 9"/>
          <p:cNvSpPr/>
          <p:nvPr/>
        </p:nvSpPr>
        <p:spPr>
          <a:xfrm>
            <a:off x="8302752" y="2103120"/>
            <a:ext cx="3593592" cy="960120"/>
          </a:xfrm>
          <a:prstGeom prst="roundRect">
            <a:avLst>
              <a:gd name="adj" fmla="val 8571"/>
            </a:avLst>
          </a:prstGeom>
          <a:solidFill>
            <a:srgbClr val="0D0D26">
              <a:alpha val="55000"/>
            </a:srgbClr>
          </a:solidFill>
          <a:ln w="9525">
            <a:solidFill>
              <a:srgbClr val="31316A">
                <a:alpha val="75000"/>
              </a:srgbClr>
            </a:solidFill>
            <a:prstDash val="solid"/>
          </a:ln>
        </p:spPr>
      </p:sp>
      <p:sp>
        <p:nvSpPr>
          <p:cNvPr id="13" name="Text 10"/>
          <p:cNvSpPr/>
          <p:nvPr/>
        </p:nvSpPr>
        <p:spPr>
          <a:xfrm>
            <a:off x="8531352" y="2212848"/>
            <a:ext cx="1554480" cy="731520"/>
          </a:xfrm>
          <a:prstGeom prst="rect">
            <a:avLst/>
          </a:prstGeom>
          <a:noFill/>
          <a:ln/>
        </p:spPr>
        <p:txBody>
          <a:bodyPr wrap="square" lIns="0" tIns="0" rIns="0" bIns="0" rtlCol="0" anchor="ctr"/>
          <a:lstStyle/>
          <a:p>
            <a:pPr indent="0" marL="0">
              <a:buNone/>
            </a:pPr>
            <a:r>
              <a:rPr lang="en-US" sz="2400" b="1" dirty="0">
                <a:solidFill>
                  <a:srgbClr val="43D5FF"/>
                </a:solidFill>
                <a:latin typeface="Arial" pitchFamily="34" charset="0"/>
                <a:ea typeface="Arial" pitchFamily="34" charset="-122"/>
                <a:cs typeface="Arial" pitchFamily="34" charset="-120"/>
              </a:rPr>
              <a:t>500+</a:t>
            </a:r>
            <a:endParaRPr lang="en-US" sz="2400" dirty="0"/>
          </a:p>
        </p:txBody>
      </p:sp>
      <p:sp>
        <p:nvSpPr>
          <p:cNvPr id="14" name="Text 11"/>
          <p:cNvSpPr/>
          <p:nvPr/>
        </p:nvSpPr>
        <p:spPr>
          <a:xfrm>
            <a:off x="10085832" y="2212848"/>
            <a:ext cx="1581912" cy="731520"/>
          </a:xfrm>
          <a:prstGeom prst="rect">
            <a:avLst/>
          </a:prstGeom>
          <a:noFill/>
          <a:ln/>
        </p:spPr>
        <p:txBody>
          <a:bodyPr wrap="square" lIns="0" tIns="0" rIns="0" bIns="0" rtlCol="0" anchor="ctr"/>
          <a:lstStyle/>
          <a:p>
            <a:pPr indent="0" marL="0">
              <a:lnSpc>
                <a:spcPct val="110000"/>
              </a:lnSpc>
              <a:buNone/>
            </a:pPr>
            <a:r>
              <a:rPr lang="en-US" sz="1050" dirty="0">
                <a:solidFill>
                  <a:srgbClr val="FFFFFF"/>
                </a:solidFill>
                <a:latin typeface="Arial" pitchFamily="34" charset="0"/>
                <a:ea typeface="Arial" pitchFamily="34" charset="-122"/>
                <a:cs typeface="Arial" pitchFamily="34" charset="-120"/>
              </a:rPr>
              <a:t>clients served since 2020</a:t>
            </a:r>
            <a:endParaRPr lang="en-US" sz="1050" dirty="0"/>
          </a:p>
        </p:txBody>
      </p:sp>
      <p:sp>
        <p:nvSpPr>
          <p:cNvPr id="15" name="Shape 12"/>
          <p:cNvSpPr/>
          <p:nvPr/>
        </p:nvSpPr>
        <p:spPr>
          <a:xfrm>
            <a:off x="566928" y="3291840"/>
            <a:ext cx="5532120" cy="1920240"/>
          </a:xfrm>
          <a:prstGeom prst="roundRect">
            <a:avLst>
              <a:gd name="adj" fmla="val 4286"/>
            </a:avLst>
          </a:prstGeom>
          <a:solidFill>
            <a:srgbClr val="0D0D26">
              <a:alpha val="55000"/>
            </a:srgbClr>
          </a:solidFill>
          <a:ln w="9525">
            <a:solidFill>
              <a:srgbClr val="31316A">
                <a:alpha val="75000"/>
              </a:srgbClr>
            </a:solidFill>
            <a:prstDash val="solid"/>
          </a:ln>
        </p:spPr>
      </p:sp>
      <p:sp>
        <p:nvSpPr>
          <p:cNvPr id="18" name="Shape 15"/>
          <p:cNvSpPr/>
          <p:nvPr/>
        </p:nvSpPr>
        <p:spPr>
          <a:xfrm>
            <a:off x="6373368" y="3291840"/>
            <a:ext cx="5532120" cy="1920240"/>
          </a:xfrm>
          <a:prstGeom prst="roundRect">
            <a:avLst>
              <a:gd name="adj" fmla="val 4286"/>
            </a:avLst>
          </a:prstGeom>
          <a:solidFill>
            <a:srgbClr val="0D0D26">
              <a:alpha val="55000"/>
            </a:srgbClr>
          </a:solidFill>
          <a:ln w="9525">
            <a:solidFill>
              <a:srgbClr val="31316A">
                <a:alpha val="75000"/>
              </a:srgbClr>
            </a:solidFill>
            <a:prstDash val="solid"/>
          </a:ln>
        </p:spPr>
      </p:sp>
      <p:sp>
        <p:nvSpPr>
          <p:cNvPr id="21" name="Shape 18"/>
          <p:cNvSpPr/>
          <p:nvPr/>
        </p:nvSpPr>
        <p:spPr>
          <a:xfrm>
            <a:off x="566928" y="5440680"/>
            <a:ext cx="11338560" cy="1005840"/>
          </a:xfrm>
          <a:prstGeom prst="roundRect">
            <a:avLst>
              <a:gd name="adj" fmla="val 8182"/>
            </a:avLst>
          </a:prstGeom>
          <a:solidFill>
            <a:srgbClr val="0D0D26">
              <a:alpha val="55000"/>
            </a:srgbClr>
          </a:solidFill>
          <a:ln w="9525">
            <a:solidFill>
              <a:srgbClr val="31316A">
                <a:alpha val="75000"/>
              </a:srgbClr>
            </a:solidFill>
            <a:prstDash val="solid"/>
          </a:ln>
        </p:spPr>
      </p:sp>
      <p:sp>
        <p:nvSpPr>
          <p:cNvPr id="304" name="Text w0"/>
          <p:cNvSpPr/>
          <p:nvPr/>
        </p:nvSpPr>
        <p:spPr>
          <a:xfrm>
            <a:off x="822960" y="3419856"/>
            <a:ext cx="5029200" cy="256032"/>
          </a:xfrm>
          <a:prstGeom prst="rect">
            <a:avLst/>
          </a:prstGeom>
          <a:noFill/>
          <a:ln/>
        </p:spPr>
        <p:txBody>
          <a:bodyPr wrap="square" lIns="0" tIns="0" rIns="0" bIns="0" rtlCol="0" anchor="ctr"/>
          <a:lstStyle/>
          <a:p>
            <a:pPr indent="0" marL="0">
              <a:buNone/>
            </a:pPr>
            <a:r>
              <a:rPr lang="en-US" sz="1100" b="1" spc="100" kern="0" dirty="0">
                <a:solidFill>
                  <a:srgbClr val="7C6CFF"/>
                </a:solidFill>
                <a:latin typeface="Arial" pitchFamily="34" charset="0"/>
                <a:ea typeface="Arial" pitchFamily="34" charset="-122"/>
                <a:cs typeface="Arial" pitchFamily="34" charset="-120"/>
              </a:rPr>
              <a:t>ISSUANCE  ·  DARREN MARBLE, CEO</a:t>
            </a:r>
            <a:endParaRPr lang="en-US" sz="1100" dirty="0"/>
          </a:p>
        </p:txBody>
      </p:sp>
      <p:sp>
        <p:nvSpPr>
          <p:cNvPr id="305" name="Text q0"/>
          <p:cNvSpPr/>
          <p:nvPr/>
        </p:nvSpPr>
        <p:spPr>
          <a:xfrm>
            <a:off x="822960" y="3712464"/>
            <a:ext cx="5029200" cy="1143000"/>
          </a:xfrm>
          <a:prstGeom prst="rect">
            <a:avLst/>
          </a:prstGeom>
          <a:noFill/>
          <a:ln/>
        </p:spPr>
        <p:txBody>
          <a:bodyPr wrap="square" lIns="0" tIns="0" rIns="0" bIns="0" rtlCol="0" anchor="t"/>
          <a:lstStyle/>
          <a:p>
            <a:pPr indent="0" marL="0">
              <a:lnSpc>
                <a:spcPct val="120000"/>
              </a:lnSpc>
              <a:buNone/>
            </a:pPr>
            <a:r>
              <a:rPr lang="en-US" sz="1200" i="1" dirty="0">
                <a:solidFill>
                  <a:srgbClr val="FFFFFF"/>
                </a:solidFill>
                <a:latin typeface="Arial" pitchFamily="34" charset="0"/>
                <a:ea typeface="Arial" pitchFamily="34" charset="-122"/>
                <a:cs typeface="Arial" pitchFamily="34" charset="-120"/>
              </a:rPr>
              <a:t>“…one of the most effective investor marketing firms I’ve ever worked with when it comes to raising capital for my companies. In the last 60 days alone, FISH has arranged 25 qualified investor meetings for me.”</a:t>
            </a:r>
            <a:endParaRPr lang="en-US" sz="1200" dirty="0"/>
          </a:p>
        </p:txBody>
      </p:sp>
      <p:sp>
        <p:nvSpPr>
          <p:cNvPr id="306" name="Text r0"/>
          <p:cNvSpPr/>
          <p:nvPr/>
        </p:nvSpPr>
        <p:spPr>
          <a:xfrm>
            <a:off x="822960" y="4864608"/>
            <a:ext cx="5029200" cy="256032"/>
          </a:xfrm>
          <a:prstGeom prst="rect">
            <a:avLst/>
          </a:prstGeom>
          <a:noFill/>
          <a:ln/>
        </p:spPr>
        <p:txBody>
          <a:bodyPr wrap="square" lIns="0" tIns="0" rIns="0" bIns="0" rtlCol="0" anchor="ctr"/>
          <a:lstStyle/>
          <a:p>
            <a:pPr indent="0" marL="0">
              <a:buNone/>
            </a:pPr>
            <a:r>
              <a:rPr lang="en-US" sz="1050" b="1" dirty="0">
                <a:solidFill>
                  <a:srgbClr val="43D5FF"/>
                </a:solidFill>
                <a:latin typeface="Arial" pitchFamily="34" charset="0"/>
                <a:ea typeface="Arial" pitchFamily="34" charset="-122"/>
                <a:cs typeface="Arial" pitchFamily="34" charset="-120"/>
              </a:rPr>
              <a:t>25 QUALIFIED INVESTOR MEETINGS IN 60 DAYS</a:t>
            </a:r>
            <a:endParaRPr lang="en-US" sz="1050" dirty="0"/>
          </a:p>
        </p:txBody>
      </p:sp>
      <p:sp>
        <p:nvSpPr>
          <p:cNvPr id="307" name="Text w1"/>
          <p:cNvSpPr/>
          <p:nvPr/>
        </p:nvSpPr>
        <p:spPr>
          <a:xfrm>
            <a:off x="6629400" y="3419856"/>
            <a:ext cx="5029200" cy="256032"/>
          </a:xfrm>
          <a:prstGeom prst="rect">
            <a:avLst/>
          </a:prstGeom>
          <a:noFill/>
          <a:ln/>
        </p:spPr>
        <p:txBody>
          <a:bodyPr wrap="square" lIns="0" tIns="0" rIns="0" bIns="0" rtlCol="0" anchor="ctr"/>
          <a:lstStyle/>
          <a:p>
            <a:pPr indent="0" marL="0">
              <a:buNone/>
            </a:pPr>
            <a:r>
              <a:rPr lang="en-US" sz="1100" b="1" spc="100" kern="0" dirty="0">
                <a:solidFill>
                  <a:srgbClr val="7C6CFF"/>
                </a:solidFill>
                <a:latin typeface="Arial" pitchFamily="34" charset="0"/>
                <a:ea typeface="Arial" pitchFamily="34" charset="-122"/>
                <a:cs typeface="Arial" pitchFamily="34" charset="-120"/>
              </a:rPr>
              <a:t>CARTHAGE CAPITAL  ·  STEPHEN WU</a:t>
            </a:r>
            <a:endParaRPr lang="en-US" sz="1100" dirty="0"/>
          </a:p>
        </p:txBody>
      </p:sp>
      <p:sp>
        <p:nvSpPr>
          <p:cNvPr id="308" name="Text q1"/>
          <p:cNvSpPr/>
          <p:nvPr/>
        </p:nvSpPr>
        <p:spPr>
          <a:xfrm>
            <a:off x="6629400" y="3712464"/>
            <a:ext cx="5029200" cy="1143000"/>
          </a:xfrm>
          <a:prstGeom prst="rect">
            <a:avLst/>
          </a:prstGeom>
          <a:noFill/>
          <a:ln/>
        </p:spPr>
        <p:txBody>
          <a:bodyPr wrap="square" lIns="0" tIns="0" rIns="0" bIns="0" rtlCol="0" anchor="t"/>
          <a:lstStyle/>
          <a:p>
            <a:pPr indent="0" marL="0">
              <a:lnSpc>
                <a:spcPct val="120000"/>
              </a:lnSpc>
              <a:buNone/>
            </a:pPr>
            <a:r>
              <a:rPr lang="en-US" sz="1200" i="1" dirty="0">
                <a:solidFill>
                  <a:srgbClr val="FFFFFF"/>
                </a:solidFill>
                <a:latin typeface="Arial" pitchFamily="34" charset="0"/>
                <a:ea typeface="Arial" pitchFamily="34" charset="-122"/>
                <a:cs typeface="Arial" pitchFamily="34" charset="-120"/>
              </a:rPr>
              <a:t>“ThinkFISH helped me raise $2 to $3 million across around 20 different investors over the past nine months. I basically got two to three meetings every week, consistently, and they’re already interested. I was going to cancel after a quarter if you didn’t deliver. You delivered way above my expectations.”</a:t>
            </a:r>
            <a:endParaRPr lang="en-US" sz="1200" dirty="0"/>
          </a:p>
        </p:txBody>
      </p:sp>
      <p:sp>
        <p:nvSpPr>
          <p:cNvPr id="309" name="Text r1"/>
          <p:cNvSpPr/>
          <p:nvPr/>
        </p:nvSpPr>
        <p:spPr>
          <a:xfrm>
            <a:off x="6629400" y="4864608"/>
            <a:ext cx="5029200" cy="256032"/>
          </a:xfrm>
          <a:prstGeom prst="rect">
            <a:avLst/>
          </a:prstGeom>
          <a:noFill/>
          <a:ln/>
        </p:spPr>
        <p:txBody>
          <a:bodyPr wrap="square" lIns="0" tIns="0" rIns="0" bIns="0" rtlCol="0" anchor="ctr"/>
          <a:lstStyle/>
          <a:p>
            <a:pPr indent="0" marL="0">
              <a:buNone/>
            </a:pPr>
            <a:r>
              <a:rPr lang="en-US" sz="1050" b="1" dirty="0">
                <a:solidFill>
                  <a:srgbClr val="43D5FF"/>
                </a:solidFill>
                <a:latin typeface="Arial" pitchFamily="34" charset="0"/>
                <a:ea typeface="Arial" pitchFamily="34" charset="-122"/>
                <a:cs typeface="Arial" pitchFamily="34" charset="-120"/>
              </a:rPr>
              <a:t>$2–3M RAISED ACROSS ~20 INVESTORS IN 9 MONTHS</a:t>
            </a:r>
            <a:endParaRPr lang="en-US" sz="1050" dirty="0"/>
          </a:p>
        </p:txBody>
      </p:sp>
      <p:sp>
        <p:nvSpPr>
          <p:cNvPr id="310" name="Text bl"/>
          <p:cNvSpPr/>
          <p:nvPr/>
        </p:nvSpPr>
        <p:spPr>
          <a:xfrm>
            <a:off x="795528" y="5559552"/>
            <a:ext cx="5486400" cy="274320"/>
          </a:xfrm>
          <a:prstGeom prst="rect">
            <a:avLst/>
          </a:prstGeom>
          <a:noFill/>
          <a:ln/>
        </p:spPr>
        <p:txBody>
          <a:bodyPr wrap="square" lIns="0" tIns="0" rIns="0" bIns="0" rtlCol="0" anchor="ctr"/>
          <a:lstStyle/>
          <a:p>
            <a:pPr indent="0" marL="0">
              <a:buNone/>
            </a:pPr>
            <a:r>
              <a:rPr lang="en-US" sz="1200" b="1" spc="100" kern="0" dirty="0">
                <a:solidFill>
                  <a:srgbClr val="7C6CFF"/>
                </a:solidFill>
                <a:latin typeface="Arial" pitchFamily="34" charset="0"/>
                <a:ea typeface="Arial" pitchFamily="34" charset="-122"/>
                <a:cs typeface="Arial" pitchFamily="34" charset="-120"/>
              </a:rPr>
              <a:t>FUNDABLE COMPANIES GET FUNDED</a:t>
            </a:r>
            <a:endParaRPr lang="en-US" sz="1200" dirty="0"/>
          </a:p>
        </p:txBody>
      </p:sp>
      <p:sp>
        <p:nvSpPr>
          <p:cNvPr id="311" name="Text bp"/>
          <p:cNvSpPr/>
          <p:nvPr/>
        </p:nvSpPr>
        <p:spPr>
          <a:xfrm>
            <a:off x="795528" y="5852160"/>
            <a:ext cx="10881360" cy="548640"/>
          </a:xfrm>
          <a:prstGeom prst="rect">
            <a:avLst/>
          </a:prstGeom>
          <a:noFill/>
          <a:ln/>
        </p:spPr>
        <p:txBody>
          <a:bodyPr wrap="square" lIns="0" tIns="0" rIns="0" bIns="0" rtlCol="0" anchor="t"/>
          <a:lstStyle/>
          <a:p>
            <a:pPr indent="0" marL="0">
              <a:lnSpc>
                <a:spcPct val="120000"/>
              </a:lnSpc>
              <a:buNone/>
            </a:pPr>
            <a:r>
              <a:rPr lang="en-US" sz="1150" dirty="0">
                <a:solidFill>
                  <a:srgbClr val="FFFFFF"/>
                </a:solidFill>
                <a:latin typeface="Arial" pitchFamily="34" charset="0"/>
                <a:ea typeface="Arial" pitchFamily="34" charset="-122"/>
                <a:cs typeface="Arial" pitchFamily="34" charset="-120"/>
              </a:rPr>
              <a:t>Every client we’ve worked with who was fundable (real product, real traction, a team that can run a process) has received checks from meetings we set. We’re not in the room for those meetings, so we only report what clients report back. Full testimonials and video links are in the appendix.</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What’s Standing Between You and the Close</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THE GAP WE’RE SOLVING</a:t>
            </a:r>
            <a:endParaRPr lang="en-US" sz="1400" dirty="0"/>
          </a:p>
        </p:txBody>
      </p:sp>
      <p:sp>
        <p:nvSpPr>
          <p:cNvPr id="6" name="Text 3"/>
          <p:cNvSpPr/>
          <p:nvPr/>
        </p:nvSpPr>
        <p:spPr>
          <a:xfrm>
            <a:off x="566928" y="2148840"/>
            <a:ext cx="4297680" cy="2651760"/>
          </a:xfrm>
          <a:prstGeom prst="rect">
            <a:avLst/>
          </a:prstGeom>
          <a:noFill/>
          <a:ln/>
        </p:spPr>
        <p:txBody>
          <a:bodyPr wrap="square" lIns="0" tIns="0" rIns="0" bIns="0" rtlCol="0" anchor="t"/>
          <a:lstStyle/>
          <a:p>
            <a:pPr indent="0" marL="0">
              <a:lnSpc>
                <a:spcPct val="125000"/>
              </a:lnSpc>
              <a:buNone/>
            </a:pPr>
            <a:r>
              <a:rPr lang="en-US" sz="1300" dirty="0">
                <a:solidFill>
                  <a:srgbClr val="FFFFFF"/>
                </a:solidFill>
                <a:latin typeface="Arial" pitchFamily="34" charset="0"/>
                <a:ea typeface="Arial" pitchFamily="34" charset="-122"/>
                <a:cs typeface="Arial" pitchFamily="34" charset="-120"/>
              </a:rPr>
              <a:t>The fund is proven where it counts: when someone interested gets a conversation with you, they almost always invest, and existing investors keep adding as the share price climbs. The variable is the number of conversations, above all with larger checkwriters. In-person events and referrals work but don’t repeat, and family offices are harangued by fundraisers all day, so cold calls, email and automated LinkedIn tools never reach them.</a:t>
            </a:r>
            <a:endParaRPr lang="en-US" sz="1300" dirty="0"/>
          </a:p>
        </p:txBody>
      </p:sp>
      <p:sp>
        <p:nvSpPr>
          <p:cNvPr id="7" name="Text 4"/>
          <p:cNvSpPr/>
          <p:nvPr/>
        </p:nvSpPr>
        <p:spPr>
          <a:xfrm>
            <a:off x="566928" y="4800600"/>
            <a:ext cx="4297680" cy="1554480"/>
          </a:xfrm>
          <a:prstGeom prst="rect">
            <a:avLst/>
          </a:prstGeom>
          <a:noFill/>
          <a:ln/>
        </p:spPr>
        <p:txBody>
          <a:bodyPr wrap="square" lIns="0" tIns="0" rIns="0" bIns="0" rtlCol="0" anchor="t"/>
          <a:lstStyle/>
          <a:p>
            <a:pPr indent="0" marL="0">
              <a:lnSpc>
                <a:spcPct val="125000"/>
              </a:lnSpc>
              <a:buNone/>
            </a:pPr>
            <a:r>
              <a:rPr lang="en-US" sz="1300" i="1" dirty="0">
                <a:solidFill>
                  <a:srgbClr val="B9BEDC"/>
                </a:solidFill>
                <a:latin typeface="Arial" pitchFamily="34" charset="0"/>
                <a:ea typeface="Arial" pitchFamily="34" charset="-122"/>
                <a:cs typeface="Arial" pitchFamily="34" charset="-120"/>
              </a:rPr>
              <a:t>Your close rate is already there. The variable you control is how many investor conversations reach your calendars every week, sorted at $50K so the larger checks get the partners’ time and smaller interest gets its own track.</a:t>
            </a:r>
            <a:endParaRPr lang="en-US" sz="1300" dirty="0"/>
          </a:p>
        </p:txBody>
      </p:sp>
      <p:sp>
        <p:nvSpPr>
          <p:cNvPr id="8" name="Shape 5"/>
          <p:cNvSpPr/>
          <p:nvPr/>
        </p:nvSpPr>
        <p:spPr>
          <a:xfrm>
            <a:off x="5257800" y="2148840"/>
            <a:ext cx="6400800" cy="932688"/>
          </a:xfrm>
          <a:prstGeom prst="roundRect">
            <a:avLst>
              <a:gd name="adj" fmla="val 8824"/>
            </a:avLst>
          </a:prstGeom>
          <a:solidFill>
            <a:srgbClr val="0D0D26">
              <a:alpha val="55000"/>
            </a:srgbClr>
          </a:solidFill>
          <a:ln w="9525">
            <a:solidFill>
              <a:srgbClr val="31316A">
                <a:alpha val="75000"/>
              </a:srgbClr>
            </a:solidFill>
            <a:prstDash val="solid"/>
          </a:ln>
        </p:spPr>
      </p:sp>
      <p:sp>
        <p:nvSpPr>
          <p:cNvPr id="9" name="Text 6"/>
          <p:cNvSpPr/>
          <p:nvPr/>
        </p:nvSpPr>
        <p:spPr>
          <a:xfrm>
            <a:off x="5486400" y="2258568"/>
            <a:ext cx="1965960" cy="731520"/>
          </a:xfrm>
          <a:prstGeom prst="rect">
            <a:avLst/>
          </a:prstGeom>
          <a:noFill/>
          <a:ln/>
        </p:spPr>
        <p:txBody>
          <a:bodyPr wrap="square" lIns="0" tIns="0" rIns="0" bIns="0" rtlCol="0" anchor="ctr"/>
          <a:lstStyle/>
          <a:p>
            <a:pPr indent="0" marL="0">
              <a:buNone/>
            </a:pPr>
            <a:r>
              <a:rPr lang="en-US" sz="1250" b="1" dirty="0">
                <a:solidFill>
                  <a:srgbClr val="43D5FF"/>
                </a:solidFill>
                <a:latin typeface="Arial" pitchFamily="34" charset="0"/>
                <a:ea typeface="Arial" pitchFamily="34" charset="-122"/>
                <a:cs typeface="Arial" pitchFamily="34" charset="-120"/>
              </a:rPr>
              <a:t>SURFACE PROBLEM</a:t>
            </a:r>
            <a:endParaRPr lang="en-US" sz="1250" dirty="0"/>
          </a:p>
        </p:txBody>
      </p:sp>
      <p:sp>
        <p:nvSpPr>
          <p:cNvPr id="10" name="Text 7"/>
          <p:cNvSpPr/>
          <p:nvPr/>
        </p:nvSpPr>
        <p:spPr>
          <a:xfrm>
            <a:off x="7498080" y="2240280"/>
            <a:ext cx="3931920" cy="749808"/>
          </a:xfrm>
          <a:prstGeom prst="rect">
            <a:avLst/>
          </a:prstGeom>
          <a:noFill/>
          <a:ln/>
        </p:spPr>
        <p:txBody>
          <a:bodyPr wrap="square" lIns="0" tIns="0" rIns="0" bIns="0" rtlCol="0" anchor="ctr"/>
          <a:lstStyle/>
          <a:p>
            <a:pPr indent="0" marL="0">
              <a:lnSpc>
                <a:spcPct val="110000"/>
              </a:lnSpc>
              <a:buNone/>
            </a:pPr>
            <a:r>
              <a:rPr lang="en-US" sz="1100" dirty="0">
                <a:solidFill>
                  <a:srgbClr val="FFFFFF"/>
                </a:solidFill>
                <a:latin typeface="Arial" pitchFamily="34" charset="0"/>
                <a:ea typeface="Arial" pitchFamily="34" charset="-122"/>
                <a:cs typeface="Arial" pitchFamily="34" charset="-120"/>
              </a:rPr>
              <a:t>Strong close rate, not enough conversations. Phone, email and LinkedIn all came back “tough”; the automated tools you tried produced nothing.</a:t>
            </a:r>
            <a:endParaRPr lang="en-US" sz="1100" dirty="0"/>
          </a:p>
        </p:txBody>
      </p:sp>
      <p:sp>
        <p:nvSpPr>
          <p:cNvPr id="11" name="Shape 8"/>
          <p:cNvSpPr/>
          <p:nvPr/>
        </p:nvSpPr>
        <p:spPr>
          <a:xfrm>
            <a:off x="5257800" y="3246120"/>
            <a:ext cx="6400800" cy="932688"/>
          </a:xfrm>
          <a:prstGeom prst="roundRect">
            <a:avLst>
              <a:gd name="adj" fmla="val 8824"/>
            </a:avLst>
          </a:prstGeom>
          <a:solidFill>
            <a:srgbClr val="0D0D26">
              <a:alpha val="55000"/>
            </a:srgbClr>
          </a:solidFill>
          <a:ln w="9525">
            <a:solidFill>
              <a:srgbClr val="31316A">
                <a:alpha val="75000"/>
              </a:srgbClr>
            </a:solidFill>
            <a:prstDash val="solid"/>
          </a:ln>
        </p:spPr>
      </p:sp>
      <p:sp>
        <p:nvSpPr>
          <p:cNvPr id="12" name="Text 9"/>
          <p:cNvSpPr/>
          <p:nvPr/>
        </p:nvSpPr>
        <p:spPr>
          <a:xfrm>
            <a:off x="5486400" y="3355848"/>
            <a:ext cx="1965960" cy="731520"/>
          </a:xfrm>
          <a:prstGeom prst="rect">
            <a:avLst/>
          </a:prstGeom>
          <a:noFill/>
          <a:ln/>
        </p:spPr>
        <p:txBody>
          <a:bodyPr wrap="square" lIns="0" tIns="0" rIns="0" bIns="0" rtlCol="0" anchor="ctr"/>
          <a:lstStyle/>
          <a:p>
            <a:pPr indent="0" marL="0">
              <a:buNone/>
            </a:pPr>
            <a:r>
              <a:rPr lang="en-US" sz="1250" b="1" dirty="0">
                <a:solidFill>
                  <a:srgbClr val="43D5FF"/>
                </a:solidFill>
                <a:latin typeface="Arial" pitchFamily="34" charset="0"/>
                <a:ea typeface="Arial" pitchFamily="34" charset="-122"/>
                <a:cs typeface="Arial" pitchFamily="34" charset="-120"/>
              </a:rPr>
              <a:t>BUSINESS IMPACT</a:t>
            </a:r>
            <a:endParaRPr lang="en-US" sz="1250" dirty="0"/>
          </a:p>
        </p:txBody>
      </p:sp>
      <p:sp>
        <p:nvSpPr>
          <p:cNvPr id="13" name="Text 10"/>
          <p:cNvSpPr/>
          <p:nvPr/>
        </p:nvSpPr>
        <p:spPr>
          <a:xfrm>
            <a:off x="7498080" y="3337560"/>
            <a:ext cx="3931920" cy="749808"/>
          </a:xfrm>
          <a:prstGeom prst="rect">
            <a:avLst/>
          </a:prstGeom>
          <a:noFill/>
          <a:ln/>
        </p:spPr>
        <p:txBody>
          <a:bodyPr wrap="square" lIns="0" tIns="0" rIns="0" bIns="0" rtlCol="0" anchor="ctr"/>
          <a:lstStyle/>
          <a:p>
            <a:pPr indent="0" marL="0">
              <a:lnSpc>
                <a:spcPct val="110000"/>
              </a:lnSpc>
              <a:buNone/>
            </a:pPr>
            <a:r>
              <a:rPr lang="en-US" sz="1100" dirty="0">
                <a:solidFill>
                  <a:srgbClr val="FFFFFF"/>
                </a:solidFill>
                <a:latin typeface="Arial" pitchFamily="34" charset="0"/>
                <a:ea typeface="Arial" pitchFamily="34" charset="-122"/>
                <a:cs typeface="Arial" pitchFamily="34" charset="-120"/>
              </a:rPr>
              <a:t>Most of the flow today is $5–10K. A steady stream of $50K+ meetings lifts the average check while smaller investors keep coming in on their own track.</a:t>
            </a:r>
            <a:endParaRPr lang="en-US" sz="1100" dirty="0"/>
          </a:p>
        </p:txBody>
      </p:sp>
      <p:sp>
        <p:nvSpPr>
          <p:cNvPr id="14" name="Shape 11"/>
          <p:cNvSpPr/>
          <p:nvPr/>
        </p:nvSpPr>
        <p:spPr>
          <a:xfrm>
            <a:off x="5257800" y="4343400"/>
            <a:ext cx="6400800" cy="932688"/>
          </a:xfrm>
          <a:prstGeom prst="roundRect">
            <a:avLst>
              <a:gd name="adj" fmla="val 8824"/>
            </a:avLst>
          </a:prstGeom>
          <a:solidFill>
            <a:srgbClr val="0D0D26">
              <a:alpha val="55000"/>
            </a:srgbClr>
          </a:solidFill>
          <a:ln w="9525">
            <a:solidFill>
              <a:srgbClr val="31316A">
                <a:alpha val="75000"/>
              </a:srgbClr>
            </a:solidFill>
            <a:prstDash val="solid"/>
          </a:ln>
        </p:spPr>
      </p:sp>
      <p:sp>
        <p:nvSpPr>
          <p:cNvPr id="15" name="Text 12"/>
          <p:cNvSpPr/>
          <p:nvPr/>
        </p:nvSpPr>
        <p:spPr>
          <a:xfrm>
            <a:off x="5486400" y="4453128"/>
            <a:ext cx="1965960" cy="731520"/>
          </a:xfrm>
          <a:prstGeom prst="rect">
            <a:avLst/>
          </a:prstGeom>
          <a:noFill/>
          <a:ln/>
        </p:spPr>
        <p:txBody>
          <a:bodyPr wrap="square" lIns="0" tIns="0" rIns="0" bIns="0" rtlCol="0" anchor="ctr"/>
          <a:lstStyle/>
          <a:p>
            <a:pPr indent="0" marL="0">
              <a:buNone/>
            </a:pPr>
            <a:r>
              <a:rPr lang="en-US" sz="1250" b="1" dirty="0">
                <a:solidFill>
                  <a:srgbClr val="43D5FF"/>
                </a:solidFill>
                <a:latin typeface="Arial" pitchFamily="34" charset="0"/>
                <a:ea typeface="Arial" pitchFamily="34" charset="-122"/>
                <a:cs typeface="Arial" pitchFamily="34" charset="-120"/>
              </a:rPr>
              <a:t>PERSONAL IMPACT</a:t>
            </a:r>
            <a:endParaRPr lang="en-US" sz="1250" dirty="0"/>
          </a:p>
        </p:txBody>
      </p:sp>
      <p:sp>
        <p:nvSpPr>
          <p:cNvPr id="16" name="Text 13"/>
          <p:cNvSpPr/>
          <p:nvPr/>
        </p:nvSpPr>
        <p:spPr>
          <a:xfrm>
            <a:off x="7498080" y="4434840"/>
            <a:ext cx="3931920" cy="749808"/>
          </a:xfrm>
          <a:prstGeom prst="rect">
            <a:avLst/>
          </a:prstGeom>
          <a:noFill/>
          <a:ln/>
        </p:spPr>
        <p:txBody>
          <a:bodyPr wrap="square" lIns="0" tIns="0" rIns="0" bIns="0" rtlCol="0" anchor="ctr"/>
          <a:lstStyle/>
          <a:p>
            <a:pPr indent="0" marL="0">
              <a:lnSpc>
                <a:spcPct val="110000"/>
              </a:lnSpc>
              <a:buNone/>
            </a:pPr>
            <a:r>
              <a:rPr lang="en-US" sz="1100" dirty="0">
                <a:solidFill>
                  <a:srgbClr val="FFFFFF"/>
                </a:solidFill>
                <a:latin typeface="Arial" pitchFamily="34" charset="0"/>
                <a:ea typeface="Arial" pitchFamily="34" charset="-122"/>
                <a:cs typeface="Arial" pitchFamily="34" charset="-120"/>
              </a:rPr>
              <a:t>Partners spending their time on events and referrals that close well but can’t be scheduled, instead of on deals and portfolio companies.</a:t>
            </a:r>
            <a:endParaRPr lang="en-US" sz="1100" dirty="0"/>
          </a:p>
        </p:txBody>
      </p:sp>
      <p:sp>
        <p:nvSpPr>
          <p:cNvPr id="17" name="Shape 14"/>
          <p:cNvSpPr/>
          <p:nvPr/>
        </p:nvSpPr>
        <p:spPr>
          <a:xfrm>
            <a:off x="5257800" y="5440680"/>
            <a:ext cx="6400800" cy="932688"/>
          </a:xfrm>
          <a:prstGeom prst="roundRect">
            <a:avLst>
              <a:gd name="adj" fmla="val 8824"/>
            </a:avLst>
          </a:prstGeom>
          <a:solidFill>
            <a:srgbClr val="0D0D26">
              <a:alpha val="55000"/>
            </a:srgbClr>
          </a:solidFill>
          <a:ln w="9525">
            <a:solidFill>
              <a:srgbClr val="31316A">
                <a:alpha val="75000"/>
              </a:srgbClr>
            </a:solidFill>
            <a:prstDash val="solid"/>
          </a:ln>
        </p:spPr>
      </p:sp>
      <p:sp>
        <p:nvSpPr>
          <p:cNvPr id="18" name="Text 15"/>
          <p:cNvSpPr/>
          <p:nvPr/>
        </p:nvSpPr>
        <p:spPr>
          <a:xfrm>
            <a:off x="5486400" y="5550408"/>
            <a:ext cx="1965960" cy="731520"/>
          </a:xfrm>
          <a:prstGeom prst="rect">
            <a:avLst/>
          </a:prstGeom>
          <a:noFill/>
          <a:ln/>
        </p:spPr>
        <p:txBody>
          <a:bodyPr wrap="square" lIns="0" tIns="0" rIns="0" bIns="0" rtlCol="0" anchor="ctr"/>
          <a:lstStyle/>
          <a:p>
            <a:pPr indent="0" marL="0">
              <a:buNone/>
            </a:pPr>
            <a:r>
              <a:rPr lang="en-US" sz="1250" b="1" dirty="0">
                <a:solidFill>
                  <a:srgbClr val="43D5FF"/>
                </a:solidFill>
                <a:latin typeface="Arial" pitchFamily="34" charset="0"/>
                <a:ea typeface="Arial" pitchFamily="34" charset="-122"/>
                <a:cs typeface="Arial" pitchFamily="34" charset="-120"/>
              </a:rPr>
              <a:t>COST OF INACTION</a:t>
            </a:r>
            <a:endParaRPr lang="en-US" sz="1250" dirty="0"/>
          </a:p>
        </p:txBody>
      </p:sp>
      <p:sp>
        <p:nvSpPr>
          <p:cNvPr id="19" name="Text 16"/>
          <p:cNvSpPr/>
          <p:nvPr/>
        </p:nvSpPr>
        <p:spPr>
          <a:xfrm>
            <a:off x="7498080" y="5532120"/>
            <a:ext cx="3931920" cy="749808"/>
          </a:xfrm>
          <a:prstGeom prst="rect">
            <a:avLst/>
          </a:prstGeom>
          <a:noFill/>
          <a:ln/>
        </p:spPr>
        <p:txBody>
          <a:bodyPr wrap="square" lIns="0" tIns="0" rIns="0" bIns="0" rtlCol="0" anchor="ctr"/>
          <a:lstStyle/>
          <a:p>
            <a:pPr indent="0" marL="0">
              <a:lnSpc>
                <a:spcPct val="110000"/>
              </a:lnSpc>
              <a:buNone/>
            </a:pPr>
            <a:r>
              <a:rPr lang="en-US" sz="1100" dirty="0">
                <a:solidFill>
                  <a:srgbClr val="FFFFFF"/>
                </a:solidFill>
                <a:latin typeface="Arial" pitchFamily="34" charset="0"/>
                <a:ea typeface="Arial" pitchFamily="34" charset="-122"/>
                <a:cs typeface="Arial" pitchFamily="34" charset="-120"/>
              </a:rPr>
              <a:t>Without a repeatable channel, you never learn whether bigger checkwriters want this fund, or whether your sample to date was simply biased.</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Your Investor ICP</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TARGET SEGMENTS, IN PRIORITY ORDER</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2240280"/>
          <a:ext cx="11055096" cy="914400"/>
        </p:xfrm>
        <a:graphic>
          <a:graphicData uri="http://schemas.openxmlformats.org/drawingml/2006/table">
            <a:tbl>
              <a:tblPr/>
              <a:tblGrid>
                <a:gridCol w="3291840"/>
                <a:gridCol w="7763256"/>
              </a:tblGrid>
              <a:tr h="457200">
                <a:tc>
                  <a:txBody>
                    <a:bodyPr/>
                    <a:lstStyle/>
                    <a:p>
                      <a:pPr algn="l" indent="0" marL="0">
                        <a:buNone/>
                      </a:pPr>
                      <a:r>
                        <a:rPr lang="en-US" sz="1200" b="1" dirty="0">
                          <a:solidFill>
                            <a:srgbClr val="43D5FF"/>
                          </a:solidFill>
                          <a:latin typeface="Arial" pitchFamily="34" charset="0"/>
                          <a:ea typeface="Arial" pitchFamily="34" charset="-122"/>
                          <a:cs typeface="Arial" pitchFamily="34" charset="-120"/>
                        </a:rPr>
                        <a:t>SEGMENT</a:t>
                      </a:r>
                      <a:endParaRPr lang="en-US" sz="1200" dirty="0">
                        <a:latin typeface="Arial" charset="0"/>
                        <a:ea typeface="Arial" charset="0"/>
                        <a:cs typeface="Arial" charset="0"/>
                      </a:endParaRPr>
                    </a:p>
                  </a:txBody>
                  <a:tcPr marL="109728" marR="109728" marT="109728" marB="109728" anchor="ctr">
                    <a:lnL w="12700" cap="flat" cmpd="sng" algn="ctr">
                      <a:solidFill>
                        <a:srgbClr val="31316A"/>
                      </a:solidFill>
                      <a:prstDash val="solid"/>
                      <a:round/>
                      <a:headEnd type="none" w="med" len="med"/>
                      <a:tailEnd type="none" w="med" len="med"/>
                    </a:lnL>
                    <a:lnR w="12700" cap="flat" cmpd="sng" algn="ctr">
                      <a:solidFill>
                        <a:srgbClr val="31316A"/>
                      </a:solidFill>
                      <a:prstDash val="solid"/>
                      <a:round/>
                      <a:headEnd type="none" w="med" len="med"/>
                      <a:tailEnd type="none" w="med" len="med"/>
                    </a:lnR>
                    <a:lnT w="12700" cap="flat" cmpd="sng" algn="ctr">
                      <a:solidFill>
                        <a:srgbClr val="31316A"/>
                      </a:solidFill>
                      <a:prstDash val="solid"/>
                      <a:round/>
                      <a:headEnd type="none" w="med" len="med"/>
                      <a:tailEnd type="none" w="med" len="med"/>
                    </a:lnT>
                    <a:lnB w="12700" cap="flat" cmpd="sng" algn="ctr">
                      <a:solidFill>
                        <a:srgbClr val="31316A"/>
                      </a:solidFill>
                      <a:prstDash val="solid"/>
                      <a:round/>
                      <a:headEnd type="none" w="med" len="med"/>
                      <a:tailEnd type="none" w="med" len="med"/>
                    </a:lnB>
                    <a:solidFill>
                      <a:srgbClr val="1B1B45">
                        <a:alpha val="75000"/>
                      </a:srgbClr>
                    </a:solidFill>
                  </a:tcPr>
                </a:tc>
                <a:tc>
                  <a:txBody>
                    <a:bodyPr/>
                    <a:lstStyle/>
                    <a:p>
                      <a:pPr algn="l" indent="0" marL="0">
                        <a:buNone/>
                      </a:pPr>
                      <a:r>
                        <a:rPr lang="en-US" sz="1200" b="1" dirty="0">
                          <a:solidFill>
                            <a:srgbClr val="43D5FF"/>
                          </a:solidFill>
                          <a:latin typeface="Arial" pitchFamily="34" charset="0"/>
                          <a:ea typeface="Arial" pitchFamily="34" charset="-122"/>
                          <a:cs typeface="Arial" pitchFamily="34" charset="-120"/>
                        </a:rPr>
                        <a:t>WHO THEY ARE AND WHY THEY FIT</a:t>
                      </a:r>
                      <a:endParaRPr lang="en-US" sz="1200" dirty="0">
                        <a:latin typeface="Arial" charset="0"/>
                        <a:ea typeface="Arial" charset="0"/>
                        <a:cs typeface="Arial" charset="0"/>
                      </a:endParaRPr>
                    </a:p>
                  </a:txBody>
                  <a:tcPr marL="109728" marR="109728" marT="109728" marB="109728" anchor="ctr">
                    <a:lnL w="12700" cap="flat" cmpd="sng" algn="ctr">
                      <a:solidFill>
                        <a:srgbClr val="31316A"/>
                      </a:solidFill>
                      <a:prstDash val="solid"/>
                      <a:round/>
                      <a:headEnd type="none" w="med" len="med"/>
                      <a:tailEnd type="none" w="med" len="med"/>
                    </a:lnL>
                    <a:lnR w="12700" cap="flat" cmpd="sng" algn="ctr">
                      <a:solidFill>
                        <a:srgbClr val="31316A"/>
                      </a:solidFill>
                      <a:prstDash val="solid"/>
                      <a:round/>
                      <a:headEnd type="none" w="med" len="med"/>
                      <a:tailEnd type="none" w="med" len="med"/>
                    </a:lnR>
                    <a:lnT w="12700" cap="flat" cmpd="sng" algn="ctr">
                      <a:solidFill>
                        <a:srgbClr val="31316A"/>
                      </a:solidFill>
                      <a:prstDash val="solid"/>
                      <a:round/>
                      <a:headEnd type="none" w="med" len="med"/>
                      <a:tailEnd type="none" w="med" len="med"/>
                    </a:lnT>
                    <a:lnB w="12700" cap="flat" cmpd="sng" algn="ctr">
                      <a:solidFill>
                        <a:srgbClr val="31316A"/>
                      </a:solidFill>
                      <a:prstDash val="solid"/>
                      <a:round/>
                      <a:headEnd type="none" w="med" len="med"/>
                      <a:tailEnd type="none" w="med" len="med"/>
                    </a:lnB>
                    <a:solidFill>
                      <a:srgbClr val="1B1B45">
                        <a:alpha val="75000"/>
                      </a:srgbClr>
                    </a:solidFill>
                  </a:tcPr>
                </a:tc>
              </a:tr>
              <a:tr h="713232">
                <a:tc>
                  <a:txBody>
                    <a:bodyPr/>
                    <a:lstStyle/>
                    <a:p>
                      <a:pPr algn="l" indent="0" marL="0">
                        <a:buNone/>
                      </a:pPr>
                      <a:r>
                        <a:rPr lang="en-US" sz="1400" b="1" dirty="0">
                          <a:solidFill>
                            <a:srgbClr val="FFFFFF"/>
                          </a:solidFill>
                          <a:latin typeface="Arial" pitchFamily="34" charset="0"/>
                          <a:ea typeface="Arial" pitchFamily="34" charset="-122"/>
                          <a:cs typeface="Arial" pitchFamily="34" charset="-120"/>
                        </a:rPr>
                        <a:t>1.  Single-Family Offices &amp; Funds of Funds</a:t>
                      </a:r>
                      <a:endParaRPr lang="en-US" sz="1400" dirty="0">
                        <a:latin typeface="Arial" charset="0"/>
                        <a:ea typeface="Arial" charset="0"/>
                        <a:cs typeface="Arial" charset="0"/>
                      </a:endParaRPr>
                    </a:p>
                  </a:txBody>
                  <a:tcPr marL="109728" marR="109728" marT="109728" marB="109728" anchor="ctr">
                    <a:lnL w="12700" cap="flat" cmpd="sng" algn="ctr">
                      <a:solidFill>
                        <a:srgbClr val="31316A"/>
                      </a:solidFill>
                      <a:prstDash val="solid"/>
                      <a:round/>
                      <a:headEnd type="none" w="med" len="med"/>
                      <a:tailEnd type="none" w="med" len="med"/>
                    </a:lnL>
                    <a:lnR w="12700" cap="flat" cmpd="sng" algn="ctr">
                      <a:solidFill>
                        <a:srgbClr val="31316A"/>
                      </a:solidFill>
                      <a:prstDash val="solid"/>
                      <a:round/>
                      <a:headEnd type="none" w="med" len="med"/>
                      <a:tailEnd type="none" w="med" len="med"/>
                    </a:lnR>
                    <a:lnT w="12700" cap="flat" cmpd="sng" algn="ctr">
                      <a:solidFill>
                        <a:srgbClr val="31316A"/>
                      </a:solidFill>
                      <a:prstDash val="solid"/>
                      <a:round/>
                      <a:headEnd type="none" w="med" len="med"/>
                      <a:tailEnd type="none" w="med" len="med"/>
                    </a:lnT>
                    <a:lnB w="12700" cap="flat" cmpd="sng" algn="ctr">
                      <a:solidFill>
                        <a:srgbClr val="31316A"/>
                      </a:solidFill>
                      <a:prstDash val="solid"/>
                      <a:round/>
                      <a:headEnd type="none" w="med" len="med"/>
                      <a:tailEnd type="none" w="med" len="med"/>
                    </a:lnB>
                    <a:solidFill>
                      <a:srgbClr val="0D0D26">
                        <a:alpha val="55000"/>
                      </a:srgbClr>
                    </a:solidFill>
                  </a:tcPr>
                </a:tc>
                <a:tc>
                  <a:txBody>
                    <a:bodyPr/>
                    <a:lstStyle/>
                    <a:p>
                      <a:pPr algn="l" indent="0" marL="0">
                        <a:buNone/>
                      </a:pPr>
                      <a:r>
                        <a:rPr lang="en-US" sz="1250" dirty="0">
                          <a:solidFill>
                            <a:srgbClr val="FFFFFF"/>
                          </a:solidFill>
                          <a:latin typeface="Arial" pitchFamily="34" charset="0"/>
                          <a:ea typeface="Arial" pitchFamily="34" charset="-122"/>
                          <a:cs typeface="Arial" pitchFamily="34" charset="-120"/>
                        </a:rPr>
                        <a:t>The tier between individuals and institutions you named. A $50K allocation is routine for them, and an evergreen fund with no carry suits long-horizon capital.</a:t>
                      </a:r>
                      <a:endParaRPr lang="en-US" sz="1250" dirty="0">
                        <a:latin typeface="Arial" charset="0"/>
                        <a:ea typeface="Arial" charset="0"/>
                        <a:cs typeface="Arial" charset="0"/>
                      </a:endParaRPr>
                    </a:p>
                  </a:txBody>
                  <a:tcPr marL="109728" marR="109728" marT="109728" marB="109728" anchor="ctr">
                    <a:lnL w="12700" cap="flat" cmpd="sng" algn="ctr">
                      <a:solidFill>
                        <a:srgbClr val="31316A"/>
                      </a:solidFill>
                      <a:prstDash val="solid"/>
                      <a:round/>
                      <a:headEnd type="none" w="med" len="med"/>
                      <a:tailEnd type="none" w="med" len="med"/>
                    </a:lnL>
                    <a:lnR w="12700" cap="flat" cmpd="sng" algn="ctr">
                      <a:solidFill>
                        <a:srgbClr val="31316A"/>
                      </a:solidFill>
                      <a:prstDash val="solid"/>
                      <a:round/>
                      <a:headEnd type="none" w="med" len="med"/>
                      <a:tailEnd type="none" w="med" len="med"/>
                    </a:lnR>
                    <a:lnT w="12700" cap="flat" cmpd="sng" algn="ctr">
                      <a:solidFill>
                        <a:srgbClr val="31316A"/>
                      </a:solidFill>
                      <a:prstDash val="solid"/>
                      <a:round/>
                      <a:headEnd type="none" w="med" len="med"/>
                      <a:tailEnd type="none" w="med" len="med"/>
                    </a:lnT>
                    <a:lnB w="12700" cap="flat" cmpd="sng" algn="ctr">
                      <a:solidFill>
                        <a:srgbClr val="31316A"/>
                      </a:solidFill>
                      <a:prstDash val="solid"/>
                      <a:round/>
                      <a:headEnd type="none" w="med" len="med"/>
                      <a:tailEnd type="none" w="med" len="med"/>
                    </a:lnB>
                    <a:solidFill>
                      <a:srgbClr val="0D0D26">
                        <a:alpha val="55000"/>
                      </a:srgbClr>
                    </a:solidFill>
                  </a:tcPr>
                </a:tc>
              </a:tr>
              <a:tr h="713232">
                <a:tc>
                  <a:txBody>
                    <a:bodyPr/>
                    <a:lstStyle/>
                    <a:p>
                      <a:pPr algn="l" indent="0" marL="0">
                        <a:buNone/>
                      </a:pPr>
                      <a:r>
                        <a:rPr lang="en-US" sz="1400" b="1" dirty="0">
                          <a:solidFill>
                            <a:srgbClr val="FFFFFF"/>
                          </a:solidFill>
                          <a:latin typeface="Arial" pitchFamily="34" charset="0"/>
                          <a:ea typeface="Arial" pitchFamily="34" charset="-122"/>
                          <a:cs typeface="Arial" pitchFamily="34" charset="-120"/>
                        </a:rPr>
                        <a:t>2.  JOHN  ·  Physician &amp; Healthcare Investors</a:t>
                      </a:r>
                      <a:endParaRPr lang="en-US" sz="1400" dirty="0">
                        <a:latin typeface="Arial" charset="0"/>
                        <a:ea typeface="Arial" charset="0"/>
                        <a:cs typeface="Arial" charset="0"/>
                      </a:endParaRPr>
                    </a:p>
                  </a:txBody>
                  <a:tcPr marL="109728" marR="109728" marT="109728" marB="109728" anchor="ctr">
                    <a:lnL w="12700" cap="flat" cmpd="sng" algn="ctr">
                      <a:solidFill>
                        <a:srgbClr val="31316A"/>
                      </a:solidFill>
                      <a:prstDash val="solid"/>
                      <a:round/>
                      <a:headEnd type="none" w="med" len="med"/>
                      <a:tailEnd type="none" w="med" len="med"/>
                    </a:lnL>
                    <a:lnR w="12700" cap="flat" cmpd="sng" algn="ctr">
                      <a:solidFill>
                        <a:srgbClr val="31316A"/>
                      </a:solidFill>
                      <a:prstDash val="solid"/>
                      <a:round/>
                      <a:headEnd type="none" w="med" len="med"/>
                      <a:tailEnd type="none" w="med" len="med"/>
                    </a:lnR>
                    <a:lnT w="12700" cap="flat" cmpd="sng" algn="ctr">
                      <a:solidFill>
                        <a:srgbClr val="31316A"/>
                      </a:solidFill>
                      <a:prstDash val="solid"/>
                      <a:round/>
                      <a:headEnd type="none" w="med" len="med"/>
                      <a:tailEnd type="none" w="med" len="med"/>
                    </a:lnT>
                    <a:lnB w="12700" cap="flat" cmpd="sng" algn="ctr">
                      <a:solidFill>
                        <a:srgbClr val="31316A"/>
                      </a:solidFill>
                      <a:prstDash val="solid"/>
                      <a:round/>
                      <a:headEnd type="none" w="med" len="med"/>
                      <a:tailEnd type="none" w="med" len="med"/>
                    </a:lnB>
                    <a:solidFill>
                      <a:srgbClr val="0D0D26">
                        <a:alpha val="55000"/>
                      </a:srgbClr>
                    </a:solidFill>
                  </a:tcPr>
                </a:tc>
                <a:tc>
                  <a:txBody>
                    <a:bodyPr/>
                    <a:lstStyle/>
                    <a:p>
                      <a:pPr algn="l" indent="0" marL="0">
                        <a:buNone/>
                      </a:pPr>
                      <a:r>
                        <a:rPr lang="en-US" sz="1250" dirty="0">
                          <a:solidFill>
                            <a:srgbClr val="FFFFFF"/>
                          </a:solidFill>
                          <a:latin typeface="Arial" pitchFamily="34" charset="0"/>
                          <a:ea typeface="Arial" pitchFamily="34" charset="-122"/>
                          <a:cs typeface="Arial" pitchFamily="34" charset="-120"/>
                        </a:rPr>
                        <a:t>Doctors and healthcare executives with health tech, medtech or biotech exposure. A physician-founder’s profile is the one they’ll answer.</a:t>
                      </a:r>
                      <a:endParaRPr lang="en-US" sz="1250" dirty="0">
                        <a:latin typeface="Arial" charset="0"/>
                        <a:ea typeface="Arial" charset="0"/>
                        <a:cs typeface="Arial" charset="0"/>
                      </a:endParaRPr>
                    </a:p>
                  </a:txBody>
                  <a:tcPr marL="109728" marR="109728" marT="109728" marB="109728" anchor="ctr">
                    <a:lnL w="12700" cap="flat" cmpd="sng" algn="ctr">
                      <a:solidFill>
                        <a:srgbClr val="31316A"/>
                      </a:solidFill>
                      <a:prstDash val="solid"/>
                      <a:round/>
                      <a:headEnd type="none" w="med" len="med"/>
                      <a:tailEnd type="none" w="med" len="med"/>
                    </a:lnL>
                    <a:lnR w="12700" cap="flat" cmpd="sng" algn="ctr">
                      <a:solidFill>
                        <a:srgbClr val="31316A"/>
                      </a:solidFill>
                      <a:prstDash val="solid"/>
                      <a:round/>
                      <a:headEnd type="none" w="med" len="med"/>
                      <a:tailEnd type="none" w="med" len="med"/>
                    </a:lnR>
                    <a:lnT w="12700" cap="flat" cmpd="sng" algn="ctr">
                      <a:solidFill>
                        <a:srgbClr val="31316A"/>
                      </a:solidFill>
                      <a:prstDash val="solid"/>
                      <a:round/>
                      <a:headEnd type="none" w="med" len="med"/>
                      <a:tailEnd type="none" w="med" len="med"/>
                    </a:lnT>
                    <a:lnB w="12700" cap="flat" cmpd="sng" algn="ctr">
                      <a:solidFill>
                        <a:srgbClr val="31316A"/>
                      </a:solidFill>
                      <a:prstDash val="solid"/>
                      <a:round/>
                      <a:headEnd type="none" w="med" len="med"/>
                      <a:tailEnd type="none" w="med" len="med"/>
                    </a:lnB>
                    <a:solidFill>
                      <a:srgbClr val="0D0D26">
                        <a:alpha val="55000"/>
                      </a:srgbClr>
                    </a:solidFill>
                  </a:tcPr>
                </a:tc>
              </a:tr>
              <a:tr h="713232">
                <a:tc>
                  <a:txBody>
                    <a:bodyPr/>
                    <a:lstStyle/>
                    <a:p>
                      <a:pPr algn="l" indent="0" marL="0">
                        <a:buNone/>
                      </a:pPr>
                      <a:r>
                        <a:rPr lang="en-US" sz="1400" b="1" dirty="0">
                          <a:solidFill>
                            <a:srgbClr val="FFFFFF"/>
                          </a:solidFill>
                          <a:latin typeface="Arial" pitchFamily="34" charset="0"/>
                          <a:ea typeface="Arial" pitchFamily="34" charset="-122"/>
                          <a:cs typeface="Arial" pitchFamily="34" charset="-120"/>
                        </a:rPr>
                        <a:t>3.  MICHAEL  ·  Military &amp; Aviation Investors</a:t>
                      </a:r>
                      <a:endParaRPr lang="en-US" sz="1400" dirty="0">
                        <a:latin typeface="Arial" charset="0"/>
                        <a:ea typeface="Arial" charset="0"/>
                        <a:cs typeface="Arial" charset="0"/>
                      </a:endParaRPr>
                    </a:p>
                  </a:txBody>
                  <a:tcPr marL="109728" marR="109728" marT="109728" marB="109728" anchor="ctr">
                    <a:lnL w="12700" cap="flat" cmpd="sng" algn="ctr">
                      <a:solidFill>
                        <a:srgbClr val="31316A"/>
                      </a:solidFill>
                      <a:prstDash val="solid"/>
                      <a:round/>
                      <a:headEnd type="none" w="med" len="med"/>
                      <a:tailEnd type="none" w="med" len="med"/>
                    </a:lnL>
                    <a:lnR w="12700" cap="flat" cmpd="sng" algn="ctr">
                      <a:solidFill>
                        <a:srgbClr val="31316A"/>
                      </a:solidFill>
                      <a:prstDash val="solid"/>
                      <a:round/>
                      <a:headEnd type="none" w="med" len="med"/>
                      <a:tailEnd type="none" w="med" len="med"/>
                    </a:lnR>
                    <a:lnT w="12700" cap="flat" cmpd="sng" algn="ctr">
                      <a:solidFill>
                        <a:srgbClr val="31316A"/>
                      </a:solidFill>
                      <a:prstDash val="solid"/>
                      <a:round/>
                      <a:headEnd type="none" w="med" len="med"/>
                      <a:tailEnd type="none" w="med" len="med"/>
                    </a:lnT>
                    <a:lnB w="12700" cap="flat" cmpd="sng" algn="ctr">
                      <a:solidFill>
                        <a:srgbClr val="31316A"/>
                      </a:solidFill>
                      <a:prstDash val="solid"/>
                      <a:round/>
                      <a:headEnd type="none" w="med" len="med"/>
                      <a:tailEnd type="none" w="med" len="med"/>
                    </a:lnB>
                    <a:solidFill>
                      <a:srgbClr val="0D0D26">
                        <a:alpha val="55000"/>
                      </a:srgbClr>
                    </a:solidFill>
                  </a:tcPr>
                </a:tc>
                <a:tc>
                  <a:txBody>
                    <a:bodyPr/>
                    <a:lstStyle/>
                    <a:p>
                      <a:pPr algn="l" indent="0" marL="0">
                        <a:buNone/>
                      </a:pPr>
                      <a:r>
                        <a:rPr lang="en-US" sz="1250" dirty="0">
                          <a:solidFill>
                            <a:srgbClr val="FFFFFF"/>
                          </a:solidFill>
                          <a:latin typeface="Arial" pitchFamily="34" charset="0"/>
                          <a:ea typeface="Arial" pitchFamily="34" charset="-122"/>
                          <a:cs typeface="Arial" pitchFamily="34" charset="-120"/>
                        </a:rPr>
                        <a:t>Airline and military pilots, veterans and defense professionals. A shared background is the strongest foot in the door, and the fund holds defense deals.</a:t>
                      </a:r>
                      <a:endParaRPr lang="en-US" sz="1250" dirty="0">
                        <a:latin typeface="Arial" charset="0"/>
                        <a:ea typeface="Arial" charset="0"/>
                        <a:cs typeface="Arial" charset="0"/>
                      </a:endParaRPr>
                    </a:p>
                  </a:txBody>
                  <a:tcPr marL="109728" marR="109728" marT="109728" marB="109728" anchor="ctr">
                    <a:lnL w="12700" cap="flat" cmpd="sng" algn="ctr">
                      <a:solidFill>
                        <a:srgbClr val="31316A"/>
                      </a:solidFill>
                      <a:prstDash val="solid"/>
                      <a:round/>
                      <a:headEnd type="none" w="med" len="med"/>
                      <a:tailEnd type="none" w="med" len="med"/>
                    </a:lnL>
                    <a:lnR w="12700" cap="flat" cmpd="sng" algn="ctr">
                      <a:solidFill>
                        <a:srgbClr val="31316A"/>
                      </a:solidFill>
                      <a:prstDash val="solid"/>
                      <a:round/>
                      <a:headEnd type="none" w="med" len="med"/>
                      <a:tailEnd type="none" w="med" len="med"/>
                    </a:lnR>
                    <a:lnT w="12700" cap="flat" cmpd="sng" algn="ctr">
                      <a:solidFill>
                        <a:srgbClr val="31316A"/>
                      </a:solidFill>
                      <a:prstDash val="solid"/>
                      <a:round/>
                      <a:headEnd type="none" w="med" len="med"/>
                      <a:tailEnd type="none" w="med" len="med"/>
                    </a:lnT>
                    <a:lnB w="12700" cap="flat" cmpd="sng" algn="ctr">
                      <a:solidFill>
                        <a:srgbClr val="31316A"/>
                      </a:solidFill>
                      <a:prstDash val="solid"/>
                      <a:round/>
                      <a:headEnd type="none" w="med" len="med"/>
                      <a:tailEnd type="none" w="med" len="med"/>
                    </a:lnB>
                    <a:solidFill>
                      <a:srgbClr val="0D0D26">
                        <a:alpha val="55000"/>
                      </a:srgbClr>
                    </a:solidFill>
                  </a:tcPr>
                </a:tc>
              </a:tr>
              <a:tr h="713232">
                <a:tc>
                  <a:txBody>
                    <a:bodyPr/>
                    <a:lstStyle/>
                    <a:p>
                      <a:pPr algn="l" indent="0" marL="0">
                        <a:buNone/>
                      </a:pPr>
                      <a:r>
                        <a:rPr lang="en-US" sz="1400" b="1" dirty="0">
                          <a:solidFill>
                            <a:srgbClr val="FFFFFF"/>
                          </a:solidFill>
                          <a:latin typeface="Arial" pitchFamily="34" charset="0"/>
                          <a:ea typeface="Arial" pitchFamily="34" charset="-122"/>
                          <a:cs typeface="Arial" pitchFamily="34" charset="-120"/>
                        </a:rPr>
                        <a:t>4.  DOUG  ·  Attorneys &amp; Professional HNW</a:t>
                      </a:r>
                      <a:endParaRPr lang="en-US" sz="1400" dirty="0">
                        <a:latin typeface="Arial" charset="0"/>
                        <a:ea typeface="Arial" charset="0"/>
                        <a:cs typeface="Arial" charset="0"/>
                      </a:endParaRPr>
                    </a:p>
                  </a:txBody>
                  <a:tcPr marL="109728" marR="109728" marT="109728" marB="109728" anchor="ctr">
                    <a:lnL w="12700" cap="flat" cmpd="sng" algn="ctr">
                      <a:solidFill>
                        <a:srgbClr val="31316A"/>
                      </a:solidFill>
                      <a:prstDash val="solid"/>
                      <a:round/>
                      <a:headEnd type="none" w="med" len="med"/>
                      <a:tailEnd type="none" w="med" len="med"/>
                    </a:lnL>
                    <a:lnR w="12700" cap="flat" cmpd="sng" algn="ctr">
                      <a:solidFill>
                        <a:srgbClr val="31316A"/>
                      </a:solidFill>
                      <a:prstDash val="solid"/>
                      <a:round/>
                      <a:headEnd type="none" w="med" len="med"/>
                      <a:tailEnd type="none" w="med" len="med"/>
                    </a:lnR>
                    <a:lnT w="12700" cap="flat" cmpd="sng" algn="ctr">
                      <a:solidFill>
                        <a:srgbClr val="31316A"/>
                      </a:solidFill>
                      <a:prstDash val="solid"/>
                      <a:round/>
                      <a:headEnd type="none" w="med" len="med"/>
                      <a:tailEnd type="none" w="med" len="med"/>
                    </a:lnT>
                    <a:lnB w="12700" cap="flat" cmpd="sng" algn="ctr">
                      <a:solidFill>
                        <a:srgbClr val="31316A"/>
                      </a:solidFill>
                      <a:prstDash val="solid"/>
                      <a:round/>
                      <a:headEnd type="none" w="med" len="med"/>
                      <a:tailEnd type="none" w="med" len="med"/>
                    </a:lnB>
                    <a:solidFill>
                      <a:srgbClr val="0D0D26">
                        <a:alpha val="55000"/>
                      </a:srgbClr>
                    </a:solidFill>
                  </a:tcPr>
                </a:tc>
                <a:tc>
                  <a:txBody>
                    <a:bodyPr/>
                    <a:lstStyle/>
                    <a:p>
                      <a:pPr algn="l" indent="0" marL="0">
                        <a:buNone/>
                      </a:pPr>
                      <a:r>
                        <a:rPr lang="en-US" sz="1250" dirty="0">
                          <a:solidFill>
                            <a:srgbClr val="FFFFFF"/>
                          </a:solidFill>
                          <a:latin typeface="Arial" pitchFamily="34" charset="0"/>
                          <a:ea typeface="Arial" pitchFamily="34" charset="-122"/>
                          <a:cs typeface="Arial" pitchFamily="34" charset="-120"/>
                        </a:rPr>
                        <a:t>Law firm partners and high-earning professionals in their 30s–50s looking to diversify beyond public markets into venture.</a:t>
                      </a:r>
                      <a:endParaRPr lang="en-US" sz="1250" dirty="0">
                        <a:latin typeface="Arial" charset="0"/>
                        <a:ea typeface="Arial" charset="0"/>
                        <a:cs typeface="Arial" charset="0"/>
                      </a:endParaRPr>
                    </a:p>
                  </a:txBody>
                  <a:tcPr marL="109728" marR="109728" marT="109728" marB="109728" anchor="ctr">
                    <a:lnL w="12700" cap="flat" cmpd="sng" algn="ctr">
                      <a:solidFill>
                        <a:srgbClr val="31316A"/>
                      </a:solidFill>
                      <a:prstDash val="solid"/>
                      <a:round/>
                      <a:headEnd type="none" w="med" len="med"/>
                      <a:tailEnd type="none" w="med" len="med"/>
                    </a:lnL>
                    <a:lnR w="12700" cap="flat" cmpd="sng" algn="ctr">
                      <a:solidFill>
                        <a:srgbClr val="31316A"/>
                      </a:solidFill>
                      <a:prstDash val="solid"/>
                      <a:round/>
                      <a:headEnd type="none" w="med" len="med"/>
                      <a:tailEnd type="none" w="med" len="med"/>
                    </a:lnR>
                    <a:lnT w="12700" cap="flat" cmpd="sng" algn="ctr">
                      <a:solidFill>
                        <a:srgbClr val="31316A"/>
                      </a:solidFill>
                      <a:prstDash val="solid"/>
                      <a:round/>
                      <a:headEnd type="none" w="med" len="med"/>
                      <a:tailEnd type="none" w="med" len="med"/>
                    </a:lnT>
                    <a:lnB w="12700" cap="flat" cmpd="sng" algn="ctr">
                      <a:solidFill>
                        <a:srgbClr val="31316A"/>
                      </a:solidFill>
                      <a:prstDash val="solid"/>
                      <a:round/>
                      <a:headEnd type="none" w="med" len="med"/>
                      <a:tailEnd type="none" w="med" len="med"/>
                    </a:lnB>
                    <a:solidFill>
                      <a:srgbClr val="0D0D26">
                        <a:alpha val="55000"/>
                      </a:srgbClr>
                    </a:solidFill>
                  </a:tcPr>
                </a:tc>
              </a:tr>
              <a:tr h="713232">
                <a:tc>
                  <a:txBody>
                    <a:bodyPr/>
                    <a:lstStyle/>
                    <a:p>
                      <a:pPr algn="l" indent="0" marL="0">
                        <a:buNone/>
                      </a:pPr>
                      <a:r>
                        <a:rPr lang="en-US" sz="1400" b="1" dirty="0">
                          <a:solidFill>
                            <a:srgbClr val="FFFFFF"/>
                          </a:solidFill>
                          <a:latin typeface="Arial" pitchFamily="34" charset="0"/>
                          <a:ea typeface="Arial" pitchFamily="34" charset="-122"/>
                          <a:cs typeface="Arial" pitchFamily="34" charset="-120"/>
                        </a:rPr>
                        <a:t>5.  Seasoned Angels &amp; Syndicate Leads</a:t>
                      </a:r>
                      <a:endParaRPr lang="en-US" sz="1400" dirty="0">
                        <a:latin typeface="Arial" charset="0"/>
                        <a:ea typeface="Arial" charset="0"/>
                        <a:cs typeface="Arial" charset="0"/>
                      </a:endParaRPr>
                    </a:p>
                  </a:txBody>
                  <a:tcPr marL="109728" marR="109728" marT="109728" marB="109728" anchor="ctr">
                    <a:lnL w="12700" cap="flat" cmpd="sng" algn="ctr">
                      <a:solidFill>
                        <a:srgbClr val="31316A"/>
                      </a:solidFill>
                      <a:prstDash val="solid"/>
                      <a:round/>
                      <a:headEnd type="none" w="med" len="med"/>
                      <a:tailEnd type="none" w="med" len="med"/>
                    </a:lnL>
                    <a:lnR w="12700" cap="flat" cmpd="sng" algn="ctr">
                      <a:solidFill>
                        <a:srgbClr val="31316A"/>
                      </a:solidFill>
                      <a:prstDash val="solid"/>
                      <a:round/>
                      <a:headEnd type="none" w="med" len="med"/>
                      <a:tailEnd type="none" w="med" len="med"/>
                    </a:lnR>
                    <a:lnT w="12700" cap="flat" cmpd="sng" algn="ctr">
                      <a:solidFill>
                        <a:srgbClr val="31316A"/>
                      </a:solidFill>
                      <a:prstDash val="solid"/>
                      <a:round/>
                      <a:headEnd type="none" w="med" len="med"/>
                      <a:tailEnd type="none" w="med" len="med"/>
                    </a:lnT>
                    <a:lnB w="12700" cap="flat" cmpd="sng" algn="ctr">
                      <a:solidFill>
                        <a:srgbClr val="31316A"/>
                      </a:solidFill>
                      <a:prstDash val="solid"/>
                      <a:round/>
                      <a:headEnd type="none" w="med" len="med"/>
                      <a:tailEnd type="none" w="med" len="med"/>
                    </a:lnB>
                    <a:solidFill>
                      <a:srgbClr val="0D0D26">
                        <a:alpha val="55000"/>
                      </a:srgbClr>
                    </a:solidFill>
                  </a:tcPr>
                </a:tc>
                <a:tc>
                  <a:txBody>
                    <a:bodyPr/>
                    <a:lstStyle/>
                    <a:p>
                      <a:pPr algn="l" indent="0" marL="0">
                        <a:buNone/>
                      </a:pPr>
                      <a:r>
                        <a:rPr lang="en-US" sz="1250" dirty="0">
                          <a:solidFill>
                            <a:srgbClr val="FFFFFF"/>
                          </a:solidFill>
                          <a:latin typeface="Arial" pitchFamily="34" charset="0"/>
                          <a:ea typeface="Arial" pitchFamily="34" charset="-122"/>
                          <a:cs typeface="Arial" pitchFamily="34" charset="-120"/>
                        </a:rPr>
                        <a:t>Experienced investors who value per-deal exits, the tax treatment, access to your deal flow and the option to syndicate alongside the fund.</a:t>
                      </a:r>
                      <a:endParaRPr lang="en-US" sz="1250" dirty="0">
                        <a:latin typeface="Arial" charset="0"/>
                        <a:ea typeface="Arial" charset="0"/>
                        <a:cs typeface="Arial" charset="0"/>
                      </a:endParaRPr>
                    </a:p>
                  </a:txBody>
                  <a:tcPr marL="109728" marR="109728" marT="109728" marB="109728" anchor="ctr">
                    <a:lnL w="12700" cap="flat" cmpd="sng" algn="ctr">
                      <a:solidFill>
                        <a:srgbClr val="31316A"/>
                      </a:solidFill>
                      <a:prstDash val="solid"/>
                      <a:round/>
                      <a:headEnd type="none" w="med" len="med"/>
                      <a:tailEnd type="none" w="med" len="med"/>
                    </a:lnL>
                    <a:lnR w="12700" cap="flat" cmpd="sng" algn="ctr">
                      <a:solidFill>
                        <a:srgbClr val="31316A"/>
                      </a:solidFill>
                      <a:prstDash val="solid"/>
                      <a:round/>
                      <a:headEnd type="none" w="med" len="med"/>
                      <a:tailEnd type="none" w="med" len="med"/>
                    </a:lnR>
                    <a:lnT w="12700" cap="flat" cmpd="sng" algn="ctr">
                      <a:solidFill>
                        <a:srgbClr val="31316A"/>
                      </a:solidFill>
                      <a:prstDash val="solid"/>
                      <a:round/>
                      <a:headEnd type="none" w="med" len="med"/>
                      <a:tailEnd type="none" w="med" len="med"/>
                    </a:lnT>
                    <a:lnB w="12700" cap="flat" cmpd="sng" algn="ctr">
                      <a:solidFill>
                        <a:srgbClr val="31316A"/>
                      </a:solidFill>
                      <a:prstDash val="solid"/>
                      <a:round/>
                      <a:headEnd type="none" w="med" len="med"/>
                      <a:tailEnd type="none" w="med" len="med"/>
                    </a:lnB>
                    <a:solidFill>
                      <a:srgbClr val="0D0D26">
                        <a:alpha val="55000"/>
                      </a:srgbClr>
                    </a:solidFill>
                  </a:tcPr>
                </a:tc>
              </a:tr>
            </a:tbl>
          </a:graphicData>
        </a:graphic>
      </p:graphicFrame>
      <p:sp>
        <p:nvSpPr>
          <p:cNvPr id="312" name="Text 30"/>
          <p:cNvSpPr/>
          <p:nvPr/>
        </p:nvSpPr>
        <p:spPr>
          <a:xfrm>
            <a:off x="566928" y="6400800"/>
            <a:ext cx="11155680" cy="411480"/>
          </a:xfrm>
          <a:prstGeom prst="rect">
            <a:avLst/>
          </a:prstGeom>
          <a:noFill/>
          <a:ln/>
        </p:spPr>
        <p:txBody>
          <a:bodyPr wrap="square" lIns="0" tIns="0" rIns="0" bIns="0" rtlCol="0" anchor="t"/>
          <a:lstStyle/>
          <a:p>
            <a:pPr indent="0" marL="0">
              <a:lnSpc>
                <a:spcPct val="125000"/>
              </a:lnSpc>
              <a:buNone/>
            </a:pPr>
            <a:r>
              <a:rPr lang="en-US" sz="1150" i="1" dirty="0">
                <a:solidFill>
                  <a:srgbClr val="B9BEDC"/>
                </a:solidFill>
                <a:latin typeface="Arial" pitchFamily="34" charset="0"/>
                <a:ea typeface="Arial" pitchFamily="34" charset="-122"/>
                <a:cs typeface="Arial" pitchFamily="34" charset="-120"/>
              </a:rPr>
              <a:t>Primary target: $50K+ checks. Investors under $50K are routed to a separate track (e.g. group webinars). Full targets and exclusions are set with you in onboarding.</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Three Partners, Three Networks</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HOW ONE CAMPAIGN USES EACH PARTNER’S CREDIBILITY</a:t>
            </a:r>
            <a:endParaRPr lang="en-US" sz="1400" dirty="0"/>
          </a:p>
        </p:txBody>
      </p:sp>
      <p:sp>
        <p:nvSpPr>
          <p:cNvPr id="6" name="Shape 3"/>
          <p:cNvSpPr/>
          <p:nvPr/>
        </p:nvSpPr>
        <p:spPr>
          <a:xfrm>
            <a:off x="566928" y="2121408"/>
            <a:ext cx="3593592" cy="2331720"/>
          </a:xfrm>
          <a:prstGeom prst="roundRect">
            <a:avLst>
              <a:gd name="adj" fmla="val 3529"/>
            </a:avLst>
          </a:prstGeom>
          <a:solidFill>
            <a:srgbClr val="0D0D26">
              <a:alpha val="55000"/>
            </a:srgbClr>
          </a:solidFill>
          <a:ln w="9525">
            <a:solidFill>
              <a:srgbClr val="31316A">
                <a:alpha val="75000"/>
              </a:srgbClr>
            </a:solidFill>
            <a:prstDash val="solid"/>
          </a:ln>
        </p:spPr>
      </p:sp>
      <p:sp>
        <p:nvSpPr>
          <p:cNvPr id="7" name="Text 4"/>
          <p:cNvSpPr/>
          <p:nvPr/>
        </p:nvSpPr>
        <p:spPr>
          <a:xfrm>
            <a:off x="795528" y="2304288"/>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JOHN  ·  PHYSICIANS</a:t>
            </a:r>
            <a:endParaRPr lang="en-US" sz="1400" dirty="0"/>
          </a:p>
        </p:txBody>
      </p:sp>
      <p:sp>
        <p:nvSpPr>
          <p:cNvPr id="8" name="Text 5"/>
          <p:cNvSpPr/>
          <p:nvPr/>
        </p:nvSpPr>
        <p:spPr>
          <a:xfrm>
            <a:off x="795528" y="2651760"/>
            <a:ext cx="3136392" cy="1600200"/>
          </a:xfrm>
          <a:prstGeom prst="rect">
            <a:avLst/>
          </a:prstGeom>
          <a:noFill/>
          <a:ln/>
        </p:spPr>
        <p:txBody>
          <a:bodyPr wrap="square" lIns="0" tIns="0" rIns="0" bIns="0" rtlCol="0" anchor="t"/>
          <a:lstStyle/>
          <a:p>
            <a:pPr indent="0" marL="0">
              <a:lnSpc>
                <a:spcPct val="115000"/>
              </a:lnSpc>
              <a:buNone/>
            </a:pPr>
            <a:r>
              <a:rPr lang="en-US" sz="1100" dirty="0">
                <a:solidFill>
                  <a:srgbClr val="FFFFFF"/>
                </a:solidFill>
                <a:latin typeface="Arial" pitchFamily="34" charset="0"/>
                <a:ea typeface="Arial" pitchFamily="34" charset="-122"/>
                <a:cs typeface="Arial" pitchFamily="34" charset="-120"/>
              </a:rPr>
              <a:t>John’s profile carries the fund to doctors and healthcare investors. A physician-founder with a strong LinkedIn presence and decades in healthcare speaks their language, and the fund’s health tech, medtech and biotech holdings need no explaining.</a:t>
            </a:r>
            <a:endParaRPr lang="en-US" sz="1100" dirty="0"/>
          </a:p>
        </p:txBody>
      </p:sp>
      <p:sp>
        <p:nvSpPr>
          <p:cNvPr id="9" name="Shape 6"/>
          <p:cNvSpPr/>
          <p:nvPr/>
        </p:nvSpPr>
        <p:spPr>
          <a:xfrm>
            <a:off x="4434840" y="2121408"/>
            <a:ext cx="3593592" cy="2331720"/>
          </a:xfrm>
          <a:prstGeom prst="roundRect">
            <a:avLst>
              <a:gd name="adj" fmla="val 3529"/>
            </a:avLst>
          </a:prstGeom>
          <a:solidFill>
            <a:srgbClr val="0D0D26">
              <a:alpha val="55000"/>
            </a:srgbClr>
          </a:solidFill>
          <a:ln w="9525">
            <a:solidFill>
              <a:srgbClr val="31316A">
                <a:alpha val="75000"/>
              </a:srgbClr>
            </a:solidFill>
            <a:prstDash val="solid"/>
          </a:ln>
        </p:spPr>
      </p:sp>
      <p:sp>
        <p:nvSpPr>
          <p:cNvPr id="10" name="Text 7"/>
          <p:cNvSpPr/>
          <p:nvPr/>
        </p:nvSpPr>
        <p:spPr>
          <a:xfrm>
            <a:off x="4663440" y="2304288"/>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MICHAEL  ·  MILITARY</a:t>
            </a:r>
            <a:endParaRPr lang="en-US" sz="1400" dirty="0"/>
          </a:p>
        </p:txBody>
      </p:sp>
      <p:sp>
        <p:nvSpPr>
          <p:cNvPr id="11" name="Text 8"/>
          <p:cNvSpPr/>
          <p:nvPr/>
        </p:nvSpPr>
        <p:spPr>
          <a:xfrm>
            <a:off x="4663440" y="2651760"/>
            <a:ext cx="3136392" cy="1600200"/>
          </a:xfrm>
          <a:prstGeom prst="rect">
            <a:avLst/>
          </a:prstGeom>
          <a:noFill/>
          <a:ln/>
        </p:spPr>
        <p:txBody>
          <a:bodyPr wrap="square" lIns="0" tIns="0" rIns="0" bIns="0" rtlCol="0" anchor="t"/>
          <a:lstStyle/>
          <a:p>
            <a:pPr indent="0" marL="0">
              <a:lnSpc>
                <a:spcPct val="115000"/>
              </a:lnSpc>
              <a:buNone/>
            </a:pPr>
            <a:r>
              <a:rPr lang="en-US" sz="1100" dirty="0">
                <a:solidFill>
                  <a:srgbClr val="FFFFFF"/>
                </a:solidFill>
                <a:latin typeface="Arial" pitchFamily="34" charset="0"/>
                <a:ea typeface="Arial" pitchFamily="34" charset="-122"/>
                <a:cs typeface="Arial" pitchFamily="34" charset="-120"/>
              </a:rPr>
              <a:t>Michael’s profile carries the fund to airline and military pilots, veterans and defense professionals, plus the family offices and angels in the core ICP. Shared service is one of the strongest openers we see, and the network is largely untapped by the fund so far.</a:t>
            </a:r>
            <a:endParaRPr lang="en-US" sz="1100" dirty="0"/>
          </a:p>
        </p:txBody>
      </p:sp>
      <p:sp>
        <p:nvSpPr>
          <p:cNvPr id="12" name="Shape 9"/>
          <p:cNvSpPr/>
          <p:nvPr/>
        </p:nvSpPr>
        <p:spPr>
          <a:xfrm>
            <a:off x="8302752" y="2121408"/>
            <a:ext cx="3593592" cy="2331720"/>
          </a:xfrm>
          <a:prstGeom prst="roundRect">
            <a:avLst>
              <a:gd name="adj" fmla="val 3529"/>
            </a:avLst>
          </a:prstGeom>
          <a:solidFill>
            <a:srgbClr val="0D0D26">
              <a:alpha val="55000"/>
            </a:srgbClr>
          </a:solidFill>
          <a:ln w="9525">
            <a:solidFill>
              <a:srgbClr val="31316A">
                <a:alpha val="75000"/>
              </a:srgbClr>
            </a:solidFill>
            <a:prstDash val="solid"/>
          </a:ln>
        </p:spPr>
      </p:sp>
      <p:sp>
        <p:nvSpPr>
          <p:cNvPr id="13" name="Text 10"/>
          <p:cNvSpPr/>
          <p:nvPr/>
        </p:nvSpPr>
        <p:spPr>
          <a:xfrm>
            <a:off x="8531352" y="2304288"/>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DOUG  ·  LEGAL &amp; HNW</a:t>
            </a:r>
            <a:endParaRPr lang="en-US" sz="1400" dirty="0"/>
          </a:p>
        </p:txBody>
      </p:sp>
      <p:sp>
        <p:nvSpPr>
          <p:cNvPr id="14" name="Text 11"/>
          <p:cNvSpPr/>
          <p:nvPr/>
        </p:nvSpPr>
        <p:spPr>
          <a:xfrm>
            <a:off x="8531352" y="2651760"/>
            <a:ext cx="3136392" cy="1600200"/>
          </a:xfrm>
          <a:prstGeom prst="rect">
            <a:avLst/>
          </a:prstGeom>
          <a:noFill/>
          <a:ln/>
        </p:spPr>
        <p:txBody>
          <a:bodyPr wrap="square" lIns="0" tIns="0" rIns="0" bIns="0" rtlCol="0" anchor="t"/>
          <a:lstStyle/>
          <a:p>
            <a:pPr indent="0" marL="0">
              <a:lnSpc>
                <a:spcPct val="115000"/>
              </a:lnSpc>
              <a:buNone/>
            </a:pPr>
            <a:r>
              <a:rPr lang="en-US" sz="1100" dirty="0">
                <a:solidFill>
                  <a:srgbClr val="FFFFFF"/>
                </a:solidFill>
                <a:latin typeface="Arial" pitchFamily="34" charset="0"/>
                <a:ea typeface="Arial" pitchFamily="34" charset="-122"/>
                <a:cs typeface="Arial" pitchFamily="34" charset="-120"/>
              </a:rPr>
              <a:t>Doug’s profile carries the fund to attorneys and high-earning professionals diversifying beyond public markets. Each profile has its own audience, scripts and scorecard, so a physician never receives the pitch written for a pilot.</a:t>
            </a:r>
            <a:endParaRPr lang="en-US" sz="1100" dirty="0"/>
          </a:p>
        </p:txBody>
      </p:sp>
      <p:sp>
        <p:nvSpPr>
          <p:cNvPr id="15" name="Shape 12"/>
          <p:cNvSpPr/>
          <p:nvPr/>
        </p:nvSpPr>
        <p:spPr>
          <a:xfrm>
            <a:off x="566928" y="4663440"/>
            <a:ext cx="11338560" cy="1691640"/>
          </a:xfrm>
          <a:prstGeom prst="roundRect">
            <a:avLst>
              <a:gd name="adj" fmla="val 4865"/>
            </a:avLst>
          </a:prstGeom>
          <a:solidFill>
            <a:srgbClr val="0D0D26">
              <a:alpha val="55000"/>
            </a:srgbClr>
          </a:solidFill>
          <a:ln w="9525">
            <a:solidFill>
              <a:srgbClr val="31316A">
                <a:alpha val="75000"/>
              </a:srgbClr>
            </a:solidFill>
            <a:prstDash val="solid"/>
          </a:ln>
        </p:spPr>
      </p:sp>
      <p:sp>
        <p:nvSpPr>
          <p:cNvPr id="16" name="Text 13"/>
          <p:cNvSpPr/>
          <p:nvPr/>
        </p:nvSpPr>
        <p:spPr>
          <a:xfrm>
            <a:off x="795528" y="4828032"/>
            <a:ext cx="8229600" cy="320040"/>
          </a:xfrm>
          <a:prstGeom prst="rect">
            <a:avLst/>
          </a:prstGeom>
          <a:noFill/>
          <a:ln/>
        </p:spPr>
        <p:txBody>
          <a:bodyPr wrap="square" lIns="0" tIns="0" rIns="0" bIns="0" rtlCol="0" anchor="ctr"/>
          <a:lstStyle/>
          <a:p>
            <a:pPr indent="0" marL="0">
              <a:buNone/>
            </a:pPr>
            <a:r>
              <a:rPr lang="en-US" sz="1400" b="1" spc="100" kern="0" dirty="0">
                <a:solidFill>
                  <a:srgbClr val="7C6CFF"/>
                </a:solidFill>
                <a:latin typeface="Arial" pitchFamily="34" charset="0"/>
                <a:ea typeface="Arial" pitchFamily="34" charset="-122"/>
                <a:cs typeface="Arial" pitchFamily="34" charset="-120"/>
              </a:rPr>
              <a:t>WHY ONE RETAINER COVERS ALL THREE</a:t>
            </a:r>
            <a:endParaRPr lang="en-US" sz="1400" dirty="0"/>
          </a:p>
        </p:txBody>
      </p:sp>
      <p:sp>
        <p:nvSpPr>
          <p:cNvPr id="17" name="Text 14"/>
          <p:cNvSpPr/>
          <p:nvPr/>
        </p:nvSpPr>
        <p:spPr>
          <a:xfrm>
            <a:off x="795528" y="5175504"/>
            <a:ext cx="10881360" cy="1051560"/>
          </a:xfrm>
          <a:prstGeom prst="rect">
            <a:avLst/>
          </a:prstGeom>
          <a:noFill/>
          <a:ln/>
        </p:spPr>
        <p:txBody>
          <a:bodyPr wrap="square" lIns="0" tIns="0" rIns="0" bIns="0" rtlCol="0" anchor="t"/>
          <a:lstStyle/>
          <a:p>
            <a:pPr indent="0" marL="0">
              <a:lnSpc>
                <a:spcPct val="120000"/>
              </a:lnSpc>
              <a:buNone/>
            </a:pPr>
            <a:r>
              <a:rPr lang="en-US" sz="1250" dirty="0">
                <a:solidFill>
                  <a:srgbClr val="FFFFFF"/>
                </a:solidFill>
                <a:latin typeface="Arial" pitchFamily="34" charset="0"/>
                <a:ea typeface="Arial" pitchFamily="34" charset="-122"/>
                <a:cs typeface="Arial" pitchFamily="34" charset="-120"/>
              </a:rPr>
              <a:t>The engine is shared: one dedicated account manager, one CRM, one weekly review, one report split by partner, segment and check size. On top of outreach, the fund is retargeted to our 10k+ opt-in investor network and featured twice in Startup Deal Desk, our 84k-subscriber investor newsletter. Chris’s profile can be added as a fourth for science and research investors at +$500 per month.</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How We Fill Your Calendar</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SIX STEPS, ONE PAGE</a:t>
            </a:r>
            <a:endParaRPr lang="en-US" sz="1400" dirty="0"/>
          </a:p>
        </p:txBody>
      </p:sp>
      <p:sp>
        <p:nvSpPr>
          <p:cNvPr id="313" name="Shape s0"/>
          <p:cNvSpPr/>
          <p:nvPr/>
        </p:nvSpPr>
        <p:spPr>
          <a:xfrm>
            <a:off x="566928" y="2057400"/>
            <a:ext cx="3593592" cy="1417320"/>
          </a:xfrm>
          <a:prstGeom prst="roundRect">
            <a:avLst>
              <a:gd name="adj" fmla="val 3529"/>
            </a:avLst>
          </a:prstGeom>
          <a:solidFill>
            <a:srgbClr val="0D0D26">
              <a:alpha val="55000"/>
            </a:srgbClr>
          </a:solidFill>
          <a:ln w="9525">
            <a:solidFill>
              <a:srgbClr val="31316A">
                <a:alpha val="75000"/>
              </a:srgbClr>
            </a:solidFill>
            <a:prstDash val="solid"/>
          </a:ln>
        </p:spPr>
      </p:sp>
      <p:sp>
        <p:nvSpPr>
          <p:cNvPr id="314" name="Text s0l"/>
          <p:cNvSpPr/>
          <p:nvPr/>
        </p:nvSpPr>
        <p:spPr>
          <a:xfrm>
            <a:off x="795528" y="2185416"/>
            <a:ext cx="3136392" cy="274320"/>
          </a:xfrm>
          <a:prstGeom prst="rect">
            <a:avLst/>
          </a:prstGeom>
          <a:noFill/>
          <a:ln/>
        </p:spPr>
        <p:txBody>
          <a:bodyPr wrap="square" lIns="0" tIns="0" rIns="0" bIns="0" rtlCol="0" anchor="ctr"/>
          <a:lstStyle/>
          <a:p>
            <a:pPr indent="0" marL="0">
              <a:buNone/>
            </a:pPr>
            <a:r>
              <a:rPr lang="en-US" sz="1300" b="1" spc="100" kern="0" dirty="0">
                <a:solidFill>
                  <a:srgbClr val="43D5FF"/>
                </a:solidFill>
                <a:latin typeface="Arial" pitchFamily="34" charset="0"/>
                <a:ea typeface="Arial" pitchFamily="34" charset="-122"/>
                <a:cs typeface="Arial" pitchFamily="34" charset="-120"/>
              </a:rPr>
              <a:t>1  ·  MULTI-SOURCE DATA</a:t>
            </a:r>
            <a:endParaRPr lang="en-US" sz="1300" dirty="0"/>
          </a:p>
        </p:txBody>
      </p:sp>
      <p:sp>
        <p:nvSpPr>
          <p:cNvPr id="315" name="Text s0p"/>
          <p:cNvSpPr/>
          <p:nvPr/>
        </p:nvSpPr>
        <p:spPr>
          <a:xfrm>
            <a:off x="795528" y="2496312"/>
            <a:ext cx="3136392" cy="914400"/>
          </a:xfrm>
          <a:prstGeom prst="rect">
            <a:avLst/>
          </a:prstGeom>
          <a:noFill/>
          <a:ln/>
        </p:spPr>
        <p:txBody>
          <a:bodyPr wrap="square" lIns="0" tIns="0" rIns="0" bIns="0" rtlCol="0" anchor="t"/>
          <a:lstStyle/>
          <a:p>
            <a:pPr indent="0" marL="0">
              <a:lnSpc>
                <a:spcPct val="115000"/>
              </a:lnSpc>
              <a:buNone/>
            </a:pPr>
            <a:r>
              <a:rPr lang="en-US" sz="1050" dirty="0">
                <a:solidFill>
                  <a:srgbClr val="FFFFFF"/>
                </a:solidFill>
                <a:latin typeface="Arial" pitchFamily="34" charset="0"/>
                <a:ea typeface="Arial" pitchFamily="34" charset="-122"/>
                <a:cs typeface="Arial" pitchFamily="34" charset="-120"/>
              </a:rPr>
              <a:t>Sales Navigator, your own lists and past conversations, our 10k+ investor database, the 84k-subscriber Startup Deal Desk newsletter, and the events your targets attend.</a:t>
            </a:r>
            <a:endParaRPr lang="en-US" sz="1050" dirty="0"/>
          </a:p>
        </p:txBody>
      </p:sp>
      <p:sp>
        <p:nvSpPr>
          <p:cNvPr id="316" name="Shape s1"/>
          <p:cNvSpPr/>
          <p:nvPr/>
        </p:nvSpPr>
        <p:spPr>
          <a:xfrm>
            <a:off x="4434840" y="2057400"/>
            <a:ext cx="3593592" cy="1417320"/>
          </a:xfrm>
          <a:prstGeom prst="roundRect">
            <a:avLst>
              <a:gd name="adj" fmla="val 3529"/>
            </a:avLst>
          </a:prstGeom>
          <a:solidFill>
            <a:srgbClr val="0D0D26">
              <a:alpha val="55000"/>
            </a:srgbClr>
          </a:solidFill>
          <a:ln w="9525">
            <a:solidFill>
              <a:srgbClr val="31316A">
                <a:alpha val="75000"/>
              </a:srgbClr>
            </a:solidFill>
            <a:prstDash val="solid"/>
          </a:ln>
        </p:spPr>
      </p:sp>
      <p:sp>
        <p:nvSpPr>
          <p:cNvPr id="317" name="Text s1l"/>
          <p:cNvSpPr/>
          <p:nvPr/>
        </p:nvSpPr>
        <p:spPr>
          <a:xfrm>
            <a:off x="4663440" y="2185416"/>
            <a:ext cx="3136392" cy="274320"/>
          </a:xfrm>
          <a:prstGeom prst="rect">
            <a:avLst/>
          </a:prstGeom>
          <a:noFill/>
          <a:ln/>
        </p:spPr>
        <p:txBody>
          <a:bodyPr wrap="square" lIns="0" tIns="0" rIns="0" bIns="0" rtlCol="0" anchor="ctr"/>
          <a:lstStyle/>
          <a:p>
            <a:pPr indent="0" marL="0">
              <a:buNone/>
            </a:pPr>
            <a:r>
              <a:rPr lang="en-US" sz="1300" b="1" spc="100" kern="0" dirty="0">
                <a:solidFill>
                  <a:srgbClr val="43D5FF"/>
                </a:solidFill>
                <a:latin typeface="Arial" pitchFamily="34" charset="0"/>
                <a:ea typeface="Arial" pitchFamily="34" charset="-122"/>
                <a:cs typeface="Arial" pitchFamily="34" charset="-120"/>
              </a:rPr>
              <a:t>2  ·  SIGNAL FILTERING</a:t>
            </a:r>
            <a:endParaRPr lang="en-US" sz="1300" dirty="0"/>
          </a:p>
        </p:txBody>
      </p:sp>
      <p:sp>
        <p:nvSpPr>
          <p:cNvPr id="318" name="Text s1p"/>
          <p:cNvSpPr/>
          <p:nvPr/>
        </p:nvSpPr>
        <p:spPr>
          <a:xfrm>
            <a:off x="4663440" y="2496312"/>
            <a:ext cx="3136392" cy="914400"/>
          </a:xfrm>
          <a:prstGeom prst="rect">
            <a:avLst/>
          </a:prstGeom>
          <a:noFill/>
          <a:ln/>
        </p:spPr>
        <p:txBody>
          <a:bodyPr wrap="square" lIns="0" tIns="0" rIns="0" bIns="0" rtlCol="0" anchor="t"/>
          <a:lstStyle/>
          <a:p>
            <a:pPr indent="0" marL="0">
              <a:lnSpc>
                <a:spcPct val="115000"/>
              </a:lnSpc>
              <a:buNone/>
            </a:pPr>
            <a:r>
              <a:rPr lang="en-US" sz="1050" dirty="0">
                <a:solidFill>
                  <a:srgbClr val="FFFFFF"/>
                </a:solidFill>
                <a:latin typeface="Arial" pitchFamily="34" charset="0"/>
                <a:ea typeface="Arial" pitchFamily="34" charset="-122"/>
                <a:cs typeface="Arial" pitchFamily="34" charset="-120"/>
              </a:rPr>
              <a:t>Deal history and live engagement outweigh job titles. Brokers, funding agents, advisor-only contacts and “investors” who are selling services are filtered out.</a:t>
            </a:r>
            <a:endParaRPr lang="en-US" sz="1050" dirty="0"/>
          </a:p>
        </p:txBody>
      </p:sp>
      <p:sp>
        <p:nvSpPr>
          <p:cNvPr id="319" name="Shape s2"/>
          <p:cNvSpPr/>
          <p:nvPr/>
        </p:nvSpPr>
        <p:spPr>
          <a:xfrm>
            <a:off x="8302752" y="2057400"/>
            <a:ext cx="3593592" cy="1417320"/>
          </a:xfrm>
          <a:prstGeom prst="roundRect">
            <a:avLst>
              <a:gd name="adj" fmla="val 3529"/>
            </a:avLst>
          </a:prstGeom>
          <a:solidFill>
            <a:srgbClr val="0D0D26">
              <a:alpha val="55000"/>
            </a:srgbClr>
          </a:solidFill>
          <a:ln w="9525">
            <a:solidFill>
              <a:srgbClr val="31316A">
                <a:alpha val="75000"/>
              </a:srgbClr>
            </a:solidFill>
            <a:prstDash val="solid"/>
          </a:ln>
        </p:spPr>
      </p:sp>
      <p:sp>
        <p:nvSpPr>
          <p:cNvPr id="320" name="Text s2l"/>
          <p:cNvSpPr/>
          <p:nvPr/>
        </p:nvSpPr>
        <p:spPr>
          <a:xfrm>
            <a:off x="8531352" y="2185416"/>
            <a:ext cx="3136392" cy="274320"/>
          </a:xfrm>
          <a:prstGeom prst="rect">
            <a:avLst/>
          </a:prstGeom>
          <a:noFill/>
          <a:ln/>
        </p:spPr>
        <p:txBody>
          <a:bodyPr wrap="square" lIns="0" tIns="0" rIns="0" bIns="0" rtlCol="0" anchor="ctr"/>
          <a:lstStyle/>
          <a:p>
            <a:pPr indent="0" marL="0">
              <a:buNone/>
            </a:pPr>
            <a:r>
              <a:rPr lang="en-US" sz="1300" b="1" spc="100" kern="0" dirty="0">
                <a:solidFill>
                  <a:srgbClr val="43D5FF"/>
                </a:solidFill>
                <a:latin typeface="Arial" pitchFamily="34" charset="0"/>
                <a:ea typeface="Arial" pitchFamily="34" charset="-122"/>
                <a:cs typeface="Arial" pitchFamily="34" charset="-120"/>
              </a:rPr>
              <a:t>3  ·  ICP SCORING</a:t>
            </a:r>
            <a:endParaRPr lang="en-US" sz="1300" dirty="0"/>
          </a:p>
        </p:txBody>
      </p:sp>
      <p:sp>
        <p:nvSpPr>
          <p:cNvPr id="321" name="Text s2p"/>
          <p:cNvSpPr/>
          <p:nvPr/>
        </p:nvSpPr>
        <p:spPr>
          <a:xfrm>
            <a:off x="8531352" y="2496312"/>
            <a:ext cx="3136392" cy="914400"/>
          </a:xfrm>
          <a:prstGeom prst="rect">
            <a:avLst/>
          </a:prstGeom>
          <a:noFill/>
          <a:ln/>
        </p:spPr>
        <p:txBody>
          <a:bodyPr wrap="square" lIns="0" tIns="0" rIns="0" bIns="0" rtlCol="0" anchor="t"/>
          <a:lstStyle/>
          <a:p>
            <a:pPr indent="0" marL="0">
              <a:lnSpc>
                <a:spcPct val="115000"/>
              </a:lnSpc>
              <a:buNone/>
            </a:pPr>
            <a:r>
              <a:rPr lang="en-US" sz="1050" dirty="0">
                <a:solidFill>
                  <a:srgbClr val="FFFFFF"/>
                </a:solidFill>
                <a:latin typeface="Arial" pitchFamily="34" charset="0"/>
                <a:ea typeface="Arial" pitchFamily="34" charset="-122"/>
                <a:cs typeface="Arial" pitchFamily="34" charset="-120"/>
              </a:rPr>
              <a:t>Every contact scored high, medium or low fit against a scorecard built with you. High fit goes first. Scripts A/B tested against real replies.</a:t>
            </a:r>
            <a:endParaRPr lang="en-US" sz="1050" dirty="0"/>
          </a:p>
        </p:txBody>
      </p:sp>
      <p:sp>
        <p:nvSpPr>
          <p:cNvPr id="322" name="Shape s3"/>
          <p:cNvSpPr/>
          <p:nvPr/>
        </p:nvSpPr>
        <p:spPr>
          <a:xfrm>
            <a:off x="566928" y="3611880"/>
            <a:ext cx="3593592" cy="1417320"/>
          </a:xfrm>
          <a:prstGeom prst="roundRect">
            <a:avLst>
              <a:gd name="adj" fmla="val 3529"/>
            </a:avLst>
          </a:prstGeom>
          <a:solidFill>
            <a:srgbClr val="0D0D26">
              <a:alpha val="55000"/>
            </a:srgbClr>
          </a:solidFill>
          <a:ln w="9525">
            <a:solidFill>
              <a:srgbClr val="31316A">
                <a:alpha val="75000"/>
              </a:srgbClr>
            </a:solidFill>
            <a:prstDash val="solid"/>
          </a:ln>
        </p:spPr>
      </p:sp>
      <p:sp>
        <p:nvSpPr>
          <p:cNvPr id="323" name="Text s3l"/>
          <p:cNvSpPr/>
          <p:nvPr/>
        </p:nvSpPr>
        <p:spPr>
          <a:xfrm>
            <a:off x="795528" y="3739896"/>
            <a:ext cx="3136392" cy="274320"/>
          </a:xfrm>
          <a:prstGeom prst="rect">
            <a:avLst/>
          </a:prstGeom>
          <a:noFill/>
          <a:ln/>
        </p:spPr>
        <p:txBody>
          <a:bodyPr wrap="square" lIns="0" tIns="0" rIns="0" bIns="0" rtlCol="0" anchor="ctr"/>
          <a:lstStyle/>
          <a:p>
            <a:pPr indent="0" marL="0">
              <a:buNone/>
            </a:pPr>
            <a:r>
              <a:rPr lang="en-US" sz="1300" b="1" spc="100" kern="0" dirty="0">
                <a:solidFill>
                  <a:srgbClr val="43D5FF"/>
                </a:solidFill>
                <a:latin typeface="Arial" pitchFamily="34" charset="0"/>
                <a:ea typeface="Arial" pitchFamily="34" charset="-122"/>
                <a:cs typeface="Arial" pitchFamily="34" charset="-120"/>
              </a:rPr>
              <a:t>4  ·  MANUAL REVIEW</a:t>
            </a:r>
            <a:endParaRPr lang="en-US" sz="1300" dirty="0"/>
          </a:p>
        </p:txBody>
      </p:sp>
      <p:sp>
        <p:nvSpPr>
          <p:cNvPr id="324" name="Text s3p"/>
          <p:cNvSpPr/>
          <p:nvPr/>
        </p:nvSpPr>
        <p:spPr>
          <a:xfrm>
            <a:off x="795528" y="4050792"/>
            <a:ext cx="3136392" cy="914400"/>
          </a:xfrm>
          <a:prstGeom prst="rect">
            <a:avLst/>
          </a:prstGeom>
          <a:noFill/>
          <a:ln/>
        </p:spPr>
        <p:txBody>
          <a:bodyPr wrap="square" lIns="0" tIns="0" rIns="0" bIns="0" rtlCol="0" anchor="t"/>
          <a:lstStyle/>
          <a:p>
            <a:pPr indent="0" marL="0">
              <a:lnSpc>
                <a:spcPct val="115000"/>
              </a:lnSpc>
              <a:buNone/>
            </a:pPr>
            <a:r>
              <a:rPr lang="en-US" sz="1050" dirty="0">
                <a:solidFill>
                  <a:srgbClr val="FFFFFF"/>
                </a:solidFill>
                <a:latin typeface="Arial" pitchFamily="34" charset="0"/>
                <a:ea typeface="Arial" pitchFamily="34" charset="-122"/>
                <a:cs typeface="Arial" pitchFamily="34" charset="-120"/>
              </a:rPr>
              <a:t>A dedicated account manager hand-checks every high-fit profile before a message goes out, and learns your story well enough to tell it in your voice.</a:t>
            </a:r>
            <a:endParaRPr lang="en-US" sz="1050" dirty="0"/>
          </a:p>
        </p:txBody>
      </p:sp>
      <p:sp>
        <p:nvSpPr>
          <p:cNvPr id="325" name="Shape s4"/>
          <p:cNvSpPr/>
          <p:nvPr/>
        </p:nvSpPr>
        <p:spPr>
          <a:xfrm>
            <a:off x="4434840" y="3611880"/>
            <a:ext cx="3593592" cy="1417320"/>
          </a:xfrm>
          <a:prstGeom prst="roundRect">
            <a:avLst>
              <a:gd name="adj" fmla="val 3529"/>
            </a:avLst>
          </a:prstGeom>
          <a:solidFill>
            <a:srgbClr val="0D0D26">
              <a:alpha val="55000"/>
            </a:srgbClr>
          </a:solidFill>
          <a:ln w="9525">
            <a:solidFill>
              <a:srgbClr val="31316A">
                <a:alpha val="75000"/>
              </a:srgbClr>
            </a:solidFill>
            <a:prstDash val="solid"/>
          </a:ln>
        </p:spPr>
      </p:sp>
      <p:sp>
        <p:nvSpPr>
          <p:cNvPr id="326" name="Text s4l"/>
          <p:cNvSpPr/>
          <p:nvPr/>
        </p:nvSpPr>
        <p:spPr>
          <a:xfrm>
            <a:off x="4663440" y="3739896"/>
            <a:ext cx="3136392" cy="274320"/>
          </a:xfrm>
          <a:prstGeom prst="rect">
            <a:avLst/>
          </a:prstGeom>
          <a:noFill/>
          <a:ln/>
        </p:spPr>
        <p:txBody>
          <a:bodyPr wrap="square" lIns="0" tIns="0" rIns="0" bIns="0" rtlCol="0" anchor="ctr"/>
          <a:lstStyle/>
          <a:p>
            <a:pPr indent="0" marL="0">
              <a:buNone/>
            </a:pPr>
            <a:r>
              <a:rPr lang="en-US" sz="1300" b="1" spc="100" kern="0" dirty="0">
                <a:solidFill>
                  <a:srgbClr val="43D5FF"/>
                </a:solidFill>
                <a:latin typeface="Arial" pitchFamily="34" charset="0"/>
                <a:ea typeface="Arial" pitchFamily="34" charset="-122"/>
                <a:cs typeface="Arial" pitchFamily="34" charset="-120"/>
              </a:rPr>
              <a:t>5  ·  PRE-CALL QUALIFICATION</a:t>
            </a:r>
            <a:endParaRPr lang="en-US" sz="1300" dirty="0"/>
          </a:p>
        </p:txBody>
      </p:sp>
      <p:sp>
        <p:nvSpPr>
          <p:cNvPr id="327" name="Text s4p"/>
          <p:cNvSpPr/>
          <p:nvPr/>
        </p:nvSpPr>
        <p:spPr>
          <a:xfrm>
            <a:off x="4663440" y="4050792"/>
            <a:ext cx="3136392" cy="914400"/>
          </a:xfrm>
          <a:prstGeom prst="rect">
            <a:avLst/>
          </a:prstGeom>
          <a:noFill/>
          <a:ln/>
        </p:spPr>
        <p:txBody>
          <a:bodyPr wrap="square" lIns="0" tIns="0" rIns="0" bIns="0" rtlCol="0" anchor="t"/>
          <a:lstStyle/>
          <a:p>
            <a:pPr indent="0" marL="0">
              <a:lnSpc>
                <a:spcPct val="115000"/>
              </a:lnSpc>
              <a:buNone/>
            </a:pPr>
            <a:r>
              <a:rPr lang="en-US" sz="1050" dirty="0">
                <a:solidFill>
                  <a:srgbClr val="FFFFFF"/>
                </a:solidFill>
                <a:latin typeface="Arial" pitchFamily="34" charset="0"/>
                <a:ea typeface="Arial" pitchFamily="34" charset="-122"/>
                <a:cs typeface="Arial" pitchFamily="34" charset="-120"/>
              </a:rPr>
              <a:t>Every booking routes through a short form: accreditation, check size, timeline, sectors. A briefing before every call; soft letdowns for the wrong fit.</a:t>
            </a:r>
            <a:endParaRPr lang="en-US" sz="1050" dirty="0"/>
          </a:p>
        </p:txBody>
      </p:sp>
      <p:sp>
        <p:nvSpPr>
          <p:cNvPr id="328" name="Shape s5"/>
          <p:cNvSpPr/>
          <p:nvPr/>
        </p:nvSpPr>
        <p:spPr>
          <a:xfrm>
            <a:off x="8302752" y="3611880"/>
            <a:ext cx="3593592" cy="1417320"/>
          </a:xfrm>
          <a:prstGeom prst="roundRect">
            <a:avLst>
              <a:gd name="adj" fmla="val 3529"/>
            </a:avLst>
          </a:prstGeom>
          <a:solidFill>
            <a:srgbClr val="0D0D26">
              <a:alpha val="55000"/>
            </a:srgbClr>
          </a:solidFill>
          <a:ln w="9525">
            <a:solidFill>
              <a:srgbClr val="31316A">
                <a:alpha val="75000"/>
              </a:srgbClr>
            </a:solidFill>
            <a:prstDash val="solid"/>
          </a:ln>
        </p:spPr>
      </p:sp>
      <p:sp>
        <p:nvSpPr>
          <p:cNvPr id="329" name="Text s5l"/>
          <p:cNvSpPr/>
          <p:nvPr/>
        </p:nvSpPr>
        <p:spPr>
          <a:xfrm>
            <a:off x="8531352" y="3739896"/>
            <a:ext cx="3136392" cy="274320"/>
          </a:xfrm>
          <a:prstGeom prst="rect">
            <a:avLst/>
          </a:prstGeom>
          <a:noFill/>
          <a:ln/>
        </p:spPr>
        <p:txBody>
          <a:bodyPr wrap="square" lIns="0" tIns="0" rIns="0" bIns="0" rtlCol="0" anchor="ctr"/>
          <a:lstStyle/>
          <a:p>
            <a:pPr indent="0" marL="0">
              <a:buNone/>
            </a:pPr>
            <a:r>
              <a:rPr lang="en-US" sz="1300" b="1" spc="100" kern="0" dirty="0">
                <a:solidFill>
                  <a:srgbClr val="43D5FF"/>
                </a:solidFill>
                <a:latin typeface="Arial" pitchFamily="34" charset="0"/>
                <a:ea typeface="Arial" pitchFamily="34" charset="-122"/>
                <a:cs typeface="Arial" pitchFamily="34" charset="-120"/>
              </a:rPr>
              <a:t>6  ·  YOUR FINAL APPROVAL</a:t>
            </a:r>
            <a:endParaRPr lang="en-US" sz="1300" dirty="0"/>
          </a:p>
        </p:txBody>
      </p:sp>
      <p:sp>
        <p:nvSpPr>
          <p:cNvPr id="330" name="Text s5p"/>
          <p:cNvSpPr/>
          <p:nvPr/>
        </p:nvSpPr>
        <p:spPr>
          <a:xfrm>
            <a:off x="8531352" y="4050792"/>
            <a:ext cx="3136392" cy="914400"/>
          </a:xfrm>
          <a:prstGeom prst="rect">
            <a:avLst/>
          </a:prstGeom>
          <a:noFill/>
          <a:ln/>
        </p:spPr>
        <p:txBody>
          <a:bodyPr wrap="square" lIns="0" tIns="0" rIns="0" bIns="0" rtlCol="0" anchor="t"/>
          <a:lstStyle/>
          <a:p>
            <a:pPr indent="0" marL="0">
              <a:lnSpc>
                <a:spcPct val="115000"/>
              </a:lnSpc>
              <a:buNone/>
            </a:pPr>
            <a:r>
              <a:rPr lang="en-US" sz="1050" dirty="0">
                <a:solidFill>
                  <a:srgbClr val="FFFFFF"/>
                </a:solidFill>
                <a:latin typeface="Arial" pitchFamily="34" charset="0"/>
                <a:ea typeface="Arial" pitchFamily="34" charset="-122"/>
                <a:cs typeface="Arial" pitchFamily="34" charset="-120"/>
              </a:rPr>
              <a:t>Accept, vet further or decline every meeting. Shared CRM from day one, weekly reporting, monthly strategy calls. If something isn’t working, you hear it from us first.</a:t>
            </a:r>
            <a:endParaRPr lang="en-US" sz="1050" dirty="0"/>
          </a:p>
        </p:txBody>
      </p:sp>
      <p:sp>
        <p:nvSpPr>
          <p:cNvPr id="15" name="Shape 12"/>
          <p:cNvSpPr/>
          <p:nvPr/>
        </p:nvSpPr>
        <p:spPr>
          <a:xfrm>
            <a:off x="566928" y="5212080"/>
            <a:ext cx="11338560" cy="1143000"/>
          </a:xfrm>
          <a:prstGeom prst="roundRect">
            <a:avLst>
              <a:gd name="adj" fmla="val 4865"/>
            </a:avLst>
          </a:prstGeom>
          <a:solidFill>
            <a:srgbClr val="0D0D26">
              <a:alpha val="55000"/>
            </a:srgbClr>
          </a:solidFill>
          <a:ln w="9525">
            <a:solidFill>
              <a:srgbClr val="31316A">
                <a:alpha val="75000"/>
              </a:srgbClr>
            </a:solidFill>
            <a:prstDash val="solid"/>
          </a:ln>
        </p:spPr>
      </p:sp>
      <p:sp>
        <p:nvSpPr>
          <p:cNvPr id="16" name="Text 13"/>
          <p:cNvSpPr/>
          <p:nvPr/>
        </p:nvSpPr>
        <p:spPr>
          <a:xfrm>
            <a:off x="795528" y="5340096"/>
            <a:ext cx="2743200" cy="274320"/>
          </a:xfrm>
          <a:prstGeom prst="rect">
            <a:avLst/>
          </a:prstGeom>
          <a:noFill/>
          <a:ln/>
        </p:spPr>
        <p:txBody>
          <a:bodyPr wrap="square" lIns="0" tIns="0" rIns="0" bIns="0" rtlCol="0" anchor="ctr"/>
          <a:lstStyle/>
          <a:p>
            <a:pPr indent="0" marL="0">
              <a:buNone/>
            </a:pPr>
            <a:r>
              <a:rPr lang="en-US" sz="1400" b="1" spc="100" kern="0" dirty="0">
                <a:solidFill>
                  <a:srgbClr val="7C6CFF"/>
                </a:solidFill>
                <a:latin typeface="Arial" pitchFamily="34" charset="0"/>
                <a:ea typeface="Arial" pitchFamily="34" charset="-122"/>
                <a:cs typeface="Arial" pitchFamily="34" charset="-120"/>
              </a:rPr>
              <a:t>THE FLOW</a:t>
            </a:r>
            <a:endParaRPr lang="en-US" sz="1400" dirty="0"/>
          </a:p>
        </p:txBody>
      </p:sp>
      <p:sp>
        <p:nvSpPr>
          <p:cNvPr id="17" name="Text 14"/>
          <p:cNvSpPr/>
          <p:nvPr/>
        </p:nvSpPr>
        <p:spPr>
          <a:xfrm>
            <a:off x="795528" y="5632704"/>
            <a:ext cx="10881360" cy="640080"/>
          </a:xfrm>
          <a:prstGeom prst="rect">
            <a:avLst/>
          </a:prstGeom>
          <a:noFill/>
          <a:ln/>
        </p:spPr>
        <p:txBody>
          <a:bodyPr wrap="square" lIns="0" tIns="0" rIns="0" bIns="0" rtlCol="0" anchor="t"/>
          <a:lstStyle/>
          <a:p>
            <a:pPr indent="0" marL="0">
              <a:lnSpc>
                <a:spcPct val="120000"/>
              </a:lnSpc>
              <a:buNone/>
            </a:pPr>
            <a:r>
              <a:rPr lang="en-US" sz="1200" dirty="0">
                <a:solidFill>
                  <a:srgbClr val="FFFFFF"/>
                </a:solidFill>
                <a:latin typeface="Arial" pitchFamily="34" charset="0"/>
                <a:ea typeface="Arial" pitchFamily="34" charset="-122"/>
                <a:cs typeface="Arial" pitchFamily="34" charset="-120"/>
              </a:rPr>
              <a:t>Multi-source data → signal filters → ICP scoring → manual review → pre-call qualification → your approval. Outreach only happens after the first four steps; a meeting only lands after all six. The briefing you receive before every call is on the next page.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The Call Briefing</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WHAT LANDS IN YOUR INBOX BEFORE EVERY MEETING  ·  A REAL ONE, NAMES WITHHELD</a:t>
            </a:r>
            <a:endParaRPr lang="en-US" sz="1400" dirty="0"/>
          </a:p>
        </p:txBody>
      </p:sp>
      <p:sp>
        <p:nvSpPr>
          <p:cNvPr id="331" name="Shape email"/>
          <p:cNvSpPr/>
          <p:nvPr/>
        </p:nvSpPr>
        <p:spPr>
          <a:xfrm>
            <a:off x="566928" y="1965960"/>
            <a:ext cx="7452360" cy="4617720"/>
          </a:xfrm>
          <a:prstGeom prst="roundRect">
            <a:avLst>
              <a:gd name="adj" fmla="val 2500"/>
            </a:avLst>
          </a:prstGeom>
          <a:solidFill>
            <a:srgbClr val="FFFFFF"/>
          </a:solidFill>
          <a:ln>
            <a:noFill/>
          </a:ln>
        </p:spPr>
      </p:sp>
      <p:sp>
        <p:nvSpPr>
          <p:cNvPr id="332" name="Text e-subj"/>
          <p:cNvSpPr txBox="1"/>
          <p:nvPr/>
        </p:nvSpPr>
        <p:spPr>
          <a:xfrm>
            <a:off x="822960" y="2103120"/>
            <a:ext cx="6940296" cy="256032"/>
          </a:xfrm>
          <a:prstGeom prst="rect">
            <a:avLst/>
          </a:prstGeom>
          <a:noFill/>
        </p:spPr>
        <p:txBody>
          <a:bodyPr wrap="square" lIns="0" tIns="0" rIns="0" bIns="0" rtlCol="0" anchor="t"/>
          <a:lstStyle/>
          <a:p>
            <a:pPr indent="0" marL="0">
              <a:lnSpc>
                <a:spcPct val="112000"/>
              </a:lnSpc>
              <a:spcAft>
                <a:spcPts val="300"/>
              </a:spcAft>
              <a:buNone/>
            </a:pPr>
            <a:r>
              <a:rPr lang="en-US" sz="1150" b="1" dirty="0">
                <a:solidFill>
                  <a:srgbClr val="1A1A2E"/>
                </a:solidFill>
                <a:latin typeface="Arial" pitchFamily="34" charset="0"/>
                <a:ea typeface="Arial" pitchFamily="34" charset="-122"/>
                <a:cs typeface="Arial" pitchFamily="34" charset="-120"/>
              </a:rPr>
              <a:t xml:space="preserve">CONFIRMED MEETING: New Scheduled Call – [Prospect]</a:t>
            </a:r>
            <a:endParaRPr lang="en-US" sz="1150" dirty="0"/>
          </a:p>
        </p:txBody>
      </p:sp>
      <p:sp>
        <p:nvSpPr>
          <p:cNvPr id="333" name="Text e-from"/>
          <p:cNvSpPr txBox="1"/>
          <p:nvPr/>
        </p:nvSpPr>
        <p:spPr>
          <a:xfrm>
            <a:off x="822960" y="2359152"/>
            <a:ext cx="6940296" cy="182880"/>
          </a:xfrm>
          <a:prstGeom prst="rect">
            <a:avLst/>
          </a:prstGeom>
          <a:noFill/>
        </p:spPr>
        <p:txBody>
          <a:bodyPr wrap="square" lIns="0" tIns="0" rIns="0" bIns="0" rtlCol="0" anchor="t"/>
          <a:lstStyle/>
          <a:p>
            <a:pPr indent="0" marL="0">
              <a:lnSpc>
                <a:spcPct val="112000"/>
              </a:lnSpc>
              <a:spcAft>
                <a:spcPts val="300"/>
              </a:spcAft>
              <a:buNone/>
            </a:pPr>
            <a:r>
              <a:rPr lang="en-US" sz="800" dirty="0">
                <a:solidFill>
                  <a:srgbClr val="5F6368"/>
                </a:solidFill>
                <a:latin typeface="Arial" pitchFamily="34" charset="0"/>
                <a:ea typeface="Arial" pitchFamily="34" charset="-122"/>
                <a:cs typeface="Arial" pitchFamily="34" charset="-120"/>
              </a:rPr>
              <a:t xml:space="preserve">From: your ThinkFISH account manager   ·   To: you   ·   Cc: Myra Grama, Freizle Abarrientos   ·   Thu, Sep 17, 2026, 6:26 PM</a:t>
            </a:r>
            <a:endParaRPr lang="en-US" sz="800" dirty="0"/>
          </a:p>
        </p:txBody>
      </p:sp>
      <p:sp>
        <p:nvSpPr>
          <p:cNvPr id="334" name="Shape e-rule"/>
          <p:cNvSpPr/>
          <p:nvPr/>
        </p:nvSpPr>
        <p:spPr>
          <a:xfrm>
            <a:off x="822960" y="2596896"/>
            <a:ext cx="6940296" cy="13716"/>
          </a:xfrm>
          <a:prstGeom prst="rect">
            <a:avLst/>
          </a:prstGeom>
          <a:solidFill>
            <a:srgbClr val="DADCE0"/>
          </a:solidFill>
          <a:ln>
            <a:noFill/>
          </a:ln>
        </p:spPr>
      </p:sp>
      <p:sp>
        <p:nvSpPr>
          <p:cNvPr id="335" name="Text e-2.94"/>
          <p:cNvSpPr txBox="1"/>
          <p:nvPr/>
        </p:nvSpPr>
        <p:spPr>
          <a:xfrm>
            <a:off x="822960" y="2688336"/>
            <a:ext cx="6940296" cy="640080"/>
          </a:xfrm>
          <a:prstGeom prst="rect">
            <a:avLst/>
          </a:prstGeom>
          <a:noFill/>
        </p:spPr>
        <p:txBody>
          <a:bodyPr wrap="square" lIns="0" tIns="0" rIns="0" bIns="0" rtlCol="0" anchor="t"/>
          <a:lstStyle/>
          <a:p>
            <a:pPr indent="0" marL="0">
              <a:lnSpc>
                <a:spcPct val="110000"/>
              </a:lnSpc>
              <a:spcAft>
                <a:spcPts val="150"/>
              </a:spcAft>
              <a:buNone/>
            </a:pPr>
            <a:r>
              <a:rPr lang="en-US" sz="850" dirty="0">
                <a:solidFill>
                  <a:srgbClr val="333333"/>
                </a:solidFill>
                <a:latin typeface="Arial" pitchFamily="34" charset="0"/>
                <a:ea typeface="Arial" pitchFamily="34" charset="-122"/>
                <a:cs typeface="Arial" pitchFamily="34" charset="-120"/>
              </a:rPr>
              <a:t xml:space="preserve">Here is the booking summary for your upcoming call with [Prospect] on Tuesday, September 22, at 5:30pm ET. This meeting came through outbound LinkedIn outreach, and is categorized under </a:t>
            </a:r>
            <a:r>
              <a:rPr lang="en-US" sz="850" b="1" dirty="0">
                <a:solidFill>
                  <a:srgbClr val="333333"/>
                </a:solidFill>
                <a:latin typeface="Arial" pitchFamily="34" charset="0"/>
                <a:ea typeface="Arial" pitchFamily="34" charset="-122"/>
                <a:cs typeface="Arial" pitchFamily="34" charset="-120"/>
              </a:rPr>
              <a:t xml:space="preserve">Segment A (Hospitality-Connected Investors)</a:t>
            </a:r>
            <a:r>
              <a:rPr lang="en-US" sz="850" dirty="0">
                <a:solidFill>
                  <a:srgbClr val="333333"/>
                </a:solidFill>
                <a:latin typeface="Arial" pitchFamily="34" charset="0"/>
                <a:ea typeface="Arial" pitchFamily="34" charset="-122"/>
                <a:cs typeface="Arial" pitchFamily="34" charset="-120"/>
              </a:rPr>
              <a:t xml:space="preserve">, with secondary alignment to </a:t>
            </a:r>
            <a:r>
              <a:rPr lang="en-US" sz="850" b="1" dirty="0">
                <a:solidFill>
                  <a:srgbClr val="333333"/>
                </a:solidFill>
                <a:latin typeface="Arial" pitchFamily="34" charset="0"/>
                <a:ea typeface="Arial" pitchFamily="34" charset="-122"/>
                <a:cs typeface="Arial" pitchFamily="34" charset="-120"/>
              </a:rPr>
              <a:t xml:space="preserve">Segment C (Operator-Turned-Investor / High-Income Professional)</a:t>
            </a:r>
            <a:r>
              <a:rPr lang="en-US" sz="850" dirty="0">
                <a:solidFill>
                  <a:srgbClr val="333333"/>
                </a:solidFill>
                <a:latin typeface="Arial" pitchFamily="34" charset="0"/>
                <a:ea typeface="Arial" pitchFamily="34" charset="-122"/>
                <a:cs typeface="Arial" pitchFamily="34" charset="-120"/>
              </a:rPr>
              <a:t xml:space="preserve">. He initially pushed back hard on the original pitch, questioning whether luggage storage footprint would move a hotel’s P&amp;L, then re-engaged and booked once the conversation was reframed around the raise and his advisory perspective rather than a property-pilot pitch.</a:t>
            </a:r>
            <a:endParaRPr lang="en-US" sz="850" dirty="0"/>
          </a:p>
        </p:txBody>
      </p:sp>
      <p:sp>
        <p:nvSpPr>
          <p:cNvPr id="336" name="Text e-3.78"/>
          <p:cNvSpPr txBox="1"/>
          <p:nvPr/>
        </p:nvSpPr>
        <p:spPr>
          <a:xfrm>
            <a:off x="822960" y="3456432"/>
            <a:ext cx="6940296" cy="868680"/>
          </a:xfrm>
          <a:prstGeom prst="rect">
            <a:avLst/>
          </a:prstGeom>
          <a:noFill/>
        </p:spPr>
        <p:txBody>
          <a:bodyPr wrap="square" lIns="0" tIns="0" rIns="0" bIns="0" rtlCol="0" anchor="t"/>
          <a:lstStyle/>
          <a:p>
            <a:pPr indent="0" marL="0">
              <a:lnSpc>
                <a:spcPct val="110000"/>
              </a:lnSpc>
              <a:spcAft>
                <a:spcPts val="150"/>
              </a:spcAft>
              <a:buNone/>
            </a:pPr>
            <a:r>
              <a:rPr lang="en-US" sz="850" b="1" dirty="0">
                <a:solidFill>
                  <a:srgbClr val="1A1A2E"/>
                </a:solidFill>
                <a:latin typeface="Arial" pitchFamily="34" charset="0"/>
                <a:ea typeface="Arial" pitchFamily="34" charset="-122"/>
                <a:cs typeface="Arial" pitchFamily="34" charset="-120"/>
              </a:rPr>
              <a:t xml:space="preserve">Summary of why he’s a good fit:</a:t>
            </a:r>
            <a:endParaRPr lang="en-US" sz="850" dirty="0"/>
          </a:p>
          <a:p>
            <a:pPr indent="0" marL="0">
              <a:lnSpc>
                <a:spcPct val="110000"/>
              </a:lnSpc>
              <a:spcAft>
                <a:spcPts val="150"/>
              </a:spcAft>
              <a:buNone/>
            </a:pPr>
            <a:r>
              <a:rPr lang="en-US" sz="850" dirty="0">
                <a:solidFill>
                  <a:srgbClr val="333333"/>
                </a:solidFill>
                <a:latin typeface="Arial" pitchFamily="34" charset="0"/>
                <a:ea typeface="Arial" pitchFamily="34" charset="-122"/>
                <a:cs typeface="Arial" pitchFamily="34" charset="-120"/>
              </a:rPr>
              <a:t xml:space="preserve">15+ years of senior hospitality brand leadership: Global Brand Director for Westin Hotels &amp; Resorts and Global Brand lead across Marriott’s premium and lifestyle portfolio, Director of Brand F&amp;B Development (Americas) at Hilton, and a stint at a VC-backed hospitality-tech startup. He now advises private clients across the hospitality sector. </a:t>
            </a:r>
            <a:r>
              <a:rPr lang="en-US" sz="850" b="1" dirty="0">
                <a:solidFill>
                  <a:srgbClr val="333333"/>
                </a:solidFill>
                <a:latin typeface="Arial" pitchFamily="34" charset="0"/>
                <a:ea typeface="Arial" pitchFamily="34" charset="-122"/>
                <a:cs typeface="Arial" pitchFamily="34" charset="-120"/>
              </a:rPr>
              <a:t xml:space="preserve">His own qualifying answers reflect that: he marked himself as not accredited but also selected a $25K–$50K check size, direct investment, and a 30–90 day timeline</a:t>
            </a:r>
            <a:r>
              <a:rPr lang="en-US" sz="850" dirty="0">
                <a:solidFill>
                  <a:srgbClr val="333333"/>
                </a:solidFill>
                <a:latin typeface="Arial" pitchFamily="34" charset="0"/>
                <a:ea typeface="Arial" pitchFamily="34" charset="-122"/>
                <a:cs typeface="Arial" pitchFamily="34" charset="-120"/>
              </a:rPr>
              <a:t xml:space="preserve">, an inconsistency worth being aware of going in. He also selected Advisor/Consultant as his partnership interest, so the call may land better framed as an operator/advisory conversation.</a:t>
            </a:r>
            <a:endParaRPr lang="en-US" sz="850" dirty="0"/>
          </a:p>
        </p:txBody>
      </p:sp>
      <p:sp>
        <p:nvSpPr>
          <p:cNvPr id="337" name="Text e-4.92"/>
          <p:cNvSpPr txBox="1"/>
          <p:nvPr/>
        </p:nvSpPr>
        <p:spPr>
          <a:xfrm>
            <a:off x="822960" y="4498848"/>
            <a:ext cx="6940296" cy="274320"/>
          </a:xfrm>
          <a:prstGeom prst="rect">
            <a:avLst/>
          </a:prstGeom>
          <a:noFill/>
        </p:spPr>
        <p:txBody>
          <a:bodyPr wrap="square" lIns="0" tIns="0" rIns="0" bIns="0" rtlCol="0" anchor="t"/>
          <a:lstStyle/>
          <a:p>
            <a:pPr indent="0" marL="0">
              <a:lnSpc>
                <a:spcPct val="110000"/>
              </a:lnSpc>
              <a:spcAft>
                <a:spcPts val="150"/>
              </a:spcAft>
              <a:buNone/>
            </a:pPr>
            <a:r>
              <a:rPr lang="en-US" sz="850" b="1" dirty="0">
                <a:solidFill>
                  <a:srgbClr val="1A1A2E"/>
                </a:solidFill>
                <a:latin typeface="Arial" pitchFamily="34" charset="0"/>
                <a:ea typeface="Arial" pitchFamily="34" charset="-122"/>
                <a:cs typeface="Arial" pitchFamily="34" charset="-120"/>
              </a:rPr>
              <a:t xml:space="preserve">Mutual Connections: </a:t>
            </a:r>
            <a:r>
              <a:rPr lang="en-US" sz="850" dirty="0">
                <a:solidFill>
                  <a:srgbClr val="333333"/>
                </a:solidFill>
                <a:latin typeface="Arial" pitchFamily="34" charset="0"/>
                <a:ea typeface="Arial" pitchFamily="34" charset="-122"/>
                <a:cs typeface="Arial" pitchFamily="34" charset="-120"/>
              </a:rPr>
              <a:t xml:space="preserve">Matthew and Cherryh.   </a:t>
            </a:r>
            <a:r>
              <a:rPr lang="en-US" sz="850" b="1" dirty="0">
                <a:solidFill>
                  <a:srgbClr val="1A1A2E"/>
                </a:solidFill>
                <a:latin typeface="Arial" pitchFamily="34" charset="0"/>
                <a:ea typeface="Arial" pitchFamily="34" charset="-122"/>
                <a:cs typeface="Arial" pitchFamily="34" charset="-120"/>
              </a:rPr>
              <a:t xml:space="preserve">Network Highlights: </a:t>
            </a:r>
            <a:r>
              <a:rPr lang="en-US" sz="850" dirty="0">
                <a:solidFill>
                  <a:srgbClr val="333333"/>
                </a:solidFill>
                <a:latin typeface="Arial" pitchFamily="34" charset="0"/>
                <a:ea typeface="Arial" pitchFamily="34" charset="-122"/>
                <a:cs typeface="Arial" pitchFamily="34" charset="-120"/>
              </a:rPr>
              <a:t xml:space="preserve">4,251 followers, active on LinkedIn engaging with colleagues’ career milestones; Cornell-affiliated.</a:t>
            </a:r>
            <a:endParaRPr lang="en-US" sz="850" dirty="0"/>
          </a:p>
        </p:txBody>
      </p:sp>
      <p:sp>
        <p:nvSpPr>
          <p:cNvPr id="338" name="Text e-5.3"/>
          <p:cNvSpPr txBox="1"/>
          <p:nvPr/>
        </p:nvSpPr>
        <p:spPr>
          <a:xfrm>
            <a:off x="822960" y="4846320"/>
            <a:ext cx="6940296" cy="512064"/>
          </a:xfrm>
          <a:prstGeom prst="rect">
            <a:avLst/>
          </a:prstGeom>
          <a:noFill/>
        </p:spPr>
        <p:txBody>
          <a:bodyPr wrap="square" lIns="0" tIns="0" rIns="0" bIns="0" rtlCol="0" anchor="t"/>
          <a:lstStyle/>
          <a:p>
            <a:pPr indent="0" marL="0">
              <a:lnSpc>
                <a:spcPct val="110000"/>
              </a:lnSpc>
              <a:spcAft>
                <a:spcPts val="150"/>
              </a:spcAft>
              <a:buNone/>
            </a:pPr>
            <a:r>
              <a:rPr lang="en-US" sz="850" b="1" dirty="0">
                <a:solidFill>
                  <a:srgbClr val="1A1A2E"/>
                </a:solidFill>
                <a:latin typeface="Arial" pitchFamily="34" charset="0"/>
                <a:ea typeface="Arial" pitchFamily="34" charset="-122"/>
                <a:cs typeface="Arial" pitchFamily="34" charset="-120"/>
              </a:rPr>
              <a:t xml:space="preserve">Affiliations &amp; notable initiatives: </a:t>
            </a:r>
            <a:r>
              <a:rPr lang="en-US" sz="850" dirty="0">
                <a:solidFill>
                  <a:srgbClr val="333333"/>
                </a:solidFill>
                <a:latin typeface="Arial" pitchFamily="34" charset="0"/>
                <a:ea typeface="Arial" pitchFamily="34" charset="-122"/>
                <a:cs typeface="Arial" pitchFamily="34" charset="-120"/>
              </a:rPr>
              <a:t xml:space="preserve">VP, Strategy at a hospitality brand consultancy  ·  Former Global Brand Director, Westin Hotels &amp; Resorts (Marriott International)  ·  Former Director, Brand F&amp;B Development (Americas), Hilton  ·  Led global brand strategy across Westin, Sheraton, Autograph Collection, Le Méridien, Renaissance and Delta  ·  Part of a team that drove a 5x revenue increase with 40% margin expansion across 9 markets and 200,000+ hotel guest rooms.</a:t>
            </a:r>
            <a:endParaRPr lang="en-US" sz="850" dirty="0"/>
          </a:p>
        </p:txBody>
      </p:sp>
      <p:sp>
        <p:nvSpPr>
          <p:cNvPr id="339" name="Text e-5.96"/>
          <p:cNvSpPr txBox="1"/>
          <p:nvPr/>
        </p:nvSpPr>
        <p:spPr>
          <a:xfrm>
            <a:off x="822960" y="5449824"/>
            <a:ext cx="6940296" cy="713232"/>
          </a:xfrm>
          <a:prstGeom prst="rect">
            <a:avLst/>
          </a:prstGeom>
          <a:noFill/>
        </p:spPr>
        <p:txBody>
          <a:bodyPr wrap="square" lIns="0" tIns="0" rIns="0" bIns="0" rtlCol="0" anchor="t"/>
          <a:lstStyle/>
          <a:p>
            <a:pPr indent="0" marL="0">
              <a:lnSpc>
                <a:spcPct val="108000"/>
              </a:lnSpc>
              <a:spcAft>
                <a:spcPts val="100"/>
              </a:spcAft>
              <a:buNone/>
            </a:pPr>
            <a:r>
              <a:rPr lang="en-US" sz="800" b="1" dirty="0">
                <a:solidFill>
                  <a:srgbClr val="1A1A2E"/>
                </a:solidFill>
                <a:latin typeface="Arial" pitchFamily="34" charset="0"/>
                <a:ea typeface="Arial" pitchFamily="34" charset="-122"/>
                <a:cs typeface="Arial" pitchFamily="34" charset="-120"/>
              </a:rPr>
              <a:t xml:space="preserve">Conversation Thread:</a:t>
            </a:r>
            <a:endParaRPr lang="en-US" sz="800" dirty="0"/>
          </a:p>
          <a:p>
            <a:pPr indent="0" marL="0">
              <a:lnSpc>
                <a:spcPct val="108000"/>
              </a:lnSpc>
              <a:spcAft>
                <a:spcPts val="100"/>
              </a:spcAft>
              <a:buNone/>
            </a:pPr>
            <a:r>
              <a:rPr lang="en-US" sz="800" b="1" i="1" dirty="0">
                <a:solidFill>
                  <a:srgbClr val="333333"/>
                </a:solidFill>
                <a:latin typeface="Arial" pitchFamily="34" charset="0"/>
                <a:ea typeface="Arial" pitchFamily="34" charset="-122"/>
                <a:cs typeface="Arial" pitchFamily="34" charset="-120"/>
              </a:rPr>
              <a:t xml:space="preserve">Prospect: </a:t>
            </a:r>
            <a:r>
              <a:rPr lang="en-US" sz="800" i="1" dirty="0">
                <a:solidFill>
                  <a:srgbClr val="333333"/>
                </a:solidFill>
                <a:latin typeface="Arial" pitchFamily="34" charset="0"/>
                <a:ea typeface="Arial" pitchFamily="34" charset="-122"/>
                <a:cs typeface="Arial" pitchFamily="34" charset="-120"/>
              </a:rPr>
              <a:t xml:space="preserve">“…Not sure the additional 50 sq meters a luggage storage room would change the hotel P&amp;L much if any. I’m no longer your target audience… Let me know if helpful to chat.”</a:t>
            </a:r>
            <a:endParaRPr lang="en-US" sz="800" dirty="0"/>
          </a:p>
          <a:p>
            <a:pPr indent="0" marL="0">
              <a:lnSpc>
                <a:spcPct val="108000"/>
              </a:lnSpc>
              <a:spcAft>
                <a:spcPts val="100"/>
              </a:spcAft>
              <a:buNone/>
            </a:pPr>
            <a:r>
              <a:rPr lang="en-US" sz="800" b="1" i="1" dirty="0">
                <a:solidFill>
                  <a:srgbClr val="333333"/>
                </a:solidFill>
                <a:latin typeface="Arial" pitchFamily="34" charset="0"/>
                <a:ea typeface="Arial" pitchFamily="34" charset="-122"/>
                <a:cs typeface="Arial" pitchFamily="34" charset="-120"/>
              </a:rPr>
              <a:t xml:space="preserve">Founder: </a:t>
            </a:r>
            <a:r>
              <a:rPr lang="en-US" sz="800" i="1" dirty="0">
                <a:solidFill>
                  <a:srgbClr val="333333"/>
                </a:solidFill>
                <a:latin typeface="Arial" pitchFamily="34" charset="0"/>
                <a:ea typeface="Arial" pitchFamily="34" charset="-122"/>
                <a:cs typeface="Arial" pitchFamily="34" charset="-120"/>
              </a:rPr>
              <a:t xml:space="preserve">“…To be upfront, this outreach is part of a raise we’re running, not a property-pilot pitch… Given your background, I’d genuinely value your take on it from that angle.”</a:t>
            </a:r>
            <a:endParaRPr lang="en-US" sz="800" dirty="0"/>
          </a:p>
          <a:p>
            <a:pPr indent="0" marL="0">
              <a:lnSpc>
                <a:spcPct val="108000"/>
              </a:lnSpc>
              <a:spcAft>
                <a:spcPts val="100"/>
              </a:spcAft>
              <a:buNone/>
            </a:pPr>
            <a:r>
              <a:rPr lang="en-US" sz="800" b="1" i="1" dirty="0">
                <a:solidFill>
                  <a:srgbClr val="333333"/>
                </a:solidFill>
                <a:latin typeface="Arial" pitchFamily="34" charset="0"/>
                <a:ea typeface="Arial" pitchFamily="34" charset="-122"/>
                <a:cs typeface="Arial" pitchFamily="34" charset="-120"/>
              </a:rPr>
              <a:t xml:space="preserve">Prospect: </a:t>
            </a:r>
            <a:r>
              <a:rPr lang="en-US" sz="800" i="1" dirty="0">
                <a:solidFill>
                  <a:srgbClr val="333333"/>
                </a:solidFill>
                <a:latin typeface="Arial" pitchFamily="34" charset="0"/>
                <a:ea typeface="Arial" pitchFamily="34" charset="-122"/>
                <a:cs typeface="Arial" pitchFamily="34" charset="-120"/>
              </a:rPr>
              <a:t xml:space="preserve">“Love it. Let’s connect.”  …  “Perfect. Sent. Looking forward.”</a:t>
            </a:r>
            <a:endParaRPr lang="en-US" sz="800" dirty="0"/>
          </a:p>
        </p:txBody>
      </p:sp>
      <p:sp>
        <p:nvSpPr>
          <p:cNvPr id="340" name="Text e-6.86"/>
          <p:cNvSpPr txBox="1"/>
          <p:nvPr/>
        </p:nvSpPr>
        <p:spPr>
          <a:xfrm>
            <a:off x="822960" y="6272784"/>
            <a:ext cx="6940296" cy="182880"/>
          </a:xfrm>
          <a:prstGeom prst="rect">
            <a:avLst/>
          </a:prstGeom>
          <a:noFill/>
        </p:spPr>
        <p:txBody>
          <a:bodyPr wrap="square" lIns="0" tIns="0" rIns="0" bIns="0" rtlCol="0" anchor="t"/>
          <a:lstStyle/>
          <a:p>
            <a:pPr indent="0" marL="0">
              <a:lnSpc>
                <a:spcPct val="110000"/>
              </a:lnSpc>
              <a:spcAft>
                <a:spcPts val="150"/>
              </a:spcAft>
              <a:buNone/>
            </a:pPr>
            <a:r>
              <a:rPr lang="en-US" sz="850" b="1" dirty="0">
                <a:solidFill>
                  <a:srgbClr val="1A1A2E"/>
                </a:solidFill>
                <a:latin typeface="Arial" pitchFamily="34" charset="0"/>
                <a:ea typeface="Arial" pitchFamily="34" charset="-122"/>
                <a:cs typeface="Arial" pitchFamily="34" charset="-120"/>
              </a:rPr>
              <a:t xml:space="preserve">LinkedIn Profile: </a:t>
            </a:r>
            <a:r>
              <a:rPr lang="en-US" sz="850" dirty="0">
                <a:solidFill>
                  <a:srgbClr val="1A73E8"/>
                </a:solidFill>
                <a:latin typeface="Arial" pitchFamily="34" charset="0"/>
                <a:ea typeface="Arial" pitchFamily="34" charset="-122"/>
                <a:cs typeface="Arial" pitchFamily="34" charset="-120"/>
              </a:rPr>
              <a:t xml:space="preserve">full profile attached below</a:t>
            </a:r>
            <a:r>
              <a:rPr lang="en-US" sz="850" b="1" dirty="0">
                <a:solidFill>
                  <a:srgbClr val="1A1A2E"/>
                </a:solidFill>
                <a:latin typeface="Arial" pitchFamily="34" charset="0"/>
                <a:ea typeface="Arial" pitchFamily="34" charset="-122"/>
                <a:cs typeface="Arial" pitchFamily="34" charset="-120"/>
              </a:rPr>
              <a:t xml:space="preserve">     Calendly booking: </a:t>
            </a:r>
            <a:r>
              <a:rPr lang="en-US" sz="850" dirty="0">
                <a:solidFill>
                  <a:srgbClr val="1A73E8"/>
                </a:solidFill>
                <a:latin typeface="Arial" pitchFamily="34" charset="0"/>
                <a:ea typeface="Arial" pitchFamily="34" charset="-122"/>
                <a:cs typeface="Arial" pitchFamily="34" charset="-120"/>
              </a:rPr>
              <a:t xml:space="preserve">confirmed for Tue, Sep 22, 5:30pm ET</a:t>
            </a:r>
            <a:endParaRPr lang="en-US" sz="850" dirty="0"/>
          </a:p>
        </p:txBody>
      </p:sp>
      <p:sp>
        <p:nvSpPr>
          <p:cNvPr id="341" name="Shape arrow 2.94"/>
          <p:cNvSpPr/>
          <p:nvPr/>
        </p:nvSpPr>
        <p:spPr>
          <a:xfrm>
            <a:off x="8083296" y="2706624"/>
            <a:ext cx="329184" cy="182880"/>
          </a:xfrm>
          <a:prstGeom prst="leftArrow">
            <a:avLst/>
          </a:prstGeom>
          <a:solidFill>
            <a:srgbClr val="43D5FF"/>
          </a:solidFill>
          <a:ln>
            <a:noFill/>
          </a:ln>
        </p:spPr>
      </p:sp>
      <p:sp>
        <p:nvSpPr>
          <p:cNvPr id="342" name="Text co-l 2.94"/>
          <p:cNvSpPr txBox="1"/>
          <p:nvPr/>
        </p:nvSpPr>
        <p:spPr>
          <a:xfrm>
            <a:off x="8522208" y="2670048"/>
            <a:ext cx="3108960" cy="219456"/>
          </a:xfrm>
          <a:prstGeom prst="rect">
            <a:avLst/>
          </a:prstGeom>
          <a:noFill/>
        </p:spPr>
        <p:txBody>
          <a:bodyPr wrap="square" lIns="0" tIns="0" rIns="0" bIns="0" rtlCol="0" anchor="t"/>
          <a:lstStyle/>
          <a:p>
            <a:pPr indent="0" marL="0">
              <a:lnSpc>
                <a:spcPct val="112000"/>
              </a:lnSpc>
              <a:spcAft>
                <a:spcPts val="300"/>
              </a:spcAft>
              <a:buNone/>
            </a:pPr>
            <a:r>
              <a:rPr lang="en-US" sz="1050" b="1" dirty="0">
                <a:solidFill>
                  <a:srgbClr val="43D5FF"/>
                </a:solidFill>
                <a:latin typeface="Arial" pitchFamily="34" charset="0"/>
                <a:ea typeface="Arial" pitchFamily="34" charset="-122"/>
                <a:cs typeface="Arial" pitchFamily="34" charset="-120"/>
              </a:rPr>
              <a:t xml:space="preserve">SEGMENT FIT, STATED</a:t>
            </a:r>
            <a:endParaRPr lang="en-US" sz="1050" dirty="0"/>
          </a:p>
        </p:txBody>
      </p:sp>
      <p:sp>
        <p:nvSpPr>
          <p:cNvPr id="343" name="Text co-t 2.94"/>
          <p:cNvSpPr txBox="1"/>
          <p:nvPr/>
        </p:nvSpPr>
        <p:spPr>
          <a:xfrm>
            <a:off x="8522208" y="2907792"/>
            <a:ext cx="3108960" cy="566928"/>
          </a:xfrm>
          <a:prstGeom prst="rect">
            <a:avLst/>
          </a:prstGeom>
          <a:noFill/>
        </p:spPr>
        <p:txBody>
          <a:bodyPr wrap="square" lIns="0" tIns="0" rIns="0" bIns="0" rtlCol="0" anchor="t"/>
          <a:lstStyle/>
          <a:p>
            <a:pPr indent="0" marL="0">
              <a:lnSpc>
                <a:spcPct val="110000"/>
              </a:lnSpc>
              <a:spcAft>
                <a:spcPts val="0"/>
              </a:spcAft>
              <a:buNone/>
            </a:pPr>
            <a:r>
              <a:rPr lang="en-US" sz="950" dirty="0">
                <a:solidFill>
                  <a:srgbClr val="FFFFFF"/>
                </a:solidFill>
                <a:latin typeface="Arial" pitchFamily="34" charset="0"/>
                <a:ea typeface="Arial" pitchFamily="34" charset="-122"/>
                <a:cs typeface="Arial" pitchFamily="34" charset="-120"/>
              </a:rPr>
              <a:t xml:space="preserve">Which of your ICP segments they matched and how the conversation got to a booking, so nothing is a surprise on the call.</a:t>
            </a:r>
            <a:endParaRPr lang="en-US" sz="950" dirty="0"/>
          </a:p>
        </p:txBody>
      </p:sp>
      <p:sp>
        <p:nvSpPr>
          <p:cNvPr id="344" name="Shape arrow 4"/>
          <p:cNvSpPr/>
          <p:nvPr/>
        </p:nvSpPr>
        <p:spPr>
          <a:xfrm>
            <a:off x="8083296" y="3675888"/>
            <a:ext cx="329184" cy="182880"/>
          </a:xfrm>
          <a:prstGeom prst="leftArrow">
            <a:avLst/>
          </a:prstGeom>
          <a:solidFill>
            <a:srgbClr val="43D5FF"/>
          </a:solidFill>
          <a:ln>
            <a:noFill/>
          </a:ln>
        </p:spPr>
      </p:sp>
      <p:sp>
        <p:nvSpPr>
          <p:cNvPr id="345" name="Text co-l 4"/>
          <p:cNvSpPr txBox="1"/>
          <p:nvPr/>
        </p:nvSpPr>
        <p:spPr>
          <a:xfrm>
            <a:off x="8522208" y="3639312"/>
            <a:ext cx="3108960" cy="219456"/>
          </a:xfrm>
          <a:prstGeom prst="rect">
            <a:avLst/>
          </a:prstGeom>
          <a:noFill/>
        </p:spPr>
        <p:txBody>
          <a:bodyPr wrap="square" lIns="0" tIns="0" rIns="0" bIns="0" rtlCol="0" anchor="t"/>
          <a:lstStyle/>
          <a:p>
            <a:pPr indent="0" marL="0">
              <a:lnSpc>
                <a:spcPct val="112000"/>
              </a:lnSpc>
              <a:spcAft>
                <a:spcPts val="300"/>
              </a:spcAft>
              <a:buNone/>
            </a:pPr>
            <a:r>
              <a:rPr lang="en-US" sz="1050" b="1" dirty="0">
                <a:solidFill>
                  <a:srgbClr val="43D5FF"/>
                </a:solidFill>
                <a:latin typeface="Arial" pitchFamily="34" charset="0"/>
                <a:ea typeface="Arial" pitchFamily="34" charset="-122"/>
                <a:cs typeface="Arial" pitchFamily="34" charset="-120"/>
              </a:rPr>
              <a:t xml:space="preserve">WHY THEY’RE WORTH YOUR TIME</a:t>
            </a:r>
            <a:endParaRPr lang="en-US" sz="1050" dirty="0"/>
          </a:p>
        </p:txBody>
      </p:sp>
      <p:sp>
        <p:nvSpPr>
          <p:cNvPr id="346" name="Text co-t 4"/>
          <p:cNvSpPr txBox="1"/>
          <p:nvPr/>
        </p:nvSpPr>
        <p:spPr>
          <a:xfrm>
            <a:off x="8522208" y="3877056"/>
            <a:ext cx="3108960" cy="566928"/>
          </a:xfrm>
          <a:prstGeom prst="rect">
            <a:avLst/>
          </a:prstGeom>
          <a:noFill/>
        </p:spPr>
        <p:txBody>
          <a:bodyPr wrap="square" lIns="0" tIns="0" rIns="0" bIns="0" rtlCol="0" anchor="t"/>
          <a:lstStyle/>
          <a:p>
            <a:pPr indent="0" marL="0">
              <a:lnSpc>
                <a:spcPct val="110000"/>
              </a:lnSpc>
              <a:spcAft>
                <a:spcPts val="0"/>
              </a:spcAft>
              <a:buNone/>
            </a:pPr>
            <a:r>
              <a:rPr lang="en-US" sz="950" dirty="0">
                <a:solidFill>
                  <a:srgbClr val="FFFFFF"/>
                </a:solidFill>
                <a:latin typeface="Arial" pitchFamily="34" charset="0"/>
                <a:ea typeface="Arial" pitchFamily="34" charset="-122"/>
                <a:cs typeface="Arial" pitchFamily="34" charset="-120"/>
              </a:rPr>
              <a:t xml:space="preserve">Background, their own qualifying answers and an honest read on how to frame the call, inconsistencies included.</a:t>
            </a:r>
            <a:endParaRPr lang="en-US" sz="950" dirty="0"/>
          </a:p>
        </p:txBody>
      </p:sp>
      <p:sp>
        <p:nvSpPr>
          <p:cNvPr id="347" name="Shape arrow 5.14"/>
          <p:cNvSpPr/>
          <p:nvPr/>
        </p:nvSpPr>
        <p:spPr>
          <a:xfrm>
            <a:off x="8083296" y="4718304"/>
            <a:ext cx="329184" cy="182880"/>
          </a:xfrm>
          <a:prstGeom prst="leftArrow">
            <a:avLst/>
          </a:prstGeom>
          <a:solidFill>
            <a:srgbClr val="43D5FF"/>
          </a:solidFill>
          <a:ln>
            <a:noFill/>
          </a:ln>
        </p:spPr>
      </p:sp>
      <p:sp>
        <p:nvSpPr>
          <p:cNvPr id="348" name="Text co-l 5.14"/>
          <p:cNvSpPr txBox="1"/>
          <p:nvPr/>
        </p:nvSpPr>
        <p:spPr>
          <a:xfrm>
            <a:off x="8522208" y="4681728"/>
            <a:ext cx="3108960" cy="219456"/>
          </a:xfrm>
          <a:prstGeom prst="rect">
            <a:avLst/>
          </a:prstGeom>
          <a:noFill/>
        </p:spPr>
        <p:txBody>
          <a:bodyPr wrap="square" lIns="0" tIns="0" rIns="0" bIns="0" rtlCol="0" anchor="t"/>
          <a:lstStyle/>
          <a:p>
            <a:pPr indent="0" marL="0">
              <a:lnSpc>
                <a:spcPct val="112000"/>
              </a:lnSpc>
              <a:spcAft>
                <a:spcPts val="300"/>
              </a:spcAft>
              <a:buNone/>
            </a:pPr>
            <a:r>
              <a:rPr lang="en-US" sz="1050" b="1" dirty="0">
                <a:solidFill>
                  <a:srgbClr val="43D5FF"/>
                </a:solidFill>
                <a:latin typeface="Arial" pitchFamily="34" charset="0"/>
                <a:ea typeface="Arial" pitchFamily="34" charset="-122"/>
                <a:cs typeface="Arial" pitchFamily="34" charset="-120"/>
              </a:rPr>
              <a:t xml:space="preserve">WARM PATHS IN + TRACK RECORD</a:t>
            </a:r>
            <a:endParaRPr lang="en-US" sz="1050" dirty="0"/>
          </a:p>
        </p:txBody>
      </p:sp>
      <p:sp>
        <p:nvSpPr>
          <p:cNvPr id="349" name="Text co-t 5.14"/>
          <p:cNvSpPr txBox="1"/>
          <p:nvPr/>
        </p:nvSpPr>
        <p:spPr>
          <a:xfrm>
            <a:off x="8522208" y="4919472"/>
            <a:ext cx="3108960" cy="566928"/>
          </a:xfrm>
          <a:prstGeom prst="rect">
            <a:avLst/>
          </a:prstGeom>
          <a:noFill/>
        </p:spPr>
        <p:txBody>
          <a:bodyPr wrap="square" lIns="0" tIns="0" rIns="0" bIns="0" rtlCol="0" anchor="t"/>
          <a:lstStyle/>
          <a:p>
            <a:pPr indent="0" marL="0">
              <a:lnSpc>
                <a:spcPct val="110000"/>
              </a:lnSpc>
              <a:spcAft>
                <a:spcPts val="0"/>
              </a:spcAft>
              <a:buNone/>
            </a:pPr>
            <a:r>
              <a:rPr lang="en-US" sz="950" dirty="0">
                <a:solidFill>
                  <a:srgbClr val="FFFFFF"/>
                </a:solidFill>
                <a:latin typeface="Arial" pitchFamily="34" charset="0"/>
                <a:ea typeface="Arial" pitchFamily="34" charset="-122"/>
                <a:cs typeface="Arial" pitchFamily="34" charset="-120"/>
              </a:rPr>
              <a:t xml:space="preserve">Mutual connections, shared schools, roles, affiliations and initiatives that matter to you, each checked by a person.</a:t>
            </a:r>
            <a:endParaRPr lang="en-US" sz="950" dirty="0"/>
          </a:p>
        </p:txBody>
      </p:sp>
      <p:sp>
        <p:nvSpPr>
          <p:cNvPr id="350" name="Shape arrow 6.12"/>
          <p:cNvSpPr/>
          <p:nvPr/>
        </p:nvSpPr>
        <p:spPr>
          <a:xfrm>
            <a:off x="8083296" y="5614416"/>
            <a:ext cx="329184" cy="182880"/>
          </a:xfrm>
          <a:prstGeom prst="leftArrow">
            <a:avLst/>
          </a:prstGeom>
          <a:solidFill>
            <a:srgbClr val="43D5FF"/>
          </a:solidFill>
          <a:ln>
            <a:noFill/>
          </a:ln>
        </p:spPr>
      </p:sp>
      <p:sp>
        <p:nvSpPr>
          <p:cNvPr id="351" name="Text co-l 6.12"/>
          <p:cNvSpPr txBox="1"/>
          <p:nvPr/>
        </p:nvSpPr>
        <p:spPr>
          <a:xfrm>
            <a:off x="8522208" y="5577840"/>
            <a:ext cx="3108960" cy="219456"/>
          </a:xfrm>
          <a:prstGeom prst="rect">
            <a:avLst/>
          </a:prstGeom>
          <a:noFill/>
        </p:spPr>
        <p:txBody>
          <a:bodyPr wrap="square" lIns="0" tIns="0" rIns="0" bIns="0" rtlCol="0" anchor="t"/>
          <a:lstStyle/>
          <a:p>
            <a:pPr indent="0" marL="0">
              <a:lnSpc>
                <a:spcPct val="112000"/>
              </a:lnSpc>
              <a:spcAft>
                <a:spcPts val="300"/>
              </a:spcAft>
              <a:buNone/>
            </a:pPr>
            <a:r>
              <a:rPr lang="en-US" sz="1050" b="1" dirty="0">
                <a:solidFill>
                  <a:srgbClr val="43D5FF"/>
                </a:solidFill>
                <a:latin typeface="Arial" pitchFamily="34" charset="0"/>
                <a:ea typeface="Arial" pitchFamily="34" charset="-122"/>
                <a:cs typeface="Arial" pitchFamily="34" charset="-120"/>
              </a:rPr>
              <a:t xml:space="preserve">THE WHOLE CONVERSATION</a:t>
            </a:r>
            <a:endParaRPr lang="en-US" sz="1050" dirty="0"/>
          </a:p>
        </p:txBody>
      </p:sp>
      <p:sp>
        <p:nvSpPr>
          <p:cNvPr id="352" name="Text co-t 6.12"/>
          <p:cNvSpPr txBox="1"/>
          <p:nvPr/>
        </p:nvSpPr>
        <p:spPr>
          <a:xfrm>
            <a:off x="8522208" y="5815584"/>
            <a:ext cx="3108960" cy="566928"/>
          </a:xfrm>
          <a:prstGeom prst="rect">
            <a:avLst/>
          </a:prstGeom>
          <a:noFill/>
        </p:spPr>
        <p:txBody>
          <a:bodyPr wrap="square" lIns="0" tIns="0" rIns="0" bIns="0" rtlCol="0" anchor="t"/>
          <a:lstStyle/>
          <a:p>
            <a:pPr indent="0" marL="0">
              <a:lnSpc>
                <a:spcPct val="110000"/>
              </a:lnSpc>
              <a:spcAft>
                <a:spcPts val="0"/>
              </a:spcAft>
              <a:buNone/>
            </a:pPr>
            <a:r>
              <a:rPr lang="en-US" sz="950" dirty="0">
                <a:solidFill>
                  <a:srgbClr val="FFFFFF"/>
                </a:solidFill>
                <a:latin typeface="Arial" pitchFamily="34" charset="0"/>
                <a:ea typeface="Arial" pitchFamily="34" charset="-122"/>
                <a:cs typeface="Arial" pitchFamily="34" charset="-120"/>
              </a:rPr>
              <a:t xml:space="preserve">Every message exchanged, so you walk in knowing exactly what was said and promised.</a:t>
            </a:r>
            <a:endParaRPr lang="en-US" sz="950" dirty="0"/>
          </a:p>
        </p:txBody>
      </p:sp>
      <p:sp>
        <p:nvSpPr>
          <p:cNvPr id="353" name="Shape arrow 6.88"/>
          <p:cNvSpPr/>
          <p:nvPr/>
        </p:nvSpPr>
        <p:spPr>
          <a:xfrm>
            <a:off x="8083296" y="6309360"/>
            <a:ext cx="329184" cy="182880"/>
          </a:xfrm>
          <a:prstGeom prst="leftArrow">
            <a:avLst/>
          </a:prstGeom>
          <a:solidFill>
            <a:srgbClr val="43D5FF"/>
          </a:solidFill>
          <a:ln>
            <a:noFill/>
          </a:ln>
        </p:spPr>
      </p:sp>
      <p:sp>
        <p:nvSpPr>
          <p:cNvPr id="354" name="Text co-l 6.88"/>
          <p:cNvSpPr txBox="1"/>
          <p:nvPr/>
        </p:nvSpPr>
        <p:spPr>
          <a:xfrm>
            <a:off x="8522208" y="6272784"/>
            <a:ext cx="3108960" cy="219456"/>
          </a:xfrm>
          <a:prstGeom prst="rect">
            <a:avLst/>
          </a:prstGeom>
          <a:noFill/>
        </p:spPr>
        <p:txBody>
          <a:bodyPr wrap="square" lIns="0" tIns="0" rIns="0" bIns="0" rtlCol="0" anchor="t"/>
          <a:lstStyle/>
          <a:p>
            <a:pPr indent="0" marL="0">
              <a:lnSpc>
                <a:spcPct val="112000"/>
              </a:lnSpc>
              <a:spcAft>
                <a:spcPts val="300"/>
              </a:spcAft>
              <a:buNone/>
            </a:pPr>
            <a:r>
              <a:rPr lang="en-US" sz="1050" b="1" dirty="0">
                <a:solidFill>
                  <a:srgbClr val="43D5FF"/>
                </a:solidFill>
                <a:latin typeface="Arial" pitchFamily="34" charset="0"/>
                <a:ea typeface="Arial" pitchFamily="34" charset="-122"/>
                <a:cs typeface="Arial" pitchFamily="34" charset="-120"/>
              </a:rPr>
              <a:t xml:space="preserve">PROFILE + BOOKING</a:t>
            </a:r>
            <a:endParaRPr lang="en-US" sz="1050" dirty="0"/>
          </a:p>
        </p:txBody>
      </p:sp>
      <p:sp>
        <p:nvSpPr>
          <p:cNvPr id="355" name="Text co-t 6.88"/>
          <p:cNvSpPr txBox="1"/>
          <p:nvPr/>
        </p:nvSpPr>
        <p:spPr>
          <a:xfrm>
            <a:off x="8522208" y="6510528"/>
            <a:ext cx="3108960" cy="566928"/>
          </a:xfrm>
          <a:prstGeom prst="rect">
            <a:avLst/>
          </a:prstGeom>
          <a:noFill/>
        </p:spPr>
        <p:txBody>
          <a:bodyPr wrap="square" lIns="0" tIns="0" rIns="0" bIns="0" rtlCol="0" anchor="t"/>
          <a:lstStyle/>
          <a:p>
            <a:pPr indent="0" marL="0">
              <a:lnSpc>
                <a:spcPct val="110000"/>
              </a:lnSpc>
              <a:spcAft>
                <a:spcPts val="0"/>
              </a:spcAft>
              <a:buNone/>
            </a:pPr>
            <a:r>
              <a:rPr lang="en-US" sz="950" dirty="0">
                <a:solidFill>
                  <a:srgbClr val="FFFFFF"/>
                </a:solidFill>
                <a:latin typeface="Arial" pitchFamily="34" charset="0"/>
                <a:ea typeface="Arial" pitchFamily="34" charset="-122"/>
                <a:cs typeface="Arial" pitchFamily="34" charset="-120"/>
              </a:rPr>
              <a:t xml:space="preserve">Full profile attached; the slot is already on your calendar.</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What To Expect</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VOLUME, MEETINGS, TIMING</a:t>
            </a:r>
            <a:endParaRPr lang="en-US" sz="1400" dirty="0"/>
          </a:p>
        </p:txBody>
      </p:sp>
      <p:sp>
        <p:nvSpPr>
          <p:cNvPr id="6" name="Shape 3"/>
          <p:cNvSpPr/>
          <p:nvPr/>
        </p:nvSpPr>
        <p:spPr>
          <a:xfrm>
            <a:off x="566928" y="2103120"/>
            <a:ext cx="3593592" cy="2514600"/>
          </a:xfrm>
          <a:prstGeom prst="roundRect">
            <a:avLst>
              <a:gd name="adj" fmla="val 3273"/>
            </a:avLst>
          </a:prstGeom>
          <a:solidFill>
            <a:srgbClr val="0D0D26">
              <a:alpha val="55000"/>
            </a:srgbClr>
          </a:solidFill>
          <a:ln w="9525">
            <a:solidFill>
              <a:srgbClr val="31316A">
                <a:alpha val="75000"/>
              </a:srgbClr>
            </a:solidFill>
            <a:prstDash val="solid"/>
          </a:ln>
        </p:spPr>
      </p:sp>
      <p:sp>
        <p:nvSpPr>
          <p:cNvPr id="7" name="Text 4"/>
          <p:cNvSpPr/>
          <p:nvPr/>
        </p:nvSpPr>
        <p:spPr>
          <a:xfrm>
            <a:off x="795528" y="2286000"/>
            <a:ext cx="3136392" cy="292608"/>
          </a:xfrm>
          <a:prstGeom prst="rect">
            <a:avLst/>
          </a:prstGeom>
          <a:noFill/>
          <a:ln/>
        </p:spPr>
        <p:txBody>
          <a:bodyPr wrap="square" lIns="0" tIns="0" rIns="0" bIns="0" rtlCol="0" anchor="ctr"/>
          <a:lstStyle/>
          <a:p>
            <a:pPr indent="0" marL="0">
              <a:buNone/>
            </a:pPr>
            <a:r>
              <a:rPr lang="en-US" sz="1250" b="1" spc="100" kern="0" dirty="0">
                <a:solidFill>
                  <a:srgbClr val="43D5FF"/>
                </a:solidFill>
                <a:latin typeface="Arial" pitchFamily="34" charset="0"/>
                <a:ea typeface="Arial" pitchFamily="34" charset="-122"/>
                <a:cs typeface="Arial" pitchFamily="34" charset="-120"/>
              </a:rPr>
              <a:t>OUTREACH VOLUME</a:t>
            </a:r>
            <a:endParaRPr lang="en-US" sz="1250" dirty="0"/>
          </a:p>
        </p:txBody>
      </p:sp>
      <p:sp>
        <p:nvSpPr>
          <p:cNvPr id="8" name="Text 5"/>
          <p:cNvSpPr/>
          <p:nvPr/>
        </p:nvSpPr>
        <p:spPr>
          <a:xfrm>
            <a:off x="795528" y="2560320"/>
            <a:ext cx="3136392" cy="6858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3,600+</a:t>
            </a:r>
            <a:endParaRPr lang="en-US" sz="4400" dirty="0"/>
          </a:p>
        </p:txBody>
      </p:sp>
      <p:sp>
        <p:nvSpPr>
          <p:cNvPr id="9" name="Text 6"/>
          <p:cNvSpPr/>
          <p:nvPr/>
        </p:nvSpPr>
        <p:spPr>
          <a:xfrm>
            <a:off x="795528" y="3255264"/>
            <a:ext cx="3136392" cy="274320"/>
          </a:xfrm>
          <a:prstGeom prst="rect">
            <a:avLst/>
          </a:prstGeom>
          <a:noFill/>
          <a:ln/>
        </p:spPr>
        <p:txBody>
          <a:bodyPr wrap="square" lIns="0" tIns="0" rIns="0" bIns="0" rtlCol="0" anchor="ctr"/>
          <a:lstStyle/>
          <a:p>
            <a:pPr indent="0" marL="0">
              <a:buNone/>
            </a:pPr>
            <a:r>
              <a:rPr lang="en-US" sz="1100" dirty="0">
                <a:solidFill>
                  <a:srgbClr val="B9BEDC"/>
                </a:solidFill>
                <a:latin typeface="Arial" pitchFamily="34" charset="0"/>
                <a:ea typeface="Arial" pitchFamily="34" charset="-122"/>
                <a:cs typeface="Arial" pitchFamily="34" charset="-120"/>
              </a:rPr>
              <a:t>LinkedIn touches / month, three profiles</a:t>
            </a:r>
            <a:endParaRPr lang="en-US" sz="1100" dirty="0"/>
          </a:p>
        </p:txBody>
      </p:sp>
      <p:sp>
        <p:nvSpPr>
          <p:cNvPr id="10" name="Text 7"/>
          <p:cNvSpPr/>
          <p:nvPr/>
        </p:nvSpPr>
        <p:spPr>
          <a:xfrm>
            <a:off x="795528" y="3566160"/>
            <a:ext cx="3136392" cy="868680"/>
          </a:xfrm>
          <a:prstGeom prst="rect">
            <a:avLst/>
          </a:prstGeom>
          <a:noFill/>
          <a:ln/>
        </p:spPr>
        <p:txBody>
          <a:bodyPr wrap="square" lIns="0" tIns="0" rIns="0" bIns="0" rtlCol="0" anchor="t"/>
          <a:lstStyle/>
          <a:p>
            <a:pPr indent="0" marL="0">
              <a:lnSpc>
                <a:spcPct val="112000"/>
              </a:lnSpc>
              <a:buNone/>
            </a:pPr>
            <a:r>
              <a:rPr lang="en-US" sz="1050" dirty="0">
                <a:solidFill>
                  <a:srgbClr val="FFFFFF"/>
                </a:solidFill>
                <a:latin typeface="Arial" pitchFamily="34" charset="0"/>
                <a:ea typeface="Arial" pitchFamily="34" charset="-122"/>
                <a:cs typeface="Arial" pitchFamily="34" charset="-120"/>
              </a:rPr>
              <a:t>We aim to send 600–800 InMails and 600–800 connection invites per profile every month from Michael’s, John’s and Doug’s accounts once fully warmed up. Every touch scored and hand-reviewed first.</a:t>
            </a:r>
            <a:endParaRPr lang="en-US" sz="1050" dirty="0"/>
          </a:p>
        </p:txBody>
      </p:sp>
      <p:sp>
        <p:nvSpPr>
          <p:cNvPr id="11" name="Shape 8"/>
          <p:cNvSpPr/>
          <p:nvPr/>
        </p:nvSpPr>
        <p:spPr>
          <a:xfrm>
            <a:off x="4434840" y="2103120"/>
            <a:ext cx="3593592" cy="2514600"/>
          </a:xfrm>
          <a:prstGeom prst="roundRect">
            <a:avLst>
              <a:gd name="adj" fmla="val 3273"/>
            </a:avLst>
          </a:prstGeom>
          <a:solidFill>
            <a:srgbClr val="0D0D26">
              <a:alpha val="55000"/>
            </a:srgbClr>
          </a:solidFill>
          <a:ln w="9525">
            <a:solidFill>
              <a:srgbClr val="31316A">
                <a:alpha val="75000"/>
              </a:srgbClr>
            </a:solidFill>
            <a:prstDash val="solid"/>
          </a:ln>
        </p:spPr>
      </p:sp>
      <p:sp>
        <p:nvSpPr>
          <p:cNvPr id="12" name="Text 9"/>
          <p:cNvSpPr/>
          <p:nvPr/>
        </p:nvSpPr>
        <p:spPr>
          <a:xfrm>
            <a:off x="4663440" y="2286000"/>
            <a:ext cx="3136392" cy="292608"/>
          </a:xfrm>
          <a:prstGeom prst="rect">
            <a:avLst/>
          </a:prstGeom>
          <a:noFill/>
          <a:ln/>
        </p:spPr>
        <p:txBody>
          <a:bodyPr wrap="square" lIns="0" tIns="0" rIns="0" bIns="0" rtlCol="0" anchor="ctr"/>
          <a:lstStyle/>
          <a:p>
            <a:pPr indent="0" marL="0">
              <a:buNone/>
            </a:pPr>
            <a:r>
              <a:rPr lang="en-US" sz="1250" b="1" spc="100" kern="0" dirty="0">
                <a:solidFill>
                  <a:srgbClr val="43D5FF"/>
                </a:solidFill>
                <a:latin typeface="Arial" pitchFamily="34" charset="0"/>
                <a:ea typeface="Arial" pitchFamily="34" charset="-122"/>
                <a:cs typeface="Arial" pitchFamily="34" charset="-120"/>
              </a:rPr>
              <a:t>QUALIFIED MEETINGS</a:t>
            </a:r>
            <a:endParaRPr lang="en-US" sz="1250" dirty="0"/>
          </a:p>
        </p:txBody>
      </p:sp>
      <p:sp>
        <p:nvSpPr>
          <p:cNvPr id="13" name="Text 10"/>
          <p:cNvSpPr/>
          <p:nvPr/>
        </p:nvSpPr>
        <p:spPr>
          <a:xfrm>
            <a:off x="4663440" y="2560320"/>
            <a:ext cx="3136392" cy="6858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3–6</a:t>
            </a:r>
            <a:endParaRPr lang="en-US" sz="4400" dirty="0"/>
          </a:p>
        </p:txBody>
      </p:sp>
      <p:sp>
        <p:nvSpPr>
          <p:cNvPr id="14" name="Text 11"/>
          <p:cNvSpPr/>
          <p:nvPr/>
        </p:nvSpPr>
        <p:spPr>
          <a:xfrm>
            <a:off x="4663440" y="3255264"/>
            <a:ext cx="3136392" cy="274320"/>
          </a:xfrm>
          <a:prstGeom prst="rect">
            <a:avLst/>
          </a:prstGeom>
          <a:noFill/>
          <a:ln/>
        </p:spPr>
        <p:txBody>
          <a:bodyPr wrap="square" lIns="0" tIns="0" rIns="0" bIns="0" rtlCol="0" anchor="ctr"/>
          <a:lstStyle/>
          <a:p>
            <a:pPr indent="0" marL="0">
              <a:buNone/>
            </a:pPr>
            <a:r>
              <a:rPr lang="en-US" sz="1100" dirty="0">
                <a:solidFill>
                  <a:srgbClr val="B9BEDC"/>
                </a:solidFill>
                <a:latin typeface="Arial" pitchFamily="34" charset="0"/>
                <a:ea typeface="Arial" pitchFamily="34" charset="-122"/>
                <a:cs typeface="Arial" pitchFamily="34" charset="-120"/>
              </a:rPr>
              <a:t>per week at steady state (month 2 onward)</a:t>
            </a:r>
            <a:endParaRPr lang="en-US" sz="1100" dirty="0"/>
          </a:p>
        </p:txBody>
      </p:sp>
      <p:sp>
        <p:nvSpPr>
          <p:cNvPr id="15" name="Text 12"/>
          <p:cNvSpPr/>
          <p:nvPr/>
        </p:nvSpPr>
        <p:spPr>
          <a:xfrm>
            <a:off x="4663440" y="3566160"/>
            <a:ext cx="3136392" cy="868680"/>
          </a:xfrm>
          <a:prstGeom prst="rect">
            <a:avLst/>
          </a:prstGeom>
          <a:noFill/>
          <a:ln/>
        </p:spPr>
        <p:txBody>
          <a:bodyPr wrap="square" lIns="0" tIns="0" rIns="0" bIns="0" rtlCol="0" anchor="t"/>
          <a:lstStyle/>
          <a:p>
            <a:pPr indent="0" marL="0">
              <a:lnSpc>
                <a:spcPct val="112000"/>
              </a:lnSpc>
              <a:buNone/>
            </a:pPr>
            <a:r>
              <a:rPr lang="en-US" sz="1050" dirty="0">
                <a:solidFill>
                  <a:srgbClr val="FFFFFF"/>
                </a:solidFill>
                <a:latin typeface="Arial" pitchFamily="34" charset="0"/>
                <a:ea typeface="Arial" pitchFamily="34" charset="-122"/>
                <a:cs typeface="Arial" pitchFamily="34" charset="-120"/>
              </a:rPr>
              <a:t>Conservatively 1–2 per profile per week once calibrated, primarily $50K+ checkwriters, with smaller investors on their own track. Not a guarantee, but the range we deliver consistently.</a:t>
            </a:r>
            <a:endParaRPr lang="en-US" sz="1050" dirty="0"/>
          </a:p>
        </p:txBody>
      </p:sp>
      <p:sp>
        <p:nvSpPr>
          <p:cNvPr id="16" name="Shape 13"/>
          <p:cNvSpPr/>
          <p:nvPr/>
        </p:nvSpPr>
        <p:spPr>
          <a:xfrm>
            <a:off x="8302752" y="2103120"/>
            <a:ext cx="3593592" cy="2514600"/>
          </a:xfrm>
          <a:prstGeom prst="roundRect">
            <a:avLst>
              <a:gd name="adj" fmla="val 3273"/>
            </a:avLst>
          </a:prstGeom>
          <a:solidFill>
            <a:srgbClr val="0D0D26">
              <a:alpha val="55000"/>
            </a:srgbClr>
          </a:solidFill>
          <a:ln w="9525">
            <a:solidFill>
              <a:srgbClr val="31316A">
                <a:alpha val="75000"/>
              </a:srgbClr>
            </a:solidFill>
            <a:prstDash val="solid"/>
          </a:ln>
        </p:spPr>
      </p:sp>
      <p:sp>
        <p:nvSpPr>
          <p:cNvPr id="17" name="Text 14"/>
          <p:cNvSpPr/>
          <p:nvPr/>
        </p:nvSpPr>
        <p:spPr>
          <a:xfrm>
            <a:off x="8531352" y="2286000"/>
            <a:ext cx="3136392" cy="292608"/>
          </a:xfrm>
          <a:prstGeom prst="rect">
            <a:avLst/>
          </a:prstGeom>
          <a:noFill/>
          <a:ln/>
        </p:spPr>
        <p:txBody>
          <a:bodyPr wrap="square" lIns="0" tIns="0" rIns="0" bIns="0" rtlCol="0" anchor="ctr"/>
          <a:lstStyle/>
          <a:p>
            <a:pPr indent="0" marL="0">
              <a:buNone/>
            </a:pPr>
            <a:r>
              <a:rPr lang="en-US" sz="1250" b="1" spc="100" kern="0" dirty="0">
                <a:solidFill>
                  <a:srgbClr val="43D5FF"/>
                </a:solidFill>
                <a:latin typeface="Arial" pitchFamily="34" charset="0"/>
                <a:ea typeface="Arial" pitchFamily="34" charset="-122"/>
                <a:cs typeface="Arial" pitchFamily="34" charset="-120"/>
              </a:rPr>
              <a:t>TIME TO FIRST MEETINGS</a:t>
            </a:r>
            <a:endParaRPr lang="en-US" sz="1250" dirty="0"/>
          </a:p>
        </p:txBody>
      </p:sp>
      <p:sp>
        <p:nvSpPr>
          <p:cNvPr id="18" name="Text 15"/>
          <p:cNvSpPr/>
          <p:nvPr/>
        </p:nvSpPr>
        <p:spPr>
          <a:xfrm>
            <a:off x="8531352" y="2560320"/>
            <a:ext cx="3136392" cy="6858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3–4</a:t>
            </a:r>
            <a:endParaRPr lang="en-US" sz="4400" dirty="0"/>
          </a:p>
        </p:txBody>
      </p:sp>
      <p:sp>
        <p:nvSpPr>
          <p:cNvPr id="19" name="Text 16"/>
          <p:cNvSpPr/>
          <p:nvPr/>
        </p:nvSpPr>
        <p:spPr>
          <a:xfrm>
            <a:off x="8531352" y="3255264"/>
            <a:ext cx="3136392" cy="274320"/>
          </a:xfrm>
          <a:prstGeom prst="rect">
            <a:avLst/>
          </a:prstGeom>
          <a:noFill/>
          <a:ln/>
        </p:spPr>
        <p:txBody>
          <a:bodyPr wrap="square" lIns="0" tIns="0" rIns="0" bIns="0" rtlCol="0" anchor="ctr"/>
          <a:lstStyle/>
          <a:p>
            <a:pPr indent="0" marL="0">
              <a:buNone/>
            </a:pPr>
            <a:r>
              <a:rPr lang="en-US" sz="1100" dirty="0">
                <a:solidFill>
                  <a:srgbClr val="B9BEDC"/>
                </a:solidFill>
                <a:latin typeface="Arial" pitchFamily="34" charset="0"/>
                <a:ea typeface="Arial" pitchFamily="34" charset="-122"/>
                <a:cs typeface="Arial" pitchFamily="34" charset="-120"/>
              </a:rPr>
              <a:t>weeks from kickoff to first booked calls</a:t>
            </a:r>
            <a:endParaRPr lang="en-US" sz="1100" dirty="0"/>
          </a:p>
        </p:txBody>
      </p:sp>
      <p:sp>
        <p:nvSpPr>
          <p:cNvPr id="20" name="Text 17"/>
          <p:cNvSpPr/>
          <p:nvPr/>
        </p:nvSpPr>
        <p:spPr>
          <a:xfrm>
            <a:off x="8531352" y="3566160"/>
            <a:ext cx="3136392" cy="868680"/>
          </a:xfrm>
          <a:prstGeom prst="rect">
            <a:avLst/>
          </a:prstGeom>
          <a:noFill/>
          <a:ln/>
        </p:spPr>
        <p:txBody>
          <a:bodyPr wrap="square" lIns="0" tIns="0" rIns="0" bIns="0" rtlCol="0" anchor="t"/>
          <a:lstStyle/>
          <a:p>
            <a:pPr indent="0" marL="0">
              <a:lnSpc>
                <a:spcPct val="112000"/>
              </a:lnSpc>
              <a:buNone/>
            </a:pPr>
            <a:r>
              <a:rPr lang="en-US" sz="1050" dirty="0">
                <a:solidFill>
                  <a:srgbClr val="FFFFFF"/>
                </a:solidFill>
                <a:latin typeface="Arial" pitchFamily="34" charset="0"/>
                <a:ea typeface="Arial" pitchFamily="34" charset="-122"/>
                <a:cs typeface="Arial" pitchFamily="34" charset="-120"/>
              </a:rPr>
              <a:t>Weeks one and two are setup: ICP, audiences, scripts and warming three profiles. Live outreach starts in week three, and the first replies and bookings follow within days.</a:t>
            </a:r>
            <a:endParaRPr lang="en-US" sz="1050" dirty="0"/>
          </a:p>
        </p:txBody>
      </p:sp>
      <p:sp>
        <p:nvSpPr>
          <p:cNvPr id="21" name="Shape 18"/>
          <p:cNvSpPr/>
          <p:nvPr/>
        </p:nvSpPr>
        <p:spPr>
          <a:xfrm>
            <a:off x="566928" y="4846320"/>
            <a:ext cx="11338560" cy="1463040"/>
          </a:xfrm>
          <a:prstGeom prst="roundRect">
            <a:avLst>
              <a:gd name="adj" fmla="val 5625"/>
            </a:avLst>
          </a:prstGeom>
          <a:solidFill>
            <a:srgbClr val="0D0D26">
              <a:alpha val="55000"/>
            </a:srgbClr>
          </a:solidFill>
          <a:ln w="9525">
            <a:solidFill>
              <a:srgbClr val="31316A">
                <a:alpha val="75000"/>
              </a:srgbClr>
            </a:solidFill>
            <a:prstDash val="solid"/>
          </a:ln>
        </p:spPr>
      </p:sp>
      <p:sp>
        <p:nvSpPr>
          <p:cNvPr id="22" name="Text 19"/>
          <p:cNvSpPr/>
          <p:nvPr/>
        </p:nvSpPr>
        <p:spPr>
          <a:xfrm>
            <a:off x="795528" y="5010912"/>
            <a:ext cx="10881360" cy="274320"/>
          </a:xfrm>
          <a:prstGeom prst="rect">
            <a:avLst/>
          </a:prstGeom>
          <a:noFill/>
          <a:ln/>
        </p:spPr>
        <p:txBody>
          <a:bodyPr wrap="square" lIns="0" tIns="0" rIns="0" bIns="0" rtlCol="0" anchor="ctr"/>
          <a:lstStyle/>
          <a:p>
            <a:pPr indent="0" marL="0">
              <a:buNone/>
            </a:pPr>
            <a:r>
              <a:rPr lang="en-US" sz="1200" b="1" spc="100" kern="0" dirty="0">
                <a:solidFill>
                  <a:srgbClr val="7C6CFF"/>
                </a:solidFill>
                <a:latin typeface="Arial" pitchFamily="34" charset="0"/>
                <a:ea typeface="Arial" pitchFamily="34" charset="-122"/>
                <a:cs typeface="Arial" pitchFamily="34" charset="-120"/>
              </a:rPr>
              <a:t>WHAT “QUALIFIED” MEANS, AND THE HONEST TIMELINE</a:t>
            </a:r>
            <a:endParaRPr lang="en-US" sz="1200" dirty="0"/>
          </a:p>
        </p:txBody>
      </p:sp>
      <p:sp>
        <p:nvSpPr>
          <p:cNvPr id="23" name="Text 20"/>
          <p:cNvSpPr/>
          <p:nvPr/>
        </p:nvSpPr>
        <p:spPr>
          <a:xfrm>
            <a:off x="795528" y="5321808"/>
            <a:ext cx="10881360" cy="868680"/>
          </a:xfrm>
          <a:prstGeom prst="rect">
            <a:avLst/>
          </a:prstGeom>
          <a:noFill/>
          <a:ln/>
        </p:spPr>
        <p:txBody>
          <a:bodyPr wrap="square" lIns="0" tIns="0" rIns="0" bIns="0" rtlCol="0" anchor="t"/>
          <a:lstStyle/>
          <a:p>
            <a:pPr indent="0" marL="0">
              <a:lnSpc>
                <a:spcPct val="125000"/>
              </a:lnSpc>
              <a:buNone/>
            </a:pPr>
            <a:r>
              <a:rPr lang="en-US" sz="1150" dirty="0">
                <a:solidFill>
                  <a:srgbClr val="FFFFFF"/>
                </a:solidFill>
                <a:latin typeface="Arial" pitchFamily="34" charset="0"/>
                <a:ea typeface="Arial" pitchFamily="34" charset="-122"/>
                <a:cs typeface="Arial" pitchFamily="34" charset="-120"/>
              </a:rPr>
              <a:t>A qualified meeting is a family office, high-net-worth individual or angel with a verified investing history who passed scoring and human review, stated their check size on booking, and whose briefing you approved. $50K+ goes to the partners first; smaller investors are routed to their own track. Larger allocators take longer to decide and often start with a test allocation. We’ll fill your calendars quickly; the pace of capital is up to your process and their diligence.</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Your First 90 Days</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WHAT HAPPENS, AND WHEN</a:t>
            </a:r>
            <a:endParaRPr lang="en-US" sz="1400" dirty="0"/>
          </a:p>
        </p:txBody>
      </p:sp>
      <p:sp>
        <p:nvSpPr>
          <p:cNvPr id="6" name="Shape 3"/>
          <p:cNvSpPr/>
          <p:nvPr/>
        </p:nvSpPr>
        <p:spPr>
          <a:xfrm>
            <a:off x="566928" y="2148840"/>
            <a:ext cx="2724912" cy="2642616"/>
          </a:xfrm>
          <a:prstGeom prst="roundRect">
            <a:avLst>
              <a:gd name="adj" fmla="val 3114"/>
            </a:avLst>
          </a:prstGeom>
          <a:solidFill>
            <a:srgbClr val="0D0D26">
              <a:alpha val="55000"/>
            </a:srgbClr>
          </a:solidFill>
          <a:ln w="9525">
            <a:solidFill>
              <a:srgbClr val="31316A">
                <a:alpha val="75000"/>
              </a:srgbClr>
            </a:solidFill>
            <a:prstDash val="solid"/>
          </a:ln>
        </p:spPr>
      </p:sp>
      <p:sp>
        <p:nvSpPr>
          <p:cNvPr id="7" name="Text 4"/>
          <p:cNvSpPr/>
          <p:nvPr/>
        </p:nvSpPr>
        <p:spPr>
          <a:xfrm>
            <a:off x="768096" y="2350008"/>
            <a:ext cx="2322576" cy="292608"/>
          </a:xfrm>
          <a:prstGeom prst="rect">
            <a:avLst/>
          </a:prstGeom>
          <a:noFill/>
          <a:ln/>
        </p:spPr>
        <p:txBody>
          <a:bodyPr wrap="square" lIns="0" tIns="0" rIns="0" bIns="0" rtlCol="0" anchor="ctr"/>
          <a:lstStyle/>
          <a:p>
            <a:pPr indent="0" marL="0">
              <a:buNone/>
            </a:pPr>
            <a:r>
              <a:rPr lang="en-US" sz="1200" b="1" spc="100" kern="0" dirty="0">
                <a:solidFill>
                  <a:srgbClr val="43D5FF"/>
                </a:solidFill>
                <a:latin typeface="Arial" pitchFamily="34" charset="0"/>
                <a:ea typeface="Arial" pitchFamily="34" charset="-122"/>
                <a:cs typeface="Arial" pitchFamily="34" charset="-120"/>
              </a:rPr>
              <a:t>WEEKS 1-2  ·  EARLY NOV</a:t>
            </a:r>
            <a:endParaRPr lang="en-US" sz="1200" dirty="0"/>
          </a:p>
        </p:txBody>
      </p:sp>
      <p:sp>
        <p:nvSpPr>
          <p:cNvPr id="8" name="Text 5"/>
          <p:cNvSpPr/>
          <p:nvPr/>
        </p:nvSpPr>
        <p:spPr>
          <a:xfrm>
            <a:off x="768096" y="2660904"/>
            <a:ext cx="2322576" cy="566928"/>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Setup &amp; Calibration</a:t>
            </a:r>
            <a:endParaRPr lang="en-US" sz="1600" dirty="0"/>
          </a:p>
        </p:txBody>
      </p:sp>
      <p:sp>
        <p:nvSpPr>
          <p:cNvPr id="9" name="Text 6"/>
          <p:cNvSpPr/>
          <p:nvPr/>
        </p:nvSpPr>
        <p:spPr>
          <a:xfrm>
            <a:off x="768096" y="3337560"/>
            <a:ext cx="2359152" cy="1225296"/>
          </a:xfrm>
          <a:prstGeom prst="rect">
            <a:avLst/>
          </a:prstGeom>
          <a:noFill/>
          <a:ln/>
        </p:spPr>
        <p:txBody>
          <a:bodyPr wrap="square" lIns="0" tIns="0" rIns="0" bIns="0" rtlCol="0" anchor="t"/>
          <a:lstStyle/>
          <a:p>
            <a:pPr marL="127000" indent="-127000">
              <a:lnSpc>
                <a:spcPct val="110000"/>
              </a:lnSpc>
              <a:spcAft>
                <a:spcPts val="800"/>
              </a:spcAft>
              <a:buSzPct val="100000"/>
              <a:buChar char="•"/>
            </a:pPr>
            <a:r>
              <a:rPr lang="en-US" sz="1150" dirty="0">
                <a:solidFill>
                  <a:srgbClr val="FFFFFF"/>
                </a:solidFill>
                <a:latin typeface="Arial" pitchFamily="34" charset="0"/>
                <a:ea typeface="Arial" pitchFamily="34" charset="-122"/>
                <a:cs typeface="Arial" pitchFamily="34" charset="-120"/>
              </a:rPr>
              <a:t>Interviews: Michael, John, Doug</a:t>
            </a:r>
            <a:endParaRPr lang="en-US" sz="1150" dirty="0"/>
          </a:p>
          <a:p>
            <a:pPr marL="127000" indent="-127000">
              <a:lnSpc>
                <a:spcPct val="110000"/>
              </a:lnSpc>
              <a:spcAft>
                <a:spcPts val="800"/>
              </a:spcAft>
              <a:buSzPct val="100000"/>
              <a:buChar char="•"/>
            </a:pPr>
            <a:r>
              <a:rPr lang="en-US" sz="1150" dirty="0">
                <a:solidFill>
                  <a:srgbClr val="FFFFFF"/>
                </a:solidFill>
                <a:latin typeface="Arial" pitchFamily="34" charset="0"/>
                <a:ea typeface="Arial" pitchFamily="34" charset="-122"/>
                <a:cs typeface="Arial" pitchFamily="34" charset="-120"/>
              </a:rPr>
              <a:t>Three audiences, one per profile</a:t>
            </a:r>
            <a:endParaRPr lang="en-US" sz="1150" dirty="0"/>
          </a:p>
          <a:p>
            <a:pPr marL="127000" indent="-127000">
              <a:lnSpc>
                <a:spcPct val="110000"/>
              </a:lnSpc>
              <a:spcAft>
                <a:spcPts val="800"/>
              </a:spcAft>
              <a:buSzPct val="100000"/>
              <a:buChar char="•"/>
            </a:pPr>
            <a:r>
              <a:rPr lang="en-US" sz="1150" dirty="0">
                <a:solidFill>
                  <a:srgbClr val="FFFFFF"/>
                </a:solidFill>
                <a:latin typeface="Arial" pitchFamily="34" charset="0"/>
                <a:ea typeface="Arial" pitchFamily="34" charset="-122"/>
                <a:cs typeface="Arial" pitchFamily="34" charset="-120"/>
              </a:rPr>
              <a:t>Profiles branded to Jetstream</a:t>
            </a:r>
            <a:endParaRPr lang="en-US" sz="1150" dirty="0"/>
          </a:p>
          <a:p>
            <a:pPr marL="127000" indent="-127000">
              <a:lnSpc>
                <a:spcPct val="110000"/>
              </a:lnSpc>
              <a:spcAft>
                <a:spcPts val="800"/>
              </a:spcAft>
              <a:buSzPct val="100000"/>
              <a:buChar char="•"/>
            </a:pPr>
            <a:r>
              <a:rPr lang="en-US" sz="1150" dirty="0">
                <a:solidFill>
                  <a:srgbClr val="FFFFFF"/>
                </a:solidFill>
                <a:latin typeface="Arial" pitchFamily="34" charset="0"/>
                <a:ea typeface="Arial" pitchFamily="34" charset="-122"/>
                <a:cs typeface="Arial" pitchFamily="34" charset="-120"/>
              </a:rPr>
              <a:t>Scripts approved in your voices</a:t>
            </a:r>
            <a:endParaRPr lang="en-US" sz="1150" dirty="0"/>
          </a:p>
        </p:txBody>
      </p:sp>
      <p:sp>
        <p:nvSpPr>
          <p:cNvPr id="10" name="Shape 7"/>
          <p:cNvSpPr/>
          <p:nvPr/>
        </p:nvSpPr>
        <p:spPr>
          <a:xfrm>
            <a:off x="3447288" y="2148840"/>
            <a:ext cx="2724912" cy="2642616"/>
          </a:xfrm>
          <a:prstGeom prst="roundRect">
            <a:avLst>
              <a:gd name="adj" fmla="val 3114"/>
            </a:avLst>
          </a:prstGeom>
          <a:solidFill>
            <a:srgbClr val="0D0D26">
              <a:alpha val="55000"/>
            </a:srgbClr>
          </a:solidFill>
          <a:ln w="9525">
            <a:solidFill>
              <a:srgbClr val="31316A">
                <a:alpha val="75000"/>
              </a:srgbClr>
            </a:solidFill>
            <a:prstDash val="solid"/>
          </a:ln>
        </p:spPr>
      </p:sp>
      <p:sp>
        <p:nvSpPr>
          <p:cNvPr id="11" name="Text 8"/>
          <p:cNvSpPr/>
          <p:nvPr/>
        </p:nvSpPr>
        <p:spPr>
          <a:xfrm>
            <a:off x="3648456" y="2350008"/>
            <a:ext cx="2322576" cy="292608"/>
          </a:xfrm>
          <a:prstGeom prst="rect">
            <a:avLst/>
          </a:prstGeom>
          <a:noFill/>
          <a:ln/>
        </p:spPr>
        <p:txBody>
          <a:bodyPr wrap="square" lIns="0" tIns="0" rIns="0" bIns="0" rtlCol="0" anchor="ctr"/>
          <a:lstStyle/>
          <a:p>
            <a:pPr indent="0" marL="0">
              <a:buNone/>
            </a:pPr>
            <a:r>
              <a:rPr lang="en-US" sz="1200" b="1" spc="100" kern="0" dirty="0">
                <a:solidFill>
                  <a:srgbClr val="43D5FF"/>
                </a:solidFill>
                <a:latin typeface="Arial" pitchFamily="34" charset="0"/>
                <a:ea typeface="Arial" pitchFamily="34" charset="-122"/>
                <a:cs typeface="Arial" pitchFamily="34" charset="-120"/>
              </a:rPr>
              <a:t>WEEKS 3-4  ·  MID NOV</a:t>
            </a:r>
            <a:endParaRPr lang="en-US" sz="1200" dirty="0"/>
          </a:p>
        </p:txBody>
      </p:sp>
      <p:sp>
        <p:nvSpPr>
          <p:cNvPr id="12" name="Text 9"/>
          <p:cNvSpPr/>
          <p:nvPr/>
        </p:nvSpPr>
        <p:spPr>
          <a:xfrm>
            <a:off x="3648456" y="2660904"/>
            <a:ext cx="2322576" cy="566928"/>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First Live Outreach</a:t>
            </a:r>
            <a:endParaRPr lang="en-US" sz="1600" dirty="0"/>
          </a:p>
        </p:txBody>
      </p:sp>
      <p:sp>
        <p:nvSpPr>
          <p:cNvPr id="13" name="Text 10"/>
          <p:cNvSpPr/>
          <p:nvPr/>
        </p:nvSpPr>
        <p:spPr>
          <a:xfrm>
            <a:off x="3648456" y="3337560"/>
            <a:ext cx="2359152" cy="1225296"/>
          </a:xfrm>
          <a:prstGeom prst="rect">
            <a:avLst/>
          </a:prstGeom>
          <a:noFill/>
          <a:ln/>
        </p:spPr>
        <p:txBody>
          <a:bodyPr wrap="square" lIns="0" tIns="0" rIns="0" bIns="0" rtlCol="0" anchor="t"/>
          <a:lstStyle/>
          <a:p>
            <a:pPr marL="127000" indent="-127000">
              <a:lnSpc>
                <a:spcPct val="110000"/>
              </a:lnSpc>
              <a:spcAft>
                <a:spcPts val="800"/>
              </a:spcAft>
              <a:buSzPct val="100000"/>
              <a:buChar char="•"/>
            </a:pPr>
            <a:r>
              <a:rPr lang="en-US" sz="1150" dirty="0">
                <a:solidFill>
                  <a:srgbClr val="FFFFFF"/>
                </a:solidFill>
                <a:latin typeface="Arial" pitchFamily="34" charset="0"/>
                <a:ea typeface="Arial" pitchFamily="34" charset="-122"/>
                <a:cs typeface="Arial" pitchFamily="34" charset="-120"/>
              </a:rPr>
              <a:t>Live on all three profiles</a:t>
            </a:r>
            <a:endParaRPr lang="en-US" sz="1150" dirty="0"/>
          </a:p>
          <a:p>
            <a:pPr marL="127000" indent="-127000">
              <a:lnSpc>
                <a:spcPct val="110000"/>
              </a:lnSpc>
              <a:spcAft>
                <a:spcPts val="800"/>
              </a:spcAft>
              <a:buSzPct val="100000"/>
              <a:buChar char="•"/>
            </a:pPr>
            <a:r>
              <a:rPr lang="en-US" sz="1150" dirty="0">
                <a:solidFill>
                  <a:srgbClr val="FFFFFF"/>
                </a:solidFill>
                <a:latin typeface="Arial" pitchFamily="34" charset="0"/>
                <a:ea typeface="Arial" pitchFamily="34" charset="-122"/>
                <a:cs typeface="Arial" pitchFamily="34" charset="-120"/>
              </a:rPr>
              <a:t>First replies, first booked meetings</a:t>
            </a:r>
            <a:endParaRPr lang="en-US" sz="1150" dirty="0"/>
          </a:p>
          <a:p>
            <a:pPr marL="127000" indent="-127000">
              <a:lnSpc>
                <a:spcPct val="110000"/>
              </a:lnSpc>
              <a:spcAft>
                <a:spcPts val="800"/>
              </a:spcAft>
              <a:buSzPct val="100000"/>
              <a:buChar char="•"/>
            </a:pPr>
            <a:r>
              <a:rPr lang="en-US" sz="1150" dirty="0">
                <a:solidFill>
                  <a:srgbClr val="FFFFFF"/>
                </a:solidFill>
                <a:latin typeface="Arial" pitchFamily="34" charset="0"/>
                <a:ea typeface="Arial" pitchFamily="34" charset="-122"/>
                <a:cs typeface="Arial" pitchFamily="34" charset="-120"/>
              </a:rPr>
              <a:t>Startup Deal Desk feature #1</a:t>
            </a:r>
            <a:endParaRPr lang="en-US" sz="1150" dirty="0"/>
          </a:p>
        </p:txBody>
      </p:sp>
      <p:sp>
        <p:nvSpPr>
          <p:cNvPr id="14" name="Shape 11"/>
          <p:cNvSpPr/>
          <p:nvPr/>
        </p:nvSpPr>
        <p:spPr>
          <a:xfrm>
            <a:off x="6327648" y="2148840"/>
            <a:ext cx="2724912" cy="2642616"/>
          </a:xfrm>
          <a:prstGeom prst="roundRect">
            <a:avLst>
              <a:gd name="adj" fmla="val 3114"/>
            </a:avLst>
          </a:prstGeom>
          <a:solidFill>
            <a:srgbClr val="0D0D26">
              <a:alpha val="55000"/>
            </a:srgbClr>
          </a:solidFill>
          <a:ln w="9525">
            <a:solidFill>
              <a:srgbClr val="31316A">
                <a:alpha val="75000"/>
              </a:srgbClr>
            </a:solidFill>
            <a:prstDash val="solid"/>
          </a:ln>
        </p:spPr>
      </p:sp>
      <p:sp>
        <p:nvSpPr>
          <p:cNvPr id="15" name="Text 12"/>
          <p:cNvSpPr/>
          <p:nvPr/>
        </p:nvSpPr>
        <p:spPr>
          <a:xfrm>
            <a:off x="6528816" y="2350008"/>
            <a:ext cx="2322576" cy="292608"/>
          </a:xfrm>
          <a:prstGeom prst="rect">
            <a:avLst/>
          </a:prstGeom>
          <a:noFill/>
          <a:ln/>
        </p:spPr>
        <p:txBody>
          <a:bodyPr wrap="square" lIns="0" tIns="0" rIns="0" bIns="0" rtlCol="0" anchor="ctr"/>
          <a:lstStyle/>
          <a:p>
            <a:pPr indent="0" marL="0">
              <a:buNone/>
            </a:pPr>
            <a:r>
              <a:rPr lang="en-US" sz="1200" b="1" spc="100" kern="0" dirty="0">
                <a:solidFill>
                  <a:srgbClr val="43D5FF"/>
                </a:solidFill>
                <a:latin typeface="Arial" pitchFamily="34" charset="0"/>
                <a:ea typeface="Arial" pitchFamily="34" charset="-122"/>
                <a:cs typeface="Arial" pitchFamily="34" charset="-120"/>
              </a:rPr>
              <a:t>MONTH 2  ·  DECEMBER</a:t>
            </a:r>
            <a:endParaRPr lang="en-US" sz="1200" dirty="0"/>
          </a:p>
        </p:txBody>
      </p:sp>
      <p:sp>
        <p:nvSpPr>
          <p:cNvPr id="16" name="Text 13"/>
          <p:cNvSpPr/>
          <p:nvPr/>
        </p:nvSpPr>
        <p:spPr>
          <a:xfrm>
            <a:off x="6528816" y="2660904"/>
            <a:ext cx="2322576" cy="566928"/>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Steady Flow</a:t>
            </a:r>
            <a:endParaRPr lang="en-US" sz="1600" dirty="0"/>
          </a:p>
        </p:txBody>
      </p:sp>
      <p:sp>
        <p:nvSpPr>
          <p:cNvPr id="17" name="Text 14"/>
          <p:cNvSpPr/>
          <p:nvPr/>
        </p:nvSpPr>
        <p:spPr>
          <a:xfrm>
            <a:off x="6528816" y="3337560"/>
            <a:ext cx="2359152" cy="1225296"/>
          </a:xfrm>
          <a:prstGeom prst="rect">
            <a:avLst/>
          </a:prstGeom>
          <a:noFill/>
          <a:ln/>
        </p:spPr>
        <p:txBody>
          <a:bodyPr wrap="square" lIns="0" tIns="0" rIns="0" bIns="0" rtlCol="0" anchor="t"/>
          <a:lstStyle/>
          <a:p>
            <a:pPr marL="127000" indent="-127000">
              <a:lnSpc>
                <a:spcPct val="110000"/>
              </a:lnSpc>
              <a:spcAft>
                <a:spcPts val="800"/>
              </a:spcAft>
              <a:buSzPct val="100000"/>
              <a:buChar char="•"/>
            </a:pPr>
            <a:r>
              <a:rPr lang="en-US" sz="1150" dirty="0">
                <a:solidFill>
                  <a:srgbClr val="FFFFFF"/>
                </a:solidFill>
                <a:latin typeface="Arial" pitchFamily="34" charset="0"/>
                <a:ea typeface="Arial" pitchFamily="34" charset="-122"/>
                <a:cs typeface="Arial" pitchFamily="34" charset="-120"/>
              </a:rPr>
              <a:t>Steady weekly flow, $50K+ first</a:t>
            </a:r>
            <a:endParaRPr lang="en-US" sz="1150" dirty="0"/>
          </a:p>
          <a:p>
            <a:pPr marL="127000" indent="-127000">
              <a:lnSpc>
                <a:spcPct val="110000"/>
              </a:lnSpc>
              <a:spcAft>
                <a:spcPts val="800"/>
              </a:spcAft>
              <a:buSzPct val="100000"/>
              <a:buChar char="•"/>
            </a:pPr>
            <a:r>
              <a:rPr lang="en-US" sz="1150" dirty="0">
                <a:solidFill>
                  <a:srgbClr val="FFFFFF"/>
                </a:solidFill>
                <a:latin typeface="Arial" pitchFamily="34" charset="0"/>
                <a:ea typeface="Arial" pitchFamily="34" charset="-122"/>
                <a:cs typeface="Arial" pitchFamily="34" charset="-120"/>
              </a:rPr>
              <a:t>Targeting tightened on real replies</a:t>
            </a:r>
            <a:endParaRPr lang="en-US" sz="1150" dirty="0"/>
          </a:p>
          <a:p>
            <a:pPr marL="127000" indent="-127000">
              <a:lnSpc>
                <a:spcPct val="110000"/>
              </a:lnSpc>
              <a:spcAft>
                <a:spcPts val="800"/>
              </a:spcAft>
              <a:buSzPct val="100000"/>
              <a:buChar char="•"/>
            </a:pPr>
            <a:r>
              <a:rPr lang="en-US" sz="1150" dirty="0">
                <a:solidFill>
                  <a:srgbClr val="FFFFFF"/>
                </a:solidFill>
                <a:latin typeface="Arial" pitchFamily="34" charset="0"/>
                <a:ea typeface="Arial" pitchFamily="34" charset="-122"/>
                <a:cs typeface="Arial" pitchFamily="34" charset="-120"/>
              </a:rPr>
              <a:t>Report: which segment writes checks</a:t>
            </a:r>
            <a:endParaRPr lang="en-US" sz="1150" dirty="0"/>
          </a:p>
        </p:txBody>
      </p:sp>
      <p:sp>
        <p:nvSpPr>
          <p:cNvPr id="18" name="Shape 15"/>
          <p:cNvSpPr/>
          <p:nvPr/>
        </p:nvSpPr>
        <p:spPr>
          <a:xfrm>
            <a:off x="9208008" y="2148840"/>
            <a:ext cx="2724912" cy="2642616"/>
          </a:xfrm>
          <a:prstGeom prst="roundRect">
            <a:avLst>
              <a:gd name="adj" fmla="val 3114"/>
            </a:avLst>
          </a:prstGeom>
          <a:solidFill>
            <a:srgbClr val="0D0D26">
              <a:alpha val="55000"/>
            </a:srgbClr>
          </a:solidFill>
          <a:ln w="9525">
            <a:solidFill>
              <a:srgbClr val="31316A">
                <a:alpha val="75000"/>
              </a:srgbClr>
            </a:solidFill>
            <a:prstDash val="solid"/>
          </a:ln>
        </p:spPr>
      </p:sp>
      <p:sp>
        <p:nvSpPr>
          <p:cNvPr id="19" name="Text 16"/>
          <p:cNvSpPr/>
          <p:nvPr/>
        </p:nvSpPr>
        <p:spPr>
          <a:xfrm>
            <a:off x="9409176" y="2350008"/>
            <a:ext cx="2322576" cy="292608"/>
          </a:xfrm>
          <a:prstGeom prst="rect">
            <a:avLst/>
          </a:prstGeom>
          <a:noFill/>
          <a:ln/>
        </p:spPr>
        <p:txBody>
          <a:bodyPr wrap="square" lIns="0" tIns="0" rIns="0" bIns="0" rtlCol="0" anchor="ctr"/>
          <a:lstStyle/>
          <a:p>
            <a:pPr indent="0" marL="0">
              <a:buNone/>
            </a:pPr>
            <a:r>
              <a:rPr lang="en-US" sz="1200" b="1" spc="100" kern="0" dirty="0">
                <a:solidFill>
                  <a:srgbClr val="43D5FF"/>
                </a:solidFill>
                <a:latin typeface="Arial" pitchFamily="34" charset="0"/>
                <a:ea typeface="Arial" pitchFamily="34" charset="-122"/>
                <a:cs typeface="Arial" pitchFamily="34" charset="-120"/>
              </a:rPr>
              <a:t>MONTH 3  ·  JANUARY</a:t>
            </a:r>
            <a:endParaRPr lang="en-US" sz="1200" dirty="0"/>
          </a:p>
        </p:txBody>
      </p:sp>
      <p:sp>
        <p:nvSpPr>
          <p:cNvPr id="20" name="Text 17"/>
          <p:cNvSpPr/>
          <p:nvPr/>
        </p:nvSpPr>
        <p:spPr>
          <a:xfrm>
            <a:off x="9409176" y="2660904"/>
            <a:ext cx="2322576" cy="566928"/>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Prove-Out &amp; Scale</a:t>
            </a:r>
            <a:endParaRPr lang="en-US" sz="1600" dirty="0"/>
          </a:p>
        </p:txBody>
      </p:sp>
      <p:sp>
        <p:nvSpPr>
          <p:cNvPr id="21" name="Text 18"/>
          <p:cNvSpPr/>
          <p:nvPr/>
        </p:nvSpPr>
        <p:spPr>
          <a:xfrm>
            <a:off x="9409176" y="3337560"/>
            <a:ext cx="2359152" cy="1225296"/>
          </a:xfrm>
          <a:prstGeom prst="rect">
            <a:avLst/>
          </a:prstGeom>
          <a:noFill/>
          <a:ln/>
        </p:spPr>
        <p:txBody>
          <a:bodyPr wrap="square" lIns="0" tIns="0" rIns="0" bIns="0" rtlCol="0" anchor="t"/>
          <a:lstStyle/>
          <a:p>
            <a:pPr marL="127000" indent="-127000">
              <a:lnSpc>
                <a:spcPct val="110000"/>
              </a:lnSpc>
              <a:spcAft>
                <a:spcPts val="800"/>
              </a:spcAft>
              <a:buSzPct val="100000"/>
              <a:buChar char="•"/>
            </a:pPr>
            <a:r>
              <a:rPr lang="en-US" sz="1150" dirty="0">
                <a:solidFill>
                  <a:srgbClr val="FFFFFF"/>
                </a:solidFill>
                <a:latin typeface="Arial" pitchFamily="34" charset="0"/>
                <a:ea typeface="Arial" pitchFamily="34" charset="-122"/>
                <a:cs typeface="Arial" pitchFamily="34" charset="-120"/>
              </a:rPr>
              <a:t>Three months of data by segment</a:t>
            </a:r>
            <a:endParaRPr lang="en-US" sz="1150" dirty="0"/>
          </a:p>
          <a:p>
            <a:pPr marL="127000" indent="-127000">
              <a:lnSpc>
                <a:spcPct val="110000"/>
              </a:lnSpc>
              <a:spcAft>
                <a:spcPts val="800"/>
              </a:spcAft>
              <a:buSzPct val="100000"/>
              <a:buChar char="•"/>
            </a:pPr>
            <a:r>
              <a:rPr lang="en-US" sz="1150" dirty="0">
                <a:solidFill>
                  <a:srgbClr val="FFFFFF"/>
                </a:solidFill>
                <a:latin typeface="Arial" pitchFamily="34" charset="0"/>
                <a:ea typeface="Arial" pitchFamily="34" charset="-122"/>
                <a:cs typeface="Arial" pitchFamily="34" charset="-120"/>
              </a:rPr>
              <a:t>Volume shifted to what converts</a:t>
            </a:r>
            <a:endParaRPr lang="en-US" sz="1150" dirty="0"/>
          </a:p>
          <a:p>
            <a:pPr marL="127000" indent="-127000">
              <a:lnSpc>
                <a:spcPct val="110000"/>
              </a:lnSpc>
              <a:spcAft>
                <a:spcPts val="800"/>
              </a:spcAft>
              <a:buSzPct val="100000"/>
              <a:buChar char="•"/>
            </a:pPr>
            <a:r>
              <a:rPr lang="en-US" sz="1150" dirty="0">
                <a:solidFill>
                  <a:srgbClr val="FFFFFF"/>
                </a:solidFill>
                <a:latin typeface="Arial" pitchFamily="34" charset="0"/>
                <a:ea typeface="Arial" pitchFamily="34" charset="-122"/>
                <a:cs typeface="Arial" pitchFamily="34" charset="-120"/>
              </a:rPr>
              <a:t>Plan: add Chris, or new segments</a:t>
            </a:r>
            <a:endParaRPr lang="en-US" sz="1150" dirty="0"/>
          </a:p>
        </p:txBody>
      </p:sp>
      <p:sp>
        <p:nvSpPr>
          <p:cNvPr id="356" name="Shape 20"/>
          <p:cNvSpPr/>
          <p:nvPr/>
        </p:nvSpPr>
        <p:spPr>
          <a:xfrm>
            <a:off x="566928" y="5029200"/>
            <a:ext cx="11338560" cy="1325880"/>
          </a:xfrm>
          <a:prstGeom prst="roundRect">
            <a:avLst>
              <a:gd name="adj" fmla="val 4865"/>
            </a:avLst>
          </a:prstGeom>
          <a:solidFill>
            <a:srgbClr val="0D0D26">
              <a:alpha val="55000"/>
            </a:srgbClr>
          </a:solidFill>
          <a:ln w="9525">
            <a:solidFill>
              <a:srgbClr val="31316A">
                <a:alpha val="75000"/>
              </a:srgbClr>
            </a:solidFill>
            <a:prstDash val="solid"/>
          </a:ln>
        </p:spPr>
      </p:sp>
      <p:sp>
        <p:nvSpPr>
          <p:cNvPr id="357" name="Text 21"/>
          <p:cNvSpPr/>
          <p:nvPr/>
        </p:nvSpPr>
        <p:spPr>
          <a:xfrm>
            <a:off x="795528" y="5175504"/>
            <a:ext cx="5486400" cy="320040"/>
          </a:xfrm>
          <a:prstGeom prst="rect">
            <a:avLst/>
          </a:prstGeom>
          <a:noFill/>
          <a:ln/>
        </p:spPr>
        <p:txBody>
          <a:bodyPr wrap="square" lIns="0" tIns="0" rIns="0" bIns="0" rtlCol="0" anchor="ctr"/>
          <a:lstStyle/>
          <a:p>
            <a:pPr indent="0" marL="0">
              <a:buNone/>
            </a:pPr>
            <a:r>
              <a:rPr lang="en-US" sz="1400" b="1" spc="100" kern="0" dirty="0">
                <a:solidFill>
                  <a:srgbClr val="7C6CFF"/>
                </a:solidFill>
                <a:latin typeface="Arial" pitchFamily="34" charset="0"/>
                <a:ea typeface="Arial" pitchFamily="34" charset="-122"/>
                <a:cs typeface="Arial" pitchFamily="34" charset="-120"/>
              </a:rPr>
              <a:t>THE JANUARY REVIEW</a:t>
            </a:r>
            <a:endParaRPr lang="en-US" sz="1400" dirty="0"/>
          </a:p>
        </p:txBody>
      </p:sp>
      <p:sp>
        <p:nvSpPr>
          <p:cNvPr id="358" name="Text 22"/>
          <p:cNvSpPr/>
          <p:nvPr/>
        </p:nvSpPr>
        <p:spPr>
          <a:xfrm>
            <a:off x="795528" y="5504688"/>
            <a:ext cx="10881360" cy="777240"/>
          </a:xfrm>
          <a:prstGeom prst="rect">
            <a:avLst/>
          </a:prstGeom>
          <a:noFill/>
          <a:ln/>
        </p:spPr>
        <p:txBody>
          <a:bodyPr wrap="square" lIns="0" tIns="0" rIns="0" bIns="0" rtlCol="0" anchor="t"/>
          <a:lstStyle/>
          <a:p>
            <a:pPr indent="0" marL="0">
              <a:lnSpc>
                <a:spcPct val="120000"/>
              </a:lnSpc>
              <a:buNone/>
            </a:pPr>
            <a:r>
              <a:rPr lang="en-US" sz="1250" dirty="0">
                <a:solidFill>
                  <a:srgbClr val="FFFFFF"/>
                </a:solidFill>
                <a:latin typeface="Arial" pitchFamily="34" charset="0"/>
                <a:ea typeface="Arial" pitchFamily="34" charset="-122"/>
                <a:cs typeface="Arial" pitchFamily="34" charset="-120"/>
              </a:rPr>
              <a:t>By January you’ll have three months of real numbers by partner, segment and check size: who replies, who books, and who allocates. That answers the question you raised on the call, whether bigger checkwriters have an appetite for the fund. Month four puts volume behind the winning segments, and the decision to scale (add Chris’s profile for science investors) gets made on data.</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Pricing</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FLAT RETAINER. NO SETUP FEES, NO SUCCESS FEES, NO SURPRISES.</a:t>
            </a:r>
            <a:endParaRPr lang="en-US" sz="1400" dirty="0"/>
          </a:p>
        </p:txBody>
      </p:sp>
      <p:sp>
        <p:nvSpPr>
          <p:cNvPr id="6" name="Shape 3"/>
          <p:cNvSpPr/>
          <p:nvPr/>
        </p:nvSpPr>
        <p:spPr>
          <a:xfrm>
            <a:off x="566928" y="2148840"/>
            <a:ext cx="5532120" cy="4114800"/>
          </a:xfrm>
          <a:prstGeom prst="roundRect">
            <a:avLst>
              <a:gd name="adj" fmla="val 2000"/>
            </a:avLst>
          </a:prstGeom>
          <a:solidFill>
            <a:srgbClr val="0D0D26">
              <a:alpha val="55000"/>
            </a:srgbClr>
          </a:solidFill>
          <a:ln w="9525">
            <a:solidFill>
              <a:srgbClr val="31316A">
                <a:alpha val="75000"/>
              </a:srgbClr>
            </a:solidFill>
            <a:prstDash val="solid"/>
          </a:ln>
        </p:spPr>
      </p:sp>
      <p:sp>
        <p:nvSpPr>
          <p:cNvPr id="7" name="Text 4"/>
          <p:cNvSpPr/>
          <p:nvPr/>
        </p:nvSpPr>
        <p:spPr>
          <a:xfrm>
            <a:off x="886968" y="2423160"/>
            <a:ext cx="4892040" cy="292608"/>
          </a:xfrm>
          <a:prstGeom prst="rect">
            <a:avLst/>
          </a:prstGeom>
          <a:noFill/>
          <a:ln/>
        </p:spPr>
        <p:txBody>
          <a:bodyPr wrap="square" lIns="0" tIns="0" rIns="0" bIns="0" rtlCol="0" anchor="ctr"/>
          <a:lstStyle/>
          <a:p>
            <a:pPr indent="0" marL="0">
              <a:buNone/>
            </a:pPr>
            <a:r>
              <a:rPr lang="en-US" sz="1300" b="1" spc="100" kern="0" dirty="0">
                <a:solidFill>
                  <a:srgbClr val="43D5FF"/>
                </a:solidFill>
                <a:latin typeface="Arial" pitchFamily="34" charset="0"/>
                <a:ea typeface="Arial" pitchFamily="34" charset="-122"/>
                <a:cs typeface="Arial" pitchFamily="34" charset="-120"/>
              </a:rPr>
              <a:t>THINKFISH FUNDRAISING  ·  DONE-FOR-YOU</a:t>
            </a:r>
            <a:endParaRPr lang="en-US" sz="1300" dirty="0"/>
          </a:p>
        </p:txBody>
      </p:sp>
      <p:sp>
        <p:nvSpPr>
          <p:cNvPr id="8" name="Text 5"/>
          <p:cNvSpPr/>
          <p:nvPr/>
        </p:nvSpPr>
        <p:spPr>
          <a:xfrm>
            <a:off x="886968" y="2770632"/>
            <a:ext cx="489204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$3,000</a:t>
            </a:r>
            <a:r>
              <a:rPr lang="en-US" sz="1400" dirty="0">
                <a:solidFill>
                  <a:srgbClr val="B9BEDC"/>
                </a:solidFill>
                <a:latin typeface="Arial" pitchFamily="34" charset="0"/>
                <a:ea typeface="Arial" pitchFamily="34" charset="-122"/>
                <a:cs typeface="Arial" pitchFamily="34" charset="-120"/>
              </a:rPr>
              <a:t xml:space="preserve">  / month, 3 profiles</a:t>
            </a:r>
          </a:p>
        </p:txBody>
      </p:sp>
      <p:sp>
        <p:nvSpPr>
          <p:cNvPr id="9" name="Text 6"/>
          <p:cNvSpPr/>
          <p:nvPr/>
        </p:nvSpPr>
        <p:spPr>
          <a:xfrm>
            <a:off x="886968" y="3520440"/>
            <a:ext cx="4892040" cy="320040"/>
          </a:xfrm>
          <a:prstGeom prst="rect">
            <a:avLst/>
          </a:prstGeom>
          <a:noFill/>
          <a:ln/>
        </p:spPr>
        <p:txBody>
          <a:bodyPr wrap="square" lIns="0" tIns="0" rIns="0" bIns="0" rtlCol="0" anchor="ctr"/>
          <a:lstStyle/>
          <a:p>
            <a:pPr indent="0" marL="0">
              <a:buNone/>
            </a:pPr>
            <a:r>
              <a:rPr lang="en-US" sz="1200" i="1" dirty="0">
                <a:solidFill>
                  <a:srgbClr val="B9BEDC"/>
                </a:solidFill>
                <a:latin typeface="Arial" pitchFamily="34" charset="0"/>
                <a:ea typeface="Arial" pitchFamily="34" charset="-122"/>
                <a:cs typeface="Arial" pitchFamily="34" charset="-120"/>
              </a:rPr>
              <a:t>4-month term  ·  Add Chris as a 4th profile: $3,500/month</a:t>
            </a:r>
            <a:endParaRPr lang="en-US" sz="1200" dirty="0"/>
          </a:p>
        </p:txBody>
      </p:sp>
      <p:sp>
        <p:nvSpPr>
          <p:cNvPr id="10" name="Text 7"/>
          <p:cNvSpPr/>
          <p:nvPr/>
        </p:nvSpPr>
        <p:spPr>
          <a:xfrm>
            <a:off x="886968" y="3977640"/>
            <a:ext cx="4892040" cy="2057400"/>
          </a:xfrm>
          <a:prstGeom prst="rect">
            <a:avLst/>
          </a:prstGeom>
          <a:noFill/>
          <a:ln/>
        </p:spPr>
        <p:txBody>
          <a:bodyPr wrap="square" lIns="0" tIns="0" rIns="0" bIns="0" rtlCol="0" anchor="t"/>
          <a:lstStyle/>
          <a:p>
            <a:pPr marL="127000" indent="-127000">
              <a:lnSpc>
                <a:spcPct val="112000"/>
              </a:lnSpc>
              <a:spcAft>
                <a:spcPts val="800"/>
              </a:spcAft>
              <a:buSzPct val="100000"/>
              <a:buChar char="•"/>
            </a:pPr>
            <a:r>
              <a:rPr lang="en-US" sz="1250" dirty="0">
                <a:solidFill>
                  <a:srgbClr val="FFFFFF"/>
                </a:solidFill>
                <a:latin typeface="Arial" pitchFamily="34" charset="0"/>
                <a:ea typeface="Arial" pitchFamily="34" charset="-122"/>
                <a:cs typeface="Arial" pitchFamily="34" charset="-120"/>
              </a:rPr>
              <a:t>Three LinkedIn profiles (Michael, John, Doug), fully managed</a:t>
            </a:r>
            <a:endParaRPr lang="en-US" sz="1250" dirty="0"/>
          </a:p>
          <a:p>
            <a:pPr marL="127000" indent="-127000">
              <a:lnSpc>
                <a:spcPct val="112000"/>
              </a:lnSpc>
              <a:spcAft>
                <a:spcPts val="800"/>
              </a:spcAft>
              <a:buSzPct val="100000"/>
              <a:buChar char="•"/>
            </a:pPr>
            <a:r>
              <a:rPr lang="en-US" sz="1250" dirty="0">
                <a:solidFill>
                  <a:srgbClr val="FFFFFF"/>
                </a:solidFill>
                <a:latin typeface="Arial" pitchFamily="34" charset="0"/>
                <a:ea typeface="Arial" pitchFamily="34" charset="-122"/>
                <a:cs typeface="Arial" pitchFamily="34" charset="-120"/>
              </a:rPr>
              <a:t>Full campaign execution, end to end</a:t>
            </a:r>
            <a:endParaRPr lang="en-US" sz="1250" dirty="0"/>
          </a:p>
          <a:p>
            <a:pPr marL="127000" indent="-127000">
              <a:lnSpc>
                <a:spcPct val="112000"/>
              </a:lnSpc>
              <a:spcAft>
                <a:spcPts val="800"/>
              </a:spcAft>
              <a:buSzPct val="100000"/>
              <a:buChar char="•"/>
            </a:pPr>
            <a:r>
              <a:rPr lang="en-US" sz="1250" dirty="0">
                <a:solidFill>
                  <a:srgbClr val="FFFFFF"/>
                </a:solidFill>
                <a:latin typeface="Arial" pitchFamily="34" charset="0"/>
                <a:ea typeface="Arial" pitchFamily="34" charset="-122"/>
                <a:cs typeface="Arial" pitchFamily="34" charset="-120"/>
              </a:rPr>
              <a:t>Outreach, inbox management &amp; follow-ups</a:t>
            </a:r>
            <a:endParaRPr lang="en-US" sz="1250" dirty="0"/>
          </a:p>
          <a:p>
            <a:pPr marL="127000" indent="-127000">
              <a:lnSpc>
                <a:spcPct val="112000"/>
              </a:lnSpc>
              <a:spcAft>
                <a:spcPts val="800"/>
              </a:spcAft>
              <a:buSzPct val="100000"/>
              <a:buChar char="•"/>
            </a:pPr>
            <a:r>
              <a:rPr lang="en-US" sz="1250" dirty="0">
                <a:solidFill>
                  <a:srgbClr val="FFFFFF"/>
                </a:solidFill>
                <a:latin typeface="Arial" pitchFamily="34" charset="0"/>
                <a:ea typeface="Arial" pitchFamily="34" charset="-122"/>
                <a:cs typeface="Arial" pitchFamily="34" charset="-120"/>
              </a:rPr>
              <a:t>Qualification by check size &amp; pre-call briefings</a:t>
            </a:r>
            <a:endParaRPr lang="en-US" sz="1250" dirty="0"/>
          </a:p>
          <a:p>
            <a:pPr marL="127000" indent="-127000">
              <a:lnSpc>
                <a:spcPct val="112000"/>
              </a:lnSpc>
              <a:spcAft>
                <a:spcPts val="800"/>
              </a:spcAft>
              <a:buSzPct val="100000"/>
              <a:buChar char="•"/>
            </a:pPr>
            <a:r>
              <a:rPr lang="en-US" sz="1250" dirty="0">
                <a:solidFill>
                  <a:srgbClr val="FFFFFF"/>
                </a:solidFill>
                <a:latin typeface="Arial" pitchFamily="34" charset="0"/>
                <a:ea typeface="Arial" pitchFamily="34" charset="-122"/>
                <a:cs typeface="Arial" pitchFamily="34" charset="-120"/>
              </a:rPr>
              <a:t>The Reef retargeting &amp; two Startup Deal Desk features</a:t>
            </a:r>
            <a:endParaRPr lang="en-US" sz="1250" dirty="0"/>
          </a:p>
          <a:p>
            <a:pPr marL="127000" indent="-127000">
              <a:lnSpc>
                <a:spcPct val="112000"/>
              </a:lnSpc>
              <a:spcAft>
                <a:spcPts val="800"/>
              </a:spcAft>
              <a:buSzPct val="100000"/>
              <a:buChar char="•"/>
            </a:pPr>
            <a:r>
              <a:rPr lang="en-US" sz="1250" dirty="0">
                <a:solidFill>
                  <a:srgbClr val="FFFFFF"/>
                </a:solidFill>
                <a:latin typeface="Arial" pitchFamily="34" charset="0"/>
                <a:ea typeface="Arial" pitchFamily="34" charset="-122"/>
                <a:cs typeface="Arial" pitchFamily="34" charset="-120"/>
              </a:rPr>
              <a:t>Profile optimization &amp; branding to the fund</a:t>
            </a:r>
            <a:endParaRPr lang="en-US" sz="1250" dirty="0"/>
          </a:p>
          <a:p>
            <a:pPr marL="127000" indent="-127000">
              <a:lnSpc>
                <a:spcPct val="112000"/>
              </a:lnSpc>
              <a:spcAft>
                <a:spcPts val="800"/>
              </a:spcAft>
              <a:buSzPct val="100000"/>
              <a:buChar char="•"/>
            </a:pPr>
            <a:r>
              <a:rPr lang="en-US" sz="1250" dirty="0">
                <a:solidFill>
                  <a:srgbClr val="FFFFFF"/>
                </a:solidFill>
                <a:latin typeface="Arial" pitchFamily="34" charset="0"/>
                <a:ea typeface="Arial" pitchFamily="34" charset="-122"/>
                <a:cs typeface="Arial" pitchFamily="34" charset="-120"/>
              </a:rPr>
              <a:t>CRM, weekly reporting, A/B testing &amp; optimization</a:t>
            </a:r>
            <a:endParaRPr lang="en-US" sz="1250" dirty="0"/>
          </a:p>
        </p:txBody>
      </p:sp>
      <p:sp>
        <p:nvSpPr>
          <p:cNvPr id="359" name="Shape 30"/>
          <p:cNvSpPr/>
          <p:nvPr/>
        </p:nvSpPr>
        <p:spPr>
          <a:xfrm>
            <a:off x="6373368" y="2148840"/>
            <a:ext cx="5532120" cy="4114800"/>
          </a:xfrm>
          <a:prstGeom prst="roundRect">
            <a:avLst>
              <a:gd name="adj" fmla="val 2000"/>
            </a:avLst>
          </a:prstGeom>
          <a:solidFill>
            <a:srgbClr val="0D0D26">
              <a:alpha val="55000"/>
            </a:srgbClr>
          </a:solidFill>
          <a:ln w="9525">
            <a:solidFill>
              <a:srgbClr val="31316A">
                <a:alpha val="75000"/>
              </a:srgbClr>
            </a:solidFill>
            <a:prstDash val="solid"/>
          </a:ln>
        </p:spPr>
      </p:sp>
      <p:sp>
        <p:nvSpPr>
          <p:cNvPr id="360" name="Text 31"/>
          <p:cNvSpPr/>
          <p:nvPr/>
        </p:nvSpPr>
        <p:spPr>
          <a:xfrm>
            <a:off x="6693408" y="2423160"/>
            <a:ext cx="4892040" cy="292608"/>
          </a:xfrm>
          <a:prstGeom prst="rect">
            <a:avLst/>
          </a:prstGeom>
          <a:noFill/>
          <a:ln/>
        </p:spPr>
        <p:txBody>
          <a:bodyPr wrap="square" lIns="0" tIns="0" rIns="0" bIns="0" rtlCol="0" anchor="ctr"/>
          <a:lstStyle/>
          <a:p>
            <a:pPr indent="0" marL="0">
              <a:buNone/>
            </a:pPr>
            <a:r>
              <a:rPr lang="en-US" sz="1300" b="1" spc="100" kern="0" dirty="0">
                <a:solidFill>
                  <a:srgbClr val="43D5FF"/>
                </a:solidFill>
                <a:latin typeface="Arial" pitchFamily="34" charset="0"/>
                <a:ea typeface="Arial" pitchFamily="34" charset="-122"/>
                <a:cs typeface="Arial" pitchFamily="34" charset="-120"/>
              </a:rPr>
              <a:t>WHAT THAT BUYS</a:t>
            </a:r>
            <a:endParaRPr lang="en-US" sz="1300" dirty="0"/>
          </a:p>
        </p:txBody>
      </p:sp>
      <p:sp>
        <p:nvSpPr>
          <p:cNvPr id="361" name="Text 32"/>
          <p:cNvSpPr/>
          <p:nvPr/>
        </p:nvSpPr>
        <p:spPr>
          <a:xfrm>
            <a:off x="6693408" y="2834640"/>
            <a:ext cx="4892040" cy="3291840"/>
          </a:xfrm>
          <a:prstGeom prst="rect">
            <a:avLst/>
          </a:prstGeom>
          <a:noFill/>
          <a:ln/>
        </p:spPr>
        <p:txBody>
          <a:bodyPr wrap="square" lIns="0" tIns="0" rIns="0" bIns="0" rtlCol="0" anchor="t"/>
          <a:lstStyle/>
          <a:p>
            <a:pPr marL="127000" indent="-127000">
              <a:lnSpc>
                <a:spcPct val="112000"/>
              </a:lnSpc>
              <a:spcAft>
                <a:spcPts val="1000"/>
              </a:spcAft>
              <a:buSzPct val="100000"/>
              <a:buChar char="•"/>
            </a:pPr>
            <a:r>
              <a:rPr lang="en-US" sz="1150" dirty="0">
                <a:solidFill>
                  <a:srgbClr val="FFFFFF"/>
                </a:solidFill>
                <a:latin typeface="Arial" pitchFamily="34" charset="0"/>
                <a:ea typeface="Arial" pitchFamily="34" charset="-122"/>
                <a:cs typeface="Arial" pitchFamily="34" charset="-120"/>
              </a:rPr>
              <a:t>Three partner profiles for the price of two: John’s profile was added so physicians hear from a physician</a:t>
            </a:r>
            <a:endParaRPr lang="en-US" sz="1150" dirty="0"/>
          </a:p>
          <a:p>
            <a:pPr marL="127000" indent="-127000">
              <a:lnSpc>
                <a:spcPct val="112000"/>
              </a:lnSpc>
              <a:spcAft>
                <a:spcPts val="1000"/>
              </a:spcAft>
              <a:buSzPct val="100000"/>
              <a:buChar char="•"/>
            </a:pPr>
            <a:r>
              <a:rPr lang="en-US" sz="1150" dirty="0">
                <a:solidFill>
                  <a:srgbClr val="FFFFFF"/>
                </a:solidFill>
                <a:latin typeface="Arial" pitchFamily="34" charset="0"/>
                <a:ea typeface="Arial" pitchFamily="34" charset="-122"/>
                <a:cs typeface="Arial" pitchFamily="34" charset="-120"/>
              </a:rPr>
              <a:t>Three distinct networks (military, medicine, law) worked at once, with results reported by segment</a:t>
            </a:r>
            <a:endParaRPr lang="en-US" sz="1150" dirty="0"/>
          </a:p>
          <a:p>
            <a:pPr marL="127000" indent="-127000">
              <a:lnSpc>
                <a:spcPct val="112000"/>
              </a:lnSpc>
              <a:spcAft>
                <a:spcPts val="1000"/>
              </a:spcAft>
              <a:buSzPct val="100000"/>
              <a:buChar char="•"/>
            </a:pPr>
            <a:r>
              <a:rPr lang="en-US" sz="1150" dirty="0">
                <a:solidFill>
                  <a:srgbClr val="FFFFFF"/>
                </a:solidFill>
                <a:latin typeface="Arial" pitchFamily="34" charset="0"/>
                <a:ea typeface="Arial" pitchFamily="34" charset="-122"/>
                <a:cs typeface="Arial" pitchFamily="34" charset="-120"/>
              </a:rPr>
              <a:t>A fourth profile for +$500: Chris reaches science and research investors with the same team and CRM</a:t>
            </a:r>
            <a:endParaRPr lang="en-US" sz="1150" dirty="0"/>
          </a:p>
          <a:p>
            <a:pPr marL="127000" indent="-127000">
              <a:lnSpc>
                <a:spcPct val="112000"/>
              </a:lnSpc>
              <a:spcAft>
                <a:spcPts val="1000"/>
              </a:spcAft>
              <a:buSzPct val="100000"/>
              <a:buChar char="•"/>
            </a:pPr>
            <a:r>
              <a:rPr lang="en-US" sz="1150" dirty="0">
                <a:solidFill>
                  <a:srgbClr val="FFFFFF"/>
                </a:solidFill>
                <a:latin typeface="Arial" pitchFamily="34" charset="0"/>
                <a:ea typeface="Arial" pitchFamily="34" charset="-122"/>
                <a:cs typeface="Arial" pitchFamily="34" charset="-120"/>
              </a:rPr>
              <a:t>A clear answer by month three on which investor tier and segment actually allocates to the fund</a:t>
            </a:r>
            <a:endParaRPr lang="en-US" sz="1150" dirty="0"/>
          </a:p>
          <a:p>
            <a:pPr marL="127000" indent="-127000">
              <a:lnSpc>
                <a:spcPct val="112000"/>
              </a:lnSpc>
              <a:spcAft>
                <a:spcPts val="1000"/>
              </a:spcAft>
              <a:buSzPct val="100000"/>
              <a:buChar char="•"/>
            </a:pPr>
            <a:r>
              <a:rPr lang="en-US" sz="1150" dirty="0">
                <a:solidFill>
                  <a:srgbClr val="FFFFFF"/>
                </a:solidFill>
                <a:latin typeface="Arial" pitchFamily="34" charset="0"/>
                <a:ea typeface="Arial" pitchFamily="34" charset="-122"/>
                <a:cs typeface="Arial" pitchFamily="34" charset="-120"/>
              </a:rPr>
              <a:t>Investors under $50K aren’t wasted: they’re segmented into a separate track you can pitch as a group</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What We Are, and What We’re Not</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THE COMPLIANCE QUESTION, ANSWERED UP FRONT</a:t>
            </a:r>
            <a:endParaRPr lang="en-US" sz="1400" dirty="0"/>
          </a:p>
        </p:txBody>
      </p:sp>
      <p:sp>
        <p:nvSpPr>
          <p:cNvPr id="6" name="Shape 3"/>
          <p:cNvSpPr/>
          <p:nvPr/>
        </p:nvSpPr>
        <p:spPr>
          <a:xfrm>
            <a:off x="566928" y="2240280"/>
            <a:ext cx="3593592" cy="3291840"/>
          </a:xfrm>
          <a:prstGeom prst="roundRect">
            <a:avLst>
              <a:gd name="adj" fmla="val 3529"/>
            </a:avLst>
          </a:prstGeom>
          <a:solidFill>
            <a:srgbClr val="0D0D26">
              <a:alpha val="55000"/>
            </a:srgbClr>
          </a:solidFill>
          <a:ln w="9525">
            <a:solidFill>
              <a:srgbClr val="31316A">
                <a:alpha val="75000"/>
              </a:srgbClr>
            </a:solidFill>
            <a:prstDash val="solid"/>
          </a:ln>
        </p:spPr>
      </p:sp>
      <p:sp>
        <p:nvSpPr>
          <p:cNvPr id="7" name="Text 4"/>
          <p:cNvSpPr/>
          <p:nvPr/>
        </p:nvSpPr>
        <p:spPr>
          <a:xfrm>
            <a:off x="795528" y="2468880"/>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WHAT WE ARE</a:t>
            </a:r>
            <a:endParaRPr lang="en-US" sz="1400" dirty="0"/>
          </a:p>
        </p:txBody>
      </p:sp>
      <p:sp>
        <p:nvSpPr>
          <p:cNvPr id="8" name="Text 5"/>
          <p:cNvSpPr/>
          <p:nvPr/>
        </p:nvSpPr>
        <p:spPr>
          <a:xfrm>
            <a:off x="795528" y="2880360"/>
            <a:ext cx="3136392" cy="2514600"/>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A digital media and investor-relations firm. We build and run LinkedIn outreach in your name, qualify the responses, and put pre-vetted investor conversations on your calendar. Flat monthly fee, nothing else.</a:t>
            </a:r>
            <a:endParaRPr lang="en-US" sz="1200" dirty="0"/>
          </a:p>
        </p:txBody>
      </p:sp>
      <p:sp>
        <p:nvSpPr>
          <p:cNvPr id="9" name="Shape 6"/>
          <p:cNvSpPr/>
          <p:nvPr/>
        </p:nvSpPr>
        <p:spPr>
          <a:xfrm>
            <a:off x="4434840" y="2240280"/>
            <a:ext cx="3593592" cy="3291840"/>
          </a:xfrm>
          <a:prstGeom prst="roundRect">
            <a:avLst>
              <a:gd name="adj" fmla="val 3529"/>
            </a:avLst>
          </a:prstGeom>
          <a:solidFill>
            <a:srgbClr val="0D0D26">
              <a:alpha val="55000"/>
            </a:srgbClr>
          </a:solidFill>
          <a:ln w="9525">
            <a:solidFill>
              <a:srgbClr val="31316A">
                <a:alpha val="75000"/>
              </a:srgbClr>
            </a:solidFill>
            <a:prstDash val="solid"/>
          </a:ln>
        </p:spPr>
      </p:sp>
      <p:sp>
        <p:nvSpPr>
          <p:cNvPr id="10" name="Text 7"/>
          <p:cNvSpPr/>
          <p:nvPr/>
        </p:nvSpPr>
        <p:spPr>
          <a:xfrm>
            <a:off x="4663440" y="2468880"/>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WHAT WE ARE NOT</a:t>
            </a:r>
            <a:endParaRPr lang="en-US" sz="1400" dirty="0"/>
          </a:p>
        </p:txBody>
      </p:sp>
      <p:sp>
        <p:nvSpPr>
          <p:cNvPr id="11" name="Text 8"/>
          <p:cNvSpPr/>
          <p:nvPr/>
        </p:nvSpPr>
        <p:spPr>
          <a:xfrm>
            <a:off x="4663440" y="2880360"/>
            <a:ext cx="3136392" cy="2514600"/>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Not a broker-dealer, placement agent or finder. We don’t negotiate terms, don’t take a success fee or commission, don’t touch the transaction, and don’t raise the capital. You run the conversation and you close.</a:t>
            </a:r>
            <a:endParaRPr lang="en-US" sz="1200" dirty="0"/>
          </a:p>
        </p:txBody>
      </p:sp>
      <p:sp>
        <p:nvSpPr>
          <p:cNvPr id="12" name="Shape 9"/>
          <p:cNvSpPr/>
          <p:nvPr/>
        </p:nvSpPr>
        <p:spPr>
          <a:xfrm>
            <a:off x="8302752" y="2240280"/>
            <a:ext cx="3593592" cy="3291840"/>
          </a:xfrm>
          <a:prstGeom prst="roundRect">
            <a:avLst>
              <a:gd name="adj" fmla="val 3529"/>
            </a:avLst>
          </a:prstGeom>
          <a:solidFill>
            <a:srgbClr val="0D0D26">
              <a:alpha val="55000"/>
            </a:srgbClr>
          </a:solidFill>
          <a:ln w="9525">
            <a:solidFill>
              <a:srgbClr val="31316A">
                <a:alpha val="75000"/>
              </a:srgbClr>
            </a:solidFill>
            <a:prstDash val="solid"/>
          </a:ln>
        </p:spPr>
      </p:sp>
      <p:sp>
        <p:nvSpPr>
          <p:cNvPr id="13" name="Text 10"/>
          <p:cNvSpPr/>
          <p:nvPr/>
        </p:nvSpPr>
        <p:spPr>
          <a:xfrm>
            <a:off x="8531352" y="2468880"/>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STAYING COMPLIANT</a:t>
            </a:r>
            <a:endParaRPr lang="en-US" sz="1400" dirty="0"/>
          </a:p>
        </p:txBody>
      </p:sp>
      <p:sp>
        <p:nvSpPr>
          <p:cNvPr id="14" name="Text 11"/>
          <p:cNvSpPr/>
          <p:nvPr/>
        </p:nvSpPr>
        <p:spPr>
          <a:xfrm>
            <a:off x="8531352" y="2880360"/>
            <a:ext cx="3136392" cy="2514600"/>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Early messages are relationship-first and high-level: no deal terms, no structure, no forecasts. Collateral only once interest is real, and you are the first to share a full deck. Every script is approved by you before it goes out.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Your Team</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WHO YOU WILL ACTUALLY BE WORKING WITH</a:t>
            </a:r>
            <a:endParaRPr lang="en-US" sz="1400" dirty="0"/>
          </a:p>
        </p:txBody>
      </p:sp>
      <p:sp>
        <p:nvSpPr>
          <p:cNvPr id="6" name="Shape 3"/>
          <p:cNvSpPr/>
          <p:nvPr/>
        </p:nvSpPr>
        <p:spPr>
          <a:xfrm>
            <a:off x="566928" y="2121408"/>
            <a:ext cx="3593592" cy="2331720"/>
          </a:xfrm>
          <a:prstGeom prst="roundRect">
            <a:avLst>
              <a:gd name="adj" fmla="val 3529"/>
            </a:avLst>
          </a:prstGeom>
          <a:solidFill>
            <a:srgbClr val="0D0D26">
              <a:alpha val="55000"/>
            </a:srgbClr>
          </a:solidFill>
          <a:ln w="9525">
            <a:solidFill>
              <a:srgbClr val="31316A">
                <a:alpha val="75000"/>
              </a:srgbClr>
            </a:solidFill>
            <a:prstDash val="solid"/>
          </a:ln>
        </p:spPr>
      </p:sp>
      <p:sp>
        <p:nvSpPr>
          <p:cNvPr id="7" name="Text 4"/>
          <p:cNvSpPr/>
          <p:nvPr/>
        </p:nvSpPr>
        <p:spPr>
          <a:xfrm>
            <a:off x="795528" y="2304288"/>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FREIZLE ABARRIENTOS</a:t>
            </a:r>
            <a:endParaRPr lang="en-US" sz="1400" dirty="0"/>
          </a:p>
        </p:txBody>
      </p:sp>
      <p:sp>
        <p:nvSpPr>
          <p:cNvPr id="8" name="Text 5"/>
          <p:cNvSpPr/>
          <p:nvPr/>
        </p:nvSpPr>
        <p:spPr>
          <a:xfrm>
            <a:off x="795528" y="2651760"/>
            <a:ext cx="3136392" cy="1600200"/>
          </a:xfrm>
          <a:prstGeom prst="rect">
            <a:avLst/>
          </a:prstGeom>
          <a:noFill/>
          <a:ln/>
        </p:spPr>
        <p:txBody>
          <a:bodyPr wrap="square" lIns="0" tIns="0" rIns="0" bIns="0" rtlCol="0" anchor="t"/>
          <a:lstStyle/>
          <a:p>
            <a:pPr indent="0" marL="0">
              <a:lnSpc>
                <a:spcPct val="115000"/>
              </a:lnSpc>
              <a:buNone/>
            </a:pPr>
            <a:r>
              <a:rPr lang="en-US" sz="1100" dirty="0">
                <a:solidFill>
                  <a:srgbClr val="FFFFFF"/>
                </a:solidFill>
                <a:latin typeface="Arial" pitchFamily="34" charset="0"/>
                <a:ea typeface="Arial" pitchFamily="34" charset="-122"/>
                <a:cs typeface="Arial" pitchFamily="34" charset="-120"/>
              </a:rPr>
              <a:t>Chief Operating Officer. Two decades across operations, business development, investor relations and client services; oversees ThinkFISH’s daily operations. Leads strategy and the ICP design, and joins your monthly strategy calls.</a:t>
            </a:r>
            <a:endParaRPr lang="en-US" sz="1100" dirty="0"/>
          </a:p>
        </p:txBody>
      </p:sp>
      <p:sp>
        <p:nvSpPr>
          <p:cNvPr id="9" name="Shape 6"/>
          <p:cNvSpPr/>
          <p:nvPr/>
        </p:nvSpPr>
        <p:spPr>
          <a:xfrm>
            <a:off x="4434840" y="2121408"/>
            <a:ext cx="3593592" cy="2331720"/>
          </a:xfrm>
          <a:prstGeom prst="roundRect">
            <a:avLst>
              <a:gd name="adj" fmla="val 3529"/>
            </a:avLst>
          </a:prstGeom>
          <a:solidFill>
            <a:srgbClr val="0D0D26">
              <a:alpha val="55000"/>
            </a:srgbClr>
          </a:solidFill>
          <a:ln w="9525">
            <a:solidFill>
              <a:srgbClr val="31316A">
                <a:alpha val="75000"/>
              </a:srgbClr>
            </a:solidFill>
            <a:prstDash val="solid"/>
          </a:ln>
        </p:spPr>
      </p:sp>
      <p:sp>
        <p:nvSpPr>
          <p:cNvPr id="10" name="Text 7"/>
          <p:cNvSpPr/>
          <p:nvPr/>
        </p:nvSpPr>
        <p:spPr>
          <a:xfrm>
            <a:off x="4663440" y="2304288"/>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SAMANTHA COWPER</a:t>
            </a:r>
            <a:endParaRPr lang="en-US" sz="1400" dirty="0"/>
          </a:p>
        </p:txBody>
      </p:sp>
      <p:sp>
        <p:nvSpPr>
          <p:cNvPr id="11" name="Text 8"/>
          <p:cNvSpPr/>
          <p:nvPr/>
        </p:nvSpPr>
        <p:spPr>
          <a:xfrm>
            <a:off x="4663440" y="2651760"/>
            <a:ext cx="3136392" cy="1600200"/>
          </a:xfrm>
          <a:prstGeom prst="rect">
            <a:avLst/>
          </a:prstGeom>
          <a:noFill/>
          <a:ln/>
        </p:spPr>
        <p:txBody>
          <a:bodyPr wrap="square" lIns="0" tIns="0" rIns="0" bIns="0" rtlCol="0" anchor="t"/>
          <a:lstStyle/>
          <a:p>
            <a:pPr indent="0" marL="0">
              <a:lnSpc>
                <a:spcPct val="115000"/>
              </a:lnSpc>
              <a:buNone/>
            </a:pPr>
            <a:r>
              <a:rPr lang="en-US" sz="1100" dirty="0">
                <a:solidFill>
                  <a:srgbClr val="FFFFFF"/>
                </a:solidFill>
                <a:latin typeface="Arial" pitchFamily="34" charset="0"/>
                <a:ea typeface="Arial" pitchFamily="34" charset="-122"/>
                <a:cs typeface="Arial" pitchFamily="34" charset="-120"/>
              </a:rPr>
              <a:t>Onboarding Manager. Runs your first two weeks: the onboarding interviews with Michael and Doug, profile optimization, the ICP and audiences, and script approval, so the campaign launches on time and in your voice.</a:t>
            </a:r>
            <a:endParaRPr lang="en-US" sz="1100" dirty="0"/>
          </a:p>
        </p:txBody>
      </p:sp>
      <p:sp>
        <p:nvSpPr>
          <p:cNvPr id="12" name="Shape 9"/>
          <p:cNvSpPr/>
          <p:nvPr/>
        </p:nvSpPr>
        <p:spPr>
          <a:xfrm>
            <a:off x="8302752" y="2121408"/>
            <a:ext cx="3593592" cy="2331720"/>
          </a:xfrm>
          <a:prstGeom prst="roundRect">
            <a:avLst>
              <a:gd name="adj" fmla="val 3529"/>
            </a:avLst>
          </a:prstGeom>
          <a:solidFill>
            <a:srgbClr val="0D0D26">
              <a:alpha val="55000"/>
            </a:srgbClr>
          </a:solidFill>
          <a:ln w="9525">
            <a:solidFill>
              <a:srgbClr val="31316A">
                <a:alpha val="75000"/>
              </a:srgbClr>
            </a:solidFill>
            <a:prstDash val="solid"/>
          </a:ln>
        </p:spPr>
      </p:sp>
      <p:sp>
        <p:nvSpPr>
          <p:cNvPr id="13" name="Text 10"/>
          <p:cNvSpPr/>
          <p:nvPr/>
        </p:nvSpPr>
        <p:spPr>
          <a:xfrm>
            <a:off x="8531352" y="2304288"/>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MYRA GRAMA</a:t>
            </a:r>
            <a:endParaRPr lang="en-US" sz="1400" dirty="0"/>
          </a:p>
        </p:txBody>
      </p:sp>
      <p:sp>
        <p:nvSpPr>
          <p:cNvPr id="14" name="Text 11"/>
          <p:cNvSpPr/>
          <p:nvPr/>
        </p:nvSpPr>
        <p:spPr>
          <a:xfrm>
            <a:off x="8531352" y="2651760"/>
            <a:ext cx="3136392" cy="1600200"/>
          </a:xfrm>
          <a:prstGeom prst="rect">
            <a:avLst/>
          </a:prstGeom>
          <a:noFill/>
          <a:ln/>
        </p:spPr>
        <p:txBody>
          <a:bodyPr wrap="square" lIns="0" tIns="0" rIns="0" bIns="0" rtlCol="0" anchor="t"/>
          <a:lstStyle/>
          <a:p>
            <a:pPr indent="0" marL="0">
              <a:lnSpc>
                <a:spcPct val="115000"/>
              </a:lnSpc>
              <a:buNone/>
            </a:pPr>
            <a:r>
              <a:rPr lang="en-US" sz="1100" dirty="0">
                <a:solidFill>
                  <a:srgbClr val="FFFFFF"/>
                </a:solidFill>
                <a:latin typeface="Arial" pitchFamily="34" charset="0"/>
                <a:ea typeface="Arial" pitchFamily="34" charset="-122"/>
                <a:cs typeface="Arial" pitchFamily="34" charset="-120"/>
              </a:rPr>
              <a:t>Account Director. Owns the relationship from launch onward: campaign performance, the weekly report, the monthly strategy call, and the escalation point if anything needs a pivot.</a:t>
            </a:r>
            <a:endParaRPr lang="en-US" sz="1100" dirty="0"/>
          </a:p>
        </p:txBody>
      </p:sp>
      <p:sp>
        <p:nvSpPr>
          <p:cNvPr id="15" name="Shape 12"/>
          <p:cNvSpPr/>
          <p:nvPr/>
        </p:nvSpPr>
        <p:spPr>
          <a:xfrm>
            <a:off x="566928" y="4663440"/>
            <a:ext cx="11338560" cy="1691640"/>
          </a:xfrm>
          <a:prstGeom prst="roundRect">
            <a:avLst>
              <a:gd name="adj" fmla="val 4865"/>
            </a:avLst>
          </a:prstGeom>
          <a:solidFill>
            <a:srgbClr val="0D0D26">
              <a:alpha val="55000"/>
            </a:srgbClr>
          </a:solidFill>
          <a:ln w="9525">
            <a:solidFill>
              <a:srgbClr val="31316A">
                <a:alpha val="75000"/>
              </a:srgbClr>
            </a:solidFill>
            <a:prstDash val="solid"/>
          </a:ln>
        </p:spPr>
      </p:sp>
      <p:sp>
        <p:nvSpPr>
          <p:cNvPr id="16" name="Text 13"/>
          <p:cNvSpPr/>
          <p:nvPr/>
        </p:nvSpPr>
        <p:spPr>
          <a:xfrm>
            <a:off x="795528" y="4828032"/>
            <a:ext cx="8229600" cy="320040"/>
          </a:xfrm>
          <a:prstGeom prst="rect">
            <a:avLst/>
          </a:prstGeom>
          <a:noFill/>
          <a:ln/>
        </p:spPr>
        <p:txBody>
          <a:bodyPr wrap="square" lIns="0" tIns="0" rIns="0" bIns="0" rtlCol="0" anchor="ctr"/>
          <a:lstStyle/>
          <a:p>
            <a:pPr indent="0" marL="0">
              <a:buNone/>
            </a:pPr>
            <a:r>
              <a:rPr lang="en-US" sz="1400" b="1" spc="100" kern="0" dirty="0">
                <a:solidFill>
                  <a:srgbClr val="7C6CFF"/>
                </a:solidFill>
                <a:latin typeface="Arial" pitchFamily="34" charset="0"/>
                <a:ea typeface="Arial" pitchFamily="34" charset="-122"/>
                <a:cs typeface="Arial" pitchFamily="34" charset="-120"/>
              </a:rPr>
              <a:t>YOUR DEDICATED ACCOUNT MANAGER</a:t>
            </a:r>
            <a:endParaRPr lang="en-US" sz="1400" dirty="0"/>
          </a:p>
        </p:txBody>
      </p:sp>
      <p:sp>
        <p:nvSpPr>
          <p:cNvPr id="17" name="Text 14"/>
          <p:cNvSpPr/>
          <p:nvPr/>
        </p:nvSpPr>
        <p:spPr>
          <a:xfrm>
            <a:off x="795528" y="5175504"/>
            <a:ext cx="10881360" cy="1051560"/>
          </a:xfrm>
          <a:prstGeom prst="rect">
            <a:avLst/>
          </a:prstGeom>
          <a:noFill/>
          <a:ln/>
        </p:spPr>
        <p:txBody>
          <a:bodyPr wrap="square" lIns="0" tIns="0" rIns="0" bIns="0" rtlCol="0" anchor="t"/>
          <a:lstStyle/>
          <a:p>
            <a:pPr indent="0" marL="0">
              <a:lnSpc>
                <a:spcPct val="120000"/>
              </a:lnSpc>
              <a:buNone/>
            </a:pPr>
            <a:r>
              <a:rPr lang="en-US" sz="1250" dirty="0">
                <a:solidFill>
                  <a:srgbClr val="FFFFFF"/>
                </a:solidFill>
                <a:latin typeface="Arial" pitchFamily="34" charset="0"/>
                <a:ea typeface="Arial" pitchFamily="34" charset="-122"/>
                <a:cs typeface="Arial" pitchFamily="34" charset="-120"/>
              </a:rPr>
              <a:t>Assigned at kickoff and introduced by Samantha in the first onboarding session. Runs the campaign day to day under Myra: audience building, scripts, inbox, qualification, call briefings and the weekly report. One person who knows your story, reachable on Slack or WhatsApp, not a ticket queue.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Next Steps</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HOW WE GET STARTED</a:t>
            </a:r>
            <a:endParaRPr lang="en-US" sz="1400" dirty="0"/>
          </a:p>
        </p:txBody>
      </p:sp>
      <p:sp>
        <p:nvSpPr>
          <p:cNvPr id="6" name="Shape 3"/>
          <p:cNvSpPr/>
          <p:nvPr/>
        </p:nvSpPr>
        <p:spPr>
          <a:xfrm>
            <a:off x="566928" y="2121408"/>
            <a:ext cx="3593592" cy="2331720"/>
          </a:xfrm>
          <a:prstGeom prst="roundRect">
            <a:avLst>
              <a:gd name="adj" fmla="val 3529"/>
            </a:avLst>
          </a:prstGeom>
          <a:solidFill>
            <a:srgbClr val="0D0D26">
              <a:alpha val="55000"/>
            </a:srgbClr>
          </a:solidFill>
          <a:ln w="9525">
            <a:solidFill>
              <a:srgbClr val="31316A">
                <a:alpha val="75000"/>
              </a:srgbClr>
            </a:solidFill>
            <a:prstDash val="solid"/>
          </a:ln>
        </p:spPr>
      </p:sp>
      <p:sp>
        <p:nvSpPr>
          <p:cNvPr id="7" name="Text 4"/>
          <p:cNvSpPr/>
          <p:nvPr/>
        </p:nvSpPr>
        <p:spPr>
          <a:xfrm>
            <a:off x="795528" y="2304288"/>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1  ·  REVIEW</a:t>
            </a:r>
            <a:endParaRPr lang="en-US" sz="1400" dirty="0"/>
          </a:p>
        </p:txBody>
      </p:sp>
      <p:sp>
        <p:nvSpPr>
          <p:cNvPr id="8" name="Text 5"/>
          <p:cNvSpPr/>
          <p:nvPr/>
        </p:nvSpPr>
        <p:spPr>
          <a:xfrm>
            <a:off x="795528" y="2651760"/>
            <a:ext cx="3136392" cy="1600200"/>
          </a:xfrm>
          <a:prstGeom prst="rect">
            <a:avLst/>
          </a:prstGeom>
          <a:noFill/>
          <a:ln/>
        </p:spPr>
        <p:txBody>
          <a:bodyPr wrap="square" lIns="0" tIns="0" rIns="0" bIns="0" rtlCol="0" anchor="t"/>
          <a:lstStyle/>
          <a:p>
            <a:pPr indent="0" marL="0">
              <a:lnSpc>
                <a:spcPct val="115000"/>
              </a:lnSpc>
              <a:buNone/>
            </a:pPr>
            <a:r>
              <a:rPr lang="en-US" sz="1150" dirty="0">
                <a:solidFill>
                  <a:srgbClr val="FFFFFF"/>
                </a:solidFill>
                <a:latin typeface="Arial" pitchFamily="34" charset="0"/>
                <a:ea typeface="Arial" pitchFamily="34" charset="-122"/>
                <a:cs typeface="Arial" pitchFamily="34" charset="-120"/>
              </a:rPr>
              <a:t>Michael, share this with Doug ahead of next week’s call. We’ll run it as a Q&amp;A: bring every question that comes out of Doug’s review of other fundraising tools, and we’ll answer them directly.</a:t>
            </a:r>
            <a:endParaRPr lang="en-US" sz="1150" dirty="0"/>
          </a:p>
        </p:txBody>
      </p:sp>
      <p:sp>
        <p:nvSpPr>
          <p:cNvPr id="9" name="Shape 6"/>
          <p:cNvSpPr/>
          <p:nvPr/>
        </p:nvSpPr>
        <p:spPr>
          <a:xfrm>
            <a:off x="4434840" y="2121408"/>
            <a:ext cx="3593592" cy="2331720"/>
          </a:xfrm>
          <a:prstGeom prst="roundRect">
            <a:avLst>
              <a:gd name="adj" fmla="val 3529"/>
            </a:avLst>
          </a:prstGeom>
          <a:solidFill>
            <a:srgbClr val="0D0D26">
              <a:alpha val="55000"/>
            </a:srgbClr>
          </a:solidFill>
          <a:ln w="9525">
            <a:solidFill>
              <a:srgbClr val="31316A">
                <a:alpha val="75000"/>
              </a:srgbClr>
            </a:solidFill>
            <a:prstDash val="solid"/>
          </a:ln>
        </p:spPr>
      </p:sp>
      <p:sp>
        <p:nvSpPr>
          <p:cNvPr id="10" name="Text 7"/>
          <p:cNvSpPr/>
          <p:nvPr/>
        </p:nvSpPr>
        <p:spPr>
          <a:xfrm>
            <a:off x="4663440" y="2304288"/>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2  ·  SIGN &amp; KICK OFF</a:t>
            </a:r>
            <a:endParaRPr lang="en-US" sz="1400" dirty="0"/>
          </a:p>
        </p:txBody>
      </p:sp>
      <p:sp>
        <p:nvSpPr>
          <p:cNvPr id="11" name="Text 8"/>
          <p:cNvSpPr/>
          <p:nvPr/>
        </p:nvSpPr>
        <p:spPr>
          <a:xfrm>
            <a:off x="4663440" y="2651760"/>
            <a:ext cx="3136392" cy="1600200"/>
          </a:xfrm>
          <a:prstGeom prst="rect">
            <a:avLst/>
          </a:prstGeom>
          <a:noFill/>
          <a:ln/>
        </p:spPr>
        <p:txBody>
          <a:bodyPr wrap="square" lIns="0" tIns="0" rIns="0" bIns="0" rtlCol="0" anchor="t"/>
          <a:lstStyle/>
          <a:p>
            <a:pPr indent="0" marL="0">
              <a:lnSpc>
                <a:spcPct val="115000"/>
              </a:lnSpc>
              <a:buNone/>
            </a:pPr>
            <a:r>
              <a:rPr lang="en-US" sz="1150" dirty="0">
                <a:solidFill>
                  <a:srgbClr val="FFFFFF"/>
                </a:solidFill>
                <a:latin typeface="Arial" pitchFamily="34" charset="0"/>
                <a:ea typeface="Arial" pitchFamily="34" charset="-122"/>
                <a:cs typeface="Arial" pitchFamily="34" charset="-120"/>
              </a:rPr>
              <a:t>We send the services agreement the same day you say yes. Onboarding interviews with Michael, John and Doug start that week, and we connect the three LinkedIn profiles to our system.</a:t>
            </a:r>
            <a:endParaRPr lang="en-US" sz="1150" dirty="0"/>
          </a:p>
        </p:txBody>
      </p:sp>
      <p:sp>
        <p:nvSpPr>
          <p:cNvPr id="12" name="Shape 9"/>
          <p:cNvSpPr/>
          <p:nvPr/>
        </p:nvSpPr>
        <p:spPr>
          <a:xfrm>
            <a:off x="8302752" y="2121408"/>
            <a:ext cx="3593592" cy="2331720"/>
          </a:xfrm>
          <a:prstGeom prst="roundRect">
            <a:avLst>
              <a:gd name="adj" fmla="val 3529"/>
            </a:avLst>
          </a:prstGeom>
          <a:solidFill>
            <a:srgbClr val="0D0D26">
              <a:alpha val="55000"/>
            </a:srgbClr>
          </a:solidFill>
          <a:ln w="9525">
            <a:solidFill>
              <a:srgbClr val="31316A">
                <a:alpha val="75000"/>
              </a:srgbClr>
            </a:solidFill>
            <a:prstDash val="solid"/>
          </a:ln>
        </p:spPr>
      </p:sp>
      <p:sp>
        <p:nvSpPr>
          <p:cNvPr id="13" name="Text 10"/>
          <p:cNvSpPr/>
          <p:nvPr/>
        </p:nvSpPr>
        <p:spPr>
          <a:xfrm>
            <a:off x="8531352" y="2304288"/>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3  ·  FIRST MEETINGS</a:t>
            </a:r>
            <a:endParaRPr lang="en-US" sz="1400" dirty="0"/>
          </a:p>
        </p:txBody>
      </p:sp>
      <p:sp>
        <p:nvSpPr>
          <p:cNvPr id="14" name="Text 11"/>
          <p:cNvSpPr/>
          <p:nvPr/>
        </p:nvSpPr>
        <p:spPr>
          <a:xfrm>
            <a:off x="8531352" y="2651760"/>
            <a:ext cx="3136392" cy="1600200"/>
          </a:xfrm>
          <a:prstGeom prst="rect">
            <a:avLst/>
          </a:prstGeom>
          <a:noFill/>
          <a:ln/>
        </p:spPr>
        <p:txBody>
          <a:bodyPr wrap="square" lIns="0" tIns="0" rIns="0" bIns="0" rtlCol="0" anchor="t"/>
          <a:lstStyle/>
          <a:p>
            <a:pPr indent="0" marL="0">
              <a:lnSpc>
                <a:spcPct val="115000"/>
              </a:lnSpc>
              <a:buNone/>
            </a:pPr>
            <a:r>
              <a:rPr lang="en-US" sz="1150" dirty="0">
                <a:solidFill>
                  <a:srgbClr val="FFFFFF"/>
                </a:solidFill>
                <a:latin typeface="Arial" pitchFamily="34" charset="0"/>
                <a:ea typeface="Arial" pitchFamily="34" charset="-122"/>
                <a:cs typeface="Arial" pitchFamily="34" charset="-120"/>
              </a:rPr>
              <a:t>All three profiles are live within two weeks of kickoff. The first qualified investor conversations land on your calendars in weeks three and four, then build to a steady weekly rhythm through December and into the January review.</a:t>
            </a:r>
            <a:endParaRPr lang="en-US" sz="1150" dirty="0"/>
          </a:p>
        </p:txBody>
      </p:sp>
      <p:sp>
        <p:nvSpPr>
          <p:cNvPr id="15" name="Shape 12"/>
          <p:cNvSpPr/>
          <p:nvPr/>
        </p:nvSpPr>
        <p:spPr>
          <a:xfrm>
            <a:off x="566928" y="4663440"/>
            <a:ext cx="11338560" cy="1691640"/>
          </a:xfrm>
          <a:prstGeom prst="roundRect">
            <a:avLst>
              <a:gd name="adj" fmla="val 4865"/>
            </a:avLst>
          </a:prstGeom>
          <a:solidFill>
            <a:srgbClr val="0D0D26">
              <a:alpha val="55000"/>
            </a:srgbClr>
          </a:solidFill>
          <a:ln w="9525">
            <a:solidFill>
              <a:srgbClr val="31316A">
                <a:alpha val="75000"/>
              </a:srgbClr>
            </a:solidFill>
            <a:prstDash val="solid"/>
          </a:ln>
        </p:spPr>
      </p:sp>
      <p:sp>
        <p:nvSpPr>
          <p:cNvPr id="16" name="Text 13"/>
          <p:cNvSpPr/>
          <p:nvPr/>
        </p:nvSpPr>
        <p:spPr>
          <a:xfrm>
            <a:off x="795528" y="4828032"/>
            <a:ext cx="8229600" cy="320040"/>
          </a:xfrm>
          <a:prstGeom prst="rect">
            <a:avLst/>
          </a:prstGeom>
          <a:noFill/>
          <a:ln/>
        </p:spPr>
        <p:txBody>
          <a:bodyPr wrap="square" lIns="0" tIns="0" rIns="0" bIns="0" rtlCol="0" anchor="ctr"/>
          <a:lstStyle/>
          <a:p>
            <a:pPr indent="0" marL="0">
              <a:buNone/>
            </a:pPr>
            <a:r>
              <a:rPr lang="en-US" sz="1400" b="1" spc="100" kern="0" dirty="0">
                <a:solidFill>
                  <a:srgbClr val="7C6CFF"/>
                </a:solidFill>
                <a:latin typeface="Arial" pitchFamily="34" charset="0"/>
                <a:ea typeface="Arial" pitchFamily="34" charset="-122"/>
                <a:cs typeface="Arial" pitchFamily="34" charset="-120"/>
              </a:rPr>
              <a:t>WHAT WE NEED FROM YOU</a:t>
            </a:r>
            <a:endParaRPr lang="en-US" sz="1400" dirty="0"/>
          </a:p>
        </p:txBody>
      </p:sp>
      <p:sp>
        <p:nvSpPr>
          <p:cNvPr id="17" name="Text 14"/>
          <p:cNvSpPr/>
          <p:nvPr/>
        </p:nvSpPr>
        <p:spPr>
          <a:xfrm>
            <a:off x="795528" y="5175504"/>
            <a:ext cx="10881360" cy="1051560"/>
          </a:xfrm>
          <a:prstGeom prst="rect">
            <a:avLst/>
          </a:prstGeom>
          <a:noFill/>
          <a:ln/>
        </p:spPr>
        <p:txBody>
          <a:bodyPr wrap="square" lIns="0" tIns="0" rIns="0" bIns="0" rtlCol="0" anchor="t"/>
          <a:lstStyle/>
          <a:p>
            <a:pPr indent="0" marL="0">
              <a:lnSpc>
                <a:spcPct val="120000"/>
              </a:lnSpc>
              <a:buNone/>
            </a:pPr>
            <a:r>
              <a:rPr lang="en-US" sz="1250" dirty="0">
                <a:solidFill>
                  <a:srgbClr val="FFFFFF"/>
                </a:solidFill>
                <a:latin typeface="Arial" pitchFamily="34" charset="0"/>
                <a:ea typeface="Arial" pitchFamily="34" charset="-122"/>
                <a:cs typeface="Arial" pitchFamily="34" charset="-120"/>
              </a:rPr>
              <a:t>Connect Michael’s, John’s and Doug’s LinkedIn accounts to our system (no passwords or login credentials required). Share the fund’s current offering materials, any investor lists and past conversations, and your existing investors so we exclude them. A 60-minute onboarding interview with each partner. A Calendly link for each of you, and a do-not-contact list. That’s it. We handle the rest.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Deliverables</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APPENDIX  ·  THE ENGINE BEHIND THE MEETINGS</a:t>
            </a:r>
            <a:endParaRPr lang="en-US" sz="1400" dirty="0"/>
          </a:p>
        </p:txBody>
      </p:sp>
      <p:sp>
        <p:nvSpPr>
          <p:cNvPr id="6" name="Shape 3"/>
          <p:cNvSpPr/>
          <p:nvPr/>
        </p:nvSpPr>
        <p:spPr>
          <a:xfrm>
            <a:off x="566928" y="2103120"/>
            <a:ext cx="3593592" cy="2514600"/>
          </a:xfrm>
          <a:prstGeom prst="roundRect">
            <a:avLst>
              <a:gd name="adj" fmla="val 3273"/>
            </a:avLst>
          </a:prstGeom>
          <a:solidFill>
            <a:srgbClr val="0D0D26">
              <a:alpha val="55000"/>
            </a:srgbClr>
          </a:solidFill>
          <a:ln w="9525">
            <a:solidFill>
              <a:srgbClr val="31316A">
                <a:alpha val="75000"/>
              </a:srgbClr>
            </a:solidFill>
            <a:prstDash val="solid"/>
          </a:ln>
        </p:spPr>
      </p:sp>
      <p:sp>
        <p:nvSpPr>
          <p:cNvPr id="7" name="Text 4"/>
          <p:cNvSpPr/>
          <p:nvPr/>
        </p:nvSpPr>
        <p:spPr>
          <a:xfrm>
            <a:off x="795528" y="2286000"/>
            <a:ext cx="3136392" cy="292608"/>
          </a:xfrm>
          <a:prstGeom prst="rect">
            <a:avLst/>
          </a:prstGeom>
          <a:noFill/>
          <a:ln/>
        </p:spPr>
        <p:txBody>
          <a:bodyPr wrap="square" lIns="0" tIns="0" rIns="0" bIns="0" rtlCol="0" anchor="ctr"/>
          <a:lstStyle/>
          <a:p>
            <a:pPr indent="0" marL="0">
              <a:buNone/>
            </a:pPr>
            <a:r>
              <a:rPr lang="en-US" sz="1250" b="1" spc="100" kern="0" dirty="0">
                <a:solidFill>
                  <a:srgbClr val="43D5FF"/>
                </a:solidFill>
                <a:latin typeface="Arial" pitchFamily="34" charset="0"/>
                <a:ea typeface="Arial" pitchFamily="34" charset="-122"/>
                <a:cs typeface="Arial" pitchFamily="34" charset="-120"/>
              </a:rPr>
              <a:t>LINKEDIN OUTREACH</a:t>
            </a:r>
            <a:endParaRPr lang="en-US" sz="1250" dirty="0"/>
          </a:p>
        </p:txBody>
      </p:sp>
      <p:sp>
        <p:nvSpPr>
          <p:cNvPr id="8" name="Text 5"/>
          <p:cNvSpPr/>
          <p:nvPr/>
        </p:nvSpPr>
        <p:spPr>
          <a:xfrm>
            <a:off x="795528" y="2560320"/>
            <a:ext cx="3136392" cy="6858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3,600+</a:t>
            </a:r>
            <a:endParaRPr lang="en-US" sz="4400" dirty="0"/>
          </a:p>
        </p:txBody>
      </p:sp>
      <p:sp>
        <p:nvSpPr>
          <p:cNvPr id="9" name="Text 6"/>
          <p:cNvSpPr/>
          <p:nvPr/>
        </p:nvSpPr>
        <p:spPr>
          <a:xfrm>
            <a:off x="795528" y="3255264"/>
            <a:ext cx="3136392" cy="274320"/>
          </a:xfrm>
          <a:prstGeom prst="rect">
            <a:avLst/>
          </a:prstGeom>
          <a:noFill/>
          <a:ln/>
        </p:spPr>
        <p:txBody>
          <a:bodyPr wrap="square" lIns="0" tIns="0" rIns="0" bIns="0" rtlCol="0" anchor="ctr"/>
          <a:lstStyle/>
          <a:p>
            <a:pPr indent="0" marL="0">
              <a:buNone/>
            </a:pPr>
            <a:r>
              <a:rPr lang="en-US" sz="1100" dirty="0">
                <a:solidFill>
                  <a:srgbClr val="B9BEDC"/>
                </a:solidFill>
                <a:latin typeface="Arial" pitchFamily="34" charset="0"/>
                <a:ea typeface="Arial" pitchFamily="34" charset="-122"/>
                <a:cs typeface="Arial" pitchFamily="34" charset="-120"/>
              </a:rPr>
              <a:t>LinkedIn touches / month, three profiles</a:t>
            </a:r>
            <a:endParaRPr lang="en-US" sz="1100" dirty="0"/>
          </a:p>
        </p:txBody>
      </p:sp>
      <p:sp>
        <p:nvSpPr>
          <p:cNvPr id="10" name="Text 7"/>
          <p:cNvSpPr/>
          <p:nvPr/>
        </p:nvSpPr>
        <p:spPr>
          <a:xfrm>
            <a:off x="795528" y="3566160"/>
            <a:ext cx="3136392" cy="868680"/>
          </a:xfrm>
          <a:prstGeom prst="rect">
            <a:avLst/>
          </a:prstGeom>
          <a:noFill/>
          <a:ln/>
        </p:spPr>
        <p:txBody>
          <a:bodyPr wrap="square" lIns="0" tIns="0" rIns="0" bIns="0" rtlCol="0" anchor="t"/>
          <a:lstStyle/>
          <a:p>
            <a:pPr indent="0" marL="0">
              <a:lnSpc>
                <a:spcPct val="112000"/>
              </a:lnSpc>
              <a:buNone/>
            </a:pPr>
            <a:r>
              <a:rPr lang="en-US" sz="1050" dirty="0">
                <a:solidFill>
                  <a:srgbClr val="FFFFFF"/>
                </a:solidFill>
                <a:latin typeface="Arial" pitchFamily="34" charset="0"/>
                <a:ea typeface="Arial" pitchFamily="34" charset="-122"/>
                <a:cs typeface="Arial" pitchFamily="34" charset="-120"/>
              </a:rPr>
              <a:t>600–800 InMails and 600–800 connection invites per profile every month, from Michael’s, John’s and Doug’s accounts, in your voices, once fully warmed up. Every InMail credit in your Sales Navigator plans gets used.</a:t>
            </a:r>
            <a:endParaRPr lang="en-US" sz="1050" dirty="0"/>
          </a:p>
        </p:txBody>
      </p:sp>
      <p:sp>
        <p:nvSpPr>
          <p:cNvPr id="11" name="Shape 8"/>
          <p:cNvSpPr/>
          <p:nvPr/>
        </p:nvSpPr>
        <p:spPr>
          <a:xfrm>
            <a:off x="4434840" y="2103120"/>
            <a:ext cx="3593592" cy="2514600"/>
          </a:xfrm>
          <a:prstGeom prst="roundRect">
            <a:avLst>
              <a:gd name="adj" fmla="val 3273"/>
            </a:avLst>
          </a:prstGeom>
          <a:solidFill>
            <a:srgbClr val="0D0D26">
              <a:alpha val="55000"/>
            </a:srgbClr>
          </a:solidFill>
          <a:ln w="9525">
            <a:solidFill>
              <a:srgbClr val="31316A">
                <a:alpha val="75000"/>
              </a:srgbClr>
            </a:solidFill>
            <a:prstDash val="solid"/>
          </a:ln>
        </p:spPr>
      </p:sp>
      <p:sp>
        <p:nvSpPr>
          <p:cNvPr id="12" name="Text 9"/>
          <p:cNvSpPr/>
          <p:nvPr/>
        </p:nvSpPr>
        <p:spPr>
          <a:xfrm>
            <a:off x="4663440" y="2286000"/>
            <a:ext cx="3136392" cy="292608"/>
          </a:xfrm>
          <a:prstGeom prst="rect">
            <a:avLst/>
          </a:prstGeom>
          <a:noFill/>
          <a:ln/>
        </p:spPr>
        <p:txBody>
          <a:bodyPr wrap="square" lIns="0" tIns="0" rIns="0" bIns="0" rtlCol="0" anchor="ctr"/>
          <a:lstStyle/>
          <a:p>
            <a:pPr indent="0" marL="0">
              <a:buNone/>
            </a:pPr>
            <a:r>
              <a:rPr lang="en-US" sz="1250" b="1" spc="100" kern="0" dirty="0">
                <a:solidFill>
                  <a:srgbClr val="43D5FF"/>
                </a:solidFill>
                <a:latin typeface="Arial" pitchFamily="34" charset="0"/>
                <a:ea typeface="Arial" pitchFamily="34" charset="-122"/>
                <a:cs typeface="Arial" pitchFamily="34" charset="-120"/>
              </a:rPr>
              <a:t>THE REEF</a:t>
            </a:r>
            <a:endParaRPr lang="en-US" sz="1250" dirty="0"/>
          </a:p>
        </p:txBody>
      </p:sp>
      <p:sp>
        <p:nvSpPr>
          <p:cNvPr id="13" name="Text 10"/>
          <p:cNvSpPr/>
          <p:nvPr/>
        </p:nvSpPr>
        <p:spPr>
          <a:xfrm>
            <a:off x="4663440" y="2560320"/>
            <a:ext cx="3136392" cy="6858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10k+</a:t>
            </a:r>
            <a:endParaRPr lang="en-US" sz="4400" dirty="0"/>
          </a:p>
        </p:txBody>
      </p:sp>
      <p:sp>
        <p:nvSpPr>
          <p:cNvPr id="14" name="Text 11"/>
          <p:cNvSpPr/>
          <p:nvPr/>
        </p:nvSpPr>
        <p:spPr>
          <a:xfrm>
            <a:off x="4663440" y="3255264"/>
            <a:ext cx="3136392" cy="274320"/>
          </a:xfrm>
          <a:prstGeom prst="rect">
            <a:avLst/>
          </a:prstGeom>
          <a:noFill/>
          <a:ln/>
        </p:spPr>
        <p:txBody>
          <a:bodyPr wrap="square" lIns="0" tIns="0" rIns="0" bIns="0" rtlCol="0" anchor="ctr"/>
          <a:lstStyle/>
          <a:p>
            <a:pPr indent="0" marL="0">
              <a:buNone/>
            </a:pPr>
            <a:r>
              <a:rPr lang="en-US" sz="1100" dirty="0">
                <a:solidFill>
                  <a:srgbClr val="B9BEDC"/>
                </a:solidFill>
                <a:latin typeface="Arial" pitchFamily="34" charset="0"/>
                <a:ea typeface="Arial" pitchFamily="34" charset="-122"/>
                <a:cs typeface="Arial" pitchFamily="34" charset="-120"/>
              </a:rPr>
              <a:t>curated investor network</a:t>
            </a:r>
            <a:endParaRPr lang="en-US" sz="1100" dirty="0"/>
          </a:p>
        </p:txBody>
      </p:sp>
      <p:sp>
        <p:nvSpPr>
          <p:cNvPr id="15" name="Text 12"/>
          <p:cNvSpPr/>
          <p:nvPr/>
        </p:nvSpPr>
        <p:spPr>
          <a:xfrm>
            <a:off x="4663440" y="3566160"/>
            <a:ext cx="3136392" cy="868680"/>
          </a:xfrm>
          <a:prstGeom prst="rect">
            <a:avLst/>
          </a:prstGeom>
          <a:noFill/>
          <a:ln/>
        </p:spPr>
        <p:txBody>
          <a:bodyPr wrap="square" lIns="0" tIns="0" rIns="0" bIns="0" rtlCol="0" anchor="t"/>
          <a:lstStyle/>
          <a:p>
            <a:pPr indent="0" marL="0">
              <a:lnSpc>
                <a:spcPct val="112000"/>
              </a:lnSpc>
              <a:buNone/>
            </a:pPr>
            <a:r>
              <a:rPr lang="en-US" sz="1050" dirty="0">
                <a:solidFill>
                  <a:srgbClr val="FFFFFF"/>
                </a:solidFill>
                <a:latin typeface="Arial" pitchFamily="34" charset="0"/>
                <a:ea typeface="Arial" pitchFamily="34" charset="-122"/>
                <a:cs typeface="Arial" pitchFamily="34" charset="-120"/>
              </a:rPr>
              <a:t>Our internal network of opt-in investors actively seeking deal flow, retargeted with your raise.</a:t>
            </a:r>
            <a:endParaRPr lang="en-US" sz="1050" dirty="0"/>
          </a:p>
        </p:txBody>
      </p:sp>
      <p:sp>
        <p:nvSpPr>
          <p:cNvPr id="16" name="Shape 13"/>
          <p:cNvSpPr/>
          <p:nvPr/>
        </p:nvSpPr>
        <p:spPr>
          <a:xfrm>
            <a:off x="8302752" y="2103120"/>
            <a:ext cx="3593592" cy="2514600"/>
          </a:xfrm>
          <a:prstGeom prst="roundRect">
            <a:avLst>
              <a:gd name="adj" fmla="val 3273"/>
            </a:avLst>
          </a:prstGeom>
          <a:solidFill>
            <a:srgbClr val="0D0D26">
              <a:alpha val="55000"/>
            </a:srgbClr>
          </a:solidFill>
          <a:ln w="9525">
            <a:solidFill>
              <a:srgbClr val="31316A">
                <a:alpha val="75000"/>
              </a:srgbClr>
            </a:solidFill>
            <a:prstDash val="solid"/>
          </a:ln>
        </p:spPr>
      </p:sp>
      <p:sp>
        <p:nvSpPr>
          <p:cNvPr id="17" name="Text 14"/>
          <p:cNvSpPr/>
          <p:nvPr/>
        </p:nvSpPr>
        <p:spPr>
          <a:xfrm>
            <a:off x="8531352" y="2286000"/>
            <a:ext cx="3136392" cy="292608"/>
          </a:xfrm>
          <a:prstGeom prst="rect">
            <a:avLst/>
          </a:prstGeom>
          <a:noFill/>
          <a:ln/>
        </p:spPr>
        <p:txBody>
          <a:bodyPr wrap="square" lIns="0" tIns="0" rIns="0" bIns="0" rtlCol="0" anchor="ctr"/>
          <a:lstStyle/>
          <a:p>
            <a:pPr indent="0" marL="0">
              <a:buNone/>
            </a:pPr>
            <a:r>
              <a:rPr lang="en-US" sz="1250" b="1" spc="100" kern="0" dirty="0">
                <a:solidFill>
                  <a:srgbClr val="43D5FF"/>
                </a:solidFill>
                <a:latin typeface="Arial" pitchFamily="34" charset="0"/>
                <a:ea typeface="Arial" pitchFamily="34" charset="-122"/>
                <a:cs typeface="Arial" pitchFamily="34" charset="-120"/>
              </a:rPr>
              <a:t>STARTUP DEAL DESK</a:t>
            </a:r>
            <a:endParaRPr lang="en-US" sz="1250" dirty="0"/>
          </a:p>
        </p:txBody>
      </p:sp>
      <p:sp>
        <p:nvSpPr>
          <p:cNvPr id="18" name="Text 15"/>
          <p:cNvSpPr/>
          <p:nvPr/>
        </p:nvSpPr>
        <p:spPr>
          <a:xfrm>
            <a:off x="8531352" y="2560320"/>
            <a:ext cx="3136392" cy="6858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84k+</a:t>
            </a:r>
            <a:endParaRPr lang="en-US" sz="4400" dirty="0"/>
          </a:p>
        </p:txBody>
      </p:sp>
      <p:sp>
        <p:nvSpPr>
          <p:cNvPr id="19" name="Text 16"/>
          <p:cNvSpPr/>
          <p:nvPr/>
        </p:nvSpPr>
        <p:spPr>
          <a:xfrm>
            <a:off x="8531352" y="3255264"/>
            <a:ext cx="3136392" cy="274320"/>
          </a:xfrm>
          <a:prstGeom prst="rect">
            <a:avLst/>
          </a:prstGeom>
          <a:noFill/>
          <a:ln/>
        </p:spPr>
        <p:txBody>
          <a:bodyPr wrap="square" lIns="0" tIns="0" rIns="0" bIns="0" rtlCol="0" anchor="ctr"/>
          <a:lstStyle/>
          <a:p>
            <a:pPr indent="0" marL="0">
              <a:buNone/>
            </a:pPr>
            <a:r>
              <a:rPr lang="en-US" sz="1100" dirty="0">
                <a:solidFill>
                  <a:srgbClr val="B9BEDC"/>
                </a:solidFill>
                <a:latin typeface="Arial" pitchFamily="34" charset="0"/>
                <a:ea typeface="Arial" pitchFamily="34" charset="-122"/>
                <a:cs typeface="Arial" pitchFamily="34" charset="-120"/>
              </a:rPr>
              <a:t>investor subscribers</a:t>
            </a:r>
            <a:endParaRPr lang="en-US" sz="1100" dirty="0"/>
          </a:p>
        </p:txBody>
      </p:sp>
      <p:sp>
        <p:nvSpPr>
          <p:cNvPr id="20" name="Text 17"/>
          <p:cNvSpPr/>
          <p:nvPr/>
        </p:nvSpPr>
        <p:spPr>
          <a:xfrm>
            <a:off x="8531352" y="3566160"/>
            <a:ext cx="3136392" cy="868680"/>
          </a:xfrm>
          <a:prstGeom prst="rect">
            <a:avLst/>
          </a:prstGeom>
          <a:noFill/>
          <a:ln/>
        </p:spPr>
        <p:txBody>
          <a:bodyPr wrap="square" lIns="0" tIns="0" rIns="0" bIns="0" rtlCol="0" anchor="t"/>
          <a:lstStyle/>
          <a:p>
            <a:pPr indent="0" marL="0">
              <a:lnSpc>
                <a:spcPct val="112000"/>
              </a:lnSpc>
              <a:buNone/>
            </a:pPr>
            <a:r>
              <a:rPr lang="en-US" sz="1050" dirty="0">
                <a:solidFill>
                  <a:srgbClr val="FFFFFF"/>
                </a:solidFill>
                <a:latin typeface="Arial" pitchFamily="34" charset="0"/>
                <a:ea typeface="Arial" pitchFamily="34" charset="-122"/>
                <a:cs typeface="Arial" pitchFamily="34" charset="-120"/>
              </a:rPr>
              <a:t>Your company featured in our investor newsletter, putting your raise in front of capital allocators at scale.</a:t>
            </a:r>
            <a:endParaRPr lang="en-US" sz="1050" dirty="0"/>
          </a:p>
        </p:txBody>
      </p:sp>
      <p:sp>
        <p:nvSpPr>
          <p:cNvPr id="21" name="Shape 18"/>
          <p:cNvSpPr/>
          <p:nvPr/>
        </p:nvSpPr>
        <p:spPr>
          <a:xfrm>
            <a:off x="566928" y="4846320"/>
            <a:ext cx="11338560" cy="1463040"/>
          </a:xfrm>
          <a:prstGeom prst="roundRect">
            <a:avLst>
              <a:gd name="adj" fmla="val 5625"/>
            </a:avLst>
          </a:prstGeom>
          <a:solidFill>
            <a:srgbClr val="0D0D26">
              <a:alpha val="55000"/>
            </a:srgbClr>
          </a:solidFill>
          <a:ln w="9525">
            <a:solidFill>
              <a:srgbClr val="31316A">
                <a:alpha val="75000"/>
              </a:srgbClr>
            </a:solidFill>
            <a:prstDash val="solid"/>
          </a:ln>
        </p:spPr>
      </p:sp>
      <p:sp>
        <p:nvSpPr>
          <p:cNvPr id="22" name="Text 19"/>
          <p:cNvSpPr/>
          <p:nvPr/>
        </p:nvSpPr>
        <p:spPr>
          <a:xfrm>
            <a:off x="795528" y="5010912"/>
            <a:ext cx="4572000" cy="274320"/>
          </a:xfrm>
          <a:prstGeom prst="rect">
            <a:avLst/>
          </a:prstGeom>
          <a:noFill/>
          <a:ln/>
        </p:spPr>
        <p:txBody>
          <a:bodyPr wrap="square" lIns="0" tIns="0" rIns="0" bIns="0" rtlCol="0" anchor="ctr"/>
          <a:lstStyle/>
          <a:p>
            <a:pPr indent="0" marL="0">
              <a:buNone/>
            </a:pPr>
            <a:r>
              <a:rPr lang="en-US" sz="1200" b="1" spc="100" kern="0" dirty="0">
                <a:solidFill>
                  <a:srgbClr val="7C6CFF"/>
                </a:solidFill>
                <a:latin typeface="Arial" pitchFamily="34" charset="0"/>
                <a:ea typeface="Arial" pitchFamily="34" charset="-122"/>
                <a:cs typeface="Arial" pitchFamily="34" charset="-120"/>
              </a:rPr>
              <a:t>FULLY MANAGED, END TO END</a:t>
            </a:r>
            <a:endParaRPr lang="en-US" sz="1200" dirty="0"/>
          </a:p>
        </p:txBody>
      </p:sp>
      <p:sp>
        <p:nvSpPr>
          <p:cNvPr id="23" name="Text 20"/>
          <p:cNvSpPr/>
          <p:nvPr/>
        </p:nvSpPr>
        <p:spPr>
          <a:xfrm>
            <a:off x="795528" y="5321808"/>
            <a:ext cx="10881360" cy="868680"/>
          </a:xfrm>
          <a:prstGeom prst="rect">
            <a:avLst/>
          </a:prstGeom>
          <a:noFill/>
          <a:ln/>
        </p:spPr>
        <p:txBody>
          <a:bodyPr wrap="square" lIns="0" tIns="0" rIns="0" bIns="0" rtlCol="0" anchor="t"/>
          <a:lstStyle/>
          <a:p>
            <a:pPr indent="0" marL="0">
              <a:lnSpc>
                <a:spcPct val="125000"/>
              </a:lnSpc>
              <a:buNone/>
            </a:pPr>
            <a:r>
              <a:rPr lang="en-US" sz="1200" dirty="0">
                <a:solidFill>
                  <a:srgbClr val="FFFFFF"/>
                </a:solidFill>
                <a:latin typeface="Arial" pitchFamily="34" charset="0"/>
                <a:ea typeface="Arial" pitchFamily="34" charset="-122"/>
                <a:cs typeface="Arial" pitchFamily="34" charset="-120"/>
              </a:rPr>
              <a:t>Strategy &amp; onboarding  ·  LinkedIn profile optimization  ·  Investor targeting &amp; list building  ·  Outreach execution &amp; inbox management  ·  Lead qualification &amp; meeting scheduling  ·  Pitch positioning &amp; storytelling support  ·  CRM setup &amp; management  ·  Reporting &amp; continuous optimization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Founders Who’ve Run This Play</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APPENDIX  ·  RESULTS &amp; TESTIMONIALS</a:t>
            </a:r>
            <a:endParaRPr lang="en-US" sz="1400" dirty="0"/>
          </a:p>
        </p:txBody>
      </p:sp>
      <p:sp>
        <p:nvSpPr>
          <p:cNvPr id="6" name="Shape 3"/>
          <p:cNvSpPr/>
          <p:nvPr/>
        </p:nvSpPr>
        <p:spPr>
          <a:xfrm>
            <a:off x="566928" y="2057400"/>
            <a:ext cx="3593592" cy="868680"/>
          </a:xfrm>
          <a:prstGeom prst="roundRect">
            <a:avLst>
              <a:gd name="adj" fmla="val 8571"/>
            </a:avLst>
          </a:prstGeom>
          <a:solidFill>
            <a:srgbClr val="0D0D26">
              <a:alpha val="55000"/>
            </a:srgbClr>
          </a:solidFill>
          <a:ln w="9525">
            <a:solidFill>
              <a:srgbClr val="31316A">
                <a:alpha val="75000"/>
              </a:srgbClr>
            </a:solidFill>
            <a:prstDash val="solid"/>
          </a:ln>
        </p:spPr>
      </p:sp>
      <p:sp>
        <p:nvSpPr>
          <p:cNvPr id="7" name="Text 4"/>
          <p:cNvSpPr/>
          <p:nvPr/>
        </p:nvSpPr>
        <p:spPr>
          <a:xfrm>
            <a:off x="795528" y="2121408"/>
            <a:ext cx="1554480" cy="731520"/>
          </a:xfrm>
          <a:prstGeom prst="rect">
            <a:avLst/>
          </a:prstGeom>
          <a:noFill/>
          <a:ln/>
        </p:spPr>
        <p:txBody>
          <a:bodyPr wrap="square" lIns="0" tIns="0" rIns="0" bIns="0" rtlCol="0" anchor="ctr"/>
          <a:lstStyle/>
          <a:p>
            <a:pPr indent="0" marL="0">
              <a:buNone/>
            </a:pPr>
            <a:r>
              <a:rPr lang="en-US" sz="2400" b="1" dirty="0">
                <a:solidFill>
                  <a:srgbClr val="43D5FF"/>
                </a:solidFill>
                <a:latin typeface="Arial" pitchFamily="34" charset="0"/>
                <a:ea typeface="Arial" pitchFamily="34" charset="-122"/>
                <a:cs typeface="Arial" pitchFamily="34" charset="-120"/>
              </a:rPr>
              <a:t>$200M+</a:t>
            </a:r>
            <a:endParaRPr lang="en-US" sz="2400" dirty="0"/>
          </a:p>
        </p:txBody>
      </p:sp>
      <p:sp>
        <p:nvSpPr>
          <p:cNvPr id="8" name="Text 5"/>
          <p:cNvSpPr/>
          <p:nvPr/>
        </p:nvSpPr>
        <p:spPr>
          <a:xfrm>
            <a:off x="2350008" y="2121408"/>
            <a:ext cx="1581912" cy="731520"/>
          </a:xfrm>
          <a:prstGeom prst="rect">
            <a:avLst/>
          </a:prstGeom>
          <a:noFill/>
          <a:ln/>
        </p:spPr>
        <p:txBody>
          <a:bodyPr wrap="square" lIns="0" tIns="0" rIns="0" bIns="0" rtlCol="0" anchor="ctr"/>
          <a:lstStyle/>
          <a:p>
            <a:pPr indent="0" marL="0">
              <a:lnSpc>
                <a:spcPct val="110000"/>
              </a:lnSpc>
              <a:buNone/>
            </a:pPr>
            <a:r>
              <a:rPr lang="en-US" sz="1050" dirty="0">
                <a:solidFill>
                  <a:srgbClr val="FFFFFF"/>
                </a:solidFill>
                <a:latin typeface="Arial" pitchFamily="34" charset="0"/>
                <a:ea typeface="Arial" pitchFamily="34" charset="-122"/>
                <a:cs typeface="Arial" pitchFamily="34" charset="-120"/>
              </a:rPr>
              <a:t>client-reported capital raised</a:t>
            </a:r>
            <a:endParaRPr lang="en-US" sz="1050" dirty="0"/>
          </a:p>
        </p:txBody>
      </p:sp>
      <p:sp>
        <p:nvSpPr>
          <p:cNvPr id="9" name="Shape 6"/>
          <p:cNvSpPr/>
          <p:nvPr/>
        </p:nvSpPr>
        <p:spPr>
          <a:xfrm>
            <a:off x="4434840" y="2057400"/>
            <a:ext cx="3593592" cy="868680"/>
          </a:xfrm>
          <a:prstGeom prst="roundRect">
            <a:avLst>
              <a:gd name="adj" fmla="val 8571"/>
            </a:avLst>
          </a:prstGeom>
          <a:solidFill>
            <a:srgbClr val="0D0D26">
              <a:alpha val="55000"/>
            </a:srgbClr>
          </a:solidFill>
          <a:ln w="9525">
            <a:solidFill>
              <a:srgbClr val="31316A">
                <a:alpha val="75000"/>
              </a:srgbClr>
            </a:solidFill>
            <a:prstDash val="solid"/>
          </a:ln>
        </p:spPr>
      </p:sp>
      <p:sp>
        <p:nvSpPr>
          <p:cNvPr id="10" name="Text 7"/>
          <p:cNvSpPr/>
          <p:nvPr/>
        </p:nvSpPr>
        <p:spPr>
          <a:xfrm>
            <a:off x="4663440" y="2121408"/>
            <a:ext cx="1554480" cy="731520"/>
          </a:xfrm>
          <a:prstGeom prst="rect">
            <a:avLst/>
          </a:prstGeom>
          <a:noFill/>
          <a:ln/>
        </p:spPr>
        <p:txBody>
          <a:bodyPr wrap="square" lIns="0" tIns="0" rIns="0" bIns="0" rtlCol="0" anchor="ctr"/>
          <a:lstStyle/>
          <a:p>
            <a:pPr indent="0" marL="0">
              <a:buNone/>
            </a:pPr>
            <a:r>
              <a:rPr lang="en-US" sz="2400" b="1" dirty="0">
                <a:solidFill>
                  <a:srgbClr val="43D5FF"/>
                </a:solidFill>
                <a:latin typeface="Arial" pitchFamily="34" charset="0"/>
                <a:ea typeface="Arial" pitchFamily="34" charset="-122"/>
                <a:cs typeface="Arial" pitchFamily="34" charset="-120"/>
              </a:rPr>
              <a:t>10,000+</a:t>
            </a:r>
            <a:endParaRPr lang="en-US" sz="2400" dirty="0"/>
          </a:p>
        </p:txBody>
      </p:sp>
      <p:sp>
        <p:nvSpPr>
          <p:cNvPr id="11" name="Text 8"/>
          <p:cNvSpPr/>
          <p:nvPr/>
        </p:nvSpPr>
        <p:spPr>
          <a:xfrm>
            <a:off x="6217920" y="2121408"/>
            <a:ext cx="1581912" cy="731520"/>
          </a:xfrm>
          <a:prstGeom prst="rect">
            <a:avLst/>
          </a:prstGeom>
          <a:noFill/>
          <a:ln/>
        </p:spPr>
        <p:txBody>
          <a:bodyPr wrap="square" lIns="0" tIns="0" rIns="0" bIns="0" rtlCol="0" anchor="ctr"/>
          <a:lstStyle/>
          <a:p>
            <a:pPr indent="0" marL="0">
              <a:lnSpc>
                <a:spcPct val="110000"/>
              </a:lnSpc>
              <a:buNone/>
            </a:pPr>
            <a:r>
              <a:rPr lang="en-US" sz="1050" dirty="0">
                <a:solidFill>
                  <a:srgbClr val="FFFFFF"/>
                </a:solidFill>
                <a:latin typeface="Arial" pitchFamily="34" charset="0"/>
                <a:ea typeface="Arial" pitchFamily="34" charset="-122"/>
                <a:cs typeface="Arial" pitchFamily="34" charset="-120"/>
              </a:rPr>
              <a:t>qualified investor meetings booked</a:t>
            </a:r>
            <a:endParaRPr lang="en-US" sz="1050" dirty="0"/>
          </a:p>
        </p:txBody>
      </p:sp>
      <p:sp>
        <p:nvSpPr>
          <p:cNvPr id="12" name="Shape 9"/>
          <p:cNvSpPr/>
          <p:nvPr/>
        </p:nvSpPr>
        <p:spPr>
          <a:xfrm>
            <a:off x="8302752" y="2057400"/>
            <a:ext cx="3593592" cy="868680"/>
          </a:xfrm>
          <a:prstGeom prst="roundRect">
            <a:avLst>
              <a:gd name="adj" fmla="val 8571"/>
            </a:avLst>
          </a:prstGeom>
          <a:solidFill>
            <a:srgbClr val="0D0D26">
              <a:alpha val="55000"/>
            </a:srgbClr>
          </a:solidFill>
          <a:ln w="9525">
            <a:solidFill>
              <a:srgbClr val="31316A">
                <a:alpha val="75000"/>
              </a:srgbClr>
            </a:solidFill>
            <a:prstDash val="solid"/>
          </a:ln>
        </p:spPr>
      </p:sp>
      <p:sp>
        <p:nvSpPr>
          <p:cNvPr id="13" name="Text 10"/>
          <p:cNvSpPr/>
          <p:nvPr/>
        </p:nvSpPr>
        <p:spPr>
          <a:xfrm>
            <a:off x="8531352" y="2121408"/>
            <a:ext cx="1554480" cy="731520"/>
          </a:xfrm>
          <a:prstGeom prst="rect">
            <a:avLst/>
          </a:prstGeom>
          <a:noFill/>
          <a:ln/>
        </p:spPr>
        <p:txBody>
          <a:bodyPr wrap="square" lIns="0" tIns="0" rIns="0" bIns="0" rtlCol="0" anchor="ctr"/>
          <a:lstStyle/>
          <a:p>
            <a:pPr indent="0" marL="0">
              <a:buNone/>
            </a:pPr>
            <a:r>
              <a:rPr lang="en-US" sz="2400" b="1" dirty="0">
                <a:solidFill>
                  <a:srgbClr val="43D5FF"/>
                </a:solidFill>
                <a:latin typeface="Arial" pitchFamily="34" charset="0"/>
                <a:ea typeface="Arial" pitchFamily="34" charset="-122"/>
                <a:cs typeface="Arial" pitchFamily="34" charset="-120"/>
              </a:rPr>
              <a:t>500+</a:t>
            </a:r>
            <a:endParaRPr lang="en-US" sz="2400" dirty="0"/>
          </a:p>
        </p:txBody>
      </p:sp>
      <p:sp>
        <p:nvSpPr>
          <p:cNvPr id="14" name="Text 11"/>
          <p:cNvSpPr/>
          <p:nvPr/>
        </p:nvSpPr>
        <p:spPr>
          <a:xfrm>
            <a:off x="10085832" y="2121408"/>
            <a:ext cx="1581912" cy="731520"/>
          </a:xfrm>
          <a:prstGeom prst="rect">
            <a:avLst/>
          </a:prstGeom>
          <a:noFill/>
          <a:ln/>
        </p:spPr>
        <p:txBody>
          <a:bodyPr wrap="square" lIns="0" tIns="0" rIns="0" bIns="0" rtlCol="0" anchor="ctr"/>
          <a:lstStyle/>
          <a:p>
            <a:pPr indent="0" marL="0">
              <a:lnSpc>
                <a:spcPct val="110000"/>
              </a:lnSpc>
              <a:buNone/>
            </a:pPr>
            <a:r>
              <a:rPr lang="en-US" sz="1050" dirty="0">
                <a:solidFill>
                  <a:srgbClr val="FFFFFF"/>
                </a:solidFill>
                <a:latin typeface="Arial" pitchFamily="34" charset="0"/>
                <a:ea typeface="Arial" pitchFamily="34" charset="-122"/>
                <a:cs typeface="Arial" pitchFamily="34" charset="-120"/>
              </a:rPr>
              <a:t>clients served since 2020</a:t>
            </a:r>
            <a:endParaRPr lang="en-US" sz="1050" dirty="0"/>
          </a:p>
        </p:txBody>
      </p:sp>
      <p:sp>
        <p:nvSpPr>
          <p:cNvPr id="362" name="Shape 40"/>
          <p:cNvSpPr/>
          <p:nvPr/>
        </p:nvSpPr>
        <p:spPr>
          <a:xfrm>
            <a:off x="566928" y="3063240"/>
            <a:ext cx="3593592" cy="1920240"/>
          </a:xfrm>
          <a:prstGeom prst="roundRect">
            <a:avLst>
              <a:gd name="adj" fmla="val 4286"/>
            </a:avLst>
          </a:prstGeom>
          <a:solidFill>
            <a:srgbClr val="0D0D26">
              <a:alpha val="55000"/>
            </a:srgbClr>
          </a:solidFill>
          <a:ln w="9525">
            <a:solidFill>
              <a:srgbClr val="31316A">
                <a:alpha val="75000"/>
              </a:srgbClr>
            </a:solidFill>
            <a:prstDash val="solid"/>
          </a:ln>
        </p:spPr>
      </p:sp>
      <p:sp>
        <p:nvSpPr>
          <p:cNvPr id="363" name="Text 40a"/>
          <p:cNvSpPr/>
          <p:nvPr/>
        </p:nvSpPr>
        <p:spPr>
          <a:xfrm>
            <a:off x="795528" y="3145536"/>
            <a:ext cx="3136392" cy="256032"/>
          </a:xfrm>
          <a:prstGeom prst="rect">
            <a:avLst/>
          </a:prstGeom>
          <a:noFill/>
          <a:ln/>
        </p:spPr>
        <p:txBody>
          <a:bodyPr wrap="square" lIns="0" tIns="0" rIns="0" bIns="0" rtlCol="0" anchor="ctr"/>
          <a:lstStyle/>
          <a:p>
            <a:pPr indent="0" marL="0">
              <a:buNone/>
            </a:pPr>
            <a:r>
              <a:rPr lang="en-US" sz="1000" b="1" spc="100" kern="0" dirty="0">
                <a:solidFill>
                  <a:srgbClr val="7C6CFF"/>
                </a:solidFill>
                <a:latin typeface="Arial" pitchFamily="34" charset="0"/>
                <a:ea typeface="Arial" pitchFamily="34" charset="-122"/>
                <a:cs typeface="Arial" pitchFamily="34" charset="-120"/>
              </a:rPr>
              <a:t>ISSUANCE  ·  DARREN MARBLE, CEO</a:t>
            </a:r>
            <a:endParaRPr lang="en-US" sz="1000" dirty="0"/>
          </a:p>
        </p:txBody>
      </p:sp>
      <p:sp>
        <p:nvSpPr>
          <p:cNvPr id="364" name="Text 40b"/>
          <p:cNvSpPr/>
          <p:nvPr/>
        </p:nvSpPr>
        <p:spPr>
          <a:xfrm>
            <a:off x="795528" y="3419856"/>
            <a:ext cx="3136392" cy="1207008"/>
          </a:xfrm>
          <a:prstGeom prst="rect">
            <a:avLst/>
          </a:prstGeom>
          <a:noFill/>
          <a:ln/>
        </p:spPr>
        <p:txBody>
          <a:bodyPr wrap="square" lIns="0" tIns="0" rIns="0" bIns="0" rtlCol="0" anchor="t"/>
          <a:lstStyle/>
          <a:p>
            <a:pPr indent="0" marL="0">
              <a:lnSpc>
                <a:spcPct val="120000"/>
              </a:lnSpc>
              <a:buNone/>
            </a:pPr>
            <a:r>
              <a:rPr lang="en-US" sz="1050" i="1" dirty="0">
                <a:solidFill>
                  <a:srgbClr val="FFFFFF"/>
                </a:solidFill>
                <a:latin typeface="Arial" pitchFamily="34" charset="0"/>
                <a:ea typeface="Arial" pitchFamily="34" charset="-122"/>
                <a:cs typeface="Arial" pitchFamily="34" charset="-120"/>
              </a:rPr>
              <a:t>“…one of the most effective investor marketing firms I’ve ever worked with when it comes to raising capital for my companies. In the last 60 days alone, FISH has arranged 25 qualified investor meetings for me.”</a:t>
            </a:r>
            <a:endParaRPr lang="en-US" sz="1050" dirty="0"/>
          </a:p>
        </p:txBody>
      </p:sp>
      <p:sp>
        <p:nvSpPr>
          <p:cNvPr id="365" name="Text 40c"/>
          <p:cNvSpPr/>
          <p:nvPr/>
        </p:nvSpPr>
        <p:spPr>
          <a:xfrm>
            <a:off x="795528" y="4663440"/>
            <a:ext cx="3136392" cy="256032"/>
          </a:xfrm>
          <a:prstGeom prst="rect">
            <a:avLst/>
          </a:prstGeom>
          <a:noFill/>
          <a:ln/>
        </p:spPr>
        <p:txBody>
          <a:bodyPr wrap="square" lIns="0" tIns="0" rIns="0" bIns="0" rtlCol="0" anchor="ctr"/>
          <a:lstStyle/>
          <a:p>
            <a:pPr indent="0" marL="0">
              <a:buNone/>
            </a:pPr>
            <a:r>
              <a:rPr lang="en-US" sz="1000" b="1" dirty="0">
                <a:solidFill>
                  <a:srgbClr val="43D5FF"/>
                </a:solidFill>
                <a:latin typeface="Arial" pitchFamily="34" charset="0"/>
                <a:ea typeface="Arial" pitchFamily="34" charset="-122"/>
                <a:cs typeface="Arial" pitchFamily="34" charset="-120"/>
              </a:rPr>
              <a:t>25 QUALIFIED INVESTOR MEETINGS IN 60 DAYS</a:t>
            </a:r>
            <a:endParaRPr lang="en-US" sz="1000" dirty="0"/>
          </a:p>
        </p:txBody>
      </p:sp>
      <p:sp>
        <p:nvSpPr>
          <p:cNvPr id="366" name="Shape 41"/>
          <p:cNvSpPr/>
          <p:nvPr/>
        </p:nvSpPr>
        <p:spPr>
          <a:xfrm>
            <a:off x="4434840" y="3063240"/>
            <a:ext cx="3593592" cy="1920240"/>
          </a:xfrm>
          <a:prstGeom prst="roundRect">
            <a:avLst>
              <a:gd name="adj" fmla="val 4286"/>
            </a:avLst>
          </a:prstGeom>
          <a:solidFill>
            <a:srgbClr val="0D0D26">
              <a:alpha val="55000"/>
            </a:srgbClr>
          </a:solidFill>
          <a:ln w="9525">
            <a:solidFill>
              <a:srgbClr val="31316A">
                <a:alpha val="75000"/>
              </a:srgbClr>
            </a:solidFill>
            <a:prstDash val="solid"/>
          </a:ln>
        </p:spPr>
      </p:sp>
      <p:sp>
        <p:nvSpPr>
          <p:cNvPr id="367" name="Text 41a"/>
          <p:cNvSpPr/>
          <p:nvPr/>
        </p:nvSpPr>
        <p:spPr>
          <a:xfrm>
            <a:off x="4663440" y="3145536"/>
            <a:ext cx="3136392" cy="256032"/>
          </a:xfrm>
          <a:prstGeom prst="rect">
            <a:avLst/>
          </a:prstGeom>
          <a:noFill/>
          <a:ln/>
        </p:spPr>
        <p:txBody>
          <a:bodyPr wrap="square" lIns="0" tIns="0" rIns="0" bIns="0" rtlCol="0" anchor="ctr"/>
          <a:lstStyle/>
          <a:p>
            <a:pPr indent="0" marL="0">
              <a:buNone/>
            </a:pPr>
            <a:r>
              <a:rPr lang="en-US" sz="1000" b="1" spc="100" kern="0" dirty="0">
                <a:solidFill>
                  <a:srgbClr val="7C6CFF"/>
                </a:solidFill>
                <a:latin typeface="Arial" pitchFamily="34" charset="0"/>
                <a:ea typeface="Arial" pitchFamily="34" charset="-122"/>
                <a:cs typeface="Arial" pitchFamily="34" charset="-120"/>
              </a:rPr>
              <a:t>CARTHAGE CAPITAL  ·  STEPHEN WU</a:t>
            </a:r>
            <a:endParaRPr lang="en-US" sz="1000" dirty="0"/>
          </a:p>
        </p:txBody>
      </p:sp>
      <p:sp>
        <p:nvSpPr>
          <p:cNvPr id="368" name="Text 41b"/>
          <p:cNvSpPr/>
          <p:nvPr/>
        </p:nvSpPr>
        <p:spPr>
          <a:xfrm>
            <a:off x="4663440" y="3419856"/>
            <a:ext cx="3136392" cy="1207008"/>
          </a:xfrm>
          <a:prstGeom prst="rect">
            <a:avLst/>
          </a:prstGeom>
          <a:noFill/>
          <a:ln/>
        </p:spPr>
        <p:txBody>
          <a:bodyPr wrap="square" lIns="0" tIns="0" rIns="0" bIns="0" rtlCol="0" anchor="t"/>
          <a:lstStyle/>
          <a:p>
            <a:pPr indent="0" marL="0">
              <a:lnSpc>
                <a:spcPct val="120000"/>
              </a:lnSpc>
              <a:buNone/>
            </a:pPr>
            <a:r>
              <a:rPr lang="en-US" sz="1050" i="1" dirty="0">
                <a:solidFill>
                  <a:srgbClr val="FFFFFF"/>
                </a:solidFill>
                <a:latin typeface="Arial" pitchFamily="34" charset="0"/>
                <a:ea typeface="Arial" pitchFamily="34" charset="-122"/>
                <a:cs typeface="Arial" pitchFamily="34" charset="-120"/>
              </a:rPr>
              <a:t>“ThinkFISH helped me raise $2 to $3 million across around 20 different investors over the past nine months. Two to three meetings every week, consistently, and they’re already interested. You delivered way above my expectations.”</a:t>
            </a:r>
            <a:endParaRPr lang="en-US" sz="1050" dirty="0"/>
          </a:p>
        </p:txBody>
      </p:sp>
      <p:sp>
        <p:nvSpPr>
          <p:cNvPr id="369" name="Text 41c"/>
          <p:cNvSpPr/>
          <p:nvPr/>
        </p:nvSpPr>
        <p:spPr>
          <a:xfrm>
            <a:off x="4663440" y="4663440"/>
            <a:ext cx="3136392" cy="256032"/>
          </a:xfrm>
          <a:prstGeom prst="rect">
            <a:avLst/>
          </a:prstGeom>
          <a:noFill/>
          <a:ln/>
        </p:spPr>
        <p:txBody>
          <a:bodyPr wrap="square" lIns="0" tIns="0" rIns="0" bIns="0" rtlCol="0" anchor="ctr"/>
          <a:lstStyle/>
          <a:p>
            <a:pPr indent="0" marL="0">
              <a:buNone/>
            </a:pPr>
            <a:r>
              <a:rPr lang="en-US" sz="1000" b="1" dirty="0">
                <a:solidFill>
                  <a:srgbClr val="43D5FF"/>
                </a:solidFill>
                <a:latin typeface="Arial" pitchFamily="34" charset="0"/>
                <a:ea typeface="Arial" pitchFamily="34" charset="-122"/>
                <a:cs typeface="Arial" pitchFamily="34" charset="-120"/>
              </a:rPr>
              <a:t>$2–3M RAISED  ·  ~20 INVESTORS  ·  9 MONTHS</a:t>
            </a:r>
            <a:endParaRPr lang="en-US" sz="1000" dirty="0"/>
          </a:p>
        </p:txBody>
      </p:sp>
      <p:sp>
        <p:nvSpPr>
          <p:cNvPr id="370" name="Shape 42"/>
          <p:cNvSpPr/>
          <p:nvPr/>
        </p:nvSpPr>
        <p:spPr>
          <a:xfrm>
            <a:off x="8302752" y="3063240"/>
            <a:ext cx="3593592" cy="1920240"/>
          </a:xfrm>
          <a:prstGeom prst="roundRect">
            <a:avLst>
              <a:gd name="adj" fmla="val 4286"/>
            </a:avLst>
          </a:prstGeom>
          <a:solidFill>
            <a:srgbClr val="0D0D26">
              <a:alpha val="55000"/>
            </a:srgbClr>
          </a:solidFill>
          <a:ln w="9525">
            <a:solidFill>
              <a:srgbClr val="31316A">
                <a:alpha val="75000"/>
              </a:srgbClr>
            </a:solidFill>
            <a:prstDash val="solid"/>
          </a:ln>
        </p:spPr>
      </p:sp>
      <p:sp>
        <p:nvSpPr>
          <p:cNvPr id="371" name="Text 42a"/>
          <p:cNvSpPr/>
          <p:nvPr/>
        </p:nvSpPr>
        <p:spPr>
          <a:xfrm>
            <a:off x="8531352" y="3145536"/>
            <a:ext cx="3136392" cy="256032"/>
          </a:xfrm>
          <a:prstGeom prst="rect">
            <a:avLst/>
          </a:prstGeom>
          <a:noFill/>
          <a:ln/>
        </p:spPr>
        <p:txBody>
          <a:bodyPr wrap="square" lIns="0" tIns="0" rIns="0" bIns="0" rtlCol="0" anchor="ctr"/>
          <a:lstStyle/>
          <a:p>
            <a:pPr indent="0" marL="0">
              <a:buNone/>
            </a:pPr>
            <a:r>
              <a:rPr lang="en-US" sz="1000" b="1" spc="100" kern="0" dirty="0">
                <a:solidFill>
                  <a:srgbClr val="7C6CFF"/>
                </a:solidFill>
                <a:latin typeface="Arial" pitchFamily="34" charset="0"/>
                <a:ea typeface="Arial" pitchFamily="34" charset="-122"/>
                <a:cs typeface="Arial" pitchFamily="34" charset="-120"/>
              </a:rPr>
              <a:t>OPTIONSMD  ·  KYLE PIERCE, CEO</a:t>
            </a:r>
            <a:endParaRPr lang="en-US" sz="1000" dirty="0"/>
          </a:p>
        </p:txBody>
      </p:sp>
      <p:sp>
        <p:nvSpPr>
          <p:cNvPr id="372" name="Text 42b"/>
          <p:cNvSpPr/>
          <p:nvPr/>
        </p:nvSpPr>
        <p:spPr>
          <a:xfrm>
            <a:off x="8531352" y="3419856"/>
            <a:ext cx="3136392" cy="1207008"/>
          </a:xfrm>
          <a:prstGeom prst="rect">
            <a:avLst/>
          </a:prstGeom>
          <a:noFill/>
          <a:ln/>
        </p:spPr>
        <p:txBody>
          <a:bodyPr wrap="square" lIns="0" tIns="0" rIns="0" bIns="0" rtlCol="0" anchor="t"/>
          <a:lstStyle/>
          <a:p>
            <a:pPr indent="0" marL="0">
              <a:lnSpc>
                <a:spcPct val="120000"/>
              </a:lnSpc>
              <a:buNone/>
            </a:pPr>
            <a:r>
              <a:rPr lang="en-US" sz="1050" i="1" dirty="0">
                <a:solidFill>
                  <a:srgbClr val="FFFFFF"/>
                </a:solidFill>
                <a:latin typeface="Arial" pitchFamily="34" charset="0"/>
                <a:ea typeface="Arial" pitchFamily="34" charset="-122"/>
                <a:cs typeface="Arial" pitchFamily="34" charset="-120"/>
              </a:rPr>
              <a:t>“We’ve had a great experience with the team. The number and relevance of investor connections have grown quickly, and each meeting has proven valuable. We’ve been pleasantly surprised by the unexpected opportunities that have come from them.”</a:t>
            </a:r>
            <a:endParaRPr lang="en-US" sz="1050" dirty="0"/>
          </a:p>
        </p:txBody>
      </p:sp>
      <p:sp>
        <p:nvSpPr>
          <p:cNvPr id="373" name="Text 42c"/>
          <p:cNvSpPr/>
          <p:nvPr/>
        </p:nvSpPr>
        <p:spPr>
          <a:xfrm>
            <a:off x="8531352" y="4663440"/>
            <a:ext cx="3136392" cy="256032"/>
          </a:xfrm>
          <a:prstGeom prst="rect">
            <a:avLst/>
          </a:prstGeom>
          <a:noFill/>
          <a:ln/>
        </p:spPr>
        <p:txBody>
          <a:bodyPr wrap="square" lIns="0" tIns="0" rIns="0" bIns="0" rtlCol="0" anchor="ctr"/>
          <a:lstStyle/>
          <a:p>
            <a:pPr indent="0" marL="0">
              <a:buNone/>
            </a:pPr>
            <a:r>
              <a:rPr lang="en-US" sz="1000" b="1" dirty="0">
                <a:solidFill>
                  <a:srgbClr val="43D5FF"/>
                </a:solidFill>
                <a:latin typeface="Arial" pitchFamily="34" charset="0"/>
                <a:ea typeface="Arial" pitchFamily="34" charset="-122"/>
                <a:cs typeface="Arial" pitchFamily="34" charset="-120"/>
              </a:rPr>
              <a:t>90 MEETINGS IN 3 MONTHS  ·  LATER ACQUIRED</a:t>
            </a:r>
            <a:endParaRPr lang="en-US" sz="1000" dirty="0"/>
          </a:p>
        </p:txBody>
      </p:sp>
      <p:sp>
        <p:nvSpPr>
          <p:cNvPr id="374" name="Shape 50"/>
          <p:cNvSpPr/>
          <p:nvPr/>
        </p:nvSpPr>
        <p:spPr>
          <a:xfrm>
            <a:off x="566928" y="5120640"/>
            <a:ext cx="5532120" cy="777240"/>
          </a:xfrm>
          <a:prstGeom prst="roundRect">
            <a:avLst>
              <a:gd name="adj" fmla="val 4286"/>
            </a:avLst>
          </a:prstGeom>
          <a:solidFill>
            <a:srgbClr val="0D0D26">
              <a:alpha val="55000"/>
            </a:srgbClr>
          </a:solidFill>
          <a:ln w="9525">
            <a:solidFill>
              <a:srgbClr val="31316A">
                <a:alpha val="75000"/>
              </a:srgbClr>
            </a:solidFill>
            <a:prstDash val="solid"/>
          </a:ln>
        </p:spPr>
      </p:sp>
      <p:sp>
        <p:nvSpPr>
          <p:cNvPr id="375" name="Text 50b"/>
          <p:cNvSpPr/>
          <p:nvPr/>
        </p:nvSpPr>
        <p:spPr>
          <a:xfrm>
            <a:off x="795528" y="5175504"/>
            <a:ext cx="5074920" cy="502920"/>
          </a:xfrm>
          <a:prstGeom prst="rect">
            <a:avLst/>
          </a:prstGeom>
          <a:noFill/>
          <a:ln/>
        </p:spPr>
        <p:txBody>
          <a:bodyPr wrap="square" lIns="0" tIns="0" rIns="0" bIns="0" rtlCol="0" anchor="t"/>
          <a:lstStyle/>
          <a:p>
            <a:pPr indent="0" marL="0">
              <a:lnSpc>
                <a:spcPct val="112000"/>
              </a:lnSpc>
              <a:buNone/>
            </a:pPr>
            <a:r>
              <a:rPr lang="en-US" sz="1000" i="1" dirty="0">
                <a:solidFill>
                  <a:srgbClr val="FFFFFF"/>
                </a:solidFill>
                <a:latin typeface="Arial" pitchFamily="34" charset="0"/>
                <a:ea typeface="Arial" pitchFamily="34" charset="-122"/>
                <a:cs typeface="Arial" pitchFamily="34" charset="-120"/>
              </a:rPr>
              <a:t>“You guys truly exceeded my expectations. Honestly, I viewed it as a $20,000 gamble—like playing blackjack. But ironically, the very first lead you introduced was a solid single, and I was totally blown away.”</a:t>
            </a:r>
            <a:endParaRPr lang="en-US" sz="1000" dirty="0"/>
          </a:p>
        </p:txBody>
      </p:sp>
      <p:sp>
        <p:nvSpPr>
          <p:cNvPr id="376" name="Text 50c"/>
          <p:cNvSpPr/>
          <p:nvPr/>
        </p:nvSpPr>
        <p:spPr>
          <a:xfrm>
            <a:off x="795528" y="5678424"/>
            <a:ext cx="5074920" cy="201168"/>
          </a:xfrm>
          <a:prstGeom prst="rect">
            <a:avLst/>
          </a:prstGeom>
          <a:noFill/>
          <a:ln/>
        </p:spPr>
        <p:txBody>
          <a:bodyPr wrap="square" lIns="0" tIns="0" rIns="0" bIns="0" rtlCol="0" anchor="ctr"/>
          <a:lstStyle/>
          <a:p>
            <a:pPr indent="0" marL="0">
              <a:buNone/>
            </a:pPr>
            <a:r>
              <a:rPr lang="en-US" sz="950" b="1" dirty="0">
                <a:solidFill>
                  <a:srgbClr val="43D5FF"/>
                </a:solidFill>
                <a:latin typeface="Arial" pitchFamily="34" charset="0"/>
                <a:ea typeface="Arial" pitchFamily="34" charset="-122"/>
                <a:cs typeface="Arial" pitchFamily="34" charset="-120"/>
              </a:rPr>
              <a:t>TODD MCALLISTER, CEO, BIOAGE DATA</a:t>
            </a:r>
            <a:endParaRPr lang="en-US" sz="950" dirty="0"/>
          </a:p>
        </p:txBody>
      </p:sp>
      <p:sp>
        <p:nvSpPr>
          <p:cNvPr id="377" name="Shape 51"/>
          <p:cNvSpPr/>
          <p:nvPr/>
        </p:nvSpPr>
        <p:spPr>
          <a:xfrm>
            <a:off x="6373368" y="5120640"/>
            <a:ext cx="5532120" cy="777240"/>
          </a:xfrm>
          <a:prstGeom prst="roundRect">
            <a:avLst>
              <a:gd name="adj" fmla="val 4286"/>
            </a:avLst>
          </a:prstGeom>
          <a:solidFill>
            <a:srgbClr val="0D0D26">
              <a:alpha val="55000"/>
            </a:srgbClr>
          </a:solidFill>
          <a:ln w="9525">
            <a:solidFill>
              <a:srgbClr val="31316A">
                <a:alpha val="75000"/>
              </a:srgbClr>
            </a:solidFill>
            <a:prstDash val="solid"/>
          </a:ln>
        </p:spPr>
      </p:sp>
      <p:sp>
        <p:nvSpPr>
          <p:cNvPr id="378" name="Text 51b"/>
          <p:cNvSpPr/>
          <p:nvPr/>
        </p:nvSpPr>
        <p:spPr>
          <a:xfrm>
            <a:off x="6601968" y="5175504"/>
            <a:ext cx="5074920" cy="502920"/>
          </a:xfrm>
          <a:prstGeom prst="rect">
            <a:avLst/>
          </a:prstGeom>
          <a:noFill/>
          <a:ln/>
        </p:spPr>
        <p:txBody>
          <a:bodyPr wrap="square" lIns="0" tIns="0" rIns="0" bIns="0" rtlCol="0" anchor="t"/>
          <a:lstStyle/>
          <a:p>
            <a:pPr indent="0" marL="0">
              <a:lnSpc>
                <a:spcPct val="112000"/>
              </a:lnSpc>
              <a:buNone/>
            </a:pPr>
            <a:r>
              <a:rPr lang="en-US" sz="1000" i="1" dirty="0">
                <a:solidFill>
                  <a:srgbClr val="FFFFFF"/>
                </a:solidFill>
                <a:latin typeface="Arial" pitchFamily="34" charset="0"/>
                <a:ea typeface="Arial" pitchFamily="34" charset="-122"/>
                <a:cs typeface="Arial" pitchFamily="34" charset="-120"/>
              </a:rPr>
              <a:t>“ThinkFISH has consistently provided a steady stream of leads each week—over 20 so far! … Whenever a prospect doesn’t meet our criteria, they immediately remove them, which saves us valuable time.”</a:t>
            </a:r>
            <a:endParaRPr lang="en-US" sz="1000" dirty="0"/>
          </a:p>
        </p:txBody>
      </p:sp>
      <p:sp>
        <p:nvSpPr>
          <p:cNvPr id="379" name="Text 51c"/>
          <p:cNvSpPr/>
          <p:nvPr/>
        </p:nvSpPr>
        <p:spPr>
          <a:xfrm>
            <a:off x="6601968" y="5678424"/>
            <a:ext cx="5074920" cy="201168"/>
          </a:xfrm>
          <a:prstGeom prst="rect">
            <a:avLst/>
          </a:prstGeom>
          <a:noFill/>
          <a:ln/>
        </p:spPr>
        <p:txBody>
          <a:bodyPr wrap="square" lIns="0" tIns="0" rIns="0" bIns="0" rtlCol="0" anchor="ctr"/>
          <a:lstStyle/>
          <a:p>
            <a:pPr indent="0" marL="0">
              <a:buNone/>
            </a:pPr>
            <a:r>
              <a:rPr lang="en-US" sz="950" b="1" dirty="0">
                <a:solidFill>
                  <a:srgbClr val="43D5FF"/>
                </a:solidFill>
                <a:latin typeface="Arial" pitchFamily="34" charset="0"/>
                <a:ea typeface="Arial" pitchFamily="34" charset="-122"/>
                <a:cs typeface="Arial" pitchFamily="34" charset="-120"/>
              </a:rPr>
              <a:t>MATT SHIH, CO-FOUNDER &amp; CHIEF DESIGN OFFICER, PAINTBOX LABS</a:t>
            </a:r>
            <a:endParaRPr lang="en-US" sz="950" dirty="0"/>
          </a:p>
        </p:txBody>
      </p:sp>
      <p:sp>
        <p:nvSpPr>
          <p:cNvPr id="21" name="Shape 18"/>
          <p:cNvSpPr/>
          <p:nvPr/>
        </p:nvSpPr>
        <p:spPr>
          <a:xfrm>
            <a:off x="566928" y="6035040"/>
            <a:ext cx="11338560" cy="566928"/>
          </a:xfrm>
          <a:prstGeom prst="roundRect">
            <a:avLst>
              <a:gd name="adj" fmla="val 8182"/>
            </a:avLst>
          </a:prstGeom>
          <a:solidFill>
            <a:srgbClr val="0D0D26">
              <a:alpha val="55000"/>
            </a:srgbClr>
          </a:solidFill>
          <a:ln w="9525">
            <a:solidFill>
              <a:srgbClr val="31316A">
                <a:alpha val="75000"/>
              </a:srgbClr>
            </a:solidFill>
            <a:prstDash val="solid"/>
          </a:ln>
        </p:spPr>
      </p:sp>
      <p:sp>
        <p:nvSpPr>
          <p:cNvPr id="22" name="Text 19"/>
          <p:cNvSpPr/>
          <p:nvPr/>
        </p:nvSpPr>
        <p:spPr>
          <a:xfrm>
            <a:off x="795528" y="6089904"/>
            <a:ext cx="10881360" cy="457200"/>
          </a:xfrm>
          <a:prstGeom prst="rect">
            <a:avLst/>
          </a:prstGeom>
          <a:noFill/>
          <a:ln/>
        </p:spPr>
        <p:txBody>
          <a:bodyPr wrap="square" lIns="0" tIns="0" rIns="0" bIns="0" rtlCol="0" anchor="ctr"/>
          <a:lstStyle/>
          <a:p>
            <a:pPr indent="0" marL="0">
              <a:spcAft>
                <a:spcPts val="600"/>
              </a:spcAft>
              <a:buNone/>
            </a:pPr>
            <a:r>
              <a:rPr lang="en-US" sz="1200" b="1" spc="100" kern="0" dirty="0">
                <a:solidFill>
                  <a:srgbClr val="7C6CFF"/>
                </a:solidFill>
                <a:latin typeface="Arial" pitchFamily="34" charset="0"/>
                <a:ea typeface="Arial" pitchFamily="34" charset="-122"/>
                <a:cs typeface="Arial" pitchFamily="34" charset="-120"/>
              </a:rPr>
              <a:t xml:space="preserve">VIDEO TESTIMONIALS   </a:t>
            </a:r>
            <a:r>
              <a:rPr lang="en-US" sz="1300" dirty="0">
                <a:solidFill>
                  <a:srgbClr val="FFFFFF"/>
                </a:solidFill>
                <a:latin typeface="Arial" pitchFamily="34" charset="0"/>
                <a:ea typeface="Arial" pitchFamily="34" charset="-122"/>
                <a:cs typeface="Arial" pitchFamily="34" charset="-120"/>
              </a:rPr>
              <a:t xml:space="preserve">youtube.com/@thinkFISHLLC/videos</a:t>
            </a:r>
            <a:endParaRPr lang="en-US" sz="1200" dirty="0"/>
          </a:p>
          <a:p>
            <a:pPr indent="0" marL="0">
              <a:buNone/>
            </a:pPr>
            <a:r>
              <a:rPr lang="en-US" sz="1200" b="1" spc="100" kern="0" dirty="0">
                <a:solidFill>
                  <a:srgbClr val="7C6CFF"/>
                </a:solidFill>
                <a:latin typeface="Arial" pitchFamily="34" charset="0"/>
                <a:ea typeface="Arial" pitchFamily="34" charset="-122"/>
                <a:cs typeface="Arial" pitchFamily="34" charset="-120"/>
              </a:rPr>
              <a:t xml:space="preserve">HOW WE DO IT   </a:t>
            </a:r>
            <a:r>
              <a:rPr lang="en-US" sz="1300" dirty="0">
                <a:solidFill>
                  <a:srgbClr val="FFFFFF"/>
                </a:solidFill>
                <a:latin typeface="Arial" pitchFamily="34" charset="0"/>
                <a:ea typeface="Arial" pitchFamily="34" charset="-122"/>
                <a:cs typeface="Arial" pitchFamily="34" charset="-120"/>
              </a:rPr>
              <a:t xml:space="preserve">bit.ly/thinkfish_method</a:t>
            </a:r>
            <a:r>
              <a:rPr lang="en-US" sz="1200" b="1" spc="100" kern="0" dirty="0">
                <a:solidFill>
                  <a:srgbClr val="7C6CFF"/>
                </a:solidFill>
                <a:latin typeface="Arial" pitchFamily="34" charset="0"/>
                <a:ea typeface="Arial" pitchFamily="34" charset="-122"/>
                <a:cs typeface="Arial" pitchFamily="34" charset="-120"/>
              </a:rPr>
              <a:t xml:space="preserve">        WHO WE ARE   </a:t>
            </a:r>
            <a:r>
              <a:rPr lang="en-US" sz="1300" dirty="0">
                <a:solidFill>
                  <a:srgbClr val="FFFFFF"/>
                </a:solidFill>
                <a:latin typeface="Arial" pitchFamily="34" charset="0"/>
                <a:ea typeface="Arial" pitchFamily="34" charset="-122"/>
                <a:cs typeface="Arial" pitchFamily="34" charset="-120"/>
              </a:rPr>
              <a:t xml:space="preserve">bit.ly/thinkfish_VSL</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2026-07-20T20:56:15Z</dcterms:created>
  <dcterms:modified xsi:type="dcterms:W3CDTF">2026-07-20T20:56:15Z</dcterms:modified>
</cp:coreProperties>
</file>