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20" Type="http://schemas.openxmlformats.org/officeDocument/2006/relationships/image" Target="../media/cover_gradient.jpeg"/><Relationship Id="rId21" Type="http://schemas.openxmlformats.org/officeDocument/2006/relationships/image" Target="../media/cover_ribbon.png"/><Relationship Id="rId22" Type="http://schemas.openxmlformats.org/officeDocument/2006/relationships/image" Target="../media/cover_glow.png"/></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300" name="Pic ribbon"/>
          <p:cNvPicPr>
            <a:picLocks noChangeAspect="1"/>
          </p:cNvPicPr>
          <p:nvPr/>
        </p:nvPicPr>
        <p:blipFill>
          <a:blip r:embed="rId21"/>
          <a:srcRect b="17691" l="21282"/>
          <a:stretch>
            <a:fillRect/>
          </a:stretch>
        </p:blipFill>
        <p:spPr>
          <a:xfrm>
            <a:off x="0" y="859536"/>
            <a:ext cx="4937760" cy="5998464"/>
          </a:xfrm>
          <a:prstGeom prst="rect">
            <a:avLst/>
          </a:prstGeom>
        </p:spPr>
      </p:pic>
      <p:pic>
        <p:nvPicPr>
          <p:cNvPr id="301" name="Pic gradient"/>
          <p:cNvPicPr>
            <a:picLocks noChangeAspect="1"/>
          </p:cNvPicPr>
          <p:nvPr/>
        </p:nvPicPr>
        <p:blipFill>
          <a:blip r:embed="rId20">
            <a:alphaModFix amt="37000"/>
          </a:blip>
          <a:srcRect l="4900" r="5000"/>
          <a:stretch>
            <a:fillRect/>
          </a:stretch>
        </p:blipFill>
        <p:spPr>
          <a:xfrm>
            <a:off x="4096512" y="841248"/>
            <a:ext cx="8095183" cy="6016752"/>
          </a:xfrm>
          <a:prstGeom prst="rect">
            <a:avLst/>
          </a:prstGeom>
        </p:spPr>
      </p:pic>
      <p:pic>
        <p:nvPicPr>
          <p:cNvPr id="302" name="Pic glow"/>
          <p:cNvPicPr>
            <a:picLocks noChangeAspect="1"/>
          </p:cNvPicPr>
          <p:nvPr/>
        </p:nvPicPr>
        <p:blipFill>
          <a:blip r:embed="rId22"/>
          <a:srcRect b="21079" l="72900" r="0"/>
          <a:stretch>
            <a:fillRect/>
          </a:stretch>
        </p:blipFill>
        <p:spPr>
          <a:xfrm>
            <a:off x="4096512" y="1106424"/>
            <a:ext cx="1700784" cy="5751576"/>
          </a:xfrm>
          <a:prstGeom prst="rect">
            <a:avLst/>
          </a:prstGeom>
        </p:spPr>
      </p:pic>
      <p:pic>
        <p:nvPicPr>
          <p:cNvPr id="2" name="Image 0" descr="/home/claude/brand/clean/logo_large.png">    </p:cNvPr>
          <p:cNvPicPr>
            <a:picLocks noChangeAspect="1"/>
          </p:cNvPicPr>
          <p:nvPr/>
        </p:nvPicPr>
        <p:blipFill>
          <a:blip r:embed="rId2"/>
          <a:stretch>
            <a:fillRect/>
          </a:stretch>
        </p:blipFill>
        <p:spPr>
          <a:xfrm>
            <a:off x="6818224" y="1280160"/>
            <a:ext cx="2651760" cy="1664208"/>
          </a:xfrm>
          <a:prstGeom prst="rect">
            <a:avLst/>
          </a:prstGeom>
        </p:spPr>
      </p:pic>
      <p:sp>
        <p:nvSpPr>
          <p:cNvPr id="3" name="Text 0"/>
          <p:cNvSpPr/>
          <p:nvPr/>
        </p:nvSpPr>
        <p:spPr>
          <a:xfrm>
            <a:off x="4370832" y="3108960"/>
            <a:ext cx="7546543" cy="86868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ThinkFISH</a:t>
            </a:r>
            <a:endParaRPr lang="en-US" sz="5400" dirty="0"/>
          </a:p>
        </p:txBody>
      </p:sp>
      <p:sp>
        <p:nvSpPr>
          <p:cNvPr id="4" name="Text 1"/>
          <p:cNvSpPr/>
          <p:nvPr/>
        </p:nvSpPr>
        <p:spPr>
          <a:xfrm>
            <a:off x="4370832" y="3977640"/>
            <a:ext cx="7546543" cy="320040"/>
          </a:xfrm>
          <a:prstGeom prst="rect">
            <a:avLst/>
          </a:prstGeom>
          <a:noFill/>
          <a:ln/>
        </p:spPr>
        <p:txBody>
          <a:bodyPr wrap="square" lIns="0" tIns="0" rIns="0" bIns="0" rtlCol="0" anchor="ctr"/>
          <a:lstStyle/>
          <a:p>
            <a:pPr algn="ctr" indent="0" marL="0">
              <a:buNone/>
            </a:pPr>
            <a:r>
              <a:rPr lang="en-US" sz="1800" b="1" spc="300" kern="0" dirty="0">
                <a:solidFill>
                  <a:srgbClr val="FFFFFF"/>
                </a:solidFill>
                <a:latin typeface="Arial" pitchFamily="34" charset="0"/>
                <a:ea typeface="Arial" pitchFamily="34" charset="-122"/>
                <a:cs typeface="Arial" pitchFamily="34" charset="-120"/>
              </a:rPr>
              <a:t>&lt;&gt;&lt;</a:t>
            </a:r>
            <a:endParaRPr lang="en-US" sz="1800" dirty="0"/>
          </a:p>
        </p:txBody>
      </p:sp>
      <p:sp>
        <p:nvSpPr>
          <p:cNvPr id="5" name="Text 2"/>
          <p:cNvSpPr/>
          <p:nvPr/>
        </p:nvSpPr>
        <p:spPr>
          <a:xfrm>
            <a:off x="4370832" y="4407408"/>
            <a:ext cx="7546543" cy="502920"/>
          </a:xfrm>
          <a:prstGeom prst="rect">
            <a:avLst/>
          </a:prstGeom>
          <a:noFill/>
          <a:ln/>
        </p:spPr>
        <p:txBody>
          <a:bodyPr wrap="square" lIns="0" tIns="0" rIns="0" bIns="0" rtlCol="0" anchor="ctr"/>
          <a:lstStyle/>
          <a:p>
            <a:pPr algn="ctr" indent="0" marL="0">
              <a:buNone/>
            </a:pPr>
            <a:r>
              <a:rPr lang="en-US" sz="2800" dirty="0">
                <a:solidFill>
                  <a:srgbClr val="FFFFFF"/>
                </a:solidFill>
                <a:latin typeface="Arial" pitchFamily="34" charset="0"/>
                <a:ea typeface="Arial" pitchFamily="34" charset="-122"/>
                <a:cs typeface="Arial" pitchFamily="34" charset="-120"/>
              </a:rPr>
              <a:t>OSpectra AI, Inc.</a:t>
            </a:r>
            <a:endParaRPr lang="en-US" sz="2800" dirty="0"/>
          </a:p>
        </p:txBody>
      </p:sp>
      <p:sp>
        <p:nvSpPr>
          <p:cNvPr id="6" name="Text 3"/>
          <p:cNvSpPr/>
          <p:nvPr/>
        </p:nvSpPr>
        <p:spPr>
          <a:xfrm>
            <a:off x="4370832" y="5074920"/>
            <a:ext cx="7546543" cy="640080"/>
          </a:xfrm>
          <a:prstGeom prst="rect">
            <a:avLst/>
          </a:prstGeom>
          <a:noFill/>
          <a:ln/>
        </p:spPr>
        <p:txBody>
          <a:bodyPr wrap="square" lIns="0" tIns="0" rIns="0" bIns="0" rtlCol="0" anchor="ctr"/>
          <a:lstStyle/>
          <a:p>
            <a:pPr algn="ctr" indent="0" marL="0">
              <a:buNone/>
            </a:pPr>
            <a:r>
              <a:rPr lang="en-US" sz="1300" dirty="0">
                <a:solidFill>
                  <a:srgbClr val="B9BEDC"/>
                </a:solidFill>
                <a:latin typeface="Arial" pitchFamily="34" charset="0"/>
                <a:ea typeface="Arial" pitchFamily="34" charset="-122"/>
                <a:cs typeface="Arial" pitchFamily="34" charset="-120"/>
              </a:rPr>
              <a:t>Investor Outreach Proposal  ·  October 2026</a:t>
            </a:r>
            <a:endParaRPr lang="en-US" sz="1300" dirty="0"/>
          </a:p>
          <a:p>
            <a:pPr algn="ctr" indent="0" marL="0">
              <a:buNone/>
            </a:pPr>
            <a:r>
              <a:rPr lang="en-US" sz="1300" dirty="0">
                <a:solidFill>
                  <a:srgbClr val="B9BEDC"/>
                </a:solidFill>
                <a:latin typeface="Arial" pitchFamily="34" charset="0"/>
                <a:ea typeface="Arial" pitchFamily="34" charset="-122"/>
                <a:cs typeface="Arial" pitchFamily="34" charset="-120"/>
              </a:rPr>
              <a:t>Prepared for OSpectra AI, Inc.</a:t>
            </a:r>
            <a:endParaRPr lang="en-US" sz="1300" dirty="0"/>
          </a:p>
        </p:txBody>
      </p:sp>
      <p:sp>
        <p:nvSpPr>
          <p:cNvPr id="303" name="Text hdr"/>
          <p:cNvSpPr/>
          <p:nvPr/>
        </p:nvSpPr>
        <p:spPr>
          <a:xfrm>
            <a:off x="329184" y="365760"/>
            <a:ext cx="5486400" cy="365760"/>
          </a:xfrm>
          <a:prstGeom prst="rect">
            <a:avLst/>
          </a:prstGeom>
          <a:noFill/>
          <a:ln/>
        </p:spPr>
        <p:txBody>
          <a:bodyPr wrap="square" lIns="0" tIns="0" rIns="0" bIns="0" rtlCol="0" anchor="ctr"/>
          <a:lstStyle/>
          <a:p>
            <a:pPr indent="0" marL="0">
              <a:buNone/>
            </a:pPr>
            <a:r>
              <a:rPr lang="en-US" sz="1500" spc="200" kern="0" dirty="0">
                <a:solidFill>
                  <a:srgbClr val="FFFFFF"/>
                </a:solidFill>
                <a:latin typeface="Arial" pitchFamily="34" charset="0"/>
                <a:ea typeface="Arial" pitchFamily="34" charset="-122"/>
                <a:cs typeface="Arial" pitchFamily="34" charset="-120"/>
              </a:rPr>
              <a:t>THINKFISH LLC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Executive Summary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 THE PLAN, THE INVESTMENT, WHAT TO EXPECT</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$2–3M raise for OSpectra AI, closing as early as possible within the current six-month runway. About 40–50% builds the team, 20–30% goes to sales and marketing. Roughly $400K is already committed by the four founders, with $300–400K more in circled interest. The preferred capital: high-net-worth individuals and exited operators who know home care, not VCs.</a:t>
            </a:r>
            <a:endParaRPr lang="en-US" sz="10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PLAN</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Two founder LinkedIn accounts, run end to end by ThinkFISH in your voice. Targeting accredited angels, exited healthcare operators and home-care strategics writing $100K+ checks, plus our 10k+ investor database and the Startup Deal Desk newsletter. Every meeting pre-qualified and approved by you.</a:t>
            </a:r>
            <a:endParaRPr lang="en-US" sz="10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INVESTMENT</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$3,000 per month, flat. Six-month term with a three-month opt-out. Covers both founder accounts. No setup fee, no success fee, no commission, no transaction involvement.</a:t>
            </a:r>
            <a:endParaRPr lang="en-US" sz="10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TO EXPECT</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Outreach live within two weeks of kickoff. First qualified investor conversations in weeks three and four, building to 2–6 qualified meetings per week across both accounts from December, with weekly reporting and a data-driven checkpoint at the three-month opt-out in January. One honest note: early-stage raises historically take 6–12 months from first outreach to capital in the bank, and your runway is six. That is why we’d start now and keep the friends-and-family round running in parallel, and we’d rather you hear it from us.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Why ThinkFISH</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TRACK RECORD, BEFORE THE PROCESS</a:t>
            </a:r>
            <a:endParaRPr lang="en-US" sz="1400" dirty="0"/>
          </a:p>
        </p:txBody>
      </p:sp>
      <p:sp>
        <p:nvSpPr>
          <p:cNvPr id="6" name="Shape 3"/>
          <p:cNvSpPr/>
          <p:nvPr/>
        </p:nvSpPr>
        <p:spPr>
          <a:xfrm>
            <a:off x="566928"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15" name="Shape 12"/>
          <p:cNvSpPr/>
          <p:nvPr/>
        </p:nvSpPr>
        <p:spPr>
          <a:xfrm>
            <a:off x="56692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18" name="Shape 15"/>
          <p:cNvSpPr/>
          <p:nvPr/>
        </p:nvSpPr>
        <p:spPr>
          <a:xfrm>
            <a:off x="637336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21" name="Shape 18"/>
          <p:cNvSpPr/>
          <p:nvPr/>
        </p:nvSpPr>
        <p:spPr>
          <a:xfrm>
            <a:off x="566928" y="5440680"/>
            <a:ext cx="11338560" cy="1005840"/>
          </a:xfrm>
          <a:prstGeom prst="roundRect">
            <a:avLst>
              <a:gd name="adj" fmla="val 8182"/>
            </a:avLst>
          </a:prstGeom>
          <a:solidFill>
            <a:srgbClr val="0D0D26">
              <a:alpha val="55000"/>
            </a:srgbClr>
          </a:solidFill>
          <a:ln w="9525">
            <a:solidFill>
              <a:srgbClr val="31316A">
                <a:alpha val="75000"/>
              </a:srgbClr>
            </a:solidFill>
            <a:prstDash val="solid"/>
          </a:ln>
        </p:spPr>
      </p:sp>
      <p:sp>
        <p:nvSpPr>
          <p:cNvPr id="304" name="Text w0"/>
          <p:cNvSpPr/>
          <p:nvPr/>
        </p:nvSpPr>
        <p:spPr>
          <a:xfrm>
            <a:off x="82296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ISSUANCE  ·  DARREN MARBLE, CEO</a:t>
            </a:r>
            <a:endParaRPr lang="en-US" sz="1100" dirty="0"/>
          </a:p>
        </p:txBody>
      </p:sp>
      <p:sp>
        <p:nvSpPr>
          <p:cNvPr id="305" name="Text q0"/>
          <p:cNvSpPr/>
          <p:nvPr/>
        </p:nvSpPr>
        <p:spPr>
          <a:xfrm>
            <a:off x="82296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200" dirty="0"/>
          </a:p>
        </p:txBody>
      </p:sp>
      <p:sp>
        <p:nvSpPr>
          <p:cNvPr id="306" name="Text r0"/>
          <p:cNvSpPr/>
          <p:nvPr/>
        </p:nvSpPr>
        <p:spPr>
          <a:xfrm>
            <a:off x="82296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25 QUALIFIED INVESTOR MEETINGS IN 60 DAYS</a:t>
            </a:r>
            <a:endParaRPr lang="en-US" sz="1050" dirty="0"/>
          </a:p>
        </p:txBody>
      </p:sp>
      <p:sp>
        <p:nvSpPr>
          <p:cNvPr id="307" name="Text w1"/>
          <p:cNvSpPr/>
          <p:nvPr/>
        </p:nvSpPr>
        <p:spPr>
          <a:xfrm>
            <a:off x="662940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CARTHAGE CAPITAL  ·  STEPHEN WU</a:t>
            </a:r>
            <a:endParaRPr lang="en-US" sz="1100" dirty="0"/>
          </a:p>
        </p:txBody>
      </p:sp>
      <p:sp>
        <p:nvSpPr>
          <p:cNvPr id="308" name="Text q1"/>
          <p:cNvSpPr/>
          <p:nvPr/>
        </p:nvSpPr>
        <p:spPr>
          <a:xfrm>
            <a:off x="662940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I basically got two to three meetings every week, consistently, and they’re already interested. I was going to cancel after a quarter if you didn’t deliver. You delivered way above my expectations.”</a:t>
            </a:r>
            <a:endParaRPr lang="en-US" sz="1200" dirty="0"/>
          </a:p>
        </p:txBody>
      </p:sp>
      <p:sp>
        <p:nvSpPr>
          <p:cNvPr id="309" name="Text r1"/>
          <p:cNvSpPr/>
          <p:nvPr/>
        </p:nvSpPr>
        <p:spPr>
          <a:xfrm>
            <a:off x="662940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$2–3M RAISED ACROSS ~20 INVESTORS IN 9 MONTHS</a:t>
            </a:r>
            <a:endParaRPr lang="en-US" sz="1050" dirty="0"/>
          </a:p>
        </p:txBody>
      </p:sp>
      <p:sp>
        <p:nvSpPr>
          <p:cNvPr id="310" name="Text bl"/>
          <p:cNvSpPr/>
          <p:nvPr/>
        </p:nvSpPr>
        <p:spPr>
          <a:xfrm>
            <a:off x="795528" y="5559552"/>
            <a:ext cx="54864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FUNDABLE COMPANIES GET FUNDED</a:t>
            </a:r>
            <a:endParaRPr lang="en-US" sz="1200" dirty="0"/>
          </a:p>
        </p:txBody>
      </p:sp>
      <p:sp>
        <p:nvSpPr>
          <p:cNvPr id="311" name="Text bp"/>
          <p:cNvSpPr/>
          <p:nvPr/>
        </p:nvSpPr>
        <p:spPr>
          <a:xfrm>
            <a:off x="795528" y="5852160"/>
            <a:ext cx="10881360" cy="54864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Arial" pitchFamily="34" charset="0"/>
                <a:ea typeface="Arial" pitchFamily="34" charset="-122"/>
                <a:cs typeface="Arial" pitchFamily="34" charset="-120"/>
              </a:rPr>
              <a:t>Every client we’ve worked with who was fundable (real product, real traction, a team that can run a process) has received checks from meetings we set. We’re not in the room for those meetings, so we only report what clients report back. Full testimonials and video links are in the appendix.</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What’s Standing Between You and the Close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GAP WE’RE SOLVING</a:t>
            </a:r>
            <a:endParaRPr lang="en-US" sz="1400" dirty="0"/>
          </a:p>
        </p:txBody>
      </p:sp>
      <p:sp>
        <p:nvSpPr>
          <p:cNvPr id="6" name="Text 3"/>
          <p:cNvSpPr/>
          <p:nvPr/>
        </p:nvSpPr>
        <p:spPr>
          <a:xfrm>
            <a:off x="566928" y="2148840"/>
            <a:ext cx="4297680" cy="265176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Arial" pitchFamily="34" charset="0"/>
                <a:ea typeface="Arial" pitchFamily="34" charset="-122"/>
                <a:cs typeface="Arial" pitchFamily="34" charset="-120"/>
              </a:rPr>
              <a:t>You’ve done the hard part: a home-care platform rebuilt from the ground up as an AI co-worker that covers the after-hours work this industry runs on, a 14–15 person team already in place, about $400K of founder money committed, and a founding team that has raised from strategic investors and exited before. What’s missing isn’t credibility, it’s reach. Until now the raise has run on personal connections, and that circle has a ceiling.</a:t>
            </a:r>
            <a:endParaRPr lang="en-US" sz="1300" dirty="0"/>
          </a:p>
        </p:txBody>
      </p:sp>
      <p:sp>
        <p:nvSpPr>
          <p:cNvPr id="7" name="Text 4"/>
          <p:cNvSpPr/>
          <p:nvPr/>
        </p:nvSpPr>
        <p:spPr>
          <a:xfrm>
            <a:off x="566928" y="4800600"/>
            <a:ext cx="4297680" cy="1554480"/>
          </a:xfrm>
          <a:prstGeom prst="rect">
            <a:avLst/>
          </a:prstGeom>
          <a:noFill/>
          <a:ln/>
        </p:spPr>
        <p:txBody>
          <a:bodyPr wrap="square" lIns="0" tIns="0" rIns="0" bIns="0" rtlCol="0" anchor="t"/>
          <a:lstStyle/>
          <a:p>
            <a:pPr indent="0" marL="0">
              <a:lnSpc>
                <a:spcPct val="125000"/>
              </a:lnSpc>
              <a:buNone/>
            </a:pPr>
            <a:r>
              <a:rPr lang="en-US" sz="1300" i="1" dirty="0">
                <a:solidFill>
                  <a:srgbClr val="B9BEDC"/>
                </a:solidFill>
                <a:latin typeface="Arial" pitchFamily="34" charset="0"/>
                <a:ea typeface="Arial" pitchFamily="34" charset="-122"/>
                <a:cs typeface="Arial" pitchFamily="34" charset="-120"/>
              </a:rPr>
              <a:t>The right investors for this round already understand home care and AI, and write $100K+ checks without months of education. Finding that pool at volume, ahead of year-end liquidity decisions, is a targeting problem, not a pitch problem.</a:t>
            </a:r>
            <a:endParaRPr lang="en-US" sz="1300" dirty="0"/>
          </a:p>
        </p:txBody>
      </p:sp>
      <p:sp>
        <p:nvSpPr>
          <p:cNvPr id="8" name="Shape 5"/>
          <p:cNvSpPr/>
          <p:nvPr/>
        </p:nvSpPr>
        <p:spPr>
          <a:xfrm>
            <a:off x="5257800" y="214884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9" name="Text 6"/>
          <p:cNvSpPr/>
          <p:nvPr/>
        </p:nvSpPr>
        <p:spPr>
          <a:xfrm>
            <a:off x="5486400" y="225856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SURFACE PROBLEM</a:t>
            </a:r>
            <a:endParaRPr lang="en-US" sz="1250" dirty="0"/>
          </a:p>
        </p:txBody>
      </p:sp>
      <p:sp>
        <p:nvSpPr>
          <p:cNvPr id="10" name="Text 7"/>
          <p:cNvSpPr/>
          <p:nvPr/>
        </p:nvSpPr>
        <p:spPr>
          <a:xfrm>
            <a:off x="7498080" y="224028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No outreach yet beyond friends and family. This is the first step outside your own network, and the remaining $2M+ needs a far larger circle.</a:t>
            </a:r>
            <a:endParaRPr lang="en-US" sz="1100" dirty="0"/>
          </a:p>
        </p:txBody>
      </p:sp>
      <p:sp>
        <p:nvSpPr>
          <p:cNvPr id="11" name="Shape 8"/>
          <p:cNvSpPr/>
          <p:nvPr/>
        </p:nvSpPr>
        <p:spPr>
          <a:xfrm>
            <a:off x="5257800" y="324612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2" name="Text 9"/>
          <p:cNvSpPr/>
          <p:nvPr/>
        </p:nvSpPr>
        <p:spPr>
          <a:xfrm>
            <a:off x="5486400" y="335584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BUSINESS IMPACT</a:t>
            </a:r>
            <a:endParaRPr lang="en-US" sz="1250" dirty="0"/>
          </a:p>
        </p:txBody>
      </p:sp>
      <p:sp>
        <p:nvSpPr>
          <p:cNvPr id="13" name="Text 10"/>
          <p:cNvSpPr/>
          <p:nvPr/>
        </p:nvSpPr>
        <p:spPr>
          <a:xfrm>
            <a:off x="7498080" y="333756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Hiring, the team build-out and go-to-market all wait on capital. In AI, as you put it, the speed of change means you need the money to pivot fast.</a:t>
            </a:r>
            <a:endParaRPr lang="en-US" sz="1100" dirty="0"/>
          </a:p>
        </p:txBody>
      </p:sp>
      <p:sp>
        <p:nvSpPr>
          <p:cNvPr id="14" name="Shape 11"/>
          <p:cNvSpPr/>
          <p:nvPr/>
        </p:nvSpPr>
        <p:spPr>
          <a:xfrm>
            <a:off x="5257800" y="434340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5" name="Text 12"/>
          <p:cNvSpPr/>
          <p:nvPr/>
        </p:nvSpPr>
        <p:spPr>
          <a:xfrm>
            <a:off x="5486400" y="445312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PERSONAL IMPACT</a:t>
            </a:r>
            <a:endParaRPr lang="en-US" sz="1250" dirty="0"/>
          </a:p>
        </p:txBody>
      </p:sp>
      <p:sp>
        <p:nvSpPr>
          <p:cNvPr id="16" name="Text 13"/>
          <p:cNvSpPr/>
          <p:nvPr/>
        </p:nvSpPr>
        <p:spPr>
          <a:xfrm>
            <a:off x="7498080" y="443484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Founders who should be running demos with home-care customers and building product end up sourcing, vetting and educating investors one by one.</a:t>
            </a:r>
            <a:endParaRPr lang="en-US" sz="1100" dirty="0"/>
          </a:p>
        </p:txBody>
      </p:sp>
      <p:sp>
        <p:nvSpPr>
          <p:cNvPr id="17" name="Shape 14"/>
          <p:cNvSpPr/>
          <p:nvPr/>
        </p:nvSpPr>
        <p:spPr>
          <a:xfrm>
            <a:off x="5257800" y="544068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8" name="Text 15"/>
          <p:cNvSpPr/>
          <p:nvPr/>
        </p:nvSpPr>
        <p:spPr>
          <a:xfrm>
            <a:off x="5486400" y="555040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COST OF INACTION</a:t>
            </a:r>
            <a:endParaRPr lang="en-US" sz="1250" dirty="0"/>
          </a:p>
        </p:txBody>
      </p:sp>
      <p:sp>
        <p:nvSpPr>
          <p:cNvPr id="19" name="Text 16"/>
          <p:cNvSpPr/>
          <p:nvPr/>
        </p:nvSpPr>
        <p:spPr>
          <a:xfrm>
            <a:off x="7498080" y="553212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Six months of runway. Every month without a full investor pipeline narrows the window to close on your terms rather than under time pressure.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Investor ICP</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TARGET SEGMENTS, IN PRIORITY ORDER</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5096" cy="914400"/>
        </p:xfrm>
        <a:graphic>
          <a:graphicData uri="http://schemas.openxmlformats.org/drawingml/2006/table">
            <a:tbl>
              <a:tblPr/>
              <a:tblGrid>
                <a:gridCol w="3291840"/>
                <a:gridCol w="7763256"/>
              </a:tblGrid>
              <a:tr h="457200">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SEGMENT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WHO THEY ARE AND WHY THEY FIT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1.  Exited Healthcare &amp; Home-Care Operators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Founders and executives who built or sold home care, home health or post-acute businesses. They know the after-hours pain firsthand and can advise, not just invest.</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2.  Healthcare SaaS &amp; AI Angels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Accredited angels with a track record in healthcare software and applied AI, who read an AI co-worker model without needing it explained.</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3.  Home-Care Strategics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Home care and home health agencies and their owners: future customers who may take an equity stake and help with go-to-market.</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4.  HNWIs with Recent Liquidity Events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Investors with a recent exit or large share sale, looking to deploy before year-end, with a history of $100K+ checks in healthcare or tech.</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713232">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5.  Healthcare Syndicates &amp; Alumni Networks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Angel groups, syndicates and alumni networks active in healthcare, plus speakers and attendees at home-care and health-tech conferences.</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bl>
          </a:graphicData>
        </a:graphic>
      </p:graphicFrame>
      <p:sp>
        <p:nvSpPr>
          <p:cNvPr id="312" name="Text 30"/>
          <p:cNvSpPr/>
          <p:nvPr/>
        </p:nvSpPr>
        <p:spPr>
          <a:xfrm>
            <a:off x="566928" y="6400800"/>
            <a:ext cx="11155680" cy="411480"/>
          </a:xfrm>
          <a:prstGeom prst="rect">
            <a:avLst/>
          </a:prstGeom>
          <a:noFill/>
          <a:ln/>
        </p:spPr>
        <p:txBody>
          <a:bodyPr wrap="square" lIns="0" tIns="0" rIns="0" bIns="0" rtlCol="0" anchor="t"/>
          <a:lstStyle/>
          <a:p>
            <a:pPr indent="0" marL="0">
              <a:lnSpc>
                <a:spcPct val="125000"/>
              </a:lnSpc>
              <a:buNone/>
            </a:pPr>
            <a:r>
              <a:rPr lang="en-US" sz="1150" i="1" dirty="0">
                <a:solidFill>
                  <a:srgbClr val="B9BEDC"/>
                </a:solidFill>
                <a:latin typeface="Arial" pitchFamily="34" charset="0"/>
                <a:ea typeface="Arial" pitchFamily="34" charset="-122"/>
                <a:cs typeface="Arial" pitchFamily="34" charset="-120"/>
              </a:rPr>
              <a:t>These segments are our starting point. A fuller outline of investor targets, including check sizes, geographies and exclusions, will be planned with you during onboarding.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Two Accounts, One Raise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THE CAMPAIGN IS STRUCTURED</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TWO FOUNDER ACCOUNTS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Outreach runs from two founder LinkedIn accounts, each with its own audience, scripts and scorecard, so an exited home-care operator and a health-tech angel each hear the story from the right founder. Which segments each account carries gets confirmed with you in onboarding.</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REEF &amp; DEAL DESK</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Beyond your own accounts, the raise is retargeted to our internal database of 10k+ investors who opted in for deal flow, and featured in Startup Deal Desk, our 84k-subscriber investor newsletter. Same qualification, same approval, same CRM.</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FRIENDS &amp; FAMILY</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Your friends-and-family round keeps running in parallel; there is no conflict. Our outreach never touches your 1st-degree network, and anyone you’ve already spoken to goes on the do-not-contact list so the two efforts never overlap.</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WHY ONE RETAINER COVERS BOTH ACCOUNTS</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The engine is shared: one dedicated account manager, one CRM, one weekly review, one set of reports covering both accounts. Two accounts double the top of the funnel for the same retainer, which matters when the goal is to close as much of the round as possible within six months of runway.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How We Fill Your Calendar</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SIX STEPS, ONE PAGE</a:t>
            </a:r>
            <a:endParaRPr lang="en-US" sz="1400" dirty="0"/>
          </a:p>
        </p:txBody>
      </p:sp>
      <p:sp>
        <p:nvSpPr>
          <p:cNvPr id="313" name="Shape s0"/>
          <p:cNvSpPr/>
          <p:nvPr/>
        </p:nvSpPr>
        <p:spPr>
          <a:xfrm>
            <a:off x="566928"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4" name="Text s0l"/>
          <p:cNvSpPr/>
          <p:nvPr/>
        </p:nvSpPr>
        <p:spPr>
          <a:xfrm>
            <a:off x="795528"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1  ·  MULTI-SOURCE DATA</a:t>
            </a:r>
            <a:endParaRPr lang="en-US" sz="1300" dirty="0"/>
          </a:p>
        </p:txBody>
      </p:sp>
      <p:sp>
        <p:nvSpPr>
          <p:cNvPr id="315" name="Text s0p"/>
          <p:cNvSpPr/>
          <p:nvPr/>
        </p:nvSpPr>
        <p:spPr>
          <a:xfrm>
            <a:off x="795528"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Sales Navigator, your own lists and past conversations, our 10k+ investor database, the 84k-subscriber Startup Deal Desk newsletter, and the events your targets attend.</a:t>
            </a:r>
            <a:endParaRPr lang="en-US" sz="1050" dirty="0"/>
          </a:p>
        </p:txBody>
      </p:sp>
      <p:sp>
        <p:nvSpPr>
          <p:cNvPr id="316" name="Shape s1"/>
          <p:cNvSpPr/>
          <p:nvPr/>
        </p:nvSpPr>
        <p:spPr>
          <a:xfrm>
            <a:off x="4434840"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7" name="Text s1l"/>
          <p:cNvSpPr/>
          <p:nvPr/>
        </p:nvSpPr>
        <p:spPr>
          <a:xfrm>
            <a:off x="4663440"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2  ·  SIGNAL FILTERING</a:t>
            </a:r>
            <a:endParaRPr lang="en-US" sz="1300" dirty="0"/>
          </a:p>
        </p:txBody>
      </p:sp>
      <p:sp>
        <p:nvSpPr>
          <p:cNvPr id="318" name="Text s1p"/>
          <p:cNvSpPr/>
          <p:nvPr/>
        </p:nvSpPr>
        <p:spPr>
          <a:xfrm>
            <a:off x="4663440"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Deal history and live engagement outweigh job titles. Brokers, funding agents, advisor-only contacts and “investors” who are selling services are filtered out.</a:t>
            </a:r>
            <a:endParaRPr lang="en-US" sz="1050" dirty="0"/>
          </a:p>
        </p:txBody>
      </p:sp>
      <p:sp>
        <p:nvSpPr>
          <p:cNvPr id="319" name="Shape s2"/>
          <p:cNvSpPr/>
          <p:nvPr/>
        </p:nvSpPr>
        <p:spPr>
          <a:xfrm>
            <a:off x="8302752"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0" name="Text s2l"/>
          <p:cNvSpPr/>
          <p:nvPr/>
        </p:nvSpPr>
        <p:spPr>
          <a:xfrm>
            <a:off x="8531352"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3  ·  ICP SCORING</a:t>
            </a:r>
            <a:endParaRPr lang="en-US" sz="1300" dirty="0"/>
          </a:p>
        </p:txBody>
      </p:sp>
      <p:sp>
        <p:nvSpPr>
          <p:cNvPr id="321" name="Text s2p"/>
          <p:cNvSpPr/>
          <p:nvPr/>
        </p:nvSpPr>
        <p:spPr>
          <a:xfrm>
            <a:off x="8531352"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contact scored high, medium or low fit against a scorecard built with you. High fit goes first. Scripts A/B tested against real replies.</a:t>
            </a:r>
            <a:endParaRPr lang="en-US" sz="1050" dirty="0"/>
          </a:p>
        </p:txBody>
      </p:sp>
      <p:sp>
        <p:nvSpPr>
          <p:cNvPr id="322" name="Shape s3"/>
          <p:cNvSpPr/>
          <p:nvPr/>
        </p:nvSpPr>
        <p:spPr>
          <a:xfrm>
            <a:off x="566928"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3" name="Text s3l"/>
          <p:cNvSpPr/>
          <p:nvPr/>
        </p:nvSpPr>
        <p:spPr>
          <a:xfrm>
            <a:off x="795528"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4  ·  MANUAL REVIEW</a:t>
            </a:r>
            <a:endParaRPr lang="en-US" sz="1300" dirty="0"/>
          </a:p>
        </p:txBody>
      </p:sp>
      <p:sp>
        <p:nvSpPr>
          <p:cNvPr id="324" name="Text s3p"/>
          <p:cNvSpPr/>
          <p:nvPr/>
        </p:nvSpPr>
        <p:spPr>
          <a:xfrm>
            <a:off x="795528"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dedicated account manager hand-checks every high-fit profile before a message goes out, and learns your story well enough to tell it in your voice.</a:t>
            </a:r>
            <a:endParaRPr lang="en-US" sz="1050" dirty="0"/>
          </a:p>
        </p:txBody>
      </p:sp>
      <p:sp>
        <p:nvSpPr>
          <p:cNvPr id="325" name="Shape s4"/>
          <p:cNvSpPr/>
          <p:nvPr/>
        </p:nvSpPr>
        <p:spPr>
          <a:xfrm>
            <a:off x="4434840"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6" name="Text s4l"/>
          <p:cNvSpPr/>
          <p:nvPr/>
        </p:nvSpPr>
        <p:spPr>
          <a:xfrm>
            <a:off x="4663440"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5  ·  PRE-CALL QUALIFICATION</a:t>
            </a:r>
            <a:endParaRPr lang="en-US" sz="1300" dirty="0"/>
          </a:p>
        </p:txBody>
      </p:sp>
      <p:sp>
        <p:nvSpPr>
          <p:cNvPr id="327" name="Text s4p"/>
          <p:cNvSpPr/>
          <p:nvPr/>
        </p:nvSpPr>
        <p:spPr>
          <a:xfrm>
            <a:off x="4663440"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booking routes through a short form: accreditation, check size, timeline, sectors. A briefing before every call; soft letdowns for the wrong fit.</a:t>
            </a:r>
            <a:endParaRPr lang="en-US" sz="1050" dirty="0"/>
          </a:p>
        </p:txBody>
      </p:sp>
      <p:sp>
        <p:nvSpPr>
          <p:cNvPr id="328" name="Shape s5"/>
          <p:cNvSpPr/>
          <p:nvPr/>
        </p:nvSpPr>
        <p:spPr>
          <a:xfrm>
            <a:off x="8302752"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9" name="Text s5l"/>
          <p:cNvSpPr/>
          <p:nvPr/>
        </p:nvSpPr>
        <p:spPr>
          <a:xfrm>
            <a:off x="8531352"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6  ·  YOUR FINAL APPROVAL</a:t>
            </a:r>
            <a:endParaRPr lang="en-US" sz="1300" dirty="0"/>
          </a:p>
        </p:txBody>
      </p:sp>
      <p:sp>
        <p:nvSpPr>
          <p:cNvPr id="330" name="Text s5p"/>
          <p:cNvSpPr/>
          <p:nvPr/>
        </p:nvSpPr>
        <p:spPr>
          <a:xfrm>
            <a:off x="8531352"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Accept, vet further or decline every meeting. Shared CRM from day one, weekly reporting, monthly strategy calls. If something isn’t working, you hear it from us first.</a:t>
            </a:r>
            <a:endParaRPr lang="en-US" sz="1050" dirty="0"/>
          </a:p>
        </p:txBody>
      </p:sp>
      <p:sp>
        <p:nvSpPr>
          <p:cNvPr id="15" name="Shape 12"/>
          <p:cNvSpPr/>
          <p:nvPr/>
        </p:nvSpPr>
        <p:spPr>
          <a:xfrm>
            <a:off x="566928" y="5212080"/>
            <a:ext cx="11338560" cy="114300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5340096"/>
            <a:ext cx="2743200" cy="27432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FLOW</a:t>
            </a:r>
            <a:endParaRPr lang="en-US" sz="1400" dirty="0"/>
          </a:p>
        </p:txBody>
      </p:sp>
      <p:sp>
        <p:nvSpPr>
          <p:cNvPr id="17" name="Text 14"/>
          <p:cNvSpPr/>
          <p:nvPr/>
        </p:nvSpPr>
        <p:spPr>
          <a:xfrm>
            <a:off x="795528" y="5632704"/>
            <a:ext cx="10881360" cy="64008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Multi-source data → signal filters → ICP scoring → manual review → pre-call qualification → your approval. Outreach only happens after the first four steps; a meeting only lands after all six. The briefing you receive before every call is on the next page.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Call Briefing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LANDS IN YOUR INBOX BEFORE EVERY MEETING  ·  A REAL ONE, NAMES WITHHELD</a:t>
            </a:r>
            <a:endParaRPr lang="en-US" sz="1400" dirty="0"/>
          </a:p>
        </p:txBody>
      </p:sp>
      <p:sp>
        <p:nvSpPr>
          <p:cNvPr id="331" name="Shape email"/>
          <p:cNvSpPr/>
          <p:nvPr/>
        </p:nvSpPr>
        <p:spPr>
          <a:xfrm>
            <a:off x="566928" y="1965960"/>
            <a:ext cx="7452360" cy="4617720"/>
          </a:xfrm>
          <a:prstGeom prst="roundRect">
            <a:avLst>
              <a:gd name="adj" fmla="val 2500"/>
            </a:avLst>
          </a:prstGeom>
          <a:solidFill>
            <a:srgbClr val="FFFFFF"/>
          </a:solidFill>
          <a:ln>
            <a:noFill/>
          </a:ln>
        </p:spPr>
      </p:sp>
      <p:sp>
        <p:nvSpPr>
          <p:cNvPr id="332" name="Text e-subj"/>
          <p:cNvSpPr txBox="1"/>
          <p:nvPr/>
        </p:nvSpPr>
        <p:spPr>
          <a:xfrm>
            <a:off x="822960" y="2103120"/>
            <a:ext cx="6940296" cy="256032"/>
          </a:xfrm>
          <a:prstGeom prst="rect">
            <a:avLst/>
          </a:prstGeom>
          <a:noFill/>
        </p:spPr>
        <p:txBody>
          <a:bodyPr wrap="square" lIns="0" tIns="0" rIns="0" bIns="0" rtlCol="0" anchor="t"/>
          <a:lstStyle/>
          <a:p>
            <a:pPr indent="0" marL="0">
              <a:lnSpc>
                <a:spcPct val="112000"/>
              </a:lnSpc>
              <a:spcAft>
                <a:spcPts val="300"/>
              </a:spcAft>
              <a:buNone/>
            </a:pPr>
            <a:r>
              <a:rPr lang="en-US" sz="1150" b="1" dirty="0">
                <a:solidFill>
                  <a:srgbClr val="1A1A2E"/>
                </a:solidFill>
                <a:latin typeface="Arial" pitchFamily="34" charset="0"/>
                <a:ea typeface="Arial" pitchFamily="34" charset="-122"/>
                <a:cs typeface="Arial" pitchFamily="34" charset="-120"/>
              </a:rPr>
              <a:t xml:space="preserve">CONFIRMED MEETING: New Scheduled Call – [Prospect]</a:t>
            </a:r>
            <a:endParaRPr lang="en-US" sz="1150" dirty="0"/>
          </a:p>
        </p:txBody>
      </p:sp>
      <p:sp>
        <p:nvSpPr>
          <p:cNvPr id="333" name="Text e-from"/>
          <p:cNvSpPr txBox="1"/>
          <p:nvPr/>
        </p:nvSpPr>
        <p:spPr>
          <a:xfrm>
            <a:off x="822960" y="2359152"/>
            <a:ext cx="6940296" cy="182880"/>
          </a:xfrm>
          <a:prstGeom prst="rect">
            <a:avLst/>
          </a:prstGeom>
          <a:noFill/>
        </p:spPr>
        <p:txBody>
          <a:bodyPr wrap="square" lIns="0" tIns="0" rIns="0" bIns="0" rtlCol="0" anchor="t"/>
          <a:lstStyle/>
          <a:p>
            <a:pPr indent="0" marL="0">
              <a:lnSpc>
                <a:spcPct val="112000"/>
              </a:lnSpc>
              <a:spcAft>
                <a:spcPts val="300"/>
              </a:spcAft>
              <a:buNone/>
            </a:pPr>
            <a:r>
              <a:rPr lang="en-US" sz="800" dirty="0">
                <a:solidFill>
                  <a:srgbClr val="5F6368"/>
                </a:solidFill>
                <a:latin typeface="Arial" pitchFamily="34" charset="0"/>
                <a:ea typeface="Arial" pitchFamily="34" charset="-122"/>
                <a:cs typeface="Arial" pitchFamily="34" charset="-120"/>
              </a:rPr>
              <a:t xml:space="preserve">From: your ThinkFISH account manager   ·   To: you   ·   Cc: Myra Grama, Freizle Abarrientos   ·   Thu, Sep 17, 2026, 6:26 PM</a:t>
            </a:r>
            <a:endParaRPr lang="en-US" sz="800" dirty="0"/>
          </a:p>
        </p:txBody>
      </p:sp>
      <p:sp>
        <p:nvSpPr>
          <p:cNvPr id="334" name="Shape e-rule"/>
          <p:cNvSpPr/>
          <p:nvPr/>
        </p:nvSpPr>
        <p:spPr>
          <a:xfrm>
            <a:off x="822960" y="2596896"/>
            <a:ext cx="6940296" cy="13716"/>
          </a:xfrm>
          <a:prstGeom prst="rect">
            <a:avLst/>
          </a:prstGeom>
          <a:solidFill>
            <a:srgbClr val="DADCE0"/>
          </a:solidFill>
          <a:ln>
            <a:noFill/>
          </a:ln>
        </p:spPr>
      </p:sp>
      <p:sp>
        <p:nvSpPr>
          <p:cNvPr id="335" name="Text e-2.94"/>
          <p:cNvSpPr txBox="1"/>
          <p:nvPr/>
        </p:nvSpPr>
        <p:spPr>
          <a:xfrm>
            <a:off x="822960" y="2688336"/>
            <a:ext cx="6940296" cy="640080"/>
          </a:xfrm>
          <a:prstGeom prst="rect">
            <a:avLst/>
          </a:prstGeom>
          <a:noFill/>
        </p:spPr>
        <p:txBody>
          <a:bodyPr wrap="square" lIns="0" tIns="0" rIns="0" bIns="0" rtlCol="0" anchor="t"/>
          <a:lstStyle/>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Here is the booking summary for your upcoming call with [Prospect] on Tuesday, September 22, at 5:30pm ET. This meeting came through outbound LinkedIn outreach, and is categorized under </a:t>
            </a:r>
            <a:r>
              <a:rPr lang="en-US" sz="850" b="1" dirty="0">
                <a:solidFill>
                  <a:srgbClr val="333333"/>
                </a:solidFill>
                <a:latin typeface="Arial" pitchFamily="34" charset="0"/>
                <a:ea typeface="Arial" pitchFamily="34" charset="-122"/>
                <a:cs typeface="Arial" pitchFamily="34" charset="-120"/>
              </a:rPr>
              <a:t xml:space="preserve">Segment A (Hospitality-Connected Investors)</a:t>
            </a:r>
            <a:r>
              <a:rPr lang="en-US" sz="850" dirty="0">
                <a:solidFill>
                  <a:srgbClr val="333333"/>
                </a:solidFill>
                <a:latin typeface="Arial" pitchFamily="34" charset="0"/>
                <a:ea typeface="Arial" pitchFamily="34" charset="-122"/>
                <a:cs typeface="Arial" pitchFamily="34" charset="-120"/>
              </a:rPr>
              <a:t xml:space="preserve">, with secondary alignment to </a:t>
            </a:r>
            <a:r>
              <a:rPr lang="en-US" sz="850" b="1" dirty="0">
                <a:solidFill>
                  <a:srgbClr val="333333"/>
                </a:solidFill>
                <a:latin typeface="Arial" pitchFamily="34" charset="0"/>
                <a:ea typeface="Arial" pitchFamily="34" charset="-122"/>
                <a:cs typeface="Arial" pitchFamily="34" charset="-120"/>
              </a:rPr>
              <a:t xml:space="preserve">Segment C (Operator-Turned-Investor / High-Income Professional)</a:t>
            </a:r>
            <a:r>
              <a:rPr lang="en-US" sz="850" dirty="0">
                <a:solidFill>
                  <a:srgbClr val="333333"/>
                </a:solidFill>
                <a:latin typeface="Arial" pitchFamily="34" charset="0"/>
                <a:ea typeface="Arial" pitchFamily="34" charset="-122"/>
                <a:cs typeface="Arial" pitchFamily="34" charset="-120"/>
              </a:rPr>
              <a:t xml:space="preserve">. He initially pushed back hard on the original pitch, questioning whether luggage storage footprint would move a hotel’s P&amp;L, then re-engaged and booked once the conversation was reframed around the raise and his advisory perspective rather than a property-pilot pitch.</a:t>
            </a:r>
            <a:endParaRPr lang="en-US" sz="850" dirty="0"/>
          </a:p>
        </p:txBody>
      </p:sp>
      <p:sp>
        <p:nvSpPr>
          <p:cNvPr id="336" name="Text e-3.78"/>
          <p:cNvSpPr txBox="1"/>
          <p:nvPr/>
        </p:nvSpPr>
        <p:spPr>
          <a:xfrm>
            <a:off x="822960" y="3456432"/>
            <a:ext cx="6940296" cy="8686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Summary of why he’s a good fit:</a:t>
            </a:r>
            <a:endParaRPr lang="en-US" sz="850" dirty="0"/>
          </a:p>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15+ years of senior hospitality brand leadership: Global Brand Director for Westin Hotels &amp; Resorts and Global Brand lead across Marriott’s premium and lifestyle portfolio, Director of Brand F&amp;B Development (Americas) at Hilton, and a stint at a VC-backed hospitality-tech startup. He now advises private clients across the hospitality sector. </a:t>
            </a:r>
            <a:r>
              <a:rPr lang="en-US" sz="850" b="1" dirty="0">
                <a:solidFill>
                  <a:srgbClr val="333333"/>
                </a:solidFill>
                <a:latin typeface="Arial" pitchFamily="34" charset="0"/>
                <a:ea typeface="Arial" pitchFamily="34" charset="-122"/>
                <a:cs typeface="Arial" pitchFamily="34" charset="-120"/>
              </a:rPr>
              <a:t xml:space="preserve">His own qualifying answers reflect that: he marked himself as not accredited but also selected a $25K–$50K check size, direct investment, and a 30–90 day timeline</a:t>
            </a:r>
            <a:r>
              <a:rPr lang="en-US" sz="850" dirty="0">
                <a:solidFill>
                  <a:srgbClr val="333333"/>
                </a:solidFill>
                <a:latin typeface="Arial" pitchFamily="34" charset="0"/>
                <a:ea typeface="Arial" pitchFamily="34" charset="-122"/>
                <a:cs typeface="Arial" pitchFamily="34" charset="-120"/>
              </a:rPr>
              <a:t xml:space="preserve">, an inconsistency worth being aware of going in. He also selected Advisor/Consultant as his partnership interest, so the call may land better framed as an operator/advisory conversation.</a:t>
            </a:r>
            <a:endParaRPr lang="en-US" sz="850" dirty="0"/>
          </a:p>
        </p:txBody>
      </p:sp>
      <p:sp>
        <p:nvSpPr>
          <p:cNvPr id="337" name="Text e-4.92"/>
          <p:cNvSpPr txBox="1"/>
          <p:nvPr/>
        </p:nvSpPr>
        <p:spPr>
          <a:xfrm>
            <a:off x="822960" y="4498848"/>
            <a:ext cx="6940296" cy="27432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Mutual Connections: </a:t>
            </a:r>
            <a:r>
              <a:rPr lang="en-US" sz="850" dirty="0">
                <a:solidFill>
                  <a:srgbClr val="333333"/>
                </a:solidFill>
                <a:latin typeface="Arial" pitchFamily="34" charset="0"/>
                <a:ea typeface="Arial" pitchFamily="34" charset="-122"/>
                <a:cs typeface="Arial" pitchFamily="34" charset="-120"/>
              </a:rPr>
              <a:t xml:space="preserve">Matthew and Cherryh.   </a:t>
            </a:r>
            <a:r>
              <a:rPr lang="en-US" sz="850" b="1" dirty="0">
                <a:solidFill>
                  <a:srgbClr val="1A1A2E"/>
                </a:solidFill>
                <a:latin typeface="Arial" pitchFamily="34" charset="0"/>
                <a:ea typeface="Arial" pitchFamily="34" charset="-122"/>
                <a:cs typeface="Arial" pitchFamily="34" charset="-120"/>
              </a:rPr>
              <a:t xml:space="preserve">Network Highlights: </a:t>
            </a:r>
            <a:r>
              <a:rPr lang="en-US" sz="850" dirty="0">
                <a:solidFill>
                  <a:srgbClr val="333333"/>
                </a:solidFill>
                <a:latin typeface="Arial" pitchFamily="34" charset="0"/>
                <a:ea typeface="Arial" pitchFamily="34" charset="-122"/>
                <a:cs typeface="Arial" pitchFamily="34" charset="-120"/>
              </a:rPr>
              <a:t xml:space="preserve">4,251 followers, active on LinkedIn engaging with colleagues’ career milestones; Cornell-affiliated.</a:t>
            </a:r>
            <a:endParaRPr lang="en-US" sz="850" dirty="0"/>
          </a:p>
        </p:txBody>
      </p:sp>
      <p:sp>
        <p:nvSpPr>
          <p:cNvPr id="338" name="Text e-5.3"/>
          <p:cNvSpPr txBox="1"/>
          <p:nvPr/>
        </p:nvSpPr>
        <p:spPr>
          <a:xfrm>
            <a:off x="822960" y="4846320"/>
            <a:ext cx="6940296" cy="512064"/>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Affiliations &amp; notable initiatives: </a:t>
            </a:r>
            <a:r>
              <a:rPr lang="en-US" sz="850" dirty="0">
                <a:solidFill>
                  <a:srgbClr val="333333"/>
                </a:solidFill>
                <a:latin typeface="Arial" pitchFamily="34" charset="0"/>
                <a:ea typeface="Arial" pitchFamily="34" charset="-122"/>
                <a:cs typeface="Arial" pitchFamily="34" charset="-120"/>
              </a:rPr>
              <a:t xml:space="preserve">VP, Strategy at a hospitality brand consultancy  ·  Former Global Brand Director, Westin Hotels &amp; Resorts (Marriott International)  ·  Former Director, Brand F&amp;B Development (Americas), Hilton  ·  Led global brand strategy across Westin, Sheraton, Autograph Collection, Le Méridien, Renaissance and Delta  ·  Part of a team that drove a 5x revenue increase with 40% margin expansion across 9 markets and 200,000+ hotel guest rooms.</a:t>
            </a:r>
            <a:endParaRPr lang="en-US" sz="850" dirty="0"/>
          </a:p>
        </p:txBody>
      </p:sp>
      <p:sp>
        <p:nvSpPr>
          <p:cNvPr id="339" name="Text e-5.96"/>
          <p:cNvSpPr txBox="1"/>
          <p:nvPr/>
        </p:nvSpPr>
        <p:spPr>
          <a:xfrm>
            <a:off x="822960" y="5449824"/>
            <a:ext cx="6940296" cy="713232"/>
          </a:xfrm>
          <a:prstGeom prst="rect">
            <a:avLst/>
          </a:prstGeom>
          <a:noFill/>
        </p:spPr>
        <p:txBody>
          <a:bodyPr wrap="square" lIns="0" tIns="0" rIns="0" bIns="0" rtlCol="0" anchor="t"/>
          <a:lstStyle/>
          <a:p>
            <a:pPr indent="0" marL="0">
              <a:lnSpc>
                <a:spcPct val="108000"/>
              </a:lnSpc>
              <a:spcAft>
                <a:spcPts val="100"/>
              </a:spcAft>
              <a:buNone/>
            </a:pPr>
            <a:r>
              <a:rPr lang="en-US" sz="800" b="1" dirty="0">
                <a:solidFill>
                  <a:srgbClr val="1A1A2E"/>
                </a:solidFill>
                <a:latin typeface="Arial" pitchFamily="34" charset="0"/>
                <a:ea typeface="Arial" pitchFamily="34" charset="-122"/>
                <a:cs typeface="Arial" pitchFamily="34" charset="-120"/>
              </a:rPr>
              <a:t xml:space="preserve">Conversation Thread:</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“…Not sure the additional 50 sq meters a luggage storage room would change the hotel P&amp;L much if any. I’m no longer your target audience… Let me know if helpful to chat.”</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Founder: </a:t>
            </a:r>
            <a:r>
              <a:rPr lang="en-US" sz="800" i="1" dirty="0">
                <a:solidFill>
                  <a:srgbClr val="333333"/>
                </a:solidFill>
                <a:latin typeface="Arial" pitchFamily="34" charset="0"/>
                <a:ea typeface="Arial" pitchFamily="34" charset="-122"/>
                <a:cs typeface="Arial" pitchFamily="34" charset="-120"/>
              </a:rPr>
              <a:t xml:space="preserve">“…To be upfront, this outreach is part of a raise we’re running, not a property-pilot pitch… Given your background, I’d genuinely value your take on it from that angle.”</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“Love it. Let’s connect.”  …  “Perfect. Sent. Looking forward.”</a:t>
            </a:r>
            <a:endParaRPr lang="en-US" sz="800" dirty="0"/>
          </a:p>
        </p:txBody>
      </p:sp>
      <p:sp>
        <p:nvSpPr>
          <p:cNvPr id="340" name="Text e-6.86"/>
          <p:cNvSpPr txBox="1"/>
          <p:nvPr/>
        </p:nvSpPr>
        <p:spPr>
          <a:xfrm>
            <a:off x="822960" y="6272784"/>
            <a:ext cx="6940296" cy="1828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LinkedIn Profile: </a:t>
            </a:r>
            <a:r>
              <a:rPr lang="en-US" sz="850" dirty="0">
                <a:solidFill>
                  <a:srgbClr val="1A73E8"/>
                </a:solidFill>
                <a:latin typeface="Arial" pitchFamily="34" charset="0"/>
                <a:ea typeface="Arial" pitchFamily="34" charset="-122"/>
                <a:cs typeface="Arial" pitchFamily="34" charset="-120"/>
              </a:rPr>
              <a:t xml:space="preserve">full profile attached below</a:t>
            </a:r>
            <a:r>
              <a:rPr lang="en-US" sz="850" b="1" dirty="0">
                <a:solidFill>
                  <a:srgbClr val="1A1A2E"/>
                </a:solidFill>
                <a:latin typeface="Arial" pitchFamily="34" charset="0"/>
                <a:ea typeface="Arial" pitchFamily="34" charset="-122"/>
                <a:cs typeface="Arial" pitchFamily="34" charset="-120"/>
              </a:rPr>
              <a:t xml:space="preserve">     Calendly booking: </a:t>
            </a:r>
            <a:r>
              <a:rPr lang="en-US" sz="850" dirty="0">
                <a:solidFill>
                  <a:srgbClr val="1A73E8"/>
                </a:solidFill>
                <a:latin typeface="Arial" pitchFamily="34" charset="0"/>
                <a:ea typeface="Arial" pitchFamily="34" charset="-122"/>
                <a:cs typeface="Arial" pitchFamily="34" charset="-120"/>
              </a:rPr>
              <a:t xml:space="preserve">confirmed for Tue, Sep 22, 5:30pm ET</a:t>
            </a:r>
            <a:endParaRPr lang="en-US" sz="850" dirty="0"/>
          </a:p>
        </p:txBody>
      </p:sp>
      <p:sp>
        <p:nvSpPr>
          <p:cNvPr id="341" name="Shape arrow 2.94"/>
          <p:cNvSpPr/>
          <p:nvPr/>
        </p:nvSpPr>
        <p:spPr>
          <a:xfrm>
            <a:off x="8083296" y="2706624"/>
            <a:ext cx="329184" cy="182880"/>
          </a:xfrm>
          <a:prstGeom prst="leftArrow">
            <a:avLst/>
          </a:prstGeom>
          <a:solidFill>
            <a:srgbClr val="43D5FF"/>
          </a:solidFill>
          <a:ln>
            <a:noFill/>
          </a:ln>
        </p:spPr>
      </p:sp>
      <p:sp>
        <p:nvSpPr>
          <p:cNvPr id="342" name="Text co-l 2.94"/>
          <p:cNvSpPr txBox="1"/>
          <p:nvPr/>
        </p:nvSpPr>
        <p:spPr>
          <a:xfrm>
            <a:off x="8522208" y="267004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SEGMENT FIT, STATED</a:t>
            </a:r>
            <a:endParaRPr lang="en-US" sz="1050" dirty="0"/>
          </a:p>
        </p:txBody>
      </p:sp>
      <p:sp>
        <p:nvSpPr>
          <p:cNvPr id="343" name="Text co-t 2.94"/>
          <p:cNvSpPr txBox="1"/>
          <p:nvPr/>
        </p:nvSpPr>
        <p:spPr>
          <a:xfrm>
            <a:off x="8522208" y="290779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Which of your ICP segments they matched and how the conversation got to a booking, so nothing is a surprise on the call.</a:t>
            </a:r>
            <a:endParaRPr lang="en-US" sz="950" dirty="0"/>
          </a:p>
        </p:txBody>
      </p:sp>
      <p:sp>
        <p:nvSpPr>
          <p:cNvPr id="344" name="Shape arrow 4"/>
          <p:cNvSpPr/>
          <p:nvPr/>
        </p:nvSpPr>
        <p:spPr>
          <a:xfrm>
            <a:off x="8083296" y="3675888"/>
            <a:ext cx="329184" cy="182880"/>
          </a:xfrm>
          <a:prstGeom prst="leftArrow">
            <a:avLst/>
          </a:prstGeom>
          <a:solidFill>
            <a:srgbClr val="43D5FF"/>
          </a:solidFill>
          <a:ln>
            <a:noFill/>
          </a:ln>
        </p:spPr>
      </p:sp>
      <p:sp>
        <p:nvSpPr>
          <p:cNvPr id="345" name="Text co-l 4"/>
          <p:cNvSpPr txBox="1"/>
          <p:nvPr/>
        </p:nvSpPr>
        <p:spPr>
          <a:xfrm>
            <a:off x="8522208" y="3639312"/>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WHY THEY’RE WORTH YOUR TIME</a:t>
            </a:r>
            <a:endParaRPr lang="en-US" sz="1050" dirty="0"/>
          </a:p>
        </p:txBody>
      </p:sp>
      <p:sp>
        <p:nvSpPr>
          <p:cNvPr id="346" name="Text co-t 4"/>
          <p:cNvSpPr txBox="1"/>
          <p:nvPr/>
        </p:nvSpPr>
        <p:spPr>
          <a:xfrm>
            <a:off x="8522208" y="3877056"/>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Background, their own qualifying answers and an honest read on how to frame the call, inconsistencies included.</a:t>
            </a:r>
            <a:endParaRPr lang="en-US" sz="950" dirty="0"/>
          </a:p>
        </p:txBody>
      </p:sp>
      <p:sp>
        <p:nvSpPr>
          <p:cNvPr id="347" name="Shape arrow 5.14"/>
          <p:cNvSpPr/>
          <p:nvPr/>
        </p:nvSpPr>
        <p:spPr>
          <a:xfrm>
            <a:off x="8083296" y="4718304"/>
            <a:ext cx="329184" cy="182880"/>
          </a:xfrm>
          <a:prstGeom prst="leftArrow">
            <a:avLst/>
          </a:prstGeom>
          <a:solidFill>
            <a:srgbClr val="43D5FF"/>
          </a:solidFill>
          <a:ln>
            <a:noFill/>
          </a:ln>
        </p:spPr>
      </p:sp>
      <p:sp>
        <p:nvSpPr>
          <p:cNvPr id="348" name="Text co-l 5.14"/>
          <p:cNvSpPr txBox="1"/>
          <p:nvPr/>
        </p:nvSpPr>
        <p:spPr>
          <a:xfrm>
            <a:off x="8522208" y="468172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WARM PATHS IN + TRACK RECORD</a:t>
            </a:r>
            <a:endParaRPr lang="en-US" sz="1050" dirty="0"/>
          </a:p>
        </p:txBody>
      </p:sp>
      <p:sp>
        <p:nvSpPr>
          <p:cNvPr id="349" name="Text co-t 5.14"/>
          <p:cNvSpPr txBox="1"/>
          <p:nvPr/>
        </p:nvSpPr>
        <p:spPr>
          <a:xfrm>
            <a:off x="8522208" y="491947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Mutual connections, shared schools, roles, affiliations and initiatives that matter to you, each checked by a person.</a:t>
            </a:r>
            <a:endParaRPr lang="en-US" sz="950" dirty="0"/>
          </a:p>
        </p:txBody>
      </p:sp>
      <p:sp>
        <p:nvSpPr>
          <p:cNvPr id="350" name="Shape arrow 6.12"/>
          <p:cNvSpPr/>
          <p:nvPr/>
        </p:nvSpPr>
        <p:spPr>
          <a:xfrm>
            <a:off x="8083296" y="5614416"/>
            <a:ext cx="329184" cy="182880"/>
          </a:xfrm>
          <a:prstGeom prst="leftArrow">
            <a:avLst/>
          </a:prstGeom>
          <a:solidFill>
            <a:srgbClr val="43D5FF"/>
          </a:solidFill>
          <a:ln>
            <a:noFill/>
          </a:ln>
        </p:spPr>
      </p:sp>
      <p:sp>
        <p:nvSpPr>
          <p:cNvPr id="351" name="Text co-l 6.12"/>
          <p:cNvSpPr txBox="1"/>
          <p:nvPr/>
        </p:nvSpPr>
        <p:spPr>
          <a:xfrm>
            <a:off x="8522208" y="5577840"/>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THE WHOLE CONVERSATION</a:t>
            </a:r>
            <a:endParaRPr lang="en-US" sz="1050" dirty="0"/>
          </a:p>
        </p:txBody>
      </p:sp>
      <p:sp>
        <p:nvSpPr>
          <p:cNvPr id="352" name="Text co-t 6.12"/>
          <p:cNvSpPr txBox="1"/>
          <p:nvPr/>
        </p:nvSpPr>
        <p:spPr>
          <a:xfrm>
            <a:off x="8522208" y="5815584"/>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Every message exchanged, so you walk in knowing exactly what was said and promised.</a:t>
            </a:r>
            <a:endParaRPr lang="en-US" sz="950" dirty="0"/>
          </a:p>
        </p:txBody>
      </p:sp>
      <p:sp>
        <p:nvSpPr>
          <p:cNvPr id="353" name="Shape arrow 6.88"/>
          <p:cNvSpPr/>
          <p:nvPr/>
        </p:nvSpPr>
        <p:spPr>
          <a:xfrm>
            <a:off x="8083296" y="6309360"/>
            <a:ext cx="329184" cy="182880"/>
          </a:xfrm>
          <a:prstGeom prst="leftArrow">
            <a:avLst/>
          </a:prstGeom>
          <a:solidFill>
            <a:srgbClr val="43D5FF"/>
          </a:solidFill>
          <a:ln>
            <a:noFill/>
          </a:ln>
        </p:spPr>
      </p:sp>
      <p:sp>
        <p:nvSpPr>
          <p:cNvPr id="354" name="Text co-l 6.88"/>
          <p:cNvSpPr txBox="1"/>
          <p:nvPr/>
        </p:nvSpPr>
        <p:spPr>
          <a:xfrm>
            <a:off x="8522208" y="6272784"/>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PROFILE + BOOKING</a:t>
            </a:r>
            <a:endParaRPr lang="en-US" sz="1050" dirty="0"/>
          </a:p>
        </p:txBody>
      </p:sp>
      <p:sp>
        <p:nvSpPr>
          <p:cNvPr id="355" name="Text co-t 6.88"/>
          <p:cNvSpPr txBox="1"/>
          <p:nvPr/>
        </p:nvSpPr>
        <p:spPr>
          <a:xfrm>
            <a:off x="8522208" y="6510528"/>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Full profile attached; the slot is already on your calendar.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To Expect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VOLUME, MEETINGS, TIMING</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OUTREACH VOLUME</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3,200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two accounts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800 InMails and 800 connection invites per founder account every month, once fully warmed up. Every touch scored and hand-reviewed before it goes out.</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QUALIFIED MEETINGS</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2–6</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per week at steady state (month 2 onward)</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Conservatively 1–3 per account per week once calibrated. Not a guarantee, but the range we deliver consistently.</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TIME TO FIRST MEETINGS</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3–4</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weeks from kickoff to first booked calls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Weeks one and two are setup: ICP, audiences, scripts, account warm-up, and your deck and data room tightened. Live outreach starts in week three, first bookings follow within days.</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1088136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WHAT “QUALIFIED” MEANS, AND THE HONEST TIMELINE</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A qualified meeting is a high-net-worth individual, fund or family office with a verified history of similar investments, who passed scoring and human review, completed the self-qualification form on booking, and whose briefing you approved. Pre-revenue raises historically take 6–12 months from first outreach to capital in the bank. We’ll have the right investors on your calendars quickly; the close depends on your process and their diligence, and we’d rather you hear that from us now.</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First 90 Days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HAPPENS, AND WHEN</a:t>
            </a:r>
            <a:endParaRPr lang="en-US" sz="1400" dirty="0"/>
          </a:p>
        </p:txBody>
      </p:sp>
      <p:sp>
        <p:nvSpPr>
          <p:cNvPr id="6" name="Shape 3"/>
          <p:cNvSpPr/>
          <p:nvPr/>
        </p:nvSpPr>
        <p:spPr>
          <a:xfrm>
            <a:off x="56692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7" name="Text 4"/>
          <p:cNvSpPr/>
          <p:nvPr/>
        </p:nvSpPr>
        <p:spPr>
          <a:xfrm>
            <a:off x="76809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1-2  ·  EARLY NOV</a:t>
            </a:r>
            <a:endParaRPr lang="en-US" sz="1200" dirty="0"/>
          </a:p>
        </p:txBody>
      </p:sp>
      <p:sp>
        <p:nvSpPr>
          <p:cNvPr id="8" name="Text 5"/>
          <p:cNvSpPr/>
          <p:nvPr/>
        </p:nvSpPr>
        <p:spPr>
          <a:xfrm>
            <a:off x="76809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Setup &amp; Calibration</a:t>
            </a:r>
            <a:endParaRPr lang="en-US" sz="1600" dirty="0"/>
          </a:p>
        </p:txBody>
      </p:sp>
      <p:sp>
        <p:nvSpPr>
          <p:cNvPr id="9" name="Text 6"/>
          <p:cNvSpPr/>
          <p:nvPr/>
        </p:nvSpPr>
        <p:spPr>
          <a:xfrm>
            <a:off x="76809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Onboarding interview with founders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Investor ICP and audiences built</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Accounts optimized and warmed</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Deck feedback, data-room checklist</a:t>
            </a:r>
            <a:endParaRPr lang="en-US" sz="1150" dirty="0"/>
          </a:p>
        </p:txBody>
      </p:sp>
      <p:sp>
        <p:nvSpPr>
          <p:cNvPr id="10" name="Shape 7"/>
          <p:cNvSpPr/>
          <p:nvPr/>
        </p:nvSpPr>
        <p:spPr>
          <a:xfrm>
            <a:off x="344728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1" name="Text 8"/>
          <p:cNvSpPr/>
          <p:nvPr/>
        </p:nvSpPr>
        <p:spPr>
          <a:xfrm>
            <a:off x="364845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3-4  ·  LATE NOV</a:t>
            </a:r>
            <a:endParaRPr lang="en-US" sz="1200" dirty="0"/>
          </a:p>
        </p:txBody>
      </p:sp>
      <p:sp>
        <p:nvSpPr>
          <p:cNvPr id="12" name="Text 9"/>
          <p:cNvSpPr/>
          <p:nvPr/>
        </p:nvSpPr>
        <p:spPr>
          <a:xfrm>
            <a:off x="364845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First Live Outreach</a:t>
            </a:r>
            <a:endParaRPr lang="en-US" sz="1600" dirty="0"/>
          </a:p>
        </p:txBody>
      </p:sp>
      <p:sp>
        <p:nvSpPr>
          <p:cNvPr id="13" name="Text 10"/>
          <p:cNvSpPr/>
          <p:nvPr/>
        </p:nvSpPr>
        <p:spPr>
          <a:xfrm>
            <a:off x="364845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Live on both founder accounts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First replies, first meetings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A/B testing segments and openers</a:t>
            </a:r>
            <a:endParaRPr lang="en-US" sz="1150" dirty="0"/>
          </a:p>
        </p:txBody>
      </p:sp>
      <p:sp>
        <p:nvSpPr>
          <p:cNvPr id="14" name="Shape 11"/>
          <p:cNvSpPr/>
          <p:nvPr/>
        </p:nvSpPr>
        <p:spPr>
          <a:xfrm>
            <a:off x="632764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5" name="Text 12"/>
          <p:cNvSpPr/>
          <p:nvPr/>
        </p:nvSpPr>
        <p:spPr>
          <a:xfrm>
            <a:off x="652881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2  ·  DECEMBER</a:t>
            </a:r>
            <a:endParaRPr lang="en-US" sz="1200" dirty="0"/>
          </a:p>
        </p:txBody>
      </p:sp>
      <p:sp>
        <p:nvSpPr>
          <p:cNvPr id="16" name="Text 13"/>
          <p:cNvSpPr/>
          <p:nvPr/>
        </p:nvSpPr>
        <p:spPr>
          <a:xfrm>
            <a:off x="652881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Steady Flow</a:t>
            </a:r>
            <a:endParaRPr lang="en-US" sz="1600" dirty="0"/>
          </a:p>
        </p:txBody>
      </p:sp>
      <p:sp>
        <p:nvSpPr>
          <p:cNvPr id="17" name="Text 14"/>
          <p:cNvSpPr/>
          <p:nvPr/>
        </p:nvSpPr>
        <p:spPr>
          <a:xfrm>
            <a:off x="652881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Year-end liquidity window</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Targeting tightened on replies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Deal Desk newsletter feature</a:t>
            </a:r>
            <a:endParaRPr lang="en-US" sz="1150" dirty="0"/>
          </a:p>
        </p:txBody>
      </p:sp>
      <p:sp>
        <p:nvSpPr>
          <p:cNvPr id="18" name="Shape 15"/>
          <p:cNvSpPr/>
          <p:nvPr/>
        </p:nvSpPr>
        <p:spPr>
          <a:xfrm>
            <a:off x="920800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9" name="Text 16"/>
          <p:cNvSpPr/>
          <p:nvPr/>
        </p:nvSpPr>
        <p:spPr>
          <a:xfrm>
            <a:off x="940917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3  ·  JANUARY</a:t>
            </a:r>
            <a:endParaRPr lang="en-US" sz="1200" dirty="0"/>
          </a:p>
        </p:txBody>
      </p:sp>
      <p:sp>
        <p:nvSpPr>
          <p:cNvPr id="20" name="Text 17"/>
          <p:cNvSpPr/>
          <p:nvPr/>
        </p:nvSpPr>
        <p:spPr>
          <a:xfrm>
            <a:off x="940917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Prove-Out &amp; Scale</a:t>
            </a:r>
            <a:endParaRPr lang="en-US" sz="1600" dirty="0"/>
          </a:p>
        </p:txBody>
      </p:sp>
      <p:sp>
        <p:nvSpPr>
          <p:cNvPr id="21" name="Text 18"/>
          <p:cNvSpPr/>
          <p:nvPr/>
        </p:nvSpPr>
        <p:spPr>
          <a:xfrm>
            <a:off x="940917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Three months of real data</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Your 3-month opt-out checkpoint</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Scale or refine for the close</a:t>
            </a:r>
            <a:endParaRPr lang="en-US" sz="1150" dirty="0"/>
          </a:p>
        </p:txBody>
      </p:sp>
      <p:sp>
        <p:nvSpPr>
          <p:cNvPr id="356" name="Shape 20"/>
          <p:cNvSpPr/>
          <p:nvPr/>
        </p:nvSpPr>
        <p:spPr>
          <a:xfrm>
            <a:off x="566928" y="5029200"/>
            <a:ext cx="11338560" cy="1325880"/>
          </a:xfrm>
          <a:prstGeom prst="roundRect">
            <a:avLst>
              <a:gd name="adj" fmla="val 4865"/>
            </a:avLst>
          </a:prstGeom>
          <a:solidFill>
            <a:srgbClr val="0D0D26">
              <a:alpha val="55000"/>
            </a:srgbClr>
          </a:solidFill>
          <a:ln w="9525">
            <a:solidFill>
              <a:srgbClr val="31316A">
                <a:alpha val="75000"/>
              </a:srgbClr>
            </a:solidFill>
            <a:prstDash val="solid"/>
          </a:ln>
        </p:spPr>
      </p:sp>
      <p:sp>
        <p:nvSpPr>
          <p:cNvPr id="357" name="Text 21"/>
          <p:cNvSpPr/>
          <p:nvPr/>
        </p:nvSpPr>
        <p:spPr>
          <a:xfrm>
            <a:off x="795528" y="5175504"/>
            <a:ext cx="54864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JANUARY CHECKPOINT</a:t>
            </a:r>
            <a:endParaRPr lang="en-US" sz="1400" dirty="0"/>
          </a:p>
        </p:txBody>
      </p:sp>
      <p:sp>
        <p:nvSpPr>
          <p:cNvPr id="358" name="Text 22"/>
          <p:cNvSpPr/>
          <p:nvPr/>
        </p:nvSpPr>
        <p:spPr>
          <a:xfrm>
            <a:off x="795528" y="5504688"/>
            <a:ext cx="10881360" cy="77724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By the January review you’ll have three months of real numbers on audience quality, meeting quality and investor conversations in diligence. That is your three-month opt-out checkpoint: continue through the close, refine the segments that convert, or stop. The decision gets made on data, not on faith.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Pricing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FLAT RETAINER. NO SETUP FEES, NO SUCCESS FEES, NO SURPRISES.</a:t>
            </a:r>
            <a:endParaRPr lang="en-US" sz="1400" dirty="0"/>
          </a:p>
        </p:txBody>
      </p:sp>
      <p:sp>
        <p:nvSpPr>
          <p:cNvPr id="6" name="Shape 3"/>
          <p:cNvSpPr/>
          <p:nvPr/>
        </p:nvSpPr>
        <p:spPr>
          <a:xfrm>
            <a:off x="56692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7" name="Text 4"/>
          <p:cNvSpPr/>
          <p:nvPr/>
        </p:nvSpPr>
        <p:spPr>
          <a:xfrm>
            <a:off x="88696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THINKFISH FUNDRAISING  ·  DONE-FOR-YOU</a:t>
            </a:r>
            <a:endParaRPr lang="en-US" sz="1300" dirty="0"/>
          </a:p>
        </p:txBody>
      </p:sp>
      <p:sp>
        <p:nvSpPr>
          <p:cNvPr id="8" name="Text 5"/>
          <p:cNvSpPr/>
          <p:nvPr/>
        </p:nvSpPr>
        <p:spPr>
          <a:xfrm>
            <a:off x="886968" y="2770632"/>
            <a:ext cx="489204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$3,000</a:t>
            </a:r>
            <a:r>
              <a:rPr lang="en-US" sz="1400" dirty="0">
                <a:solidFill>
                  <a:srgbClr val="B9BEDC"/>
                </a:solidFill>
                <a:latin typeface="Arial" pitchFamily="34" charset="0"/>
                <a:ea typeface="Arial" pitchFamily="34" charset="-122"/>
                <a:cs typeface="Arial" pitchFamily="34" charset="-120"/>
              </a:rPr>
              <a:t xml:space="preserve">  / month</a:t>
            </a:r>
          </a:p>
        </p:txBody>
      </p:sp>
      <p:sp>
        <p:nvSpPr>
          <p:cNvPr id="9" name="Text 6"/>
          <p:cNvSpPr/>
          <p:nvPr/>
        </p:nvSpPr>
        <p:spPr>
          <a:xfrm>
            <a:off x="886968" y="3520440"/>
            <a:ext cx="4892040" cy="320040"/>
          </a:xfrm>
          <a:prstGeom prst="rect">
            <a:avLst/>
          </a:prstGeom>
          <a:noFill/>
          <a:ln/>
        </p:spPr>
        <p:txBody>
          <a:bodyPr wrap="square" lIns="0" tIns="0" rIns="0" bIns="0" rtlCol="0" anchor="ctr"/>
          <a:lstStyle/>
          <a:p>
            <a:pPr indent="0" marL="0">
              <a:buNone/>
            </a:pPr>
            <a:r>
              <a:rPr lang="en-US" sz="1200" i="1" dirty="0">
                <a:solidFill>
                  <a:srgbClr val="B9BEDC"/>
                </a:solidFill>
                <a:latin typeface="Arial" pitchFamily="34" charset="0"/>
                <a:ea typeface="Arial" pitchFamily="34" charset="-122"/>
                <a:cs typeface="Arial" pitchFamily="34" charset="-120"/>
              </a:rPr>
              <a:t>6-month term  ·  3-month opt-out  ·  Two founder accounts</a:t>
            </a:r>
            <a:endParaRPr lang="en-US" sz="1200" dirty="0"/>
          </a:p>
        </p:txBody>
      </p:sp>
      <p:sp>
        <p:nvSpPr>
          <p:cNvPr id="10" name="Text 7"/>
          <p:cNvSpPr/>
          <p:nvPr/>
        </p:nvSpPr>
        <p:spPr>
          <a:xfrm>
            <a:off x="886968" y="3977640"/>
            <a:ext cx="4892040" cy="205740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Two founder LinkedIn accounts, fully managed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Full campaign execution for the raise, end to end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Outreach, inbox management &amp; follow-ups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Lead qualification, pre-call briefings &amp; scheduling</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The Reef retargeting &amp; Startup Deal Desk feature</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Profile optimization, deck feedback &amp; data-room checklist</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CRM, weekly reporting, A/B testing &amp; optimization</a:t>
            </a:r>
            <a:endParaRPr lang="en-US" sz="1250" dirty="0"/>
          </a:p>
        </p:txBody>
      </p:sp>
      <p:sp>
        <p:nvSpPr>
          <p:cNvPr id="359" name="Shape 30"/>
          <p:cNvSpPr/>
          <p:nvPr/>
        </p:nvSpPr>
        <p:spPr>
          <a:xfrm>
            <a:off x="637336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360" name="Text 31"/>
          <p:cNvSpPr/>
          <p:nvPr/>
        </p:nvSpPr>
        <p:spPr>
          <a:xfrm>
            <a:off x="669340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WHAT THAT BUYS</a:t>
            </a:r>
            <a:endParaRPr lang="en-US" sz="1300" dirty="0"/>
          </a:p>
        </p:txBody>
      </p:sp>
      <p:sp>
        <p:nvSpPr>
          <p:cNvPr id="361" name="Text 32"/>
          <p:cNvSpPr/>
          <p:nvPr/>
        </p:nvSpPr>
        <p:spPr>
          <a:xfrm>
            <a:off x="6693408" y="2834640"/>
            <a:ext cx="4892040" cy="3291840"/>
          </a:xfrm>
          <a:prstGeom prst="rect">
            <a:avLst/>
          </a:prstGeom>
          <a:noFill/>
          <a:ln/>
        </p:spPr>
        <p:txBody>
          <a:bodyPr wrap="square" lIns="0" tIns="0" rIns="0" bIns="0" rtlCol="0" anchor="t"/>
          <a:lstStyle/>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Two founder accounts on one retainer: double the top of the funnel, one team</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Compare: investment bankers decline sub-$10M mandates and charge a success fee on top; we take no percentage of the $2–3M</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One dedicated account manager, one CRM and one weekly report covering both accounts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Sales Navigator seats from our corporate plan, so there is no extra LinkedIn spend</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The three-month opt-out means the January decision is made on real numbers, not on faith</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We Are, and What We’re Not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COMPLIANCE QUESTION, ANSWERED UP FRONT</a:t>
            </a:r>
            <a:endParaRPr lang="en-US" sz="1400" dirty="0"/>
          </a:p>
        </p:txBody>
      </p:sp>
      <p:sp>
        <p:nvSpPr>
          <p:cNvPr id="6" name="Shape 3"/>
          <p:cNvSpPr/>
          <p:nvPr/>
        </p:nvSpPr>
        <p:spPr>
          <a:xfrm>
            <a:off x="566928"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a:t>
            </a:r>
            <a:endParaRPr lang="en-US" sz="1400" dirty="0"/>
          </a:p>
        </p:txBody>
      </p:sp>
      <p:sp>
        <p:nvSpPr>
          <p:cNvPr id="8" name="Text 5"/>
          <p:cNvSpPr/>
          <p:nvPr/>
        </p:nvSpPr>
        <p:spPr>
          <a:xfrm>
            <a:off x="795528"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A digital media and investor-relations firm. We build and run LinkedIn outreach in your name, qualify the responses, and put pre-vetted investor conversations on your calendar. Flat monthly fee, nothing else.</a:t>
            </a:r>
            <a:endParaRPr lang="en-US" sz="1200" dirty="0"/>
          </a:p>
        </p:txBody>
      </p:sp>
      <p:sp>
        <p:nvSpPr>
          <p:cNvPr id="9" name="Shape 6"/>
          <p:cNvSpPr/>
          <p:nvPr/>
        </p:nvSpPr>
        <p:spPr>
          <a:xfrm>
            <a:off x="4434840"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 NOT</a:t>
            </a:r>
            <a:endParaRPr lang="en-US" sz="1400" dirty="0"/>
          </a:p>
        </p:txBody>
      </p:sp>
      <p:sp>
        <p:nvSpPr>
          <p:cNvPr id="11" name="Text 8"/>
          <p:cNvSpPr/>
          <p:nvPr/>
        </p:nvSpPr>
        <p:spPr>
          <a:xfrm>
            <a:off x="4663440"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Not a broker-dealer, placement agent or finder. We don’t negotiate terms, don’t take a success fee or commission, don’t touch the transaction, and don’t raise the capital. You run the conversation and you close.</a:t>
            </a:r>
            <a:endParaRPr lang="en-US" sz="1200" dirty="0"/>
          </a:p>
        </p:txBody>
      </p:sp>
      <p:sp>
        <p:nvSpPr>
          <p:cNvPr id="12" name="Shape 9"/>
          <p:cNvSpPr/>
          <p:nvPr/>
        </p:nvSpPr>
        <p:spPr>
          <a:xfrm>
            <a:off x="8302752"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STAYING COMPLIANT</a:t>
            </a:r>
            <a:endParaRPr lang="en-US" sz="1400" dirty="0"/>
          </a:p>
        </p:txBody>
      </p:sp>
      <p:sp>
        <p:nvSpPr>
          <p:cNvPr id="14" name="Text 11"/>
          <p:cNvSpPr/>
          <p:nvPr/>
        </p:nvSpPr>
        <p:spPr>
          <a:xfrm>
            <a:off x="8531352"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Early messages are relationship-first and high-level: no deal terms, no structure, no forecasts. Collateral only once interest is real, and you are the first to share a full deck. Every script is approved by you before it goes out.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Team</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WHO YOU WILL ACTUALLY BE WORKING WITH</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FREIZLE ABARRIENTOS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Chief Operating Officer. Two decades across operations, business development, investor relations and client services; oversees ThinkFISH’s daily operations. Leads strategy and the ICP design, and joins your monthly strategy calls.</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SAMANTHA COWPER</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Onboarding Manager. Runs your first two weeks: the onboarding interviews with you, profile optimization, the ICP and audiences, and script approval, so the campaign launches on time and in your voice.</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MYRA GRAMA</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Account Director. Owns the relationship from launch onward: campaign performance, the weekly report, the monthly strategy call, and the escalation point if anything needs a pivot.</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YOUR DEDICATED ACCOUNT MANAGER</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Assigned at kickoff and introduced by Samantha in the first onboarding session. Runs the campaign day to day under Myra: audience building, scripts, inbox, qualification, call briefings and the weekly report. One person who knows your story, reachable on Slack or WhatsApp, not a ticket queue.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Next Steps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WE GET STARTED</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1  ·  REVIEW</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Take this deck to the founding team and bring the questions to our call on Thursday, October 22 at 10am PT. Matt will walk through the proposal and answer the targeting, process and compliance questions directly.</a:t>
            </a:r>
            <a:endParaRPr lang="en-US" sz="11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2  ·  SIGN &amp; KICK OFF</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We send the services agreement the same day you say yes. Onboarding starts that week: the founder interview, both LinkedIn accounts connected, and deck and data-room feedback so materials are ready before the first meeting.</a:t>
            </a:r>
            <a:endParaRPr lang="en-US" sz="11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3  ·  FIRST MEETINGS</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Both accounts are live within two weeks of kickoff. The first qualified investor conversations land on your calendars in weeks three and four, then build to a steady weekly rhythm through the year-end window and into the January checkpoint.</a:t>
            </a:r>
            <a:endParaRPr lang="en-US" sz="11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WE NEED FROM YOU</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Connect the two founder LinkedIn accounts to our system (no passwords or login credentials required). Share your pitch deck, data room and any investor lists or past conversations. One 60-minute onboarding interview. A Calendly link for whoever takes first meetings, and a do-not-contact list covering your friends-and-family round. That’s it. We handle the rest.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Deliverables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THE ENGINE BEHIND THE MEETINGS</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LINKEDIN OUTREACH</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3,200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two accounts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800 InMails and 800 connection invites per founder account every month, in your voice, once fully warmed up. Every touch scored and hand-reviewed before it goes out.</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THE REEF</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10k+</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curated investor network</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Our internal network of opt-in investors actively seeking deal flow, retargeted with your raise.</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STARTUP DEAL DESK</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84k+</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investor subscribers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Your company featured in our investor newsletter, putting your raise in front of capital allocators at scale.</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45720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FULLY MANAGED, END TO END</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Strategy &amp; onboarding  ·  LinkedIn profile optimization  ·  Investor targeting &amp; list building  ·  Outreach execution &amp; inbox management  ·  Lead qualification &amp; meeting scheduling  ·  Pitch positioning &amp; storytelling support  ·  CRM setup &amp; management  ·  Reporting &amp; continuous optimization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Founders Who’ve Run This Play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RESULTS &amp; TESTIMONIALS</a:t>
            </a:r>
            <a:endParaRPr lang="en-US" sz="1400" dirty="0"/>
          </a:p>
        </p:txBody>
      </p:sp>
      <p:sp>
        <p:nvSpPr>
          <p:cNvPr id="6" name="Shape 3"/>
          <p:cNvSpPr/>
          <p:nvPr/>
        </p:nvSpPr>
        <p:spPr>
          <a:xfrm>
            <a:off x="566928"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362" name="Shape 40"/>
          <p:cNvSpPr/>
          <p:nvPr/>
        </p:nvSpPr>
        <p:spPr>
          <a:xfrm>
            <a:off x="566928"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3" name="Text 40a"/>
          <p:cNvSpPr/>
          <p:nvPr/>
        </p:nvSpPr>
        <p:spPr>
          <a:xfrm>
            <a:off x="795528"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ISSUANCE  ·  DARREN MARBLE, CEO</a:t>
            </a:r>
            <a:endParaRPr lang="en-US" sz="1000" dirty="0"/>
          </a:p>
        </p:txBody>
      </p:sp>
      <p:sp>
        <p:nvSpPr>
          <p:cNvPr id="364" name="Text 40b"/>
          <p:cNvSpPr/>
          <p:nvPr/>
        </p:nvSpPr>
        <p:spPr>
          <a:xfrm>
            <a:off x="795528"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050" dirty="0"/>
          </a:p>
        </p:txBody>
      </p:sp>
      <p:sp>
        <p:nvSpPr>
          <p:cNvPr id="365" name="Text 40c"/>
          <p:cNvSpPr/>
          <p:nvPr/>
        </p:nvSpPr>
        <p:spPr>
          <a:xfrm>
            <a:off x="795528"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25 QUALIFIED INVESTOR MEETINGS IN 60 DAYS</a:t>
            </a:r>
            <a:endParaRPr lang="en-US" sz="1000" dirty="0"/>
          </a:p>
        </p:txBody>
      </p:sp>
      <p:sp>
        <p:nvSpPr>
          <p:cNvPr id="366" name="Shape 41"/>
          <p:cNvSpPr/>
          <p:nvPr/>
        </p:nvSpPr>
        <p:spPr>
          <a:xfrm>
            <a:off x="4434840"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7" name="Text 41a"/>
          <p:cNvSpPr/>
          <p:nvPr/>
        </p:nvSpPr>
        <p:spPr>
          <a:xfrm>
            <a:off x="4663440"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CARTHAGE CAPITAL  ·  STEPHEN WU</a:t>
            </a:r>
            <a:endParaRPr lang="en-US" sz="1000" dirty="0"/>
          </a:p>
        </p:txBody>
      </p:sp>
      <p:sp>
        <p:nvSpPr>
          <p:cNvPr id="368" name="Text 41b"/>
          <p:cNvSpPr/>
          <p:nvPr/>
        </p:nvSpPr>
        <p:spPr>
          <a:xfrm>
            <a:off x="4663440"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Two to three meetings every week, consistently, and they’re already interested. You delivered way above my expectations.”</a:t>
            </a:r>
            <a:endParaRPr lang="en-US" sz="1050" dirty="0"/>
          </a:p>
        </p:txBody>
      </p:sp>
      <p:sp>
        <p:nvSpPr>
          <p:cNvPr id="369" name="Text 41c"/>
          <p:cNvSpPr/>
          <p:nvPr/>
        </p:nvSpPr>
        <p:spPr>
          <a:xfrm>
            <a:off x="4663440"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$2–3M RAISED  ·  ~20 INVESTORS  ·  9 MONTHS</a:t>
            </a:r>
            <a:endParaRPr lang="en-US" sz="1000" dirty="0"/>
          </a:p>
        </p:txBody>
      </p:sp>
      <p:sp>
        <p:nvSpPr>
          <p:cNvPr id="370" name="Shape 42"/>
          <p:cNvSpPr/>
          <p:nvPr/>
        </p:nvSpPr>
        <p:spPr>
          <a:xfrm>
            <a:off x="8302752"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1" name="Text 42a"/>
          <p:cNvSpPr/>
          <p:nvPr/>
        </p:nvSpPr>
        <p:spPr>
          <a:xfrm>
            <a:off x="8531352"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OPTIONSMD  ·  KYLE PIERCE, CEO</a:t>
            </a:r>
            <a:endParaRPr lang="en-US" sz="1000" dirty="0"/>
          </a:p>
        </p:txBody>
      </p:sp>
      <p:sp>
        <p:nvSpPr>
          <p:cNvPr id="372" name="Text 42b"/>
          <p:cNvSpPr/>
          <p:nvPr/>
        </p:nvSpPr>
        <p:spPr>
          <a:xfrm>
            <a:off x="8531352"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“We’ve had a great experience with the team. The number and relevance of investor connections have grown quickly, and each meeting has proven valuable. We’ve been pleasantly surprised by the unexpected opportunities that have come from them.”</a:t>
            </a:r>
            <a:endParaRPr lang="en-US" sz="1050" dirty="0"/>
          </a:p>
        </p:txBody>
      </p:sp>
      <p:sp>
        <p:nvSpPr>
          <p:cNvPr id="373" name="Text 42c"/>
          <p:cNvSpPr/>
          <p:nvPr/>
        </p:nvSpPr>
        <p:spPr>
          <a:xfrm>
            <a:off x="8531352"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90 MEETINGS IN 3 MONTHS  ·  LATER ACQUIRED</a:t>
            </a:r>
            <a:endParaRPr lang="en-US" sz="1000" dirty="0"/>
          </a:p>
        </p:txBody>
      </p:sp>
      <p:sp>
        <p:nvSpPr>
          <p:cNvPr id="374" name="Shape 50"/>
          <p:cNvSpPr/>
          <p:nvPr/>
        </p:nvSpPr>
        <p:spPr>
          <a:xfrm>
            <a:off x="56692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5" name="Text 50b"/>
          <p:cNvSpPr/>
          <p:nvPr/>
        </p:nvSpPr>
        <p:spPr>
          <a:xfrm>
            <a:off x="79552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“You guys truly exceeded my expectations. Honestly, I viewed it as a $20,000 gamble—like playing blackjack. But ironically, the very first lead you introduced was a solid single, and I was totally blown away.”</a:t>
            </a:r>
            <a:endParaRPr lang="en-US" sz="1000" dirty="0"/>
          </a:p>
        </p:txBody>
      </p:sp>
      <p:sp>
        <p:nvSpPr>
          <p:cNvPr id="376" name="Text 50c"/>
          <p:cNvSpPr/>
          <p:nvPr/>
        </p:nvSpPr>
        <p:spPr>
          <a:xfrm>
            <a:off x="79552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TODD MCALLISTER, CEO, BIOAGE DATA</a:t>
            </a:r>
            <a:endParaRPr lang="en-US" sz="950" dirty="0"/>
          </a:p>
        </p:txBody>
      </p:sp>
      <p:sp>
        <p:nvSpPr>
          <p:cNvPr id="377" name="Shape 51"/>
          <p:cNvSpPr/>
          <p:nvPr/>
        </p:nvSpPr>
        <p:spPr>
          <a:xfrm>
            <a:off x="637336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8" name="Text 51b"/>
          <p:cNvSpPr/>
          <p:nvPr/>
        </p:nvSpPr>
        <p:spPr>
          <a:xfrm>
            <a:off x="660196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“ThinkFISH has consistently provided a steady stream of leads each week—over 20 so far! … Whenever a prospect doesn’t meet our criteria, they immediately remove them, which saves us valuable time.”</a:t>
            </a:r>
            <a:endParaRPr lang="en-US" sz="1000" dirty="0"/>
          </a:p>
        </p:txBody>
      </p:sp>
      <p:sp>
        <p:nvSpPr>
          <p:cNvPr id="379" name="Text 51c"/>
          <p:cNvSpPr/>
          <p:nvPr/>
        </p:nvSpPr>
        <p:spPr>
          <a:xfrm>
            <a:off x="660196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MATT SHIH, CO-FOUNDER &amp; CHIEF DESIGN OFFICER, PAINTBOX LABS</a:t>
            </a:r>
            <a:endParaRPr lang="en-US" sz="950" dirty="0"/>
          </a:p>
        </p:txBody>
      </p:sp>
      <p:sp>
        <p:nvSpPr>
          <p:cNvPr id="21" name="Shape 18"/>
          <p:cNvSpPr/>
          <p:nvPr/>
        </p:nvSpPr>
        <p:spPr>
          <a:xfrm>
            <a:off x="566928" y="6035040"/>
            <a:ext cx="11338560" cy="566928"/>
          </a:xfrm>
          <a:prstGeom prst="roundRect">
            <a:avLst>
              <a:gd name="adj" fmla="val 8182"/>
            </a:avLst>
          </a:prstGeom>
          <a:solidFill>
            <a:srgbClr val="0D0D26">
              <a:alpha val="55000"/>
            </a:srgbClr>
          </a:solidFill>
          <a:ln w="9525">
            <a:solidFill>
              <a:srgbClr val="31316A">
                <a:alpha val="75000"/>
              </a:srgbClr>
            </a:solidFill>
            <a:prstDash val="solid"/>
          </a:ln>
        </p:spPr>
      </p:sp>
      <p:sp>
        <p:nvSpPr>
          <p:cNvPr id="22" name="Text 19"/>
          <p:cNvSpPr/>
          <p:nvPr/>
        </p:nvSpPr>
        <p:spPr>
          <a:xfrm>
            <a:off x="795528" y="6089904"/>
            <a:ext cx="10881360" cy="457200"/>
          </a:xfrm>
          <a:prstGeom prst="rect">
            <a:avLst/>
          </a:prstGeom>
          <a:noFill/>
          <a:ln/>
        </p:spPr>
        <p:txBody>
          <a:bodyPr wrap="square" lIns="0" tIns="0" rIns="0" bIns="0" rtlCol="0" anchor="ctr"/>
          <a:lstStyle/>
          <a:p>
            <a:pPr indent="0" marL="0">
              <a:spcAft>
                <a:spcPts val="600"/>
              </a:spcAft>
              <a:buNone/>
            </a:pPr>
            <a:r>
              <a:rPr lang="en-US" sz="1200" b="1" spc="100" kern="0" dirty="0">
                <a:solidFill>
                  <a:srgbClr val="7C6CFF"/>
                </a:solidFill>
                <a:latin typeface="Arial" pitchFamily="34" charset="0"/>
                <a:ea typeface="Arial" pitchFamily="34" charset="-122"/>
                <a:cs typeface="Arial" pitchFamily="34" charset="-120"/>
              </a:rPr>
              <a:t xml:space="preserve">VIDEO TESTIMONIALS   </a:t>
            </a:r>
            <a:r>
              <a:rPr lang="en-US" sz="1300" dirty="0">
                <a:solidFill>
                  <a:srgbClr val="FFFFFF"/>
                </a:solidFill>
                <a:latin typeface="Arial" pitchFamily="34" charset="0"/>
                <a:ea typeface="Arial" pitchFamily="34" charset="-122"/>
                <a:cs typeface="Arial" pitchFamily="34" charset="-120"/>
              </a:rPr>
              <a:t xml:space="preserve">youtube.com/@thinkFISHLLC/videos</a:t>
            </a:r>
            <a:endParaRPr lang="en-US" sz="1200" dirty="0"/>
          </a:p>
          <a:p>
            <a:pPr indent="0" marL="0">
              <a:buNone/>
            </a:pPr>
            <a:r>
              <a:rPr lang="en-US" sz="1200" b="1" spc="100" kern="0" dirty="0">
                <a:solidFill>
                  <a:srgbClr val="7C6CFF"/>
                </a:solidFill>
                <a:latin typeface="Arial" pitchFamily="34" charset="0"/>
                <a:ea typeface="Arial" pitchFamily="34" charset="-122"/>
                <a:cs typeface="Arial" pitchFamily="34" charset="-120"/>
              </a:rPr>
              <a:t xml:space="preserve">HOW WE DO IT   </a:t>
            </a:r>
            <a:r>
              <a:rPr lang="en-US" sz="1300" dirty="0">
                <a:solidFill>
                  <a:srgbClr val="FFFFFF"/>
                </a:solidFill>
                <a:latin typeface="Arial" pitchFamily="34" charset="0"/>
                <a:ea typeface="Arial" pitchFamily="34" charset="-122"/>
                <a:cs typeface="Arial" pitchFamily="34" charset="-120"/>
              </a:rPr>
              <a:t xml:space="preserve">bit.ly/thinkfish_method</a:t>
            </a:r>
            <a:r>
              <a:rPr lang="en-US" sz="1200" b="1" spc="100" kern="0" dirty="0">
                <a:solidFill>
                  <a:srgbClr val="7C6CFF"/>
                </a:solidFill>
                <a:latin typeface="Arial" pitchFamily="34" charset="0"/>
                <a:ea typeface="Arial" pitchFamily="34" charset="-122"/>
                <a:cs typeface="Arial" pitchFamily="34" charset="-120"/>
              </a:rPr>
              <a:t xml:space="preserve">        WHO WE ARE   </a:t>
            </a:r>
            <a:r>
              <a:rPr lang="en-US" sz="1300" dirty="0">
                <a:solidFill>
                  <a:srgbClr val="FFFFFF"/>
                </a:solidFill>
                <a:latin typeface="Arial" pitchFamily="34" charset="0"/>
                <a:ea typeface="Arial" pitchFamily="34" charset="-122"/>
                <a:cs typeface="Arial" pitchFamily="34" charset="-120"/>
              </a:rPr>
              <a:t xml:space="preserve">bit.ly/thinkfish_VSL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2026-07-20T20:56:15Z</dcterms:created>
  <dcterms:modified xsi:type="dcterms:W3CDTF">2026-07-20T20:56:15Z</dcterms:modified>
</cp:coreProperties>
</file>