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Masters/slideMaster4.xml" ContentType="application/vnd.openxmlformats-officedocument.presentationml.slideMaster+xml"/>
  <Override PartName="/ppt/slideMasters/slideMaster5.xml" ContentType="application/vnd.openxmlformats-officedocument.presentationml.slideMaster+xml"/>
  <Override PartName="/ppt/slideMasters/slideMaster6.xml" ContentType="application/vnd.openxmlformats-officedocument.presentationml.slideMaster+xml"/>
  <Override PartName="/ppt/slideMasters/slideMaster7.xml" ContentType="application/vnd.openxmlformats-officedocument.presentationml.slideMaster+xml"/>
  <Override PartName="/ppt/slideMasters/slideMaster8.xml" ContentType="application/vnd.openxmlformats-officedocument.presentationml.slideMaster+xml"/>
  <Override PartName="/ppt/slideMasters/slideMaster9.xml" ContentType="application/vnd.openxmlformats-officedocument.presentationml.slideMaster+xml"/>
  <Override PartName="/ppt/slideMasters/slideMaster10.xml" ContentType="application/vnd.openxmlformats-officedocument.presentationml.slideMaster+xml"/>
  <Override PartName="/ppt/slideMasters/slideMaster11.xml" ContentType="application/vnd.openxmlformats-officedocument.presentationml.slideMaster+xml"/>
  <Override PartName="/ppt/slideMasters/slideMaster12.xml" ContentType="application/vnd.openxmlformats-officedocument.presentationml.slideMaster+xml"/>
  <Override PartName="/ppt/slideMasters/slideMaster13.xml" ContentType="application/vnd.openxmlformats-officedocument.presentationml.slideMaster+xml"/>
  <Override PartName="/ppt/slideMasters/slideMaster14.xml" ContentType="application/vnd.openxmlformats-officedocument.presentationml.slide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7" r:id="rId101"/>
    <p:sldId id="258" r:id="rId102"/>
    <p:sldId id="259" r:id="rId103"/>
    <p:sldId id="260" r:id="rId104"/>
    <p:sldId id="261" r:id="rId105"/>
    <p:sldId id="262" r:id="rId106"/>
    <p:sldId id="263" r:id="rId107"/>
    <p:sldId id="264" r:id="rId108"/>
    <p:sldId id="265" r:id="rId109"/>
    <p:sldId id="266" r:id="rId110"/>
    <p:sldId id="267" r:id="rId111"/>
    <p:sldId id="268" r:id="rId112"/>
    <p:sldId id="269" r:id="rId113"/>
    <p:sldId id="270" r:id="rId114"/>
    <p:sldId id="271" r:id="rId115"/>
    <p:sldId id="272" r:id="rId116"/>
  </p:sldIdLst>
  <p:notesMasterIdLst>
    <p:notesMasterId r:id="rId16"/>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16" Type="http://schemas.openxmlformats.org/officeDocument/2006/relationships/notesMaster" Target="notesMasters/notesMaster1.xml"/><Relationship Id="rId17" Type="http://schemas.openxmlformats.org/officeDocument/2006/relationships/presProps" Target="presProps.xml"/><Relationship Id="rId18" Type="http://schemas.openxmlformats.org/officeDocument/2006/relationships/viewProps" Target="viewProps.xml"/><Relationship Id="rId19" Type="http://schemas.openxmlformats.org/officeDocument/2006/relationships/theme" Target="theme/theme1.xml"/><Relationship Id="rId20" Type="http://schemas.openxmlformats.org/officeDocument/2006/relationships/tableStyles" Target="tableStyles.xml"/><Relationship Id="rId101" Type="http://schemas.openxmlformats.org/officeDocument/2006/relationships/slide" Target="slides/slide1.xml"/><Relationship Id="rId102" Type="http://schemas.openxmlformats.org/officeDocument/2006/relationships/slide" Target="slides/slide2.xml"/><Relationship Id="rId103" Type="http://schemas.openxmlformats.org/officeDocument/2006/relationships/slide" Target="slides/slide3.xml"/><Relationship Id="rId104" Type="http://schemas.openxmlformats.org/officeDocument/2006/relationships/slide" Target="slides/slide4.xml"/><Relationship Id="rId105" Type="http://schemas.openxmlformats.org/officeDocument/2006/relationships/slide" Target="slides/slide5.xml"/><Relationship Id="rId106" Type="http://schemas.openxmlformats.org/officeDocument/2006/relationships/slide" Target="slides/slide6.xml"/><Relationship Id="rId107" Type="http://schemas.openxmlformats.org/officeDocument/2006/relationships/slide" Target="slides/slide7.xml"/><Relationship Id="rId108" Type="http://schemas.openxmlformats.org/officeDocument/2006/relationships/slide" Target="slides/slide8.xml"/><Relationship Id="rId109" Type="http://schemas.openxmlformats.org/officeDocument/2006/relationships/slide" Target="slides/slide9.xml"/><Relationship Id="rId110" Type="http://schemas.openxmlformats.org/officeDocument/2006/relationships/slide" Target="slides/slide10.xml"/><Relationship Id="rId111" Type="http://schemas.openxmlformats.org/officeDocument/2006/relationships/slide" Target="slides/slide11.xml"/><Relationship Id="rId112" Type="http://schemas.openxmlformats.org/officeDocument/2006/relationships/slide" Target="slides/slide12.xml"/><Relationship Id="rId113" Type="http://schemas.openxmlformats.org/officeDocument/2006/relationships/slide" Target="slides/slide13.xml"/><Relationship Id="rId114" Type="http://schemas.openxmlformats.org/officeDocument/2006/relationships/slide" Target="slides/slide14.xml"/><Relationship Id="rId115" Type="http://schemas.openxmlformats.org/officeDocument/2006/relationships/slide" Target="slides/slide15.xml"/><Relationship Id="rId116" Type="http://schemas.openxmlformats.org/officeDocument/2006/relationships/slide" Target="slides/slide16.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Slide-1-image-1.jpeg"/><Relationship Id="rId2" Type="http://schemas.openxmlformats.org/officeDocument/2006/relationships/image" Target="../media/image-1-2.png"/><Relationship Id="rId3" Type="http://schemas.openxmlformats.org/officeDocument/2006/relationships/slideLayout" Target="../slideLayouts/slideLayout1.xml"/><Relationship Id="rId20" Type="http://schemas.openxmlformats.org/officeDocument/2006/relationships/image" Target="../media/cover_gradient.jpeg"/><Relationship Id="rId21" Type="http://schemas.openxmlformats.org/officeDocument/2006/relationships/image" Target="../media/cover_ribbon.png"/><Relationship Id="rId22" Type="http://schemas.openxmlformats.org/officeDocument/2006/relationships/image" Target="../media/cover_glow.png"/></Relationships>
</file>

<file path=ppt/slides/_rels/slide2.xml.rels><?xml version="1.0" encoding="UTF-8" standalone="yes"?>
<Relationships xmlns="http://schemas.openxmlformats.org/package/2006/relationships"><Relationship Id="rId1" Type="http://schemas.openxmlformats.org/officeDocument/2006/relationships/image" Target="../media/Slide-2-image-1.jpeg"/><Relationship Id="rId2" Type="http://schemas.openxmlformats.org/officeDocument/2006/relationships/image" Target="../media/image-2-2.png"/><Relationship Id="rId3"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1" Type="http://schemas.openxmlformats.org/officeDocument/2006/relationships/image" Target="../media/Slide-14-image-1.jpeg"/><Relationship Id="rId2" Type="http://schemas.openxmlformats.org/officeDocument/2006/relationships/image" Target="../media/image-14-2.png"/><Relationship Id="rId3"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1" Type="http://schemas.openxmlformats.org/officeDocument/2006/relationships/image" Target="../media/Slide-3-image-1.jpeg"/><Relationship Id="rId2" Type="http://schemas.openxmlformats.org/officeDocument/2006/relationships/image" Target="../media/image-3-2.png"/><Relationship Id="rId3"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1" Type="http://schemas.openxmlformats.org/officeDocument/2006/relationships/image" Target="../media/Slide-4-image-1.jpeg"/><Relationship Id="rId2" Type="http://schemas.openxmlformats.org/officeDocument/2006/relationships/image" Target="../media/image-4-2.png"/><Relationship Id="rId3"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1" Type="http://schemas.openxmlformats.org/officeDocument/2006/relationships/image" Target="../media/Slide-2-image-1.jpeg"/><Relationship Id="rId2" Type="http://schemas.openxmlformats.org/officeDocument/2006/relationships/image" Target="../media/image-2-2.png"/><Relationship Id="rId3"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1" Type="http://schemas.openxmlformats.org/officeDocument/2006/relationships/image" Target="../media/Slide-2-image-1.jpeg"/><Relationship Id="rId2" Type="http://schemas.openxmlformats.org/officeDocument/2006/relationships/image" Target="../media/image-2-2.png"/><Relationship Id="rId3"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1" Type="http://schemas.openxmlformats.org/officeDocument/2006/relationships/image" Target="../media/Slide-2-image-1.jpeg"/><Relationship Id="rId2" Type="http://schemas.openxmlformats.org/officeDocument/2006/relationships/image" Target="../media/image-2-2.png"/><Relationship Id="rId3"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1" Type="http://schemas.openxmlformats.org/officeDocument/2006/relationships/image" Target="../media/Slide-12-image-1.jpeg"/><Relationship Id="rId2" Type="http://schemas.openxmlformats.org/officeDocument/2006/relationships/image" Target="../media/image-12-2.png"/><Relationship Id="rId3"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1" Type="http://schemas.openxmlformats.org/officeDocument/2006/relationships/image" Target="../media/Slide-11-image-1.jpeg"/><Relationship Id="rId2" Type="http://schemas.openxmlformats.org/officeDocument/2006/relationships/image" Target="../media/image-11-2.png"/><Relationship Id="rId3"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1" Type="http://schemas.openxmlformats.org/officeDocument/2006/relationships/image" Target="../media/Slide-13-image-1.jpeg"/><Relationship Id="rId2" Type="http://schemas.openxmlformats.org/officeDocument/2006/relationships/image" Target="../media/image-13-2.png"/><Relationship Id="rId3"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1" Type="http://schemas.openxmlformats.org/officeDocument/2006/relationships/image" Target="../media/Slide-2-image-1.jpeg"/><Relationship Id="rId2" Type="http://schemas.openxmlformats.org/officeDocument/2006/relationships/image" Target="../media/image-2-2.png"/><Relationship Id="rId3"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1" Type="http://schemas.openxmlformats.org/officeDocument/2006/relationships/image" Target="../media/Slide-2-image-1.jpeg"/><Relationship Id="rId2" Type="http://schemas.openxmlformats.org/officeDocument/2006/relationships/image" Target="../media/image-2-2.png"/><Relationship Id="rId3"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1" Type="http://schemas.openxmlformats.org/officeDocument/2006/relationships/image" Target="../media/Slide-2-image-1.jpeg"/><Relationship Id="rId2" Type="http://schemas.openxmlformats.org/officeDocument/2006/relationships/image" Target="../media/image-2-2.png"/><Relationship Id="rId3"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1" Type="http://schemas.openxmlformats.org/officeDocument/2006/relationships/image" Target="../media/Slide-12-image-1.jpeg"/><Relationship Id="rId2" Type="http://schemas.openxmlformats.org/officeDocument/2006/relationships/image" Target="../media/image-12-2.png"/><Relationship Id="rId3"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1" Type="http://schemas.openxmlformats.org/officeDocument/2006/relationships/image" Target="../media/Slide-14-image-1.jpeg"/><Relationship Id="rId2" Type="http://schemas.openxmlformats.org/officeDocument/2006/relationships/image" Target="../media/image-14-2.png"/><Relationship Id="rId3"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00000"/>
        </a:solidFill>
        <a:effectLst/>
      </p:bgPr>
    </p:bg>
    <p:spTree>
      <p:nvGrpSpPr>
        <p:cNvPr id="1" name=""/>
        <p:cNvGrpSpPr/>
        <p:nvPr/>
      </p:nvGrpSpPr>
      <p:grpSpPr>
        <a:xfrm>
          <a:off x="0" y="0"/>
          <a:ext cx="0" cy="0"/>
          <a:chOff x="0" y="0"/>
          <a:chExt cx="0" cy="0"/>
        </a:xfrm>
      </p:grpSpPr>
      <p:pic>
        <p:nvPicPr>
          <p:cNvPr id="300" name="Pic ribbon"/>
          <p:cNvPicPr>
            <a:picLocks noChangeAspect="1"/>
          </p:cNvPicPr>
          <p:nvPr/>
        </p:nvPicPr>
        <p:blipFill>
          <a:blip r:embed="rId21"/>
          <a:srcRect b="17691" l="21282"/>
          <a:stretch>
            <a:fillRect/>
          </a:stretch>
        </p:blipFill>
        <p:spPr>
          <a:xfrm>
            <a:off x="0" y="859536"/>
            <a:ext cx="4937760" cy="5998464"/>
          </a:xfrm>
          <a:prstGeom prst="rect">
            <a:avLst/>
          </a:prstGeom>
        </p:spPr>
      </p:pic>
      <p:pic>
        <p:nvPicPr>
          <p:cNvPr id="301" name="Pic gradient"/>
          <p:cNvPicPr>
            <a:picLocks noChangeAspect="1"/>
          </p:cNvPicPr>
          <p:nvPr/>
        </p:nvPicPr>
        <p:blipFill>
          <a:blip r:embed="rId20">
            <a:alphaModFix amt="37000"/>
          </a:blip>
          <a:srcRect l="4900" r="5000"/>
          <a:stretch>
            <a:fillRect/>
          </a:stretch>
        </p:blipFill>
        <p:spPr>
          <a:xfrm>
            <a:off x="4096512" y="841248"/>
            <a:ext cx="8095183" cy="6016752"/>
          </a:xfrm>
          <a:prstGeom prst="rect">
            <a:avLst/>
          </a:prstGeom>
        </p:spPr>
      </p:pic>
      <p:pic>
        <p:nvPicPr>
          <p:cNvPr id="302" name="Pic glow"/>
          <p:cNvPicPr>
            <a:picLocks noChangeAspect="1"/>
          </p:cNvPicPr>
          <p:nvPr/>
        </p:nvPicPr>
        <p:blipFill>
          <a:blip r:embed="rId22"/>
          <a:srcRect b="21079" l="72900" r="0"/>
          <a:stretch>
            <a:fillRect/>
          </a:stretch>
        </p:blipFill>
        <p:spPr>
          <a:xfrm>
            <a:off x="4096512" y="1106424"/>
            <a:ext cx="1700784" cy="5751576"/>
          </a:xfrm>
          <a:prstGeom prst="rect">
            <a:avLst/>
          </a:prstGeom>
        </p:spPr>
      </p:pic>
      <p:pic>
        <p:nvPicPr>
          <p:cNvPr id="2" name="Image 0" descr="/home/claude/brand/clean/logo_large.png">    </p:cNvPr>
          <p:cNvPicPr>
            <a:picLocks noChangeAspect="1"/>
          </p:cNvPicPr>
          <p:nvPr/>
        </p:nvPicPr>
        <p:blipFill>
          <a:blip r:embed="rId2"/>
          <a:stretch>
            <a:fillRect/>
          </a:stretch>
        </p:blipFill>
        <p:spPr>
          <a:xfrm>
            <a:off x="6818224" y="1280160"/>
            <a:ext cx="2651760" cy="1664208"/>
          </a:xfrm>
          <a:prstGeom prst="rect">
            <a:avLst/>
          </a:prstGeom>
        </p:spPr>
      </p:pic>
      <p:sp>
        <p:nvSpPr>
          <p:cNvPr id="3" name="Text 0"/>
          <p:cNvSpPr/>
          <p:nvPr/>
        </p:nvSpPr>
        <p:spPr>
          <a:xfrm>
            <a:off x="4370832" y="3108960"/>
            <a:ext cx="7546543" cy="868680"/>
          </a:xfrm>
          <a:prstGeom prst="rect">
            <a:avLst/>
          </a:prstGeom>
          <a:noFill/>
          <a:ln/>
        </p:spPr>
        <p:txBody>
          <a:bodyPr wrap="square" lIns="0" tIns="0" rIns="0" bIns="0" rtlCol="0" anchor="ctr"/>
          <a:lstStyle/>
          <a:p>
            <a:pPr algn="ctr" indent="0" marL="0">
              <a:buNone/>
            </a:pPr>
            <a:r>
              <a:rPr lang="en-US" sz="5400" b="1" dirty="0">
                <a:solidFill>
                  <a:srgbClr val="FFFFFF"/>
                </a:solidFill>
                <a:latin typeface="Arial" pitchFamily="34" charset="0"/>
                <a:ea typeface="Arial" pitchFamily="34" charset="-122"/>
                <a:cs typeface="Arial" pitchFamily="34" charset="-120"/>
              </a:rPr>
              <a:t>ThinkFISH</a:t>
            </a:r>
            <a:endParaRPr lang="en-US" sz="5400" dirty="0"/>
          </a:p>
        </p:txBody>
      </p:sp>
      <p:sp>
        <p:nvSpPr>
          <p:cNvPr id="4" name="Text 1"/>
          <p:cNvSpPr/>
          <p:nvPr/>
        </p:nvSpPr>
        <p:spPr>
          <a:xfrm>
            <a:off x="4370832" y="3977640"/>
            <a:ext cx="7546543" cy="320040"/>
          </a:xfrm>
          <a:prstGeom prst="rect">
            <a:avLst/>
          </a:prstGeom>
          <a:noFill/>
          <a:ln/>
        </p:spPr>
        <p:txBody>
          <a:bodyPr wrap="square" lIns="0" tIns="0" rIns="0" bIns="0" rtlCol="0" anchor="ctr"/>
          <a:lstStyle/>
          <a:p>
            <a:pPr algn="ctr" indent="0" marL="0">
              <a:buNone/>
            </a:pPr>
            <a:r>
              <a:rPr lang="en-US" sz="1800" b="1" spc="300" kern="0" dirty="0">
                <a:solidFill>
                  <a:srgbClr val="FFFFFF"/>
                </a:solidFill>
                <a:latin typeface="Arial" pitchFamily="34" charset="0"/>
                <a:ea typeface="Arial" pitchFamily="34" charset="-122"/>
                <a:cs typeface="Arial" pitchFamily="34" charset="-120"/>
              </a:rPr>
              <a:t>&lt;&gt;&lt;</a:t>
            </a:r>
            <a:endParaRPr lang="en-US" sz="1800" dirty="0"/>
          </a:p>
        </p:txBody>
      </p:sp>
      <p:sp>
        <p:nvSpPr>
          <p:cNvPr id="5" name="Text 2"/>
          <p:cNvSpPr/>
          <p:nvPr/>
        </p:nvSpPr>
        <p:spPr>
          <a:xfrm>
            <a:off x="4370832" y="4407408"/>
            <a:ext cx="7546543" cy="502920"/>
          </a:xfrm>
          <a:prstGeom prst="rect">
            <a:avLst/>
          </a:prstGeom>
          <a:noFill/>
          <a:ln/>
        </p:spPr>
        <p:txBody>
          <a:bodyPr wrap="square" lIns="0" tIns="0" rIns="0" bIns="0" rtlCol="0" anchor="ctr"/>
          <a:lstStyle/>
          <a:p>
            <a:pPr algn="ctr" indent="0" marL="0">
              <a:buNone/>
            </a:pPr>
            <a:r>
              <a:rPr lang="en-US" sz="2800" dirty="0">
                <a:solidFill>
                  <a:srgbClr val="FFFFFF"/>
                </a:solidFill>
                <a:latin typeface="Arial" pitchFamily="34" charset="0"/>
                <a:ea typeface="Arial" pitchFamily="34" charset="-122"/>
                <a:cs typeface="Arial" pitchFamily="34" charset="-120"/>
              </a:rPr>
              <a:t>Heather Properties</a:t>
            </a:r>
            <a:endParaRPr lang="en-US" sz="2800" dirty="0"/>
          </a:p>
        </p:txBody>
      </p:sp>
      <p:sp>
        <p:nvSpPr>
          <p:cNvPr id="6" name="Text 3"/>
          <p:cNvSpPr/>
          <p:nvPr/>
        </p:nvSpPr>
        <p:spPr>
          <a:xfrm>
            <a:off x="4370832" y="5074920"/>
            <a:ext cx="7546543" cy="640080"/>
          </a:xfrm>
          <a:prstGeom prst="rect">
            <a:avLst/>
          </a:prstGeom>
          <a:noFill/>
          <a:ln/>
        </p:spPr>
        <p:txBody>
          <a:bodyPr wrap="square" lIns="0" tIns="0" rIns="0" bIns="0" rtlCol="0" anchor="ctr"/>
          <a:lstStyle/>
          <a:p>
            <a:pPr algn="ctr" indent="0" marL="0">
              <a:buNone/>
            </a:pPr>
            <a:r>
              <a:rPr lang="en-US" sz="1300" dirty="0">
                <a:solidFill>
                  <a:srgbClr val="B9BEDC"/>
                </a:solidFill>
                <a:latin typeface="Arial" pitchFamily="34" charset="0"/>
                <a:ea typeface="Arial" pitchFamily="34" charset="-122"/>
                <a:cs typeface="Arial" pitchFamily="34" charset="-120"/>
              </a:rPr>
              <a:t>Investor Outreach Proposal  ·  October 2026</a:t>
            </a:r>
            <a:endParaRPr lang="en-US" sz="1300" dirty="0"/>
          </a:p>
          <a:p>
            <a:pPr algn="ctr" indent="0" marL="0">
              <a:buNone/>
            </a:pPr>
            <a:r>
              <a:rPr lang="en-US" sz="1300" dirty="0">
                <a:solidFill>
                  <a:srgbClr val="B9BEDC"/>
                </a:solidFill>
                <a:latin typeface="Arial" pitchFamily="34" charset="0"/>
                <a:ea typeface="Arial" pitchFamily="34" charset="-122"/>
                <a:cs typeface="Arial" pitchFamily="34" charset="-120"/>
              </a:rPr>
              <a:t>Prepared for Ted Johnson, Jesse Glommen &amp; Hector Figueroa Giraud</a:t>
            </a:r>
            <a:endParaRPr lang="en-US" sz="1300" dirty="0"/>
          </a:p>
        </p:txBody>
      </p:sp>
      <p:sp>
        <p:nvSpPr>
          <p:cNvPr id="303" name="Text hdr"/>
          <p:cNvSpPr/>
          <p:nvPr/>
        </p:nvSpPr>
        <p:spPr>
          <a:xfrm>
            <a:off x="329184" y="365760"/>
            <a:ext cx="5486400" cy="365760"/>
          </a:xfrm>
          <a:prstGeom prst="rect">
            <a:avLst/>
          </a:prstGeom>
          <a:noFill/>
          <a:ln/>
        </p:spPr>
        <p:txBody>
          <a:bodyPr wrap="square" lIns="0" tIns="0" rIns="0" bIns="0" rtlCol="0" anchor="ctr"/>
          <a:lstStyle/>
          <a:p>
            <a:pPr indent="0" marL="0">
              <a:buNone/>
            </a:pPr>
            <a:r>
              <a:rPr lang="en-US" sz="1500" spc="200" kern="0" dirty="0">
                <a:solidFill>
                  <a:srgbClr val="FFFFFF"/>
                </a:solidFill>
                <a:latin typeface="Arial" pitchFamily="34" charset="0"/>
                <a:ea typeface="Arial" pitchFamily="34" charset="-122"/>
                <a:cs typeface="Arial" pitchFamily="34" charset="-120"/>
              </a:rPr>
              <a:t>THINKFISH LLC 2026</a:t>
            </a:r>
            <a:endParaRPr lang="en-US" sz="15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pic>
        <p:nvPicPr>
          <p:cNvPr id="2" name="Image 0" descr="/home/claude/brand/clean/logo_header.png">    </p:cNvPr>
          <p:cNvPicPr>
            <a:picLocks noChangeAspect="1"/>
          </p:cNvPicPr>
          <p:nvPr/>
        </p:nvPicPr>
        <p:blipFill>
          <a:blip r:embed="rId2"/>
          <a:stretch>
            <a:fillRect/>
          </a:stretch>
        </p:blipFill>
        <p:spPr>
          <a:xfrm>
            <a:off x="411480" y="164592"/>
            <a:ext cx="850392" cy="530352"/>
          </a:xfrm>
          <a:prstGeom prst="rect">
            <a:avLst/>
          </a:prstGeom>
        </p:spPr>
      </p:pic>
      <p:sp>
        <p:nvSpPr>
          <p:cNvPr id="3" name="Text 0"/>
          <p:cNvSpPr/>
          <p:nvPr/>
        </p:nvSpPr>
        <p:spPr>
          <a:xfrm>
            <a:off x="1417320" y="201168"/>
            <a:ext cx="4114800" cy="457200"/>
          </a:xfrm>
          <a:prstGeom prst="rect">
            <a:avLst/>
          </a:prstGeom>
          <a:noFill/>
          <a:ln/>
        </p:spPr>
        <p:txBody>
          <a:bodyPr wrap="square" lIns="0" tIns="0" rIns="0" bIns="0" rtlCol="0" anchor="ctr"/>
          <a:lstStyle/>
          <a:p>
            <a:pPr indent="0" marL="0">
              <a:buNone/>
            </a:pPr>
            <a:r>
              <a:rPr lang="en-US" sz="1300" spc="200" kern="0" dirty="0">
                <a:solidFill>
                  <a:srgbClr val="FFFFFF"/>
                </a:solidFill>
                <a:latin typeface="Arial" pitchFamily="34" charset="0"/>
                <a:ea typeface="Arial" pitchFamily="34" charset="-122"/>
                <a:cs typeface="Arial" pitchFamily="34" charset="-120"/>
              </a:rPr>
              <a:t>THINKFISH LLC 2026</a:t>
            </a:r>
            <a:endParaRPr lang="en-US" sz="1300" dirty="0"/>
          </a:p>
        </p:txBody>
      </p:sp>
      <p:sp>
        <p:nvSpPr>
          <p:cNvPr id="4" name="Text 1"/>
          <p:cNvSpPr/>
          <p:nvPr/>
        </p:nvSpPr>
        <p:spPr>
          <a:xfrm>
            <a:off x="566928" y="868680"/>
            <a:ext cx="11155680" cy="777240"/>
          </a:xfrm>
          <a:prstGeom prst="rect">
            <a:avLst/>
          </a:prstGeom>
          <a:noFill/>
          <a:ln/>
        </p:spPr>
        <p:txBody>
          <a:bodyPr wrap="square" lIns="0" tIns="0" rIns="0" bIns="0" rtlCol="0" anchor="ctr"/>
          <a:lstStyle/>
          <a:p>
            <a:pPr indent="0" marL="0">
              <a:buNone/>
            </a:pPr>
            <a:r>
              <a:rPr lang="en-US" sz="3800" b="1" dirty="0">
                <a:solidFill>
                  <a:srgbClr val="FFFFFF"/>
                </a:solidFill>
                <a:latin typeface="Arial" pitchFamily="34" charset="0"/>
                <a:ea typeface="Arial" pitchFamily="34" charset="-122"/>
                <a:cs typeface="Arial" pitchFamily="34" charset="-120"/>
              </a:rPr>
              <a:t>Executive Summary</a:t>
            </a:r>
            <a:endParaRPr lang="en-US" sz="3800" dirty="0"/>
          </a:p>
        </p:txBody>
      </p:sp>
      <p:sp>
        <p:nvSpPr>
          <p:cNvPr id="5" name="Text 2"/>
          <p:cNvSpPr/>
          <p:nvPr/>
        </p:nvSpPr>
        <p:spPr>
          <a:xfrm>
            <a:off x="594360" y="1481328"/>
            <a:ext cx="11155680" cy="320040"/>
          </a:xfrm>
          <a:prstGeom prst="rect">
            <a:avLst/>
          </a:prstGeom>
          <a:noFill/>
          <a:ln/>
        </p:spPr>
        <p:txBody>
          <a:bodyPr wrap="square" lIns="0" tIns="0" rIns="0" bIns="0" rtlCol="0" anchor="ctr"/>
          <a:lstStyle/>
          <a:p>
            <a:pPr indent="0" marL="0">
              <a:buNone/>
            </a:pPr>
            <a:r>
              <a:rPr lang="en-US" sz="1400" b="1" spc="100" kern="0" dirty="0">
                <a:solidFill>
                  <a:srgbClr val="43D5FF"/>
                </a:solidFill>
                <a:latin typeface="Arial" pitchFamily="34" charset="0"/>
                <a:ea typeface="Arial" pitchFamily="34" charset="-122"/>
                <a:cs typeface="Arial" pitchFamily="34" charset="-120"/>
              </a:rPr>
              <a:t>THE ASK, THE PLAN, THE INVESTMENT, WHAT TO EXPECT</a:t>
            </a:r>
            <a:endParaRPr lang="en-US" sz="1400" dirty="0"/>
          </a:p>
        </p:txBody>
      </p:sp>
      <p:sp>
        <p:nvSpPr>
          <p:cNvPr id="6" name="Shape 3"/>
          <p:cNvSpPr/>
          <p:nvPr/>
        </p:nvSpPr>
        <p:spPr>
          <a:xfrm>
            <a:off x="566928" y="2121408"/>
            <a:ext cx="3593592" cy="2331720"/>
          </a:xfrm>
          <a:prstGeom prst="roundRect">
            <a:avLst>
              <a:gd name="adj" fmla="val 3529"/>
            </a:avLst>
          </a:prstGeom>
          <a:solidFill>
            <a:srgbClr val="0D0D26">
              <a:alpha val="55000"/>
            </a:srgbClr>
          </a:solidFill>
          <a:ln w="9525">
            <a:solidFill>
              <a:srgbClr val="31316A">
                <a:alpha val="75000"/>
              </a:srgbClr>
            </a:solidFill>
            <a:prstDash val="solid"/>
          </a:ln>
        </p:spPr>
      </p:sp>
      <p:sp>
        <p:nvSpPr>
          <p:cNvPr id="7" name="Text 4"/>
          <p:cNvSpPr/>
          <p:nvPr/>
        </p:nvSpPr>
        <p:spPr>
          <a:xfrm>
            <a:off x="795528" y="2304288"/>
            <a:ext cx="3136392" cy="320040"/>
          </a:xfrm>
          <a:prstGeom prst="rect">
            <a:avLst/>
          </a:prstGeom>
          <a:noFill/>
          <a:ln/>
        </p:spPr>
        <p:txBody>
          <a:bodyPr wrap="square" lIns="0" tIns="0" rIns="0" bIns="0" rtlCol="0" anchor="ctr"/>
          <a:lstStyle/>
          <a:p>
            <a:pPr indent="0" marL="0">
              <a:buNone/>
            </a:pPr>
            <a:r>
              <a:rPr lang="en-US" sz="1400" b="1" spc="100" kern="0" dirty="0">
                <a:solidFill>
                  <a:srgbClr val="43D5FF"/>
                </a:solidFill>
                <a:latin typeface="Arial" pitchFamily="34" charset="0"/>
                <a:ea typeface="Arial" pitchFamily="34" charset="-122"/>
                <a:cs typeface="Arial" pitchFamily="34" charset="-120"/>
              </a:rPr>
              <a:t>THE GOAL</a:t>
            </a:r>
            <a:endParaRPr lang="en-US" sz="1400" dirty="0"/>
          </a:p>
        </p:txBody>
      </p:sp>
      <p:sp>
        <p:nvSpPr>
          <p:cNvPr id="8" name="Text 5"/>
          <p:cNvSpPr/>
          <p:nvPr/>
        </p:nvSpPr>
        <p:spPr>
          <a:xfrm>
            <a:off x="795528" y="2651760"/>
            <a:ext cx="3136392" cy="1600200"/>
          </a:xfrm>
          <a:prstGeom prst="rect">
            <a:avLst/>
          </a:prstGeom>
          <a:noFill/>
          <a:ln/>
        </p:spPr>
        <p:txBody>
          <a:bodyPr wrap="square" lIns="0" tIns="0" rIns="0" bIns="0" rtlCol="0" anchor="t"/>
          <a:lstStyle/>
          <a:p>
            <a:pPr indent="0" marL="0">
              <a:lnSpc>
                <a:spcPct val="115000"/>
              </a:lnSpc>
              <a:buNone/>
            </a:pPr>
            <a:r>
              <a:rPr lang="en-US" sz="1050" dirty="0">
                <a:solidFill>
                  <a:srgbClr val="FFFFFF"/>
                </a:solidFill>
                <a:latin typeface="Arial" pitchFamily="34" charset="0"/>
                <a:ea typeface="Arial" pitchFamily="34" charset="-122"/>
                <a:cs typeface="Arial" pitchFamily="34" charset="-120"/>
              </a:rPr>
              <a:t>A repeatable, scalable way to fill the Heather Properties fund beyond friends, family and the country-club network. You could absorb $30M a year; the plan is to grow incrementally with the book, aiming for 6–10 aligned investors writing $150K+ checks rather than 30–50 small ones, on an 8%, three-year, interest-only note.</a:t>
            </a:r>
            <a:endParaRPr lang="en-US" sz="1050" dirty="0"/>
          </a:p>
        </p:txBody>
      </p:sp>
      <p:sp>
        <p:nvSpPr>
          <p:cNvPr id="9" name="Shape 6"/>
          <p:cNvSpPr/>
          <p:nvPr/>
        </p:nvSpPr>
        <p:spPr>
          <a:xfrm>
            <a:off x="4434840" y="2121408"/>
            <a:ext cx="3593592" cy="2331720"/>
          </a:xfrm>
          <a:prstGeom prst="roundRect">
            <a:avLst>
              <a:gd name="adj" fmla="val 3529"/>
            </a:avLst>
          </a:prstGeom>
          <a:solidFill>
            <a:srgbClr val="0D0D26">
              <a:alpha val="55000"/>
            </a:srgbClr>
          </a:solidFill>
          <a:ln w="9525">
            <a:solidFill>
              <a:srgbClr val="31316A">
                <a:alpha val="75000"/>
              </a:srgbClr>
            </a:solidFill>
            <a:prstDash val="solid"/>
          </a:ln>
        </p:spPr>
      </p:sp>
      <p:sp>
        <p:nvSpPr>
          <p:cNvPr id="10" name="Text 7"/>
          <p:cNvSpPr/>
          <p:nvPr/>
        </p:nvSpPr>
        <p:spPr>
          <a:xfrm>
            <a:off x="4663440" y="2304288"/>
            <a:ext cx="3136392" cy="320040"/>
          </a:xfrm>
          <a:prstGeom prst="rect">
            <a:avLst/>
          </a:prstGeom>
          <a:noFill/>
          <a:ln/>
        </p:spPr>
        <p:txBody>
          <a:bodyPr wrap="square" lIns="0" tIns="0" rIns="0" bIns="0" rtlCol="0" anchor="ctr"/>
          <a:lstStyle/>
          <a:p>
            <a:pPr indent="0" marL="0">
              <a:buNone/>
            </a:pPr>
            <a:r>
              <a:rPr lang="en-US" sz="1400" b="1" spc="100" kern="0" dirty="0">
                <a:solidFill>
                  <a:srgbClr val="43D5FF"/>
                </a:solidFill>
                <a:latin typeface="Arial" pitchFamily="34" charset="0"/>
                <a:ea typeface="Arial" pitchFamily="34" charset="-122"/>
                <a:cs typeface="Arial" pitchFamily="34" charset="-120"/>
              </a:rPr>
              <a:t>THE PLAN</a:t>
            </a:r>
            <a:endParaRPr lang="en-US" sz="1400" dirty="0"/>
          </a:p>
        </p:txBody>
      </p:sp>
      <p:sp>
        <p:nvSpPr>
          <p:cNvPr id="11" name="Text 8"/>
          <p:cNvSpPr/>
          <p:nvPr/>
        </p:nvSpPr>
        <p:spPr>
          <a:xfrm>
            <a:off x="4663440" y="2651760"/>
            <a:ext cx="3136392" cy="1600200"/>
          </a:xfrm>
          <a:prstGeom prst="rect">
            <a:avLst/>
          </a:prstGeom>
          <a:noFill/>
          <a:ln/>
        </p:spPr>
        <p:txBody>
          <a:bodyPr wrap="square" lIns="0" tIns="0" rIns="0" bIns="0" rtlCol="0" anchor="t"/>
          <a:lstStyle/>
          <a:p>
            <a:pPr indent="0" marL="0">
              <a:lnSpc>
                <a:spcPct val="115000"/>
              </a:lnSpc>
              <a:buNone/>
            </a:pPr>
            <a:r>
              <a:rPr lang="en-US" sz="1050" dirty="0">
                <a:solidFill>
                  <a:srgbClr val="FFFFFF"/>
                </a:solidFill>
                <a:latin typeface="Arial" pitchFamily="34" charset="0"/>
                <a:ea typeface="Arial" pitchFamily="34" charset="-122"/>
                <a:cs typeface="Arial" pitchFamily="34" charset="-120"/>
              </a:rPr>
              <a:t>Three LinkedIn profiles (Ted, Jesse and Hector), run end to end by ThinkFISH in your voice. We target mission-aligned, accredited real estate investors who already write $150K–$500K checks, starting with our vetted investor database, then new 2nd- and 3rd-degree connections. You approve every meeting and run every close.</a:t>
            </a:r>
            <a:endParaRPr lang="en-US" sz="1050" dirty="0"/>
          </a:p>
        </p:txBody>
      </p:sp>
      <p:sp>
        <p:nvSpPr>
          <p:cNvPr id="12" name="Shape 9"/>
          <p:cNvSpPr/>
          <p:nvPr/>
        </p:nvSpPr>
        <p:spPr>
          <a:xfrm>
            <a:off x="8302752" y="2121408"/>
            <a:ext cx="3593592" cy="2331720"/>
          </a:xfrm>
          <a:prstGeom prst="roundRect">
            <a:avLst>
              <a:gd name="adj" fmla="val 3529"/>
            </a:avLst>
          </a:prstGeom>
          <a:solidFill>
            <a:srgbClr val="0D0D26">
              <a:alpha val="55000"/>
            </a:srgbClr>
          </a:solidFill>
          <a:ln w="9525">
            <a:solidFill>
              <a:srgbClr val="31316A">
                <a:alpha val="75000"/>
              </a:srgbClr>
            </a:solidFill>
            <a:prstDash val="solid"/>
          </a:ln>
        </p:spPr>
      </p:sp>
      <p:sp>
        <p:nvSpPr>
          <p:cNvPr id="13" name="Text 10"/>
          <p:cNvSpPr/>
          <p:nvPr/>
        </p:nvSpPr>
        <p:spPr>
          <a:xfrm>
            <a:off x="8531352" y="2304288"/>
            <a:ext cx="3136392" cy="320040"/>
          </a:xfrm>
          <a:prstGeom prst="rect">
            <a:avLst/>
          </a:prstGeom>
          <a:noFill/>
          <a:ln/>
        </p:spPr>
        <p:txBody>
          <a:bodyPr wrap="square" lIns="0" tIns="0" rIns="0" bIns="0" rtlCol="0" anchor="ctr"/>
          <a:lstStyle/>
          <a:p>
            <a:pPr indent="0" marL="0">
              <a:buNone/>
            </a:pPr>
            <a:r>
              <a:rPr lang="en-US" sz="1400" b="1" spc="100" kern="0" dirty="0">
                <a:solidFill>
                  <a:srgbClr val="43D5FF"/>
                </a:solidFill>
                <a:latin typeface="Arial" pitchFamily="34" charset="0"/>
                <a:ea typeface="Arial" pitchFamily="34" charset="-122"/>
                <a:cs typeface="Arial" pitchFamily="34" charset="-120"/>
              </a:rPr>
              <a:t>THE INVESTMENT</a:t>
            </a:r>
            <a:endParaRPr lang="en-US" sz="1400" dirty="0"/>
          </a:p>
        </p:txBody>
      </p:sp>
      <p:sp>
        <p:nvSpPr>
          <p:cNvPr id="14" name="Text 11"/>
          <p:cNvSpPr/>
          <p:nvPr/>
        </p:nvSpPr>
        <p:spPr>
          <a:xfrm>
            <a:off x="8531352" y="2651760"/>
            <a:ext cx="3136392" cy="1600200"/>
          </a:xfrm>
          <a:prstGeom prst="rect">
            <a:avLst/>
          </a:prstGeom>
          <a:noFill/>
          <a:ln/>
        </p:spPr>
        <p:txBody>
          <a:bodyPr wrap="square" lIns="0" tIns="0" rIns="0" bIns="0" rtlCol="0" anchor="t"/>
          <a:lstStyle/>
          <a:p>
            <a:pPr indent="0" marL="0">
              <a:lnSpc>
                <a:spcPct val="115000"/>
              </a:lnSpc>
              <a:buNone/>
            </a:pPr>
            <a:r>
              <a:rPr lang="en-US" sz="1050" dirty="0">
                <a:solidFill>
                  <a:srgbClr val="FFFFFF"/>
                </a:solidFill>
                <a:latin typeface="Arial" pitchFamily="34" charset="0"/>
                <a:ea typeface="Arial" pitchFamily="34" charset="-122"/>
                <a:cs typeface="Arial" pitchFamily="34" charset="-120"/>
              </a:rPr>
              <a:t>$3,000 per month for all three profiles, if signed by October 31 (list price $4,000 for three). Four-month initial term. No setup fee, no success fee, no commission, no transaction involvement.</a:t>
            </a:r>
            <a:endParaRPr lang="en-US" sz="1050" dirty="0"/>
          </a:p>
        </p:txBody>
      </p:sp>
      <p:sp>
        <p:nvSpPr>
          <p:cNvPr id="15" name="Shape 12"/>
          <p:cNvSpPr/>
          <p:nvPr/>
        </p:nvSpPr>
        <p:spPr>
          <a:xfrm>
            <a:off x="566928" y="4663440"/>
            <a:ext cx="11338560" cy="1691640"/>
          </a:xfrm>
          <a:prstGeom prst="roundRect">
            <a:avLst>
              <a:gd name="adj" fmla="val 4865"/>
            </a:avLst>
          </a:prstGeom>
          <a:solidFill>
            <a:srgbClr val="0D0D26">
              <a:alpha val="55000"/>
            </a:srgbClr>
          </a:solidFill>
          <a:ln w="9525">
            <a:solidFill>
              <a:srgbClr val="31316A">
                <a:alpha val="75000"/>
              </a:srgbClr>
            </a:solidFill>
            <a:prstDash val="solid"/>
          </a:ln>
        </p:spPr>
      </p:sp>
      <p:sp>
        <p:nvSpPr>
          <p:cNvPr id="16" name="Text 13"/>
          <p:cNvSpPr/>
          <p:nvPr/>
        </p:nvSpPr>
        <p:spPr>
          <a:xfrm>
            <a:off x="795528" y="4828032"/>
            <a:ext cx="8229600" cy="320040"/>
          </a:xfrm>
          <a:prstGeom prst="rect">
            <a:avLst/>
          </a:prstGeom>
          <a:noFill/>
          <a:ln/>
        </p:spPr>
        <p:txBody>
          <a:bodyPr wrap="square" lIns="0" tIns="0" rIns="0" bIns="0" rtlCol="0" anchor="ctr"/>
          <a:lstStyle/>
          <a:p>
            <a:pPr indent="0" marL="0">
              <a:buNone/>
            </a:pPr>
            <a:r>
              <a:rPr lang="en-US" sz="1400" b="1" spc="100" kern="0" dirty="0">
                <a:solidFill>
                  <a:srgbClr val="7C6CFF"/>
                </a:solidFill>
                <a:latin typeface="Arial" pitchFamily="34" charset="0"/>
                <a:ea typeface="Arial" pitchFamily="34" charset="-122"/>
                <a:cs typeface="Arial" pitchFamily="34" charset="-120"/>
              </a:rPr>
              <a:t>WHAT TO EXPECT</a:t>
            </a:r>
            <a:endParaRPr lang="en-US" sz="1400" dirty="0"/>
          </a:p>
        </p:txBody>
      </p:sp>
      <p:sp>
        <p:nvSpPr>
          <p:cNvPr id="17" name="Text 14"/>
          <p:cNvSpPr/>
          <p:nvPr/>
        </p:nvSpPr>
        <p:spPr>
          <a:xfrm>
            <a:off x="795528" y="5175504"/>
            <a:ext cx="10881360" cy="1051560"/>
          </a:xfrm>
          <a:prstGeom prst="rect">
            <a:avLst/>
          </a:prstGeom>
          <a:noFill/>
          <a:ln/>
        </p:spPr>
        <p:txBody>
          <a:bodyPr wrap="square" lIns="0" tIns="0" rIns="0" bIns="0" rtlCol="0" anchor="t"/>
          <a:lstStyle/>
          <a:p>
            <a:pPr indent="0" marL="0">
              <a:lnSpc>
                <a:spcPct val="120000"/>
              </a:lnSpc>
              <a:buNone/>
            </a:pPr>
            <a:r>
              <a:rPr lang="en-US" sz="1200" dirty="0">
                <a:solidFill>
                  <a:srgbClr val="FFFFFF"/>
                </a:solidFill>
                <a:latin typeface="Arial" pitchFamily="34" charset="0"/>
                <a:ea typeface="Arial" pitchFamily="34" charset="-122"/>
                <a:cs typeface="Arial" pitchFamily="34" charset="-120"/>
              </a:rPr>
              <a:t>Ted’s and Jesse’s profiles go live within two weeks of kickoff, with first qualified investor conversations in weeks three and four. Hector’s profile is built up to 500+ connections during month one and joins full outreach in month two, taking the campaign to 3–6 qualified meetings per week across all three. One honest note: investors who don’t know you yet take longer than your network does. Budget 6–12 months from first outreach to capital committed at scale. We would rather you hear that from us now.</a:t>
            </a:r>
            <a:endParaRPr lang="en-US" sz="12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pic>
        <p:nvPicPr>
          <p:cNvPr id="2" name="Image 0" descr="/home/claude/brand/clean/logo_header.png">    </p:cNvPr>
          <p:cNvPicPr>
            <a:picLocks noChangeAspect="1"/>
          </p:cNvPicPr>
          <p:nvPr/>
        </p:nvPicPr>
        <p:blipFill>
          <a:blip r:embed="rId2"/>
          <a:stretch>
            <a:fillRect/>
          </a:stretch>
        </p:blipFill>
        <p:spPr>
          <a:xfrm>
            <a:off x="411480" y="164592"/>
            <a:ext cx="850392" cy="530352"/>
          </a:xfrm>
          <a:prstGeom prst="rect">
            <a:avLst/>
          </a:prstGeom>
        </p:spPr>
      </p:pic>
      <p:sp>
        <p:nvSpPr>
          <p:cNvPr id="3" name="Text 0"/>
          <p:cNvSpPr/>
          <p:nvPr/>
        </p:nvSpPr>
        <p:spPr>
          <a:xfrm>
            <a:off x="1417320" y="201168"/>
            <a:ext cx="4114800" cy="457200"/>
          </a:xfrm>
          <a:prstGeom prst="rect">
            <a:avLst/>
          </a:prstGeom>
          <a:noFill/>
          <a:ln/>
        </p:spPr>
        <p:txBody>
          <a:bodyPr wrap="square" lIns="0" tIns="0" rIns="0" bIns="0" rtlCol="0" anchor="ctr"/>
          <a:lstStyle/>
          <a:p>
            <a:pPr indent="0" marL="0">
              <a:buNone/>
            </a:pPr>
            <a:r>
              <a:rPr lang="en-US" sz="1300" spc="200" kern="0" dirty="0">
                <a:solidFill>
                  <a:srgbClr val="FFFFFF"/>
                </a:solidFill>
                <a:latin typeface="Arial" pitchFamily="34" charset="0"/>
                <a:ea typeface="Arial" pitchFamily="34" charset="-122"/>
                <a:cs typeface="Arial" pitchFamily="34" charset="-120"/>
              </a:rPr>
              <a:t>THINKFISH LLC 2026</a:t>
            </a:r>
            <a:endParaRPr lang="en-US" sz="1300" dirty="0"/>
          </a:p>
        </p:txBody>
      </p:sp>
      <p:sp>
        <p:nvSpPr>
          <p:cNvPr id="4" name="Text 1"/>
          <p:cNvSpPr/>
          <p:nvPr/>
        </p:nvSpPr>
        <p:spPr>
          <a:xfrm>
            <a:off x="566928" y="868680"/>
            <a:ext cx="11155680" cy="777240"/>
          </a:xfrm>
          <a:prstGeom prst="rect">
            <a:avLst/>
          </a:prstGeom>
          <a:noFill/>
          <a:ln/>
        </p:spPr>
        <p:txBody>
          <a:bodyPr wrap="square" lIns="0" tIns="0" rIns="0" bIns="0" rtlCol="0" anchor="ctr"/>
          <a:lstStyle/>
          <a:p>
            <a:pPr indent="0" marL="0">
              <a:buNone/>
            </a:pPr>
            <a:r>
              <a:rPr lang="en-US" sz="3800" b="1" dirty="0">
                <a:solidFill>
                  <a:srgbClr val="FFFFFF"/>
                </a:solidFill>
                <a:latin typeface="Arial" pitchFamily="34" charset="0"/>
                <a:ea typeface="Arial" pitchFamily="34" charset="-122"/>
                <a:cs typeface="Arial" pitchFamily="34" charset="-120"/>
              </a:rPr>
              <a:t>Why ThinkFISH</a:t>
            </a:r>
            <a:endParaRPr lang="en-US" sz="3800" dirty="0"/>
          </a:p>
        </p:txBody>
      </p:sp>
      <p:sp>
        <p:nvSpPr>
          <p:cNvPr id="5" name="Text 2"/>
          <p:cNvSpPr/>
          <p:nvPr/>
        </p:nvSpPr>
        <p:spPr>
          <a:xfrm>
            <a:off x="594360" y="1481328"/>
            <a:ext cx="11155680" cy="320040"/>
          </a:xfrm>
          <a:prstGeom prst="rect">
            <a:avLst/>
          </a:prstGeom>
          <a:noFill/>
          <a:ln/>
        </p:spPr>
        <p:txBody>
          <a:bodyPr wrap="square" lIns="0" tIns="0" rIns="0" bIns="0" rtlCol="0" anchor="ctr"/>
          <a:lstStyle/>
          <a:p>
            <a:pPr indent="0" marL="0">
              <a:buNone/>
            </a:pPr>
            <a:r>
              <a:rPr lang="en-US" sz="1400" b="1" spc="100" kern="0" dirty="0">
                <a:solidFill>
                  <a:srgbClr val="43D5FF"/>
                </a:solidFill>
                <a:latin typeface="Arial" pitchFamily="34" charset="0"/>
                <a:ea typeface="Arial" pitchFamily="34" charset="-122"/>
                <a:cs typeface="Arial" pitchFamily="34" charset="-120"/>
              </a:rPr>
              <a:t>THE TRACK RECORD, BEFORE THE PROCESS</a:t>
            </a:r>
            <a:endParaRPr lang="en-US" sz="1400" dirty="0"/>
          </a:p>
        </p:txBody>
      </p:sp>
      <p:sp>
        <p:nvSpPr>
          <p:cNvPr id="6" name="Shape 3"/>
          <p:cNvSpPr/>
          <p:nvPr/>
        </p:nvSpPr>
        <p:spPr>
          <a:xfrm>
            <a:off x="566928" y="2103120"/>
            <a:ext cx="3593592" cy="960120"/>
          </a:xfrm>
          <a:prstGeom prst="roundRect">
            <a:avLst>
              <a:gd name="adj" fmla="val 8571"/>
            </a:avLst>
          </a:prstGeom>
          <a:solidFill>
            <a:srgbClr val="0D0D26">
              <a:alpha val="55000"/>
            </a:srgbClr>
          </a:solidFill>
          <a:ln w="9525">
            <a:solidFill>
              <a:srgbClr val="31316A">
                <a:alpha val="75000"/>
              </a:srgbClr>
            </a:solidFill>
            <a:prstDash val="solid"/>
          </a:ln>
        </p:spPr>
      </p:sp>
      <p:sp>
        <p:nvSpPr>
          <p:cNvPr id="7" name="Text 4"/>
          <p:cNvSpPr/>
          <p:nvPr/>
        </p:nvSpPr>
        <p:spPr>
          <a:xfrm>
            <a:off x="795528" y="2212848"/>
            <a:ext cx="1554480" cy="731520"/>
          </a:xfrm>
          <a:prstGeom prst="rect">
            <a:avLst/>
          </a:prstGeom>
          <a:noFill/>
          <a:ln/>
        </p:spPr>
        <p:txBody>
          <a:bodyPr wrap="square" lIns="0" tIns="0" rIns="0" bIns="0" rtlCol="0" anchor="ctr"/>
          <a:lstStyle/>
          <a:p>
            <a:pPr indent="0" marL="0">
              <a:buNone/>
            </a:pPr>
            <a:r>
              <a:rPr lang="en-US" sz="2400" b="1" dirty="0">
                <a:solidFill>
                  <a:srgbClr val="43D5FF"/>
                </a:solidFill>
                <a:latin typeface="Arial" pitchFamily="34" charset="0"/>
                <a:ea typeface="Arial" pitchFamily="34" charset="-122"/>
                <a:cs typeface="Arial" pitchFamily="34" charset="-120"/>
              </a:rPr>
              <a:t>$200M+</a:t>
            </a:r>
            <a:endParaRPr lang="en-US" sz="2400" dirty="0"/>
          </a:p>
        </p:txBody>
      </p:sp>
      <p:sp>
        <p:nvSpPr>
          <p:cNvPr id="8" name="Text 5"/>
          <p:cNvSpPr/>
          <p:nvPr/>
        </p:nvSpPr>
        <p:spPr>
          <a:xfrm>
            <a:off x="2350008" y="2212848"/>
            <a:ext cx="1581912" cy="731520"/>
          </a:xfrm>
          <a:prstGeom prst="rect">
            <a:avLst/>
          </a:prstGeom>
          <a:noFill/>
          <a:ln/>
        </p:spPr>
        <p:txBody>
          <a:bodyPr wrap="square" lIns="0" tIns="0" rIns="0" bIns="0" rtlCol="0" anchor="ctr"/>
          <a:lstStyle/>
          <a:p>
            <a:pPr indent="0" marL="0">
              <a:lnSpc>
                <a:spcPct val="110000"/>
              </a:lnSpc>
              <a:buNone/>
            </a:pPr>
            <a:r>
              <a:rPr lang="en-US" sz="1050" dirty="0">
                <a:solidFill>
                  <a:srgbClr val="FFFFFF"/>
                </a:solidFill>
                <a:latin typeface="Arial" pitchFamily="34" charset="0"/>
                <a:ea typeface="Arial" pitchFamily="34" charset="-122"/>
                <a:cs typeface="Arial" pitchFamily="34" charset="-120"/>
              </a:rPr>
              <a:t>client-reported capital raised</a:t>
            </a:r>
            <a:endParaRPr lang="en-US" sz="1050" dirty="0"/>
          </a:p>
        </p:txBody>
      </p:sp>
      <p:sp>
        <p:nvSpPr>
          <p:cNvPr id="9" name="Shape 6"/>
          <p:cNvSpPr/>
          <p:nvPr/>
        </p:nvSpPr>
        <p:spPr>
          <a:xfrm>
            <a:off x="4434840" y="2103120"/>
            <a:ext cx="3593592" cy="960120"/>
          </a:xfrm>
          <a:prstGeom prst="roundRect">
            <a:avLst>
              <a:gd name="adj" fmla="val 8571"/>
            </a:avLst>
          </a:prstGeom>
          <a:solidFill>
            <a:srgbClr val="0D0D26">
              <a:alpha val="55000"/>
            </a:srgbClr>
          </a:solidFill>
          <a:ln w="9525">
            <a:solidFill>
              <a:srgbClr val="31316A">
                <a:alpha val="75000"/>
              </a:srgbClr>
            </a:solidFill>
            <a:prstDash val="solid"/>
          </a:ln>
        </p:spPr>
      </p:sp>
      <p:sp>
        <p:nvSpPr>
          <p:cNvPr id="10" name="Text 7"/>
          <p:cNvSpPr/>
          <p:nvPr/>
        </p:nvSpPr>
        <p:spPr>
          <a:xfrm>
            <a:off x="4663440" y="2212848"/>
            <a:ext cx="1554480" cy="731520"/>
          </a:xfrm>
          <a:prstGeom prst="rect">
            <a:avLst/>
          </a:prstGeom>
          <a:noFill/>
          <a:ln/>
        </p:spPr>
        <p:txBody>
          <a:bodyPr wrap="square" lIns="0" tIns="0" rIns="0" bIns="0" rtlCol="0" anchor="ctr"/>
          <a:lstStyle/>
          <a:p>
            <a:pPr indent="0" marL="0">
              <a:buNone/>
            </a:pPr>
            <a:r>
              <a:rPr lang="en-US" sz="2400" b="1" dirty="0">
                <a:solidFill>
                  <a:srgbClr val="43D5FF"/>
                </a:solidFill>
                <a:latin typeface="Arial" pitchFamily="34" charset="0"/>
                <a:ea typeface="Arial" pitchFamily="34" charset="-122"/>
                <a:cs typeface="Arial" pitchFamily="34" charset="-120"/>
              </a:rPr>
              <a:t>10,000+</a:t>
            </a:r>
            <a:endParaRPr lang="en-US" sz="2400" dirty="0"/>
          </a:p>
        </p:txBody>
      </p:sp>
      <p:sp>
        <p:nvSpPr>
          <p:cNvPr id="11" name="Text 8"/>
          <p:cNvSpPr/>
          <p:nvPr/>
        </p:nvSpPr>
        <p:spPr>
          <a:xfrm>
            <a:off x="6217920" y="2212848"/>
            <a:ext cx="1581912" cy="731520"/>
          </a:xfrm>
          <a:prstGeom prst="rect">
            <a:avLst/>
          </a:prstGeom>
          <a:noFill/>
          <a:ln/>
        </p:spPr>
        <p:txBody>
          <a:bodyPr wrap="square" lIns="0" tIns="0" rIns="0" bIns="0" rtlCol="0" anchor="ctr"/>
          <a:lstStyle/>
          <a:p>
            <a:pPr indent="0" marL="0">
              <a:lnSpc>
                <a:spcPct val="110000"/>
              </a:lnSpc>
              <a:buNone/>
            </a:pPr>
            <a:r>
              <a:rPr lang="en-US" sz="1050" dirty="0">
                <a:solidFill>
                  <a:srgbClr val="FFFFFF"/>
                </a:solidFill>
                <a:latin typeface="Arial" pitchFamily="34" charset="0"/>
                <a:ea typeface="Arial" pitchFamily="34" charset="-122"/>
                <a:cs typeface="Arial" pitchFamily="34" charset="-120"/>
              </a:rPr>
              <a:t>qualified investor meetings booked</a:t>
            </a:r>
            <a:endParaRPr lang="en-US" sz="1050" dirty="0"/>
          </a:p>
        </p:txBody>
      </p:sp>
      <p:sp>
        <p:nvSpPr>
          <p:cNvPr id="12" name="Shape 9"/>
          <p:cNvSpPr/>
          <p:nvPr/>
        </p:nvSpPr>
        <p:spPr>
          <a:xfrm>
            <a:off x="8302752" y="2103120"/>
            <a:ext cx="3593592" cy="960120"/>
          </a:xfrm>
          <a:prstGeom prst="roundRect">
            <a:avLst>
              <a:gd name="adj" fmla="val 8571"/>
            </a:avLst>
          </a:prstGeom>
          <a:solidFill>
            <a:srgbClr val="0D0D26">
              <a:alpha val="55000"/>
            </a:srgbClr>
          </a:solidFill>
          <a:ln w="9525">
            <a:solidFill>
              <a:srgbClr val="31316A">
                <a:alpha val="75000"/>
              </a:srgbClr>
            </a:solidFill>
            <a:prstDash val="solid"/>
          </a:ln>
        </p:spPr>
      </p:sp>
      <p:sp>
        <p:nvSpPr>
          <p:cNvPr id="13" name="Text 10"/>
          <p:cNvSpPr/>
          <p:nvPr/>
        </p:nvSpPr>
        <p:spPr>
          <a:xfrm>
            <a:off x="8531352" y="2212848"/>
            <a:ext cx="1554480" cy="731520"/>
          </a:xfrm>
          <a:prstGeom prst="rect">
            <a:avLst/>
          </a:prstGeom>
          <a:noFill/>
          <a:ln/>
        </p:spPr>
        <p:txBody>
          <a:bodyPr wrap="square" lIns="0" tIns="0" rIns="0" bIns="0" rtlCol="0" anchor="ctr"/>
          <a:lstStyle/>
          <a:p>
            <a:pPr indent="0" marL="0">
              <a:buNone/>
            </a:pPr>
            <a:r>
              <a:rPr lang="en-US" sz="2400" b="1" dirty="0">
                <a:solidFill>
                  <a:srgbClr val="43D5FF"/>
                </a:solidFill>
                <a:latin typeface="Arial" pitchFamily="34" charset="0"/>
                <a:ea typeface="Arial" pitchFamily="34" charset="-122"/>
                <a:cs typeface="Arial" pitchFamily="34" charset="-120"/>
              </a:rPr>
              <a:t>500+</a:t>
            </a:r>
            <a:endParaRPr lang="en-US" sz="2400" dirty="0"/>
          </a:p>
        </p:txBody>
      </p:sp>
      <p:sp>
        <p:nvSpPr>
          <p:cNvPr id="14" name="Text 11"/>
          <p:cNvSpPr/>
          <p:nvPr/>
        </p:nvSpPr>
        <p:spPr>
          <a:xfrm>
            <a:off x="10085832" y="2212848"/>
            <a:ext cx="1581912" cy="731520"/>
          </a:xfrm>
          <a:prstGeom prst="rect">
            <a:avLst/>
          </a:prstGeom>
          <a:noFill/>
          <a:ln/>
        </p:spPr>
        <p:txBody>
          <a:bodyPr wrap="square" lIns="0" tIns="0" rIns="0" bIns="0" rtlCol="0" anchor="ctr"/>
          <a:lstStyle/>
          <a:p>
            <a:pPr indent="0" marL="0">
              <a:lnSpc>
                <a:spcPct val="110000"/>
              </a:lnSpc>
              <a:buNone/>
            </a:pPr>
            <a:r>
              <a:rPr lang="en-US" sz="1050" dirty="0">
                <a:solidFill>
                  <a:srgbClr val="FFFFFF"/>
                </a:solidFill>
                <a:latin typeface="Arial" pitchFamily="34" charset="0"/>
                <a:ea typeface="Arial" pitchFamily="34" charset="-122"/>
                <a:cs typeface="Arial" pitchFamily="34" charset="-120"/>
              </a:rPr>
              <a:t>clients served since 2020</a:t>
            </a:r>
            <a:endParaRPr lang="en-US" sz="1050" dirty="0"/>
          </a:p>
        </p:txBody>
      </p:sp>
      <p:sp>
        <p:nvSpPr>
          <p:cNvPr id="15" name="Shape 12"/>
          <p:cNvSpPr/>
          <p:nvPr/>
        </p:nvSpPr>
        <p:spPr>
          <a:xfrm>
            <a:off x="566928" y="3291840"/>
            <a:ext cx="5532120" cy="1920240"/>
          </a:xfrm>
          <a:prstGeom prst="roundRect">
            <a:avLst>
              <a:gd name="adj" fmla="val 4286"/>
            </a:avLst>
          </a:prstGeom>
          <a:solidFill>
            <a:srgbClr val="0D0D26">
              <a:alpha val="55000"/>
            </a:srgbClr>
          </a:solidFill>
          <a:ln w="9525">
            <a:solidFill>
              <a:srgbClr val="31316A">
                <a:alpha val="75000"/>
              </a:srgbClr>
            </a:solidFill>
            <a:prstDash val="solid"/>
          </a:ln>
        </p:spPr>
      </p:sp>
      <p:sp>
        <p:nvSpPr>
          <p:cNvPr id="18" name="Shape 15"/>
          <p:cNvSpPr/>
          <p:nvPr/>
        </p:nvSpPr>
        <p:spPr>
          <a:xfrm>
            <a:off x="6373368" y="3291840"/>
            <a:ext cx="5532120" cy="1920240"/>
          </a:xfrm>
          <a:prstGeom prst="roundRect">
            <a:avLst>
              <a:gd name="adj" fmla="val 4286"/>
            </a:avLst>
          </a:prstGeom>
          <a:solidFill>
            <a:srgbClr val="0D0D26">
              <a:alpha val="55000"/>
            </a:srgbClr>
          </a:solidFill>
          <a:ln w="9525">
            <a:solidFill>
              <a:srgbClr val="31316A">
                <a:alpha val="75000"/>
              </a:srgbClr>
            </a:solidFill>
            <a:prstDash val="solid"/>
          </a:ln>
        </p:spPr>
      </p:sp>
      <p:sp>
        <p:nvSpPr>
          <p:cNvPr id="21" name="Shape 18"/>
          <p:cNvSpPr/>
          <p:nvPr/>
        </p:nvSpPr>
        <p:spPr>
          <a:xfrm>
            <a:off x="566928" y="5440680"/>
            <a:ext cx="11338560" cy="1005840"/>
          </a:xfrm>
          <a:prstGeom prst="roundRect">
            <a:avLst>
              <a:gd name="adj" fmla="val 8182"/>
            </a:avLst>
          </a:prstGeom>
          <a:solidFill>
            <a:srgbClr val="0D0D26">
              <a:alpha val="55000"/>
            </a:srgbClr>
          </a:solidFill>
          <a:ln w="9525">
            <a:solidFill>
              <a:srgbClr val="31316A">
                <a:alpha val="75000"/>
              </a:srgbClr>
            </a:solidFill>
            <a:prstDash val="solid"/>
          </a:ln>
        </p:spPr>
      </p:sp>
      <p:sp>
        <p:nvSpPr>
          <p:cNvPr id="304" name="Text w0"/>
          <p:cNvSpPr/>
          <p:nvPr/>
        </p:nvSpPr>
        <p:spPr>
          <a:xfrm>
            <a:off x="822960" y="3419856"/>
            <a:ext cx="5029200" cy="256032"/>
          </a:xfrm>
          <a:prstGeom prst="rect">
            <a:avLst/>
          </a:prstGeom>
          <a:noFill/>
          <a:ln/>
        </p:spPr>
        <p:txBody>
          <a:bodyPr wrap="square" lIns="0" tIns="0" rIns="0" bIns="0" rtlCol="0" anchor="ctr"/>
          <a:lstStyle/>
          <a:p>
            <a:pPr indent="0" marL="0">
              <a:buNone/>
            </a:pPr>
            <a:r>
              <a:rPr lang="en-US" sz="1100" b="1" spc="100" kern="0" dirty="0">
                <a:solidFill>
                  <a:srgbClr val="7C6CFF"/>
                </a:solidFill>
                <a:latin typeface="Arial" pitchFamily="34" charset="0"/>
                <a:ea typeface="Arial" pitchFamily="34" charset="-122"/>
                <a:cs typeface="Arial" pitchFamily="34" charset="-120"/>
              </a:rPr>
              <a:t>ISSUANCE  ·  DARREN MARBLE, CEO</a:t>
            </a:r>
            <a:endParaRPr lang="en-US" sz="1100" dirty="0"/>
          </a:p>
        </p:txBody>
      </p:sp>
      <p:sp>
        <p:nvSpPr>
          <p:cNvPr id="305" name="Text q0"/>
          <p:cNvSpPr/>
          <p:nvPr/>
        </p:nvSpPr>
        <p:spPr>
          <a:xfrm>
            <a:off x="822960" y="3712464"/>
            <a:ext cx="5029200" cy="1143000"/>
          </a:xfrm>
          <a:prstGeom prst="rect">
            <a:avLst/>
          </a:prstGeom>
          <a:noFill/>
          <a:ln/>
        </p:spPr>
        <p:txBody>
          <a:bodyPr wrap="square" lIns="0" tIns="0" rIns="0" bIns="0" rtlCol="0" anchor="t"/>
          <a:lstStyle/>
          <a:p>
            <a:pPr indent="0" marL="0">
              <a:lnSpc>
                <a:spcPct val="120000"/>
              </a:lnSpc>
              <a:buNone/>
            </a:pPr>
            <a:r>
              <a:rPr lang="en-US" sz="1200" i="1" dirty="0">
                <a:solidFill>
                  <a:srgbClr val="FFFFFF"/>
                </a:solidFill>
                <a:latin typeface="Arial" pitchFamily="34" charset="0"/>
                <a:ea typeface="Arial" pitchFamily="34" charset="-122"/>
                <a:cs typeface="Arial" pitchFamily="34" charset="-120"/>
              </a:rPr>
              <a:t>“…one of the most effective investor marketing firms I’ve ever worked with when it comes to raising capital for my companies. In the last 60 days alone, FISH has arranged 25 qualified investor meetings for me.”</a:t>
            </a:r>
            <a:endParaRPr lang="en-US" sz="1200" dirty="0"/>
          </a:p>
        </p:txBody>
      </p:sp>
      <p:sp>
        <p:nvSpPr>
          <p:cNvPr id="306" name="Text r0"/>
          <p:cNvSpPr/>
          <p:nvPr/>
        </p:nvSpPr>
        <p:spPr>
          <a:xfrm>
            <a:off x="822960" y="4864608"/>
            <a:ext cx="5029200" cy="256032"/>
          </a:xfrm>
          <a:prstGeom prst="rect">
            <a:avLst/>
          </a:prstGeom>
          <a:noFill/>
          <a:ln/>
        </p:spPr>
        <p:txBody>
          <a:bodyPr wrap="square" lIns="0" tIns="0" rIns="0" bIns="0" rtlCol="0" anchor="ctr"/>
          <a:lstStyle/>
          <a:p>
            <a:pPr indent="0" marL="0">
              <a:buNone/>
            </a:pPr>
            <a:r>
              <a:rPr lang="en-US" sz="1050" b="1" dirty="0">
                <a:solidFill>
                  <a:srgbClr val="43D5FF"/>
                </a:solidFill>
                <a:latin typeface="Arial" pitchFamily="34" charset="0"/>
                <a:ea typeface="Arial" pitchFamily="34" charset="-122"/>
                <a:cs typeface="Arial" pitchFamily="34" charset="-120"/>
              </a:rPr>
              <a:t>25 QUALIFIED INVESTOR MEETINGS IN 60 DAYS</a:t>
            </a:r>
            <a:endParaRPr lang="en-US" sz="1050" dirty="0"/>
          </a:p>
        </p:txBody>
      </p:sp>
      <p:sp>
        <p:nvSpPr>
          <p:cNvPr id="307" name="Text w1"/>
          <p:cNvSpPr/>
          <p:nvPr/>
        </p:nvSpPr>
        <p:spPr>
          <a:xfrm>
            <a:off x="6629400" y="3419856"/>
            <a:ext cx="5029200" cy="256032"/>
          </a:xfrm>
          <a:prstGeom prst="rect">
            <a:avLst/>
          </a:prstGeom>
          <a:noFill/>
          <a:ln/>
        </p:spPr>
        <p:txBody>
          <a:bodyPr wrap="square" lIns="0" tIns="0" rIns="0" bIns="0" rtlCol="0" anchor="ctr"/>
          <a:lstStyle/>
          <a:p>
            <a:pPr indent="0" marL="0">
              <a:buNone/>
            </a:pPr>
            <a:r>
              <a:rPr lang="en-US" sz="1100" b="1" spc="100" kern="0" dirty="0">
                <a:solidFill>
                  <a:srgbClr val="7C6CFF"/>
                </a:solidFill>
                <a:latin typeface="Arial" pitchFamily="34" charset="0"/>
                <a:ea typeface="Arial" pitchFamily="34" charset="-122"/>
                <a:cs typeface="Arial" pitchFamily="34" charset="-120"/>
              </a:rPr>
              <a:t>CARTHAGE CAPITAL  ·  STEPHEN WU</a:t>
            </a:r>
            <a:endParaRPr lang="en-US" sz="1100" dirty="0"/>
          </a:p>
        </p:txBody>
      </p:sp>
      <p:sp>
        <p:nvSpPr>
          <p:cNvPr id="308" name="Text q1"/>
          <p:cNvSpPr/>
          <p:nvPr/>
        </p:nvSpPr>
        <p:spPr>
          <a:xfrm>
            <a:off x="6629400" y="3712464"/>
            <a:ext cx="5029200" cy="1143000"/>
          </a:xfrm>
          <a:prstGeom prst="rect">
            <a:avLst/>
          </a:prstGeom>
          <a:noFill/>
          <a:ln/>
        </p:spPr>
        <p:txBody>
          <a:bodyPr wrap="square" lIns="0" tIns="0" rIns="0" bIns="0" rtlCol="0" anchor="t"/>
          <a:lstStyle/>
          <a:p>
            <a:pPr indent="0" marL="0">
              <a:lnSpc>
                <a:spcPct val="120000"/>
              </a:lnSpc>
              <a:buNone/>
            </a:pPr>
            <a:r>
              <a:rPr lang="en-US" sz="1200" i="1" dirty="0">
                <a:solidFill>
                  <a:srgbClr val="FFFFFF"/>
                </a:solidFill>
                <a:latin typeface="Arial" pitchFamily="34" charset="0"/>
                <a:ea typeface="Arial" pitchFamily="34" charset="-122"/>
                <a:cs typeface="Arial" pitchFamily="34" charset="-120"/>
              </a:rPr>
              <a:t>“ThinkFISH helped me raise $2 to $3 million across around 20 different investors over the past nine months. I basically got two to three meetings every week, consistently, and they’re already interested. I was going to cancel after a quarter if you didn’t deliver. You delivered way above my expectations.”</a:t>
            </a:r>
            <a:endParaRPr lang="en-US" sz="1200" dirty="0"/>
          </a:p>
        </p:txBody>
      </p:sp>
      <p:sp>
        <p:nvSpPr>
          <p:cNvPr id="309" name="Text r1"/>
          <p:cNvSpPr/>
          <p:nvPr/>
        </p:nvSpPr>
        <p:spPr>
          <a:xfrm>
            <a:off x="6629400" y="4864608"/>
            <a:ext cx="5029200" cy="256032"/>
          </a:xfrm>
          <a:prstGeom prst="rect">
            <a:avLst/>
          </a:prstGeom>
          <a:noFill/>
          <a:ln/>
        </p:spPr>
        <p:txBody>
          <a:bodyPr wrap="square" lIns="0" tIns="0" rIns="0" bIns="0" rtlCol="0" anchor="ctr"/>
          <a:lstStyle/>
          <a:p>
            <a:pPr indent="0" marL="0">
              <a:buNone/>
            </a:pPr>
            <a:r>
              <a:rPr lang="en-US" sz="1050" b="1" dirty="0">
                <a:solidFill>
                  <a:srgbClr val="43D5FF"/>
                </a:solidFill>
                <a:latin typeface="Arial" pitchFamily="34" charset="0"/>
                <a:ea typeface="Arial" pitchFamily="34" charset="-122"/>
                <a:cs typeface="Arial" pitchFamily="34" charset="-120"/>
              </a:rPr>
              <a:t>$2–3M RAISED ACROSS ~20 INVESTORS IN 9 MONTHS</a:t>
            </a:r>
            <a:endParaRPr lang="en-US" sz="1050" dirty="0"/>
          </a:p>
        </p:txBody>
      </p:sp>
      <p:sp>
        <p:nvSpPr>
          <p:cNvPr id="310" name="Text bl"/>
          <p:cNvSpPr/>
          <p:nvPr/>
        </p:nvSpPr>
        <p:spPr>
          <a:xfrm>
            <a:off x="795528" y="5559552"/>
            <a:ext cx="5486400" cy="274320"/>
          </a:xfrm>
          <a:prstGeom prst="rect">
            <a:avLst/>
          </a:prstGeom>
          <a:noFill/>
          <a:ln/>
        </p:spPr>
        <p:txBody>
          <a:bodyPr wrap="square" lIns="0" tIns="0" rIns="0" bIns="0" rtlCol="0" anchor="ctr"/>
          <a:lstStyle/>
          <a:p>
            <a:pPr indent="0" marL="0">
              <a:buNone/>
            </a:pPr>
            <a:r>
              <a:rPr lang="en-US" sz="1200" b="1" spc="100" kern="0" dirty="0">
                <a:solidFill>
                  <a:srgbClr val="7C6CFF"/>
                </a:solidFill>
                <a:latin typeface="Arial" pitchFamily="34" charset="0"/>
                <a:ea typeface="Arial" pitchFamily="34" charset="-122"/>
                <a:cs typeface="Arial" pitchFamily="34" charset="-120"/>
              </a:rPr>
              <a:t>FUNDABLE COMPANIES GET FUNDED</a:t>
            </a:r>
            <a:endParaRPr lang="en-US" sz="1200" dirty="0"/>
          </a:p>
        </p:txBody>
      </p:sp>
      <p:sp>
        <p:nvSpPr>
          <p:cNvPr id="311" name="Text bp"/>
          <p:cNvSpPr/>
          <p:nvPr/>
        </p:nvSpPr>
        <p:spPr>
          <a:xfrm>
            <a:off x="795528" y="5852160"/>
            <a:ext cx="10881360" cy="548640"/>
          </a:xfrm>
          <a:prstGeom prst="rect">
            <a:avLst/>
          </a:prstGeom>
          <a:noFill/>
          <a:ln/>
        </p:spPr>
        <p:txBody>
          <a:bodyPr wrap="square" lIns="0" tIns="0" rIns="0" bIns="0" rtlCol="0" anchor="t"/>
          <a:lstStyle/>
          <a:p>
            <a:pPr indent="0" marL="0">
              <a:lnSpc>
                <a:spcPct val="120000"/>
              </a:lnSpc>
              <a:buNone/>
            </a:pPr>
            <a:r>
              <a:rPr lang="en-US" sz="1150" dirty="0">
                <a:solidFill>
                  <a:srgbClr val="FFFFFF"/>
                </a:solidFill>
                <a:latin typeface="Arial" pitchFamily="34" charset="0"/>
                <a:ea typeface="Arial" pitchFamily="34" charset="-122"/>
                <a:cs typeface="Arial" pitchFamily="34" charset="-120"/>
              </a:rPr>
              <a:t>Every client we’ve worked with who was fundable (real product, real traction, a team that can run a process) has received checks from meetings we set. We’re not in the room for those meetings, so we only report what clients report back. Full testimonials and video links are in the appendix.</a:t>
            </a:r>
            <a:endParaRPr lang="en-US" sz="11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pic>
        <p:nvPicPr>
          <p:cNvPr id="2" name="Image 0" descr="/home/claude/brand/clean/logo_header.png">    </p:cNvPr>
          <p:cNvPicPr>
            <a:picLocks noChangeAspect="1"/>
          </p:cNvPicPr>
          <p:nvPr/>
        </p:nvPicPr>
        <p:blipFill>
          <a:blip r:embed="rId2"/>
          <a:stretch>
            <a:fillRect/>
          </a:stretch>
        </p:blipFill>
        <p:spPr>
          <a:xfrm>
            <a:off x="411480" y="164592"/>
            <a:ext cx="850392" cy="530352"/>
          </a:xfrm>
          <a:prstGeom prst="rect">
            <a:avLst/>
          </a:prstGeom>
        </p:spPr>
      </p:pic>
      <p:sp>
        <p:nvSpPr>
          <p:cNvPr id="3" name="Text 0"/>
          <p:cNvSpPr/>
          <p:nvPr/>
        </p:nvSpPr>
        <p:spPr>
          <a:xfrm>
            <a:off x="1417320" y="201168"/>
            <a:ext cx="4114800" cy="457200"/>
          </a:xfrm>
          <a:prstGeom prst="rect">
            <a:avLst/>
          </a:prstGeom>
          <a:noFill/>
          <a:ln/>
        </p:spPr>
        <p:txBody>
          <a:bodyPr wrap="square" lIns="0" tIns="0" rIns="0" bIns="0" rtlCol="0" anchor="ctr"/>
          <a:lstStyle/>
          <a:p>
            <a:pPr indent="0" marL="0">
              <a:buNone/>
            </a:pPr>
            <a:r>
              <a:rPr lang="en-US" sz="1300" spc="200" kern="0" dirty="0">
                <a:solidFill>
                  <a:srgbClr val="FFFFFF"/>
                </a:solidFill>
                <a:latin typeface="Arial" pitchFamily="34" charset="0"/>
                <a:ea typeface="Arial" pitchFamily="34" charset="-122"/>
                <a:cs typeface="Arial" pitchFamily="34" charset="-120"/>
              </a:rPr>
              <a:t>THINKFISH LLC 2026</a:t>
            </a:r>
            <a:endParaRPr lang="en-US" sz="1300" dirty="0"/>
          </a:p>
        </p:txBody>
      </p:sp>
      <p:sp>
        <p:nvSpPr>
          <p:cNvPr id="4" name="Text 1"/>
          <p:cNvSpPr/>
          <p:nvPr/>
        </p:nvSpPr>
        <p:spPr>
          <a:xfrm>
            <a:off x="566928" y="868680"/>
            <a:ext cx="11155680" cy="777240"/>
          </a:xfrm>
          <a:prstGeom prst="rect">
            <a:avLst/>
          </a:prstGeom>
          <a:noFill/>
          <a:ln/>
        </p:spPr>
        <p:txBody>
          <a:bodyPr wrap="square" lIns="0" tIns="0" rIns="0" bIns="0" rtlCol="0" anchor="ctr"/>
          <a:lstStyle/>
          <a:p>
            <a:pPr indent="0" marL="0">
              <a:buNone/>
            </a:pPr>
            <a:r>
              <a:rPr lang="en-US" sz="3800" b="1" dirty="0">
                <a:solidFill>
                  <a:srgbClr val="FFFFFF"/>
                </a:solidFill>
                <a:latin typeface="Arial" pitchFamily="34" charset="0"/>
                <a:ea typeface="Arial" pitchFamily="34" charset="-122"/>
                <a:cs typeface="Arial" pitchFamily="34" charset="-120"/>
              </a:rPr>
              <a:t>What’s Standing Between You and the Close</a:t>
            </a:r>
            <a:endParaRPr lang="en-US" sz="3800" dirty="0"/>
          </a:p>
        </p:txBody>
      </p:sp>
      <p:sp>
        <p:nvSpPr>
          <p:cNvPr id="5" name="Text 2"/>
          <p:cNvSpPr/>
          <p:nvPr/>
        </p:nvSpPr>
        <p:spPr>
          <a:xfrm>
            <a:off x="594360" y="1481328"/>
            <a:ext cx="11155680" cy="320040"/>
          </a:xfrm>
          <a:prstGeom prst="rect">
            <a:avLst/>
          </a:prstGeom>
          <a:noFill/>
          <a:ln/>
        </p:spPr>
        <p:txBody>
          <a:bodyPr wrap="square" lIns="0" tIns="0" rIns="0" bIns="0" rtlCol="0" anchor="ctr"/>
          <a:lstStyle/>
          <a:p>
            <a:pPr indent="0" marL="0">
              <a:buNone/>
            </a:pPr>
            <a:r>
              <a:rPr lang="en-US" sz="1400" b="1" spc="100" kern="0" dirty="0">
                <a:solidFill>
                  <a:srgbClr val="43D5FF"/>
                </a:solidFill>
                <a:latin typeface="Arial" pitchFamily="34" charset="0"/>
                <a:ea typeface="Arial" pitchFamily="34" charset="-122"/>
                <a:cs typeface="Arial" pitchFamily="34" charset="-120"/>
              </a:rPr>
              <a:t>THE GAP WE’RE SOLVING</a:t>
            </a:r>
            <a:endParaRPr lang="en-US" sz="1400" dirty="0"/>
          </a:p>
        </p:txBody>
      </p:sp>
      <p:sp>
        <p:nvSpPr>
          <p:cNvPr id="6" name="Text 3"/>
          <p:cNvSpPr/>
          <p:nvPr/>
        </p:nvSpPr>
        <p:spPr>
          <a:xfrm>
            <a:off x="566928" y="2148840"/>
            <a:ext cx="4297680" cy="2651760"/>
          </a:xfrm>
          <a:prstGeom prst="rect">
            <a:avLst/>
          </a:prstGeom>
          <a:noFill/>
          <a:ln/>
        </p:spPr>
        <p:txBody>
          <a:bodyPr wrap="square" lIns="0" tIns="0" rIns="0" bIns="0" rtlCol="0" anchor="t"/>
          <a:lstStyle/>
          <a:p>
            <a:pPr indent="0" marL="0">
              <a:lnSpc>
                <a:spcPct val="125000"/>
              </a:lnSpc>
              <a:buNone/>
            </a:pPr>
            <a:r>
              <a:rPr lang="en-US" sz="1300" dirty="0">
                <a:solidFill>
                  <a:srgbClr val="FFFFFF"/>
                </a:solidFill>
                <a:latin typeface="Arial" pitchFamily="34" charset="0"/>
                <a:ea typeface="Arial" pitchFamily="34" charset="-122"/>
                <a:cs typeface="Arial" pitchFamily="34" charset="-120"/>
              </a:rPr>
              <a:t>You’ve done the hard part: a $7M book, a model built on underwriting rather than convenience, bank collateral at 75% LTV with customers bringing 10–20%, and a price that never moves. Every dollar so far came from people who already know you. That isn’t a weakness of the fund. It’s a ceiling built into founder-led raising: the network only grows as fast as Ted and Jesse can spend their time on it, and that time belongs to underwriting, realtors and originating deals.</a:t>
            </a:r>
            <a:endParaRPr lang="en-US" sz="1300" dirty="0"/>
          </a:p>
        </p:txBody>
      </p:sp>
      <p:sp>
        <p:nvSpPr>
          <p:cNvPr id="7" name="Text 4"/>
          <p:cNvSpPr/>
          <p:nvPr/>
        </p:nvSpPr>
        <p:spPr>
          <a:xfrm>
            <a:off x="566928" y="4800600"/>
            <a:ext cx="4297680" cy="1554480"/>
          </a:xfrm>
          <a:prstGeom prst="rect">
            <a:avLst/>
          </a:prstGeom>
          <a:noFill/>
          <a:ln/>
        </p:spPr>
        <p:txBody>
          <a:bodyPr wrap="square" lIns="0" tIns="0" rIns="0" bIns="0" rtlCol="0" anchor="t"/>
          <a:lstStyle/>
          <a:p>
            <a:pPr indent="0" marL="0">
              <a:lnSpc>
                <a:spcPct val="125000"/>
              </a:lnSpc>
              <a:buNone/>
            </a:pPr>
            <a:r>
              <a:rPr lang="en-US" sz="1300" i="1" dirty="0">
                <a:solidFill>
                  <a:srgbClr val="B9BEDC"/>
                </a:solidFill>
                <a:latin typeface="Arial" pitchFamily="34" charset="0"/>
                <a:ea typeface="Arial" pitchFamily="34" charset="-122"/>
                <a:cs typeface="Arial" pitchFamily="34" charset="-120"/>
              </a:rPr>
              <a:t>Raising a fund is relationship-built over time, not a 60-day sprint. The variable you control is how many qualified, mission-aligned investor conversations enter the top of your funnel every week, without taking you away from the deals.</a:t>
            </a:r>
            <a:endParaRPr lang="en-US" sz="1300" dirty="0"/>
          </a:p>
        </p:txBody>
      </p:sp>
      <p:sp>
        <p:nvSpPr>
          <p:cNvPr id="8" name="Shape 5"/>
          <p:cNvSpPr/>
          <p:nvPr/>
        </p:nvSpPr>
        <p:spPr>
          <a:xfrm>
            <a:off x="5257800" y="2148840"/>
            <a:ext cx="6400800" cy="932688"/>
          </a:xfrm>
          <a:prstGeom prst="roundRect">
            <a:avLst>
              <a:gd name="adj" fmla="val 8824"/>
            </a:avLst>
          </a:prstGeom>
          <a:solidFill>
            <a:srgbClr val="0D0D26">
              <a:alpha val="55000"/>
            </a:srgbClr>
          </a:solidFill>
          <a:ln w="9525">
            <a:solidFill>
              <a:srgbClr val="31316A">
                <a:alpha val="75000"/>
              </a:srgbClr>
            </a:solidFill>
            <a:prstDash val="solid"/>
          </a:ln>
        </p:spPr>
      </p:sp>
      <p:sp>
        <p:nvSpPr>
          <p:cNvPr id="9" name="Text 6"/>
          <p:cNvSpPr/>
          <p:nvPr/>
        </p:nvSpPr>
        <p:spPr>
          <a:xfrm>
            <a:off x="5486400" y="2258568"/>
            <a:ext cx="1965960" cy="731520"/>
          </a:xfrm>
          <a:prstGeom prst="rect">
            <a:avLst/>
          </a:prstGeom>
          <a:noFill/>
          <a:ln/>
        </p:spPr>
        <p:txBody>
          <a:bodyPr wrap="square" lIns="0" tIns="0" rIns="0" bIns="0" rtlCol="0" anchor="ctr"/>
          <a:lstStyle/>
          <a:p>
            <a:pPr indent="0" marL="0">
              <a:buNone/>
            </a:pPr>
            <a:r>
              <a:rPr lang="en-US" sz="1250" b="1" dirty="0">
                <a:solidFill>
                  <a:srgbClr val="43D5FF"/>
                </a:solidFill>
                <a:latin typeface="Arial" pitchFamily="34" charset="0"/>
                <a:ea typeface="Arial" pitchFamily="34" charset="-122"/>
                <a:cs typeface="Arial" pitchFamily="34" charset="-120"/>
              </a:rPr>
              <a:t>SURFACE PROBLEM</a:t>
            </a:r>
            <a:endParaRPr lang="en-US" sz="1250" dirty="0"/>
          </a:p>
        </p:txBody>
      </p:sp>
      <p:sp>
        <p:nvSpPr>
          <p:cNvPr id="10" name="Text 7"/>
          <p:cNvSpPr/>
          <p:nvPr/>
        </p:nvSpPr>
        <p:spPr>
          <a:xfrm>
            <a:off x="7498080" y="2240280"/>
            <a:ext cx="3931920" cy="749808"/>
          </a:xfrm>
          <a:prstGeom prst="rect">
            <a:avLst/>
          </a:prstGeom>
          <a:noFill/>
          <a:ln/>
        </p:spPr>
        <p:txBody>
          <a:bodyPr wrap="square" lIns="0" tIns="0" rIns="0" bIns="0" rtlCol="0" anchor="ctr"/>
          <a:lstStyle/>
          <a:p>
            <a:pPr indent="0" marL="0">
              <a:lnSpc>
                <a:spcPct val="110000"/>
              </a:lnSpc>
              <a:buNone/>
            </a:pPr>
            <a:r>
              <a:rPr lang="en-US" sz="1100" dirty="0">
                <a:solidFill>
                  <a:srgbClr val="FFFFFF"/>
                </a:solidFill>
                <a:latin typeface="Arial" pitchFamily="34" charset="0"/>
                <a:ea typeface="Arial" pitchFamily="34" charset="-122"/>
                <a:cs typeface="Arial" pitchFamily="34" charset="-120"/>
              </a:rPr>
              <a:t>Capital comes in through friends, family and the country club. It works, but it isn’t scalable, structured or provable to your banks.</a:t>
            </a:r>
            <a:endParaRPr lang="en-US" sz="1100" dirty="0"/>
          </a:p>
        </p:txBody>
      </p:sp>
      <p:sp>
        <p:nvSpPr>
          <p:cNvPr id="11" name="Shape 8"/>
          <p:cNvSpPr/>
          <p:nvPr/>
        </p:nvSpPr>
        <p:spPr>
          <a:xfrm>
            <a:off x="5257800" y="3246120"/>
            <a:ext cx="6400800" cy="932688"/>
          </a:xfrm>
          <a:prstGeom prst="roundRect">
            <a:avLst>
              <a:gd name="adj" fmla="val 8824"/>
            </a:avLst>
          </a:prstGeom>
          <a:solidFill>
            <a:srgbClr val="0D0D26">
              <a:alpha val="55000"/>
            </a:srgbClr>
          </a:solidFill>
          <a:ln w="9525">
            <a:solidFill>
              <a:srgbClr val="31316A">
                <a:alpha val="75000"/>
              </a:srgbClr>
            </a:solidFill>
            <a:prstDash val="solid"/>
          </a:ln>
        </p:spPr>
      </p:sp>
      <p:sp>
        <p:nvSpPr>
          <p:cNvPr id="12" name="Text 9"/>
          <p:cNvSpPr/>
          <p:nvPr/>
        </p:nvSpPr>
        <p:spPr>
          <a:xfrm>
            <a:off x="5486400" y="3355848"/>
            <a:ext cx="1965960" cy="731520"/>
          </a:xfrm>
          <a:prstGeom prst="rect">
            <a:avLst/>
          </a:prstGeom>
          <a:noFill/>
          <a:ln/>
        </p:spPr>
        <p:txBody>
          <a:bodyPr wrap="square" lIns="0" tIns="0" rIns="0" bIns="0" rtlCol="0" anchor="ctr"/>
          <a:lstStyle/>
          <a:p>
            <a:pPr indent="0" marL="0">
              <a:buNone/>
            </a:pPr>
            <a:r>
              <a:rPr lang="en-US" sz="1250" b="1" dirty="0">
                <a:solidFill>
                  <a:srgbClr val="43D5FF"/>
                </a:solidFill>
                <a:latin typeface="Arial" pitchFamily="34" charset="0"/>
                <a:ea typeface="Arial" pitchFamily="34" charset="-122"/>
                <a:cs typeface="Arial" pitchFamily="34" charset="-120"/>
              </a:rPr>
              <a:t>BUSINESS IMPACT</a:t>
            </a:r>
            <a:endParaRPr lang="en-US" sz="1250" dirty="0"/>
          </a:p>
        </p:txBody>
      </p:sp>
      <p:sp>
        <p:nvSpPr>
          <p:cNvPr id="13" name="Text 10"/>
          <p:cNvSpPr/>
          <p:nvPr/>
        </p:nvSpPr>
        <p:spPr>
          <a:xfrm>
            <a:off x="7498080" y="3337560"/>
            <a:ext cx="3931920" cy="749808"/>
          </a:xfrm>
          <a:prstGeom prst="rect">
            <a:avLst/>
          </a:prstGeom>
          <a:noFill/>
          <a:ln/>
        </p:spPr>
        <p:txBody>
          <a:bodyPr wrap="square" lIns="0" tIns="0" rIns="0" bIns="0" rtlCol="0" anchor="ctr"/>
          <a:lstStyle/>
          <a:p>
            <a:pPr indent="0" marL="0">
              <a:lnSpc>
                <a:spcPct val="110000"/>
              </a:lnSpc>
              <a:buNone/>
            </a:pPr>
            <a:r>
              <a:rPr lang="en-US" sz="1100" dirty="0">
                <a:solidFill>
                  <a:srgbClr val="FFFFFF"/>
                </a:solidFill>
                <a:latin typeface="Arial" pitchFamily="34" charset="0"/>
                <a:ea typeface="Arial" pitchFamily="34" charset="-122"/>
                <a:cs typeface="Arial" pitchFamily="34" charset="-120"/>
              </a:rPr>
              <a:t>Demand is already there: you could absorb $30M a year. The book can only grow as fast as committed fund capital lets it.</a:t>
            </a:r>
            <a:endParaRPr lang="en-US" sz="1100" dirty="0"/>
          </a:p>
        </p:txBody>
      </p:sp>
      <p:sp>
        <p:nvSpPr>
          <p:cNvPr id="14" name="Shape 11"/>
          <p:cNvSpPr/>
          <p:nvPr/>
        </p:nvSpPr>
        <p:spPr>
          <a:xfrm>
            <a:off x="5257800" y="4343400"/>
            <a:ext cx="6400800" cy="932688"/>
          </a:xfrm>
          <a:prstGeom prst="roundRect">
            <a:avLst>
              <a:gd name="adj" fmla="val 8824"/>
            </a:avLst>
          </a:prstGeom>
          <a:solidFill>
            <a:srgbClr val="0D0D26">
              <a:alpha val="55000"/>
            </a:srgbClr>
          </a:solidFill>
          <a:ln w="9525">
            <a:solidFill>
              <a:srgbClr val="31316A">
                <a:alpha val="75000"/>
              </a:srgbClr>
            </a:solidFill>
            <a:prstDash val="solid"/>
          </a:ln>
        </p:spPr>
      </p:sp>
      <p:sp>
        <p:nvSpPr>
          <p:cNvPr id="15" name="Text 12"/>
          <p:cNvSpPr/>
          <p:nvPr/>
        </p:nvSpPr>
        <p:spPr>
          <a:xfrm>
            <a:off x="5486400" y="4453128"/>
            <a:ext cx="1965960" cy="731520"/>
          </a:xfrm>
          <a:prstGeom prst="rect">
            <a:avLst/>
          </a:prstGeom>
          <a:noFill/>
          <a:ln/>
        </p:spPr>
        <p:txBody>
          <a:bodyPr wrap="square" lIns="0" tIns="0" rIns="0" bIns="0" rtlCol="0" anchor="ctr"/>
          <a:lstStyle/>
          <a:p>
            <a:pPr indent="0" marL="0">
              <a:buNone/>
            </a:pPr>
            <a:r>
              <a:rPr lang="en-US" sz="1250" b="1" dirty="0">
                <a:solidFill>
                  <a:srgbClr val="43D5FF"/>
                </a:solidFill>
                <a:latin typeface="Arial" pitchFamily="34" charset="0"/>
                <a:ea typeface="Arial" pitchFamily="34" charset="-122"/>
                <a:cs typeface="Arial" pitchFamily="34" charset="-120"/>
              </a:rPr>
              <a:t>PERSONAL IMPACT</a:t>
            </a:r>
            <a:endParaRPr lang="en-US" sz="1250" dirty="0"/>
          </a:p>
        </p:txBody>
      </p:sp>
      <p:sp>
        <p:nvSpPr>
          <p:cNvPr id="16" name="Text 13"/>
          <p:cNvSpPr/>
          <p:nvPr/>
        </p:nvSpPr>
        <p:spPr>
          <a:xfrm>
            <a:off x="7498080" y="4434840"/>
            <a:ext cx="3931920" cy="749808"/>
          </a:xfrm>
          <a:prstGeom prst="rect">
            <a:avLst/>
          </a:prstGeom>
          <a:noFill/>
          <a:ln/>
        </p:spPr>
        <p:txBody>
          <a:bodyPr wrap="square" lIns="0" tIns="0" rIns="0" bIns="0" rtlCol="0" anchor="ctr"/>
          <a:lstStyle/>
          <a:p>
            <a:pPr indent="0" marL="0">
              <a:lnSpc>
                <a:spcPct val="110000"/>
              </a:lnSpc>
              <a:buNone/>
            </a:pPr>
            <a:r>
              <a:rPr lang="en-US" sz="1100" dirty="0">
                <a:solidFill>
                  <a:srgbClr val="FFFFFF"/>
                </a:solidFill>
                <a:latin typeface="Arial" pitchFamily="34" charset="0"/>
                <a:ea typeface="Arial" pitchFamily="34" charset="-122"/>
                <a:cs typeface="Arial" pitchFamily="34" charset="-120"/>
              </a:rPr>
              <a:t>“I can’t be out producing … if I’m out raising money.” Two full-time jobs on the same people: originating deals and wooing investors.</a:t>
            </a:r>
            <a:endParaRPr lang="en-US" sz="1100" dirty="0"/>
          </a:p>
        </p:txBody>
      </p:sp>
      <p:sp>
        <p:nvSpPr>
          <p:cNvPr id="17" name="Shape 14"/>
          <p:cNvSpPr/>
          <p:nvPr/>
        </p:nvSpPr>
        <p:spPr>
          <a:xfrm>
            <a:off x="5257800" y="5440680"/>
            <a:ext cx="6400800" cy="932688"/>
          </a:xfrm>
          <a:prstGeom prst="roundRect">
            <a:avLst>
              <a:gd name="adj" fmla="val 8824"/>
            </a:avLst>
          </a:prstGeom>
          <a:solidFill>
            <a:srgbClr val="0D0D26">
              <a:alpha val="55000"/>
            </a:srgbClr>
          </a:solidFill>
          <a:ln w="9525">
            <a:solidFill>
              <a:srgbClr val="31316A">
                <a:alpha val="75000"/>
              </a:srgbClr>
            </a:solidFill>
            <a:prstDash val="solid"/>
          </a:ln>
        </p:spPr>
      </p:sp>
      <p:sp>
        <p:nvSpPr>
          <p:cNvPr id="18" name="Text 15"/>
          <p:cNvSpPr/>
          <p:nvPr/>
        </p:nvSpPr>
        <p:spPr>
          <a:xfrm>
            <a:off x="5486400" y="5550408"/>
            <a:ext cx="1965960" cy="731520"/>
          </a:xfrm>
          <a:prstGeom prst="rect">
            <a:avLst/>
          </a:prstGeom>
          <a:noFill/>
          <a:ln/>
        </p:spPr>
        <p:txBody>
          <a:bodyPr wrap="square" lIns="0" tIns="0" rIns="0" bIns="0" rtlCol="0" anchor="ctr"/>
          <a:lstStyle/>
          <a:p>
            <a:pPr indent="0" marL="0">
              <a:buNone/>
            </a:pPr>
            <a:r>
              <a:rPr lang="en-US" sz="1250" b="1" dirty="0">
                <a:solidFill>
                  <a:srgbClr val="43D5FF"/>
                </a:solidFill>
                <a:latin typeface="Arial" pitchFamily="34" charset="0"/>
                <a:ea typeface="Arial" pitchFamily="34" charset="-122"/>
                <a:cs typeface="Arial" pitchFamily="34" charset="-120"/>
              </a:rPr>
              <a:t>COST OF INACTION</a:t>
            </a:r>
            <a:endParaRPr lang="en-US" sz="1250" dirty="0"/>
          </a:p>
        </p:txBody>
      </p:sp>
      <p:sp>
        <p:nvSpPr>
          <p:cNvPr id="19" name="Text 16"/>
          <p:cNvSpPr/>
          <p:nvPr/>
        </p:nvSpPr>
        <p:spPr>
          <a:xfrm>
            <a:off x="7498080" y="5532120"/>
            <a:ext cx="3931920" cy="749808"/>
          </a:xfrm>
          <a:prstGeom prst="rect">
            <a:avLst/>
          </a:prstGeom>
          <a:noFill/>
          <a:ln/>
        </p:spPr>
        <p:txBody>
          <a:bodyPr wrap="square" lIns="0" tIns="0" rIns="0" bIns="0" rtlCol="0" anchor="ctr"/>
          <a:lstStyle/>
          <a:p>
            <a:pPr indent="0" marL="0">
              <a:lnSpc>
                <a:spcPct val="110000"/>
              </a:lnSpc>
              <a:buNone/>
            </a:pPr>
            <a:r>
              <a:rPr lang="en-US" sz="1100" dirty="0">
                <a:solidFill>
                  <a:srgbClr val="FFFFFF"/>
                </a:solidFill>
                <a:latin typeface="Arial" pitchFamily="34" charset="0"/>
                <a:ea typeface="Arial" pitchFamily="34" charset="-122"/>
                <a:cs typeface="Arial" pitchFamily="34" charset="-120"/>
              </a:rPr>
              <a:t>Realtors send a client you can’t fund. Each one you turn away weakens the referral relationships the whole origination engine runs on.</a:t>
            </a:r>
            <a:endParaRPr lang="en-US" sz="11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pic>
        <p:nvPicPr>
          <p:cNvPr id="2" name="Image 0" descr="/home/claude/brand/clean/logo_header.png">    </p:cNvPr>
          <p:cNvPicPr>
            <a:picLocks noChangeAspect="1"/>
          </p:cNvPicPr>
          <p:nvPr/>
        </p:nvPicPr>
        <p:blipFill>
          <a:blip r:embed="rId2"/>
          <a:stretch>
            <a:fillRect/>
          </a:stretch>
        </p:blipFill>
        <p:spPr>
          <a:xfrm>
            <a:off x="411480" y="164592"/>
            <a:ext cx="850392" cy="530352"/>
          </a:xfrm>
          <a:prstGeom prst="rect">
            <a:avLst/>
          </a:prstGeom>
        </p:spPr>
      </p:pic>
      <p:sp>
        <p:nvSpPr>
          <p:cNvPr id="3" name="Text 0"/>
          <p:cNvSpPr/>
          <p:nvPr/>
        </p:nvSpPr>
        <p:spPr>
          <a:xfrm>
            <a:off x="1417320" y="201168"/>
            <a:ext cx="4114800" cy="457200"/>
          </a:xfrm>
          <a:prstGeom prst="rect">
            <a:avLst/>
          </a:prstGeom>
          <a:noFill/>
          <a:ln/>
        </p:spPr>
        <p:txBody>
          <a:bodyPr wrap="square" lIns="0" tIns="0" rIns="0" bIns="0" rtlCol="0" anchor="ctr"/>
          <a:lstStyle/>
          <a:p>
            <a:pPr indent="0" marL="0">
              <a:buNone/>
            </a:pPr>
            <a:r>
              <a:rPr lang="en-US" sz="1300" spc="200" kern="0" dirty="0">
                <a:solidFill>
                  <a:srgbClr val="FFFFFF"/>
                </a:solidFill>
                <a:latin typeface="Arial" pitchFamily="34" charset="0"/>
                <a:ea typeface="Arial" pitchFamily="34" charset="-122"/>
                <a:cs typeface="Arial" pitchFamily="34" charset="-120"/>
              </a:rPr>
              <a:t>THINKFISH LLC 2026</a:t>
            </a:r>
            <a:endParaRPr lang="en-US" sz="1300" dirty="0"/>
          </a:p>
        </p:txBody>
      </p:sp>
      <p:sp>
        <p:nvSpPr>
          <p:cNvPr id="4" name="Text 1"/>
          <p:cNvSpPr/>
          <p:nvPr/>
        </p:nvSpPr>
        <p:spPr>
          <a:xfrm>
            <a:off x="566928" y="868680"/>
            <a:ext cx="11155680" cy="777240"/>
          </a:xfrm>
          <a:prstGeom prst="rect">
            <a:avLst/>
          </a:prstGeom>
          <a:noFill/>
          <a:ln/>
        </p:spPr>
        <p:txBody>
          <a:bodyPr wrap="square" lIns="0" tIns="0" rIns="0" bIns="0" rtlCol="0" anchor="ctr"/>
          <a:lstStyle/>
          <a:p>
            <a:pPr indent="0" marL="0">
              <a:buNone/>
            </a:pPr>
            <a:r>
              <a:rPr lang="en-US" sz="3800" b="1" dirty="0">
                <a:solidFill>
                  <a:srgbClr val="FFFFFF"/>
                </a:solidFill>
                <a:latin typeface="Arial" pitchFamily="34" charset="0"/>
                <a:ea typeface="Arial" pitchFamily="34" charset="-122"/>
                <a:cs typeface="Arial" pitchFamily="34" charset="-120"/>
              </a:rPr>
              <a:t>Your Investor ICP</a:t>
            </a:r>
            <a:endParaRPr lang="en-US" sz="3800" dirty="0"/>
          </a:p>
        </p:txBody>
      </p:sp>
      <p:sp>
        <p:nvSpPr>
          <p:cNvPr id="5" name="Text 2"/>
          <p:cNvSpPr/>
          <p:nvPr/>
        </p:nvSpPr>
        <p:spPr>
          <a:xfrm>
            <a:off x="594360" y="1481328"/>
            <a:ext cx="11155680" cy="320040"/>
          </a:xfrm>
          <a:prstGeom prst="rect">
            <a:avLst/>
          </a:prstGeom>
          <a:noFill/>
          <a:ln/>
        </p:spPr>
        <p:txBody>
          <a:bodyPr wrap="square" lIns="0" tIns="0" rIns="0" bIns="0" rtlCol="0" anchor="ctr"/>
          <a:lstStyle/>
          <a:p>
            <a:pPr indent="0" marL="0">
              <a:buNone/>
            </a:pPr>
            <a:r>
              <a:rPr lang="en-US" sz="1400" b="1" spc="100" kern="0" dirty="0">
                <a:solidFill>
                  <a:srgbClr val="43D5FF"/>
                </a:solidFill>
                <a:latin typeface="Arial" pitchFamily="34" charset="0"/>
                <a:ea typeface="Arial" pitchFamily="34" charset="-122"/>
                <a:cs typeface="Arial" pitchFamily="34" charset="-120"/>
              </a:rPr>
              <a:t>TARGET SEGMENTS, IN PRIORITY ORDER</a:t>
            </a:r>
            <a:endParaRPr lang="en-US" sz="1400" dirty="0"/>
          </a:p>
        </p:txBody>
      </p:sp>
      <p:graphicFrame>
        <p:nvGraphicFramePr>
          <p:cNvPr id="5" name="Table 0"/>
          <p:cNvGraphicFramePr>
            <a:graphicFrameLocks noGrp="1"/>
          </p:cNvGraphicFramePr>
          <p:nvPr>
            <p:extLst>
              <p:ext uri="{D42A27DB-BD31-4B8C-83A1-F6EECF244321}">
                <p14:modId xmlns:p14="http://schemas.microsoft.com/office/powerpoint/2010/main" val="1579011935"/>
              </p:ext>
            </p:extLst>
          </p:nvPr>
        </p:nvGraphicFramePr>
        <p:xfrm>
          <a:off x="566928" y="2240280"/>
          <a:ext cx="11055096" cy="914400"/>
        </p:xfrm>
        <a:graphic>
          <a:graphicData uri="http://schemas.openxmlformats.org/drawingml/2006/table">
            <a:tbl>
              <a:tblPr/>
              <a:tblGrid>
                <a:gridCol w="3291840"/>
                <a:gridCol w="7763256"/>
              </a:tblGrid>
              <a:tr h="457200">
                <a:tc>
                  <a:txBody>
                    <a:bodyPr/>
                    <a:lstStyle/>
                    <a:p>
                      <a:pPr algn="l" indent="0" marL="0">
                        <a:buNone/>
                      </a:pPr>
                      <a:r>
                        <a:rPr lang="en-US" sz="1200" b="1" dirty="0">
                          <a:solidFill>
                            <a:srgbClr val="43D5FF"/>
                          </a:solidFill>
                          <a:latin typeface="Arial" pitchFamily="34" charset="0"/>
                          <a:ea typeface="Arial" pitchFamily="34" charset="-122"/>
                          <a:cs typeface="Arial" pitchFamily="34" charset="-120"/>
                        </a:rPr>
                        <a:t>SEGMENT</a:t>
                      </a:r>
                      <a:endParaRPr lang="en-US" sz="1200" dirty="0">
                        <a:latin typeface="Arial" charset="0"/>
                        <a:ea typeface="Arial" charset="0"/>
                        <a:cs typeface="Arial" charset="0"/>
                      </a:endParaRPr>
                    </a:p>
                  </a:txBody>
                  <a:tcPr marL="109728" marR="109728" marT="109728" marB="109728" anchor="ctr">
                    <a:lnL w="12700" cap="flat" cmpd="sng" algn="ctr">
                      <a:solidFill>
                        <a:srgbClr val="31316A"/>
                      </a:solidFill>
                      <a:prstDash val="solid"/>
                      <a:round/>
                      <a:headEnd type="none" w="med" len="med"/>
                      <a:tailEnd type="none" w="med" len="med"/>
                    </a:lnL>
                    <a:lnR w="12700" cap="flat" cmpd="sng" algn="ctr">
                      <a:solidFill>
                        <a:srgbClr val="31316A"/>
                      </a:solidFill>
                      <a:prstDash val="solid"/>
                      <a:round/>
                      <a:headEnd type="none" w="med" len="med"/>
                      <a:tailEnd type="none" w="med" len="med"/>
                    </a:lnR>
                    <a:lnT w="12700" cap="flat" cmpd="sng" algn="ctr">
                      <a:solidFill>
                        <a:srgbClr val="31316A"/>
                      </a:solidFill>
                      <a:prstDash val="solid"/>
                      <a:round/>
                      <a:headEnd type="none" w="med" len="med"/>
                      <a:tailEnd type="none" w="med" len="med"/>
                    </a:lnT>
                    <a:lnB w="12700" cap="flat" cmpd="sng" algn="ctr">
                      <a:solidFill>
                        <a:srgbClr val="31316A"/>
                      </a:solidFill>
                      <a:prstDash val="solid"/>
                      <a:round/>
                      <a:headEnd type="none" w="med" len="med"/>
                      <a:tailEnd type="none" w="med" len="med"/>
                    </a:lnB>
                    <a:solidFill>
                      <a:srgbClr val="1B1B45">
                        <a:alpha val="75000"/>
                      </a:srgbClr>
                    </a:solidFill>
                  </a:tcPr>
                </a:tc>
                <a:tc>
                  <a:txBody>
                    <a:bodyPr/>
                    <a:lstStyle/>
                    <a:p>
                      <a:pPr algn="l" indent="0" marL="0">
                        <a:buNone/>
                      </a:pPr>
                      <a:r>
                        <a:rPr lang="en-US" sz="1200" b="1" dirty="0">
                          <a:solidFill>
                            <a:srgbClr val="43D5FF"/>
                          </a:solidFill>
                          <a:latin typeface="Arial" pitchFamily="34" charset="0"/>
                          <a:ea typeface="Arial" pitchFamily="34" charset="-122"/>
                          <a:cs typeface="Arial" pitchFamily="34" charset="-120"/>
                        </a:rPr>
                        <a:t>WHO THEY ARE AND WHY THEY FIT</a:t>
                      </a:r>
                      <a:endParaRPr lang="en-US" sz="1200" dirty="0">
                        <a:latin typeface="Arial" charset="0"/>
                        <a:ea typeface="Arial" charset="0"/>
                        <a:cs typeface="Arial" charset="0"/>
                      </a:endParaRPr>
                    </a:p>
                  </a:txBody>
                  <a:tcPr marL="109728" marR="109728" marT="109728" marB="109728" anchor="ctr">
                    <a:lnL w="12700" cap="flat" cmpd="sng" algn="ctr">
                      <a:solidFill>
                        <a:srgbClr val="31316A"/>
                      </a:solidFill>
                      <a:prstDash val="solid"/>
                      <a:round/>
                      <a:headEnd type="none" w="med" len="med"/>
                      <a:tailEnd type="none" w="med" len="med"/>
                    </a:lnL>
                    <a:lnR w="12700" cap="flat" cmpd="sng" algn="ctr">
                      <a:solidFill>
                        <a:srgbClr val="31316A"/>
                      </a:solidFill>
                      <a:prstDash val="solid"/>
                      <a:round/>
                      <a:headEnd type="none" w="med" len="med"/>
                      <a:tailEnd type="none" w="med" len="med"/>
                    </a:lnR>
                    <a:lnT w="12700" cap="flat" cmpd="sng" algn="ctr">
                      <a:solidFill>
                        <a:srgbClr val="31316A"/>
                      </a:solidFill>
                      <a:prstDash val="solid"/>
                      <a:round/>
                      <a:headEnd type="none" w="med" len="med"/>
                      <a:tailEnd type="none" w="med" len="med"/>
                    </a:lnT>
                    <a:lnB w="12700" cap="flat" cmpd="sng" algn="ctr">
                      <a:solidFill>
                        <a:srgbClr val="31316A"/>
                      </a:solidFill>
                      <a:prstDash val="solid"/>
                      <a:round/>
                      <a:headEnd type="none" w="med" len="med"/>
                      <a:tailEnd type="none" w="med" len="med"/>
                    </a:lnB>
                    <a:solidFill>
                      <a:srgbClr val="1B1B45">
                        <a:alpha val="75000"/>
                      </a:srgbClr>
                    </a:solidFill>
                  </a:tcPr>
                </a:tc>
              </a:tr>
              <a:tr h="713232">
                <a:tc>
                  <a:txBody>
                    <a:bodyPr/>
                    <a:lstStyle/>
                    <a:p>
                      <a:pPr algn="l" indent="0" marL="0">
                        <a:buNone/>
                      </a:pPr>
                      <a:r>
                        <a:rPr lang="en-US" sz="1400" b="1" dirty="0">
                          <a:solidFill>
                            <a:srgbClr val="FFFFFF"/>
                          </a:solidFill>
                          <a:latin typeface="Arial" pitchFamily="34" charset="0"/>
                          <a:ea typeface="Arial" pitchFamily="34" charset="-122"/>
                          <a:cs typeface="Arial" pitchFamily="34" charset="-120"/>
                        </a:rPr>
                        <a:t>1.  Real Estate Debt &amp; Note Investors</a:t>
                      </a:r>
                      <a:endParaRPr lang="en-US" sz="1400" dirty="0">
                        <a:latin typeface="Arial" charset="0"/>
                        <a:ea typeface="Arial" charset="0"/>
                        <a:cs typeface="Arial" charset="0"/>
                      </a:endParaRPr>
                    </a:p>
                  </a:txBody>
                  <a:tcPr marL="109728" marR="109728" marT="109728" marB="109728" anchor="ctr">
                    <a:lnL w="12700" cap="flat" cmpd="sng" algn="ctr">
                      <a:solidFill>
                        <a:srgbClr val="31316A"/>
                      </a:solidFill>
                      <a:prstDash val="solid"/>
                      <a:round/>
                      <a:headEnd type="none" w="med" len="med"/>
                      <a:tailEnd type="none" w="med" len="med"/>
                    </a:lnL>
                    <a:lnR w="12700" cap="flat" cmpd="sng" algn="ctr">
                      <a:solidFill>
                        <a:srgbClr val="31316A"/>
                      </a:solidFill>
                      <a:prstDash val="solid"/>
                      <a:round/>
                      <a:headEnd type="none" w="med" len="med"/>
                      <a:tailEnd type="none" w="med" len="med"/>
                    </a:lnR>
                    <a:lnT w="12700" cap="flat" cmpd="sng" algn="ctr">
                      <a:solidFill>
                        <a:srgbClr val="31316A"/>
                      </a:solidFill>
                      <a:prstDash val="solid"/>
                      <a:round/>
                      <a:headEnd type="none" w="med" len="med"/>
                      <a:tailEnd type="none" w="med" len="med"/>
                    </a:lnT>
                    <a:lnB w="12700" cap="flat" cmpd="sng" algn="ctr">
                      <a:solidFill>
                        <a:srgbClr val="31316A"/>
                      </a:solidFill>
                      <a:prstDash val="solid"/>
                      <a:round/>
                      <a:headEnd type="none" w="med" len="med"/>
                      <a:tailEnd type="none" w="med" len="med"/>
                    </a:lnB>
                    <a:solidFill>
                      <a:srgbClr val="0D0D26">
                        <a:alpha val="55000"/>
                      </a:srgbClr>
                    </a:solidFill>
                  </a:tcPr>
                </a:tc>
                <a:tc>
                  <a:txBody>
                    <a:bodyPr/>
                    <a:lstStyle/>
                    <a:p>
                      <a:pPr algn="l" indent="0" marL="0">
                        <a:buNone/>
                      </a:pPr>
                      <a:r>
                        <a:rPr lang="en-US" sz="1250" dirty="0">
                          <a:solidFill>
                            <a:srgbClr val="FFFFFF"/>
                          </a:solidFill>
                          <a:latin typeface="Arial" pitchFamily="34" charset="0"/>
                          <a:ea typeface="Arial" pitchFamily="34" charset="-122"/>
                          <a:cs typeface="Arial" pitchFamily="34" charset="-120"/>
                        </a:rPr>
                        <a:t>Accredited individuals and family offices already writing $150K–$500K checks into real estate debt, who read an 8% collateralized note as part of their allocation.</a:t>
                      </a:r>
                      <a:endParaRPr lang="en-US" sz="1250" dirty="0">
                        <a:latin typeface="Arial" charset="0"/>
                        <a:ea typeface="Arial" charset="0"/>
                        <a:cs typeface="Arial" charset="0"/>
                      </a:endParaRPr>
                    </a:p>
                  </a:txBody>
                  <a:tcPr marL="109728" marR="109728" marT="109728" marB="109728" anchor="ctr">
                    <a:lnL w="12700" cap="flat" cmpd="sng" algn="ctr">
                      <a:solidFill>
                        <a:srgbClr val="31316A"/>
                      </a:solidFill>
                      <a:prstDash val="solid"/>
                      <a:round/>
                      <a:headEnd type="none" w="med" len="med"/>
                      <a:tailEnd type="none" w="med" len="med"/>
                    </a:lnL>
                    <a:lnR w="12700" cap="flat" cmpd="sng" algn="ctr">
                      <a:solidFill>
                        <a:srgbClr val="31316A"/>
                      </a:solidFill>
                      <a:prstDash val="solid"/>
                      <a:round/>
                      <a:headEnd type="none" w="med" len="med"/>
                      <a:tailEnd type="none" w="med" len="med"/>
                    </a:lnR>
                    <a:lnT w="12700" cap="flat" cmpd="sng" algn="ctr">
                      <a:solidFill>
                        <a:srgbClr val="31316A"/>
                      </a:solidFill>
                      <a:prstDash val="solid"/>
                      <a:round/>
                      <a:headEnd type="none" w="med" len="med"/>
                      <a:tailEnd type="none" w="med" len="med"/>
                    </a:lnT>
                    <a:lnB w="12700" cap="flat" cmpd="sng" algn="ctr">
                      <a:solidFill>
                        <a:srgbClr val="31316A"/>
                      </a:solidFill>
                      <a:prstDash val="solid"/>
                      <a:round/>
                      <a:headEnd type="none" w="med" len="med"/>
                      <a:tailEnd type="none" w="med" len="med"/>
                    </a:lnB>
                    <a:solidFill>
                      <a:srgbClr val="0D0D26">
                        <a:alpha val="55000"/>
                      </a:srgbClr>
                    </a:solidFill>
                  </a:tcPr>
                </a:tc>
              </a:tr>
              <a:tr h="713232">
                <a:tc>
                  <a:txBody>
                    <a:bodyPr/>
                    <a:lstStyle/>
                    <a:p>
                      <a:pPr algn="l" indent="0" marL="0">
                        <a:buNone/>
                      </a:pPr>
                      <a:r>
                        <a:rPr lang="en-US" sz="1400" b="1" dirty="0">
                          <a:solidFill>
                            <a:srgbClr val="FFFFFF"/>
                          </a:solidFill>
                          <a:latin typeface="Arial" pitchFamily="34" charset="0"/>
                          <a:ea typeface="Arial" pitchFamily="34" charset="-122"/>
                          <a:cs typeface="Arial" pitchFamily="34" charset="-120"/>
                        </a:rPr>
                        <a:t>2.  Impact &amp; Housing-Mission Investors</a:t>
                      </a:r>
                      <a:endParaRPr lang="en-US" sz="1400" dirty="0">
                        <a:latin typeface="Arial" charset="0"/>
                        <a:ea typeface="Arial" charset="0"/>
                        <a:cs typeface="Arial" charset="0"/>
                      </a:endParaRPr>
                    </a:p>
                  </a:txBody>
                  <a:tcPr marL="109728" marR="109728" marT="109728" marB="109728" anchor="ctr">
                    <a:lnL w="12700" cap="flat" cmpd="sng" algn="ctr">
                      <a:solidFill>
                        <a:srgbClr val="31316A"/>
                      </a:solidFill>
                      <a:prstDash val="solid"/>
                      <a:round/>
                      <a:headEnd type="none" w="med" len="med"/>
                      <a:tailEnd type="none" w="med" len="med"/>
                    </a:lnL>
                    <a:lnR w="12700" cap="flat" cmpd="sng" algn="ctr">
                      <a:solidFill>
                        <a:srgbClr val="31316A"/>
                      </a:solidFill>
                      <a:prstDash val="solid"/>
                      <a:round/>
                      <a:headEnd type="none" w="med" len="med"/>
                      <a:tailEnd type="none" w="med" len="med"/>
                    </a:lnR>
                    <a:lnT w="12700" cap="flat" cmpd="sng" algn="ctr">
                      <a:solidFill>
                        <a:srgbClr val="31316A"/>
                      </a:solidFill>
                      <a:prstDash val="solid"/>
                      <a:round/>
                      <a:headEnd type="none" w="med" len="med"/>
                      <a:tailEnd type="none" w="med" len="med"/>
                    </a:lnT>
                    <a:lnB w="12700" cap="flat" cmpd="sng" algn="ctr">
                      <a:solidFill>
                        <a:srgbClr val="31316A"/>
                      </a:solidFill>
                      <a:prstDash val="solid"/>
                      <a:round/>
                      <a:headEnd type="none" w="med" len="med"/>
                      <a:tailEnd type="none" w="med" len="med"/>
                    </a:lnB>
                    <a:solidFill>
                      <a:srgbClr val="0D0D26">
                        <a:alpha val="55000"/>
                      </a:srgbClr>
                    </a:solidFill>
                  </a:tcPr>
                </a:tc>
                <a:tc>
                  <a:txBody>
                    <a:bodyPr/>
                    <a:lstStyle/>
                    <a:p>
                      <a:pPr algn="l" indent="0" marL="0">
                        <a:buNone/>
                      </a:pPr>
                      <a:r>
                        <a:rPr lang="en-US" sz="1250" dirty="0">
                          <a:solidFill>
                            <a:srgbClr val="FFFFFF"/>
                          </a:solidFill>
                          <a:latin typeface="Arial" pitchFamily="34" charset="0"/>
                          <a:ea typeface="Arial" pitchFamily="34" charset="-122"/>
                          <a:cs typeface="Arial" pitchFamily="34" charset="-120"/>
                        </a:rPr>
                        <a:t>Investors drawn to affordable home ownership. Your stories (bridging a family to down-payment assistance, a path out of divorce) are why they say yes.</a:t>
                      </a:r>
                      <a:endParaRPr lang="en-US" sz="1250" dirty="0">
                        <a:latin typeface="Arial" charset="0"/>
                        <a:ea typeface="Arial" charset="0"/>
                        <a:cs typeface="Arial" charset="0"/>
                      </a:endParaRPr>
                    </a:p>
                  </a:txBody>
                  <a:tcPr marL="109728" marR="109728" marT="109728" marB="109728" anchor="ctr">
                    <a:lnL w="12700" cap="flat" cmpd="sng" algn="ctr">
                      <a:solidFill>
                        <a:srgbClr val="31316A"/>
                      </a:solidFill>
                      <a:prstDash val="solid"/>
                      <a:round/>
                      <a:headEnd type="none" w="med" len="med"/>
                      <a:tailEnd type="none" w="med" len="med"/>
                    </a:lnL>
                    <a:lnR w="12700" cap="flat" cmpd="sng" algn="ctr">
                      <a:solidFill>
                        <a:srgbClr val="31316A"/>
                      </a:solidFill>
                      <a:prstDash val="solid"/>
                      <a:round/>
                      <a:headEnd type="none" w="med" len="med"/>
                      <a:tailEnd type="none" w="med" len="med"/>
                    </a:lnR>
                    <a:lnT w="12700" cap="flat" cmpd="sng" algn="ctr">
                      <a:solidFill>
                        <a:srgbClr val="31316A"/>
                      </a:solidFill>
                      <a:prstDash val="solid"/>
                      <a:round/>
                      <a:headEnd type="none" w="med" len="med"/>
                      <a:tailEnd type="none" w="med" len="med"/>
                    </a:lnT>
                    <a:lnB w="12700" cap="flat" cmpd="sng" algn="ctr">
                      <a:solidFill>
                        <a:srgbClr val="31316A"/>
                      </a:solidFill>
                      <a:prstDash val="solid"/>
                      <a:round/>
                      <a:headEnd type="none" w="med" len="med"/>
                      <a:tailEnd type="none" w="med" len="med"/>
                    </a:lnB>
                    <a:solidFill>
                      <a:srgbClr val="0D0D26">
                        <a:alpha val="55000"/>
                      </a:srgbClr>
                    </a:solidFill>
                  </a:tcPr>
                </a:tc>
              </a:tr>
              <a:tr h="713232">
                <a:tc>
                  <a:txBody>
                    <a:bodyPr/>
                    <a:lstStyle/>
                    <a:p>
                      <a:pPr algn="l" indent="0" marL="0">
                        <a:buNone/>
                      </a:pPr>
                      <a:r>
                        <a:rPr lang="en-US" sz="1400" b="1" dirty="0">
                          <a:solidFill>
                            <a:srgbClr val="FFFFFF"/>
                          </a:solidFill>
                          <a:latin typeface="Arial" pitchFamily="34" charset="0"/>
                          <a:ea typeface="Arial" pitchFamily="34" charset="-122"/>
                          <a:cs typeface="Arial" pitchFamily="34" charset="-120"/>
                        </a:rPr>
                        <a:t>3.  SFR &amp; Rent-to-Own Familiar Capital</a:t>
                      </a:r>
                      <a:endParaRPr lang="en-US" sz="1400" dirty="0">
                        <a:latin typeface="Arial" charset="0"/>
                        <a:ea typeface="Arial" charset="0"/>
                        <a:cs typeface="Arial" charset="0"/>
                      </a:endParaRPr>
                    </a:p>
                  </a:txBody>
                  <a:tcPr marL="109728" marR="109728" marT="109728" marB="109728" anchor="ctr">
                    <a:lnL w="12700" cap="flat" cmpd="sng" algn="ctr">
                      <a:solidFill>
                        <a:srgbClr val="31316A"/>
                      </a:solidFill>
                      <a:prstDash val="solid"/>
                      <a:round/>
                      <a:headEnd type="none" w="med" len="med"/>
                      <a:tailEnd type="none" w="med" len="med"/>
                    </a:lnL>
                    <a:lnR w="12700" cap="flat" cmpd="sng" algn="ctr">
                      <a:solidFill>
                        <a:srgbClr val="31316A"/>
                      </a:solidFill>
                      <a:prstDash val="solid"/>
                      <a:round/>
                      <a:headEnd type="none" w="med" len="med"/>
                      <a:tailEnd type="none" w="med" len="med"/>
                    </a:lnR>
                    <a:lnT w="12700" cap="flat" cmpd="sng" algn="ctr">
                      <a:solidFill>
                        <a:srgbClr val="31316A"/>
                      </a:solidFill>
                      <a:prstDash val="solid"/>
                      <a:round/>
                      <a:headEnd type="none" w="med" len="med"/>
                      <a:tailEnd type="none" w="med" len="med"/>
                    </a:lnT>
                    <a:lnB w="12700" cap="flat" cmpd="sng" algn="ctr">
                      <a:solidFill>
                        <a:srgbClr val="31316A"/>
                      </a:solidFill>
                      <a:prstDash val="solid"/>
                      <a:round/>
                      <a:headEnd type="none" w="med" len="med"/>
                      <a:tailEnd type="none" w="med" len="med"/>
                    </a:lnB>
                    <a:solidFill>
                      <a:srgbClr val="0D0D26">
                        <a:alpha val="55000"/>
                      </a:srgbClr>
                    </a:solidFill>
                  </a:tcPr>
                </a:tc>
                <a:tc>
                  <a:txBody>
                    <a:bodyPr/>
                    <a:lstStyle/>
                    <a:p>
                      <a:pPr algn="l" indent="0" marL="0">
                        <a:buNone/>
                      </a:pPr>
                      <a:r>
                        <a:rPr lang="en-US" sz="1250" dirty="0">
                          <a:solidFill>
                            <a:srgbClr val="FFFFFF"/>
                          </a:solidFill>
                          <a:latin typeface="Arial" pitchFamily="34" charset="0"/>
                          <a:ea typeface="Arial" pitchFamily="34" charset="-122"/>
                          <a:cs typeface="Arial" pitchFamily="34" charset="-120"/>
                        </a:rPr>
                        <a:t>Investors in single-family rental, lease-option or contract-for-deed funds who understand the model and can see why yours actually leads to ownership.</a:t>
                      </a:r>
                      <a:endParaRPr lang="en-US" sz="1250" dirty="0">
                        <a:latin typeface="Arial" charset="0"/>
                        <a:ea typeface="Arial" charset="0"/>
                        <a:cs typeface="Arial" charset="0"/>
                      </a:endParaRPr>
                    </a:p>
                  </a:txBody>
                  <a:tcPr marL="109728" marR="109728" marT="109728" marB="109728" anchor="ctr">
                    <a:lnL w="12700" cap="flat" cmpd="sng" algn="ctr">
                      <a:solidFill>
                        <a:srgbClr val="31316A"/>
                      </a:solidFill>
                      <a:prstDash val="solid"/>
                      <a:round/>
                      <a:headEnd type="none" w="med" len="med"/>
                      <a:tailEnd type="none" w="med" len="med"/>
                    </a:lnL>
                    <a:lnR w="12700" cap="flat" cmpd="sng" algn="ctr">
                      <a:solidFill>
                        <a:srgbClr val="31316A"/>
                      </a:solidFill>
                      <a:prstDash val="solid"/>
                      <a:round/>
                      <a:headEnd type="none" w="med" len="med"/>
                      <a:tailEnd type="none" w="med" len="med"/>
                    </a:lnR>
                    <a:lnT w="12700" cap="flat" cmpd="sng" algn="ctr">
                      <a:solidFill>
                        <a:srgbClr val="31316A"/>
                      </a:solidFill>
                      <a:prstDash val="solid"/>
                      <a:round/>
                      <a:headEnd type="none" w="med" len="med"/>
                      <a:tailEnd type="none" w="med" len="med"/>
                    </a:lnT>
                    <a:lnB w="12700" cap="flat" cmpd="sng" algn="ctr">
                      <a:solidFill>
                        <a:srgbClr val="31316A"/>
                      </a:solidFill>
                      <a:prstDash val="solid"/>
                      <a:round/>
                      <a:headEnd type="none" w="med" len="med"/>
                      <a:tailEnd type="none" w="med" len="med"/>
                    </a:lnB>
                    <a:solidFill>
                      <a:srgbClr val="0D0D26">
                        <a:alpha val="55000"/>
                      </a:srgbClr>
                    </a:solidFill>
                  </a:tcPr>
                </a:tc>
              </a:tr>
              <a:tr h="713232">
                <a:tc>
                  <a:txBody>
                    <a:bodyPr/>
                    <a:lstStyle/>
                    <a:p>
                      <a:pPr algn="l" indent="0" marL="0">
                        <a:buNone/>
                      </a:pPr>
                      <a:r>
                        <a:rPr lang="en-US" sz="1400" b="1" dirty="0">
                          <a:solidFill>
                            <a:srgbClr val="FFFFFF"/>
                          </a:solidFill>
                          <a:latin typeface="Arial" pitchFamily="34" charset="0"/>
                          <a:ea typeface="Arial" pitchFamily="34" charset="-122"/>
                          <a:cs typeface="Arial" pitchFamily="34" charset="-120"/>
                        </a:rPr>
                        <a:t>4.  Midwest Business Owners &amp; Operators</a:t>
                      </a:r>
                      <a:endParaRPr lang="en-US" sz="1400" dirty="0">
                        <a:latin typeface="Arial" charset="0"/>
                        <a:ea typeface="Arial" charset="0"/>
                        <a:cs typeface="Arial" charset="0"/>
                      </a:endParaRPr>
                    </a:p>
                  </a:txBody>
                  <a:tcPr marL="109728" marR="109728" marT="109728" marB="109728" anchor="ctr">
                    <a:lnL w="12700" cap="flat" cmpd="sng" algn="ctr">
                      <a:solidFill>
                        <a:srgbClr val="31316A"/>
                      </a:solidFill>
                      <a:prstDash val="solid"/>
                      <a:round/>
                      <a:headEnd type="none" w="med" len="med"/>
                      <a:tailEnd type="none" w="med" len="med"/>
                    </a:lnL>
                    <a:lnR w="12700" cap="flat" cmpd="sng" algn="ctr">
                      <a:solidFill>
                        <a:srgbClr val="31316A"/>
                      </a:solidFill>
                      <a:prstDash val="solid"/>
                      <a:round/>
                      <a:headEnd type="none" w="med" len="med"/>
                      <a:tailEnd type="none" w="med" len="med"/>
                    </a:lnR>
                    <a:lnT w="12700" cap="flat" cmpd="sng" algn="ctr">
                      <a:solidFill>
                        <a:srgbClr val="31316A"/>
                      </a:solidFill>
                      <a:prstDash val="solid"/>
                      <a:round/>
                      <a:headEnd type="none" w="med" len="med"/>
                      <a:tailEnd type="none" w="med" len="med"/>
                    </a:lnT>
                    <a:lnB w="12700" cap="flat" cmpd="sng" algn="ctr">
                      <a:solidFill>
                        <a:srgbClr val="31316A"/>
                      </a:solidFill>
                      <a:prstDash val="solid"/>
                      <a:round/>
                      <a:headEnd type="none" w="med" len="med"/>
                      <a:tailEnd type="none" w="med" len="med"/>
                    </a:lnB>
                    <a:solidFill>
                      <a:srgbClr val="0D0D26">
                        <a:alpha val="55000"/>
                      </a:srgbClr>
                    </a:solidFill>
                  </a:tcPr>
                </a:tc>
                <a:tc>
                  <a:txBody>
                    <a:bodyPr/>
                    <a:lstStyle/>
                    <a:p>
                      <a:pPr algn="l" indent="0" marL="0">
                        <a:buNone/>
                      </a:pPr>
                      <a:r>
                        <a:rPr lang="en-US" sz="1250" dirty="0">
                          <a:solidFill>
                            <a:srgbClr val="FFFFFF"/>
                          </a:solidFill>
                          <a:latin typeface="Arial" pitchFamily="34" charset="0"/>
                          <a:ea typeface="Arial" pitchFamily="34" charset="-122"/>
                          <a:cs typeface="Arial" pitchFamily="34" charset="-120"/>
                        </a:rPr>
                        <a:t>Twin Cities and Midwest owners, executives and exited founders who know the market, value a local operator and stay invested for years.</a:t>
                      </a:r>
                      <a:endParaRPr lang="en-US" sz="1250" dirty="0">
                        <a:latin typeface="Arial" charset="0"/>
                        <a:ea typeface="Arial" charset="0"/>
                        <a:cs typeface="Arial" charset="0"/>
                      </a:endParaRPr>
                    </a:p>
                  </a:txBody>
                  <a:tcPr marL="109728" marR="109728" marT="109728" marB="109728" anchor="ctr">
                    <a:lnL w="12700" cap="flat" cmpd="sng" algn="ctr">
                      <a:solidFill>
                        <a:srgbClr val="31316A"/>
                      </a:solidFill>
                      <a:prstDash val="solid"/>
                      <a:round/>
                      <a:headEnd type="none" w="med" len="med"/>
                      <a:tailEnd type="none" w="med" len="med"/>
                    </a:lnL>
                    <a:lnR w="12700" cap="flat" cmpd="sng" algn="ctr">
                      <a:solidFill>
                        <a:srgbClr val="31316A"/>
                      </a:solidFill>
                      <a:prstDash val="solid"/>
                      <a:round/>
                      <a:headEnd type="none" w="med" len="med"/>
                      <a:tailEnd type="none" w="med" len="med"/>
                    </a:lnR>
                    <a:lnT w="12700" cap="flat" cmpd="sng" algn="ctr">
                      <a:solidFill>
                        <a:srgbClr val="31316A"/>
                      </a:solidFill>
                      <a:prstDash val="solid"/>
                      <a:round/>
                      <a:headEnd type="none" w="med" len="med"/>
                      <a:tailEnd type="none" w="med" len="med"/>
                    </a:lnT>
                    <a:lnB w="12700" cap="flat" cmpd="sng" algn="ctr">
                      <a:solidFill>
                        <a:srgbClr val="31316A"/>
                      </a:solidFill>
                      <a:prstDash val="solid"/>
                      <a:round/>
                      <a:headEnd type="none" w="med" len="med"/>
                      <a:tailEnd type="none" w="med" len="med"/>
                    </a:lnB>
                    <a:solidFill>
                      <a:srgbClr val="0D0D26">
                        <a:alpha val="55000"/>
                      </a:srgbClr>
                    </a:solidFill>
                  </a:tcPr>
                </a:tc>
              </a:tr>
              <a:tr h="713232">
                <a:tc>
                  <a:txBody>
                    <a:bodyPr/>
                    <a:lstStyle/>
                    <a:p>
                      <a:pPr algn="l" indent="0" marL="0">
                        <a:buNone/>
                      </a:pPr>
                      <a:r>
                        <a:rPr lang="en-US" sz="1400" b="1" dirty="0">
                          <a:solidFill>
                            <a:srgbClr val="FFFFFF"/>
                          </a:solidFill>
                          <a:latin typeface="Arial" pitchFamily="34" charset="0"/>
                          <a:ea typeface="Arial" pitchFamily="34" charset="-122"/>
                          <a:cs typeface="Arial" pitchFamily="34" charset="-120"/>
                        </a:rPr>
                        <a:t>5.  Family Offices &amp; Syndicate Leads</a:t>
                      </a:r>
                      <a:endParaRPr lang="en-US" sz="1400" dirty="0">
                        <a:latin typeface="Arial" charset="0"/>
                        <a:ea typeface="Arial" charset="0"/>
                        <a:cs typeface="Arial" charset="0"/>
                      </a:endParaRPr>
                    </a:p>
                  </a:txBody>
                  <a:tcPr marL="109728" marR="109728" marT="109728" marB="109728" anchor="ctr">
                    <a:lnL w="12700" cap="flat" cmpd="sng" algn="ctr">
                      <a:solidFill>
                        <a:srgbClr val="31316A"/>
                      </a:solidFill>
                      <a:prstDash val="solid"/>
                      <a:round/>
                      <a:headEnd type="none" w="med" len="med"/>
                      <a:tailEnd type="none" w="med" len="med"/>
                    </a:lnL>
                    <a:lnR w="12700" cap="flat" cmpd="sng" algn="ctr">
                      <a:solidFill>
                        <a:srgbClr val="31316A"/>
                      </a:solidFill>
                      <a:prstDash val="solid"/>
                      <a:round/>
                      <a:headEnd type="none" w="med" len="med"/>
                      <a:tailEnd type="none" w="med" len="med"/>
                    </a:lnR>
                    <a:lnT w="12700" cap="flat" cmpd="sng" algn="ctr">
                      <a:solidFill>
                        <a:srgbClr val="31316A"/>
                      </a:solidFill>
                      <a:prstDash val="solid"/>
                      <a:round/>
                      <a:headEnd type="none" w="med" len="med"/>
                      <a:tailEnd type="none" w="med" len="med"/>
                    </a:lnT>
                    <a:lnB w="12700" cap="flat" cmpd="sng" algn="ctr">
                      <a:solidFill>
                        <a:srgbClr val="31316A"/>
                      </a:solidFill>
                      <a:prstDash val="solid"/>
                      <a:round/>
                      <a:headEnd type="none" w="med" len="med"/>
                      <a:tailEnd type="none" w="med" len="med"/>
                    </a:lnB>
                    <a:solidFill>
                      <a:srgbClr val="0D0D26">
                        <a:alpha val="55000"/>
                      </a:srgbClr>
                    </a:solidFill>
                  </a:tcPr>
                </a:tc>
                <a:tc>
                  <a:txBody>
                    <a:bodyPr/>
                    <a:lstStyle/>
                    <a:p>
                      <a:pPr algn="l" indent="0" marL="0">
                        <a:buNone/>
                      </a:pPr>
                      <a:r>
                        <a:rPr lang="en-US" sz="1250" dirty="0">
                          <a:solidFill>
                            <a:srgbClr val="FFFFFF"/>
                          </a:solidFill>
                          <a:latin typeface="Arial" pitchFamily="34" charset="0"/>
                          <a:ea typeface="Arial" pitchFamily="34" charset="-122"/>
                          <a:cs typeface="Arial" pitchFamily="34" charset="-120"/>
                        </a:rPr>
                        <a:t>Single-family offices and syndicate leads who bring others into an SPV: one relationship, several checks, the season-tickets model.</a:t>
                      </a:r>
                      <a:endParaRPr lang="en-US" sz="1250" dirty="0">
                        <a:latin typeface="Arial" charset="0"/>
                        <a:ea typeface="Arial" charset="0"/>
                        <a:cs typeface="Arial" charset="0"/>
                      </a:endParaRPr>
                    </a:p>
                  </a:txBody>
                  <a:tcPr marL="109728" marR="109728" marT="109728" marB="109728" anchor="ctr">
                    <a:lnL w="12700" cap="flat" cmpd="sng" algn="ctr">
                      <a:solidFill>
                        <a:srgbClr val="31316A"/>
                      </a:solidFill>
                      <a:prstDash val="solid"/>
                      <a:round/>
                      <a:headEnd type="none" w="med" len="med"/>
                      <a:tailEnd type="none" w="med" len="med"/>
                    </a:lnL>
                    <a:lnR w="12700" cap="flat" cmpd="sng" algn="ctr">
                      <a:solidFill>
                        <a:srgbClr val="31316A"/>
                      </a:solidFill>
                      <a:prstDash val="solid"/>
                      <a:round/>
                      <a:headEnd type="none" w="med" len="med"/>
                      <a:tailEnd type="none" w="med" len="med"/>
                    </a:lnR>
                    <a:lnT w="12700" cap="flat" cmpd="sng" algn="ctr">
                      <a:solidFill>
                        <a:srgbClr val="31316A"/>
                      </a:solidFill>
                      <a:prstDash val="solid"/>
                      <a:round/>
                      <a:headEnd type="none" w="med" len="med"/>
                      <a:tailEnd type="none" w="med" len="med"/>
                    </a:lnT>
                    <a:lnB w="12700" cap="flat" cmpd="sng" algn="ctr">
                      <a:solidFill>
                        <a:srgbClr val="31316A"/>
                      </a:solidFill>
                      <a:prstDash val="solid"/>
                      <a:round/>
                      <a:headEnd type="none" w="med" len="med"/>
                      <a:tailEnd type="none" w="med" len="med"/>
                    </a:lnB>
                    <a:solidFill>
                      <a:srgbClr val="0D0D26">
                        <a:alpha val="55000"/>
                      </a:srgbClr>
                    </a:solidFill>
                  </a:tcPr>
                </a:tc>
              </a:tr>
            </a:tbl>
          </a:graphicData>
        </a:graphic>
      </p:graphicFrame>
      <p:sp>
        <p:nvSpPr>
          <p:cNvPr id="312" name="Text 30"/>
          <p:cNvSpPr/>
          <p:nvPr/>
        </p:nvSpPr>
        <p:spPr>
          <a:xfrm>
            <a:off x="566928" y="6400800"/>
            <a:ext cx="11155680" cy="411480"/>
          </a:xfrm>
          <a:prstGeom prst="rect">
            <a:avLst/>
          </a:prstGeom>
          <a:noFill/>
          <a:ln/>
        </p:spPr>
        <p:txBody>
          <a:bodyPr wrap="square" lIns="0" tIns="0" rIns="0" bIns="0" rtlCol="0" anchor="t"/>
          <a:lstStyle/>
          <a:p>
            <a:pPr indent="0" marL="0">
              <a:lnSpc>
                <a:spcPct val="125000"/>
              </a:lnSpc>
              <a:buNone/>
            </a:pPr>
            <a:r>
              <a:rPr lang="en-US" sz="1150" i="1" dirty="0">
                <a:solidFill>
                  <a:srgbClr val="B9BEDC"/>
                </a:solidFill>
                <a:latin typeface="Arial" pitchFamily="34" charset="0"/>
                <a:ea typeface="Arial" pitchFamily="34" charset="-122"/>
                <a:cs typeface="Arial" pitchFamily="34" charset="-120"/>
              </a:rPr>
              <a:t>These segments are our starting point. A fuller outline of investor targets, including check sizes, geographies, accreditation and exclusions, will be built with you during onboarding.</a:t>
            </a:r>
            <a:endParaRPr lang="en-US" sz="11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pic>
        <p:nvPicPr>
          <p:cNvPr id="2" name="Image 0" descr="/home/claude/brand/clean/logo_header.png">    </p:cNvPr>
          <p:cNvPicPr>
            <a:picLocks noChangeAspect="1"/>
          </p:cNvPicPr>
          <p:nvPr/>
        </p:nvPicPr>
        <p:blipFill>
          <a:blip r:embed="rId2"/>
          <a:stretch>
            <a:fillRect/>
          </a:stretch>
        </p:blipFill>
        <p:spPr>
          <a:xfrm>
            <a:off x="411480" y="164592"/>
            <a:ext cx="850392" cy="530352"/>
          </a:xfrm>
          <a:prstGeom prst="rect">
            <a:avLst/>
          </a:prstGeom>
        </p:spPr>
      </p:pic>
      <p:sp>
        <p:nvSpPr>
          <p:cNvPr id="3" name="Text 0"/>
          <p:cNvSpPr/>
          <p:nvPr/>
        </p:nvSpPr>
        <p:spPr>
          <a:xfrm>
            <a:off x="1417320" y="201168"/>
            <a:ext cx="4114800" cy="457200"/>
          </a:xfrm>
          <a:prstGeom prst="rect">
            <a:avLst/>
          </a:prstGeom>
          <a:noFill/>
          <a:ln/>
        </p:spPr>
        <p:txBody>
          <a:bodyPr wrap="square" lIns="0" tIns="0" rIns="0" bIns="0" rtlCol="0" anchor="ctr"/>
          <a:lstStyle/>
          <a:p>
            <a:pPr indent="0" marL="0">
              <a:buNone/>
            </a:pPr>
            <a:r>
              <a:rPr lang="en-US" sz="1300" spc="200" kern="0" dirty="0">
                <a:solidFill>
                  <a:srgbClr val="FFFFFF"/>
                </a:solidFill>
                <a:latin typeface="Arial" pitchFamily="34" charset="0"/>
                <a:ea typeface="Arial" pitchFamily="34" charset="-122"/>
                <a:cs typeface="Arial" pitchFamily="34" charset="-120"/>
              </a:rPr>
              <a:t>THINKFISH LLC 2026</a:t>
            </a:r>
            <a:endParaRPr lang="en-US" sz="1300" dirty="0"/>
          </a:p>
        </p:txBody>
      </p:sp>
      <p:sp>
        <p:nvSpPr>
          <p:cNvPr id="4" name="Text 1"/>
          <p:cNvSpPr/>
          <p:nvPr/>
        </p:nvSpPr>
        <p:spPr>
          <a:xfrm>
            <a:off x="566928" y="868680"/>
            <a:ext cx="11155680" cy="777240"/>
          </a:xfrm>
          <a:prstGeom prst="rect">
            <a:avLst/>
          </a:prstGeom>
          <a:noFill/>
          <a:ln/>
        </p:spPr>
        <p:txBody>
          <a:bodyPr wrap="square" lIns="0" tIns="0" rIns="0" bIns="0" rtlCol="0" anchor="ctr"/>
          <a:lstStyle/>
          <a:p>
            <a:pPr indent="0" marL="0">
              <a:buNone/>
            </a:pPr>
            <a:r>
              <a:rPr lang="en-US" sz="3800" b="1" dirty="0">
                <a:solidFill>
                  <a:srgbClr val="FFFFFF"/>
                </a:solidFill>
                <a:latin typeface="Arial" pitchFamily="34" charset="0"/>
                <a:ea typeface="Arial" pitchFamily="34" charset="-122"/>
                <a:cs typeface="Arial" pitchFamily="34" charset="-120"/>
              </a:rPr>
              <a:t>Three Profiles, One Fund</a:t>
            </a:r>
            <a:endParaRPr lang="en-US" sz="3800" dirty="0"/>
          </a:p>
        </p:txBody>
      </p:sp>
      <p:sp>
        <p:nvSpPr>
          <p:cNvPr id="5" name="Text 2"/>
          <p:cNvSpPr/>
          <p:nvPr/>
        </p:nvSpPr>
        <p:spPr>
          <a:xfrm>
            <a:off x="594360" y="1481328"/>
            <a:ext cx="11155680" cy="320040"/>
          </a:xfrm>
          <a:prstGeom prst="rect">
            <a:avLst/>
          </a:prstGeom>
          <a:noFill/>
          <a:ln/>
        </p:spPr>
        <p:txBody>
          <a:bodyPr wrap="square" lIns="0" tIns="0" rIns="0" bIns="0" rtlCol="0" anchor="ctr"/>
          <a:lstStyle/>
          <a:p>
            <a:pPr indent="0" marL="0">
              <a:buNone/>
            </a:pPr>
            <a:r>
              <a:rPr lang="en-US" sz="1400" b="1" spc="100" kern="0" dirty="0">
                <a:solidFill>
                  <a:srgbClr val="43D5FF"/>
                </a:solidFill>
                <a:latin typeface="Arial" pitchFamily="34" charset="0"/>
                <a:ea typeface="Arial" pitchFamily="34" charset="-122"/>
                <a:cs typeface="Arial" pitchFamily="34" charset="-120"/>
              </a:rPr>
              <a:t>WHO CARRIES WHICH CONVERSATION, AND WHY</a:t>
            </a:r>
            <a:endParaRPr lang="en-US" sz="1400" dirty="0"/>
          </a:p>
        </p:txBody>
      </p:sp>
      <p:sp>
        <p:nvSpPr>
          <p:cNvPr id="6" name="Shape 3"/>
          <p:cNvSpPr/>
          <p:nvPr/>
        </p:nvSpPr>
        <p:spPr>
          <a:xfrm>
            <a:off x="566928" y="2121408"/>
            <a:ext cx="3593592" cy="2331720"/>
          </a:xfrm>
          <a:prstGeom prst="roundRect">
            <a:avLst>
              <a:gd name="adj" fmla="val 3529"/>
            </a:avLst>
          </a:prstGeom>
          <a:solidFill>
            <a:srgbClr val="0D0D26">
              <a:alpha val="55000"/>
            </a:srgbClr>
          </a:solidFill>
          <a:ln w="9525">
            <a:solidFill>
              <a:srgbClr val="31316A">
                <a:alpha val="75000"/>
              </a:srgbClr>
            </a:solidFill>
            <a:prstDash val="solid"/>
          </a:ln>
        </p:spPr>
      </p:sp>
      <p:sp>
        <p:nvSpPr>
          <p:cNvPr id="7" name="Text 4"/>
          <p:cNvSpPr/>
          <p:nvPr/>
        </p:nvSpPr>
        <p:spPr>
          <a:xfrm>
            <a:off x="795528" y="2304288"/>
            <a:ext cx="3136392" cy="320040"/>
          </a:xfrm>
          <a:prstGeom prst="rect">
            <a:avLst/>
          </a:prstGeom>
          <a:noFill/>
          <a:ln/>
        </p:spPr>
        <p:txBody>
          <a:bodyPr wrap="square" lIns="0" tIns="0" rIns="0" bIns="0" rtlCol="0" anchor="ctr"/>
          <a:lstStyle/>
          <a:p>
            <a:pPr indent="0" marL="0">
              <a:buNone/>
            </a:pPr>
            <a:r>
              <a:rPr lang="en-US" sz="1400" b="1" spc="100" kern="0" dirty="0">
                <a:solidFill>
                  <a:srgbClr val="43D5FF"/>
                </a:solidFill>
                <a:latin typeface="Arial" pitchFamily="34" charset="0"/>
                <a:ea typeface="Arial" pitchFamily="34" charset="-122"/>
                <a:cs typeface="Arial" pitchFamily="34" charset="-120"/>
              </a:rPr>
              <a:t>TED  ·  OWNER &amp; OPERATOR</a:t>
            </a:r>
            <a:endParaRPr lang="en-US" sz="1400" dirty="0"/>
          </a:p>
        </p:txBody>
      </p:sp>
      <p:sp>
        <p:nvSpPr>
          <p:cNvPr id="8" name="Text 5"/>
          <p:cNvSpPr/>
          <p:nvPr/>
        </p:nvSpPr>
        <p:spPr>
          <a:xfrm>
            <a:off x="795528" y="2651760"/>
            <a:ext cx="3136392" cy="1600200"/>
          </a:xfrm>
          <a:prstGeom prst="rect">
            <a:avLst/>
          </a:prstGeom>
          <a:noFill/>
          <a:ln/>
        </p:spPr>
        <p:txBody>
          <a:bodyPr wrap="square" lIns="0" tIns="0" rIns="0" bIns="0" rtlCol="0" anchor="t"/>
          <a:lstStyle/>
          <a:p>
            <a:pPr indent="0" marL="0">
              <a:lnSpc>
                <a:spcPct val="115000"/>
              </a:lnSpc>
              <a:buNone/>
            </a:pPr>
            <a:r>
              <a:rPr lang="en-US" sz="1100" dirty="0">
                <a:solidFill>
                  <a:srgbClr val="FFFFFF"/>
                </a:solidFill>
                <a:latin typeface="Arial" pitchFamily="34" charset="0"/>
                <a:ea typeface="Arial" pitchFamily="34" charset="-122"/>
                <a:cs typeface="Arial" pitchFamily="34" charset="-120"/>
              </a:rPr>
              <a:t>Ted’s profile carries the vision and the structure: the owner, an IT executive turned founder, building a fund with tranches and tiers that’s easy to administer. It leads with family-office, operator and syndicate investors. Profile updated so Heather Properties sits front and center.</a:t>
            </a:r>
            <a:endParaRPr lang="en-US" sz="1100" dirty="0"/>
          </a:p>
        </p:txBody>
      </p:sp>
      <p:sp>
        <p:nvSpPr>
          <p:cNvPr id="9" name="Shape 6"/>
          <p:cNvSpPr/>
          <p:nvPr/>
        </p:nvSpPr>
        <p:spPr>
          <a:xfrm>
            <a:off x="4434840" y="2121408"/>
            <a:ext cx="3593592" cy="2331720"/>
          </a:xfrm>
          <a:prstGeom prst="roundRect">
            <a:avLst>
              <a:gd name="adj" fmla="val 3529"/>
            </a:avLst>
          </a:prstGeom>
          <a:solidFill>
            <a:srgbClr val="0D0D26">
              <a:alpha val="55000"/>
            </a:srgbClr>
          </a:solidFill>
          <a:ln w="9525">
            <a:solidFill>
              <a:srgbClr val="31316A">
                <a:alpha val="75000"/>
              </a:srgbClr>
            </a:solidFill>
            <a:prstDash val="solid"/>
          </a:ln>
        </p:spPr>
      </p:sp>
      <p:sp>
        <p:nvSpPr>
          <p:cNvPr id="10" name="Text 7"/>
          <p:cNvSpPr/>
          <p:nvPr/>
        </p:nvSpPr>
        <p:spPr>
          <a:xfrm>
            <a:off x="4663440" y="2304288"/>
            <a:ext cx="3136392" cy="320040"/>
          </a:xfrm>
          <a:prstGeom prst="rect">
            <a:avLst/>
          </a:prstGeom>
          <a:noFill/>
          <a:ln/>
        </p:spPr>
        <p:txBody>
          <a:bodyPr wrap="square" lIns="0" tIns="0" rIns="0" bIns="0" rtlCol="0" anchor="ctr"/>
          <a:lstStyle/>
          <a:p>
            <a:pPr indent="0" marL="0">
              <a:buNone/>
            </a:pPr>
            <a:r>
              <a:rPr lang="en-US" sz="1400" b="1" spc="100" kern="0" dirty="0">
                <a:solidFill>
                  <a:srgbClr val="43D5FF"/>
                </a:solidFill>
                <a:latin typeface="Arial" pitchFamily="34" charset="0"/>
                <a:ea typeface="Arial" pitchFamily="34" charset="-122"/>
                <a:cs typeface="Arial" pitchFamily="34" charset="-120"/>
              </a:rPr>
              <a:t>JESSE  ·  UNDERWRITING</a:t>
            </a:r>
            <a:endParaRPr lang="en-US" sz="1400" dirty="0"/>
          </a:p>
        </p:txBody>
      </p:sp>
      <p:sp>
        <p:nvSpPr>
          <p:cNvPr id="11" name="Text 8"/>
          <p:cNvSpPr/>
          <p:nvPr/>
        </p:nvSpPr>
        <p:spPr>
          <a:xfrm>
            <a:off x="4663440" y="2651760"/>
            <a:ext cx="3136392" cy="1600200"/>
          </a:xfrm>
          <a:prstGeom prst="rect">
            <a:avLst/>
          </a:prstGeom>
          <a:noFill/>
          <a:ln/>
        </p:spPr>
        <p:txBody>
          <a:bodyPr wrap="square" lIns="0" tIns="0" rIns="0" bIns="0" rtlCol="0" anchor="t"/>
          <a:lstStyle/>
          <a:p>
            <a:pPr indent="0" marL="0">
              <a:lnSpc>
                <a:spcPct val="115000"/>
              </a:lnSpc>
              <a:buNone/>
            </a:pPr>
            <a:r>
              <a:rPr lang="en-US" sz="1100" dirty="0">
                <a:solidFill>
                  <a:srgbClr val="FFFFFF"/>
                </a:solidFill>
                <a:latin typeface="Arial" pitchFamily="34" charset="0"/>
                <a:ea typeface="Arial" pitchFamily="34" charset="-122"/>
                <a:cs typeface="Arial" pitchFamily="34" charset="-120"/>
              </a:rPr>
              <a:t>Jesse’s profile carries the credit story: a mortgage broker and former banker who underwrites every customer to a path to ownership. It speaks to debt and note investors who want to see collateral, profitability and owner-occupied SFRs before they talk alignment.</a:t>
            </a:r>
            <a:endParaRPr lang="en-US" sz="1100" dirty="0"/>
          </a:p>
        </p:txBody>
      </p:sp>
      <p:sp>
        <p:nvSpPr>
          <p:cNvPr id="12" name="Shape 9"/>
          <p:cNvSpPr/>
          <p:nvPr/>
        </p:nvSpPr>
        <p:spPr>
          <a:xfrm>
            <a:off x="8302752" y="2121408"/>
            <a:ext cx="3593592" cy="2331720"/>
          </a:xfrm>
          <a:prstGeom prst="roundRect">
            <a:avLst>
              <a:gd name="adj" fmla="val 3529"/>
            </a:avLst>
          </a:prstGeom>
          <a:solidFill>
            <a:srgbClr val="0D0D26">
              <a:alpha val="55000"/>
            </a:srgbClr>
          </a:solidFill>
          <a:ln w="9525">
            <a:solidFill>
              <a:srgbClr val="31316A">
                <a:alpha val="75000"/>
              </a:srgbClr>
            </a:solidFill>
            <a:prstDash val="solid"/>
          </a:ln>
        </p:spPr>
      </p:sp>
      <p:sp>
        <p:nvSpPr>
          <p:cNvPr id="13" name="Text 10"/>
          <p:cNvSpPr/>
          <p:nvPr/>
        </p:nvSpPr>
        <p:spPr>
          <a:xfrm>
            <a:off x="8531352" y="2304288"/>
            <a:ext cx="3136392" cy="320040"/>
          </a:xfrm>
          <a:prstGeom prst="rect">
            <a:avLst/>
          </a:prstGeom>
          <a:noFill/>
          <a:ln/>
        </p:spPr>
        <p:txBody>
          <a:bodyPr wrap="square" lIns="0" tIns="0" rIns="0" bIns="0" rtlCol="0" anchor="ctr"/>
          <a:lstStyle/>
          <a:p>
            <a:pPr indent="0" marL="0">
              <a:buNone/>
            </a:pPr>
            <a:r>
              <a:rPr lang="en-US" sz="1400" b="1" spc="100" kern="0" dirty="0">
                <a:solidFill>
                  <a:srgbClr val="43D5FF"/>
                </a:solidFill>
                <a:latin typeface="Arial" pitchFamily="34" charset="0"/>
                <a:ea typeface="Arial" pitchFamily="34" charset="-122"/>
                <a:cs typeface="Arial" pitchFamily="34" charset="-120"/>
              </a:rPr>
              <a:t>HECTOR  ·  FROM MONTH 2</a:t>
            </a:r>
            <a:endParaRPr lang="en-US" sz="1400" dirty="0"/>
          </a:p>
        </p:txBody>
      </p:sp>
      <p:sp>
        <p:nvSpPr>
          <p:cNvPr id="14" name="Text 11"/>
          <p:cNvSpPr/>
          <p:nvPr/>
        </p:nvSpPr>
        <p:spPr>
          <a:xfrm>
            <a:off x="8531352" y="2651760"/>
            <a:ext cx="3136392" cy="1600200"/>
          </a:xfrm>
          <a:prstGeom prst="rect">
            <a:avLst/>
          </a:prstGeom>
          <a:noFill/>
          <a:ln/>
        </p:spPr>
        <p:txBody>
          <a:bodyPr wrap="square" lIns="0" tIns="0" rIns="0" bIns="0" rtlCol="0" anchor="t"/>
          <a:lstStyle/>
          <a:p>
            <a:pPr indent="0" marL="0">
              <a:lnSpc>
                <a:spcPct val="115000"/>
              </a:lnSpc>
              <a:buNone/>
            </a:pPr>
            <a:r>
              <a:rPr lang="en-US" sz="1100" dirty="0">
                <a:solidFill>
                  <a:srgbClr val="FFFFFF"/>
                </a:solidFill>
                <a:latin typeface="Arial" pitchFamily="34" charset="0"/>
                <a:ea typeface="Arial" pitchFamily="34" charset="-122"/>
                <a:cs typeface="Arial" pitchFamily="34" charset="-120"/>
              </a:rPr>
              <a:t>Hector’s profile is grown from ~100 to 500+ connections during month one, then joins full outreach, adding a third background and a third voice. Different backgrounds draw different responses, so each profile gets its own segments and scripts.</a:t>
            </a:r>
            <a:endParaRPr lang="en-US" sz="1100" dirty="0"/>
          </a:p>
        </p:txBody>
      </p:sp>
      <p:sp>
        <p:nvSpPr>
          <p:cNvPr id="15" name="Shape 12"/>
          <p:cNvSpPr/>
          <p:nvPr/>
        </p:nvSpPr>
        <p:spPr>
          <a:xfrm>
            <a:off x="566928" y="4663440"/>
            <a:ext cx="11338560" cy="1691640"/>
          </a:xfrm>
          <a:prstGeom prst="roundRect">
            <a:avLst>
              <a:gd name="adj" fmla="val 4865"/>
            </a:avLst>
          </a:prstGeom>
          <a:solidFill>
            <a:srgbClr val="0D0D26">
              <a:alpha val="55000"/>
            </a:srgbClr>
          </a:solidFill>
          <a:ln w="9525">
            <a:solidFill>
              <a:srgbClr val="31316A">
                <a:alpha val="75000"/>
              </a:srgbClr>
            </a:solidFill>
            <a:prstDash val="solid"/>
          </a:ln>
        </p:spPr>
      </p:sp>
      <p:sp>
        <p:nvSpPr>
          <p:cNvPr id="16" name="Text 13"/>
          <p:cNvSpPr/>
          <p:nvPr/>
        </p:nvSpPr>
        <p:spPr>
          <a:xfrm>
            <a:off x="795528" y="4828032"/>
            <a:ext cx="8229600" cy="320040"/>
          </a:xfrm>
          <a:prstGeom prst="rect">
            <a:avLst/>
          </a:prstGeom>
          <a:noFill/>
          <a:ln/>
        </p:spPr>
        <p:txBody>
          <a:bodyPr wrap="square" lIns="0" tIns="0" rIns="0" bIns="0" rtlCol="0" anchor="ctr"/>
          <a:lstStyle/>
          <a:p>
            <a:pPr indent="0" marL="0">
              <a:buNone/>
            </a:pPr>
            <a:r>
              <a:rPr lang="en-US" sz="1400" b="1" spc="100" kern="0" dirty="0">
                <a:solidFill>
                  <a:srgbClr val="7C6CFF"/>
                </a:solidFill>
                <a:latin typeface="Arial" pitchFamily="34" charset="0"/>
                <a:ea typeface="Arial" pitchFamily="34" charset="-122"/>
                <a:cs typeface="Arial" pitchFamily="34" charset="-120"/>
              </a:rPr>
              <a:t>WHY ONE RETAINER COVERS ALL THREE</a:t>
            </a:r>
            <a:endParaRPr lang="en-US" sz="1400" dirty="0"/>
          </a:p>
        </p:txBody>
      </p:sp>
      <p:sp>
        <p:nvSpPr>
          <p:cNvPr id="17" name="Text 14"/>
          <p:cNvSpPr/>
          <p:nvPr/>
        </p:nvSpPr>
        <p:spPr>
          <a:xfrm>
            <a:off x="795528" y="5175504"/>
            <a:ext cx="10881360" cy="1051560"/>
          </a:xfrm>
          <a:prstGeom prst="rect">
            <a:avLst/>
          </a:prstGeom>
          <a:noFill/>
          <a:ln/>
        </p:spPr>
        <p:txBody>
          <a:bodyPr wrap="square" lIns="0" tIns="0" rIns="0" bIns="0" rtlCol="0" anchor="t"/>
          <a:lstStyle/>
          <a:p>
            <a:pPr indent="0" marL="0">
              <a:lnSpc>
                <a:spcPct val="120000"/>
              </a:lnSpc>
              <a:buNone/>
            </a:pPr>
            <a:r>
              <a:rPr lang="en-US" sz="1250" dirty="0">
                <a:solidFill>
                  <a:srgbClr val="FFFFFF"/>
                </a:solidFill>
                <a:latin typeface="Arial" pitchFamily="34" charset="0"/>
                <a:ea typeface="Arial" pitchFamily="34" charset="-122"/>
                <a:cs typeface="Arial" pitchFamily="34" charset="-120"/>
              </a:rPr>
              <a:t>The engine is shared: one dedicated account manager, one CRM, one weekly report split by profile. Every profile also draws on our internal database of 10k+ vetted investors and a feature in Startup Deal Desk, our 84k-subscriber investor newsletter. Your 1st-degree network is off-limits unless you open it, and your do-not-contact list (cousin Fred included) always applies. The profile-to-segment mapping above is our starting point, confirmed with you at onboarding.</a:t>
            </a:r>
            <a:endParaRPr lang="en-US" sz="12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pic>
        <p:nvPicPr>
          <p:cNvPr id="2" name="Image 0" descr="/home/claude/brand/clean/logo_header.png">    </p:cNvPr>
          <p:cNvPicPr>
            <a:picLocks noChangeAspect="1"/>
          </p:cNvPicPr>
          <p:nvPr/>
        </p:nvPicPr>
        <p:blipFill>
          <a:blip r:embed="rId2"/>
          <a:stretch>
            <a:fillRect/>
          </a:stretch>
        </p:blipFill>
        <p:spPr>
          <a:xfrm>
            <a:off x="411480" y="164592"/>
            <a:ext cx="850392" cy="530352"/>
          </a:xfrm>
          <a:prstGeom prst="rect">
            <a:avLst/>
          </a:prstGeom>
        </p:spPr>
      </p:pic>
      <p:sp>
        <p:nvSpPr>
          <p:cNvPr id="3" name="Text 0"/>
          <p:cNvSpPr/>
          <p:nvPr/>
        </p:nvSpPr>
        <p:spPr>
          <a:xfrm>
            <a:off x="1417320" y="201168"/>
            <a:ext cx="4114800" cy="457200"/>
          </a:xfrm>
          <a:prstGeom prst="rect">
            <a:avLst/>
          </a:prstGeom>
          <a:noFill/>
          <a:ln/>
        </p:spPr>
        <p:txBody>
          <a:bodyPr wrap="square" lIns="0" tIns="0" rIns="0" bIns="0" rtlCol="0" anchor="ctr"/>
          <a:lstStyle/>
          <a:p>
            <a:pPr indent="0" marL="0">
              <a:buNone/>
            </a:pPr>
            <a:r>
              <a:rPr lang="en-US" sz="1300" spc="200" kern="0" dirty="0">
                <a:solidFill>
                  <a:srgbClr val="FFFFFF"/>
                </a:solidFill>
                <a:latin typeface="Arial" pitchFamily="34" charset="0"/>
                <a:ea typeface="Arial" pitchFamily="34" charset="-122"/>
                <a:cs typeface="Arial" pitchFamily="34" charset="-120"/>
              </a:rPr>
              <a:t>THINKFISH LLC 2026</a:t>
            </a:r>
            <a:endParaRPr lang="en-US" sz="1300" dirty="0"/>
          </a:p>
        </p:txBody>
      </p:sp>
      <p:sp>
        <p:nvSpPr>
          <p:cNvPr id="4" name="Text 1"/>
          <p:cNvSpPr/>
          <p:nvPr/>
        </p:nvSpPr>
        <p:spPr>
          <a:xfrm>
            <a:off x="566928" y="868680"/>
            <a:ext cx="11155680" cy="777240"/>
          </a:xfrm>
          <a:prstGeom prst="rect">
            <a:avLst/>
          </a:prstGeom>
          <a:noFill/>
          <a:ln/>
        </p:spPr>
        <p:txBody>
          <a:bodyPr wrap="square" lIns="0" tIns="0" rIns="0" bIns="0" rtlCol="0" anchor="ctr"/>
          <a:lstStyle/>
          <a:p>
            <a:pPr indent="0" marL="0">
              <a:buNone/>
            </a:pPr>
            <a:r>
              <a:rPr lang="en-US" sz="3800" b="1" dirty="0">
                <a:solidFill>
                  <a:srgbClr val="FFFFFF"/>
                </a:solidFill>
                <a:latin typeface="Arial" pitchFamily="34" charset="0"/>
                <a:ea typeface="Arial" pitchFamily="34" charset="-122"/>
                <a:cs typeface="Arial" pitchFamily="34" charset="-120"/>
              </a:rPr>
              <a:t>How We Fill Your Calendar</a:t>
            </a:r>
            <a:endParaRPr lang="en-US" sz="3800" dirty="0"/>
          </a:p>
        </p:txBody>
      </p:sp>
      <p:sp>
        <p:nvSpPr>
          <p:cNvPr id="5" name="Text 2"/>
          <p:cNvSpPr/>
          <p:nvPr/>
        </p:nvSpPr>
        <p:spPr>
          <a:xfrm>
            <a:off x="594360" y="1481328"/>
            <a:ext cx="11155680" cy="320040"/>
          </a:xfrm>
          <a:prstGeom prst="rect">
            <a:avLst/>
          </a:prstGeom>
          <a:noFill/>
          <a:ln/>
        </p:spPr>
        <p:txBody>
          <a:bodyPr wrap="square" lIns="0" tIns="0" rIns="0" bIns="0" rtlCol="0" anchor="ctr"/>
          <a:lstStyle/>
          <a:p>
            <a:pPr indent="0" marL="0">
              <a:buNone/>
            </a:pPr>
            <a:r>
              <a:rPr lang="en-US" sz="1400" b="1" spc="100" kern="0" dirty="0">
                <a:solidFill>
                  <a:srgbClr val="43D5FF"/>
                </a:solidFill>
                <a:latin typeface="Arial" pitchFamily="34" charset="0"/>
                <a:ea typeface="Arial" pitchFamily="34" charset="-122"/>
                <a:cs typeface="Arial" pitchFamily="34" charset="-120"/>
              </a:rPr>
              <a:t>SIX STEPS, ONE PAGE</a:t>
            </a:r>
            <a:endParaRPr lang="en-US" sz="1400" dirty="0"/>
          </a:p>
        </p:txBody>
      </p:sp>
      <p:sp>
        <p:nvSpPr>
          <p:cNvPr id="313" name="Shape s0"/>
          <p:cNvSpPr/>
          <p:nvPr/>
        </p:nvSpPr>
        <p:spPr>
          <a:xfrm>
            <a:off x="566928" y="2057400"/>
            <a:ext cx="3593592" cy="1417320"/>
          </a:xfrm>
          <a:prstGeom prst="roundRect">
            <a:avLst>
              <a:gd name="adj" fmla="val 3529"/>
            </a:avLst>
          </a:prstGeom>
          <a:solidFill>
            <a:srgbClr val="0D0D26">
              <a:alpha val="55000"/>
            </a:srgbClr>
          </a:solidFill>
          <a:ln w="9525">
            <a:solidFill>
              <a:srgbClr val="31316A">
                <a:alpha val="75000"/>
              </a:srgbClr>
            </a:solidFill>
            <a:prstDash val="solid"/>
          </a:ln>
        </p:spPr>
      </p:sp>
      <p:sp>
        <p:nvSpPr>
          <p:cNvPr id="314" name="Text s0l"/>
          <p:cNvSpPr/>
          <p:nvPr/>
        </p:nvSpPr>
        <p:spPr>
          <a:xfrm>
            <a:off x="795528" y="2185416"/>
            <a:ext cx="3136392" cy="274320"/>
          </a:xfrm>
          <a:prstGeom prst="rect">
            <a:avLst/>
          </a:prstGeom>
          <a:noFill/>
          <a:ln/>
        </p:spPr>
        <p:txBody>
          <a:bodyPr wrap="square" lIns="0" tIns="0" rIns="0" bIns="0" rtlCol="0" anchor="ctr"/>
          <a:lstStyle/>
          <a:p>
            <a:pPr indent="0" marL="0">
              <a:buNone/>
            </a:pPr>
            <a:r>
              <a:rPr lang="en-US" sz="1300" b="1" spc="100" kern="0" dirty="0">
                <a:solidFill>
                  <a:srgbClr val="43D5FF"/>
                </a:solidFill>
                <a:latin typeface="Arial" pitchFamily="34" charset="0"/>
                <a:ea typeface="Arial" pitchFamily="34" charset="-122"/>
                <a:cs typeface="Arial" pitchFamily="34" charset="-120"/>
              </a:rPr>
              <a:t>1  ·  MULTI-SOURCE DATA</a:t>
            </a:r>
            <a:endParaRPr lang="en-US" sz="1300" dirty="0"/>
          </a:p>
        </p:txBody>
      </p:sp>
      <p:sp>
        <p:nvSpPr>
          <p:cNvPr id="315" name="Text s0p"/>
          <p:cNvSpPr/>
          <p:nvPr/>
        </p:nvSpPr>
        <p:spPr>
          <a:xfrm>
            <a:off x="795528" y="2496312"/>
            <a:ext cx="3136392" cy="914400"/>
          </a:xfrm>
          <a:prstGeom prst="rect">
            <a:avLst/>
          </a:prstGeom>
          <a:noFill/>
          <a:ln/>
        </p:spPr>
        <p:txBody>
          <a:bodyPr wrap="square" lIns="0" tIns="0" rIns="0" bIns="0" rtlCol="0" anchor="t"/>
          <a:lstStyle/>
          <a:p>
            <a:pPr indent="0" marL="0">
              <a:lnSpc>
                <a:spcPct val="115000"/>
              </a:lnSpc>
              <a:buNone/>
            </a:pPr>
            <a:r>
              <a:rPr lang="en-US" sz="1050" dirty="0">
                <a:solidFill>
                  <a:srgbClr val="FFFFFF"/>
                </a:solidFill>
                <a:latin typeface="Arial" pitchFamily="34" charset="0"/>
                <a:ea typeface="Arial" pitchFamily="34" charset="-122"/>
                <a:cs typeface="Arial" pitchFamily="34" charset="-120"/>
              </a:rPr>
              <a:t>Sales Navigator, your own lists and past conversations, our 10k+ investor database, the 84k-subscriber Startup Deal Desk newsletter, and the events your targets attend.</a:t>
            </a:r>
            <a:endParaRPr lang="en-US" sz="1050" dirty="0"/>
          </a:p>
        </p:txBody>
      </p:sp>
      <p:sp>
        <p:nvSpPr>
          <p:cNvPr id="316" name="Shape s1"/>
          <p:cNvSpPr/>
          <p:nvPr/>
        </p:nvSpPr>
        <p:spPr>
          <a:xfrm>
            <a:off x="4434840" y="2057400"/>
            <a:ext cx="3593592" cy="1417320"/>
          </a:xfrm>
          <a:prstGeom prst="roundRect">
            <a:avLst>
              <a:gd name="adj" fmla="val 3529"/>
            </a:avLst>
          </a:prstGeom>
          <a:solidFill>
            <a:srgbClr val="0D0D26">
              <a:alpha val="55000"/>
            </a:srgbClr>
          </a:solidFill>
          <a:ln w="9525">
            <a:solidFill>
              <a:srgbClr val="31316A">
                <a:alpha val="75000"/>
              </a:srgbClr>
            </a:solidFill>
            <a:prstDash val="solid"/>
          </a:ln>
        </p:spPr>
      </p:sp>
      <p:sp>
        <p:nvSpPr>
          <p:cNvPr id="317" name="Text s1l"/>
          <p:cNvSpPr/>
          <p:nvPr/>
        </p:nvSpPr>
        <p:spPr>
          <a:xfrm>
            <a:off x="4663440" y="2185416"/>
            <a:ext cx="3136392" cy="274320"/>
          </a:xfrm>
          <a:prstGeom prst="rect">
            <a:avLst/>
          </a:prstGeom>
          <a:noFill/>
          <a:ln/>
        </p:spPr>
        <p:txBody>
          <a:bodyPr wrap="square" lIns="0" tIns="0" rIns="0" bIns="0" rtlCol="0" anchor="ctr"/>
          <a:lstStyle/>
          <a:p>
            <a:pPr indent="0" marL="0">
              <a:buNone/>
            </a:pPr>
            <a:r>
              <a:rPr lang="en-US" sz="1300" b="1" spc="100" kern="0" dirty="0">
                <a:solidFill>
                  <a:srgbClr val="43D5FF"/>
                </a:solidFill>
                <a:latin typeface="Arial" pitchFamily="34" charset="0"/>
                <a:ea typeface="Arial" pitchFamily="34" charset="-122"/>
                <a:cs typeface="Arial" pitchFamily="34" charset="-120"/>
              </a:rPr>
              <a:t>2  ·  SIGNAL FILTERING</a:t>
            </a:r>
            <a:endParaRPr lang="en-US" sz="1300" dirty="0"/>
          </a:p>
        </p:txBody>
      </p:sp>
      <p:sp>
        <p:nvSpPr>
          <p:cNvPr id="318" name="Text s1p"/>
          <p:cNvSpPr/>
          <p:nvPr/>
        </p:nvSpPr>
        <p:spPr>
          <a:xfrm>
            <a:off x="4663440" y="2496312"/>
            <a:ext cx="3136392" cy="914400"/>
          </a:xfrm>
          <a:prstGeom prst="rect">
            <a:avLst/>
          </a:prstGeom>
          <a:noFill/>
          <a:ln/>
        </p:spPr>
        <p:txBody>
          <a:bodyPr wrap="square" lIns="0" tIns="0" rIns="0" bIns="0" rtlCol="0" anchor="t"/>
          <a:lstStyle/>
          <a:p>
            <a:pPr indent="0" marL="0">
              <a:lnSpc>
                <a:spcPct val="115000"/>
              </a:lnSpc>
              <a:buNone/>
            </a:pPr>
            <a:r>
              <a:rPr lang="en-US" sz="1050" dirty="0">
                <a:solidFill>
                  <a:srgbClr val="FFFFFF"/>
                </a:solidFill>
                <a:latin typeface="Arial" pitchFamily="34" charset="0"/>
                <a:ea typeface="Arial" pitchFamily="34" charset="-122"/>
                <a:cs typeface="Arial" pitchFamily="34" charset="-120"/>
              </a:rPr>
              <a:t>Deal history and live engagement outweigh job titles. Brokers, funding agents, advisor-only contacts and “investors” who are selling services are filtered out.</a:t>
            </a:r>
            <a:endParaRPr lang="en-US" sz="1050" dirty="0"/>
          </a:p>
        </p:txBody>
      </p:sp>
      <p:sp>
        <p:nvSpPr>
          <p:cNvPr id="319" name="Shape s2"/>
          <p:cNvSpPr/>
          <p:nvPr/>
        </p:nvSpPr>
        <p:spPr>
          <a:xfrm>
            <a:off x="8302752" y="2057400"/>
            <a:ext cx="3593592" cy="1417320"/>
          </a:xfrm>
          <a:prstGeom prst="roundRect">
            <a:avLst>
              <a:gd name="adj" fmla="val 3529"/>
            </a:avLst>
          </a:prstGeom>
          <a:solidFill>
            <a:srgbClr val="0D0D26">
              <a:alpha val="55000"/>
            </a:srgbClr>
          </a:solidFill>
          <a:ln w="9525">
            <a:solidFill>
              <a:srgbClr val="31316A">
                <a:alpha val="75000"/>
              </a:srgbClr>
            </a:solidFill>
            <a:prstDash val="solid"/>
          </a:ln>
        </p:spPr>
      </p:sp>
      <p:sp>
        <p:nvSpPr>
          <p:cNvPr id="320" name="Text s2l"/>
          <p:cNvSpPr/>
          <p:nvPr/>
        </p:nvSpPr>
        <p:spPr>
          <a:xfrm>
            <a:off x="8531352" y="2185416"/>
            <a:ext cx="3136392" cy="274320"/>
          </a:xfrm>
          <a:prstGeom prst="rect">
            <a:avLst/>
          </a:prstGeom>
          <a:noFill/>
          <a:ln/>
        </p:spPr>
        <p:txBody>
          <a:bodyPr wrap="square" lIns="0" tIns="0" rIns="0" bIns="0" rtlCol="0" anchor="ctr"/>
          <a:lstStyle/>
          <a:p>
            <a:pPr indent="0" marL="0">
              <a:buNone/>
            </a:pPr>
            <a:r>
              <a:rPr lang="en-US" sz="1300" b="1" spc="100" kern="0" dirty="0">
                <a:solidFill>
                  <a:srgbClr val="43D5FF"/>
                </a:solidFill>
                <a:latin typeface="Arial" pitchFamily="34" charset="0"/>
                <a:ea typeface="Arial" pitchFamily="34" charset="-122"/>
                <a:cs typeface="Arial" pitchFamily="34" charset="-120"/>
              </a:rPr>
              <a:t>3  ·  ICP SCORING</a:t>
            </a:r>
            <a:endParaRPr lang="en-US" sz="1300" dirty="0"/>
          </a:p>
        </p:txBody>
      </p:sp>
      <p:sp>
        <p:nvSpPr>
          <p:cNvPr id="321" name="Text s2p"/>
          <p:cNvSpPr/>
          <p:nvPr/>
        </p:nvSpPr>
        <p:spPr>
          <a:xfrm>
            <a:off x="8531352" y="2496312"/>
            <a:ext cx="3136392" cy="914400"/>
          </a:xfrm>
          <a:prstGeom prst="rect">
            <a:avLst/>
          </a:prstGeom>
          <a:noFill/>
          <a:ln/>
        </p:spPr>
        <p:txBody>
          <a:bodyPr wrap="square" lIns="0" tIns="0" rIns="0" bIns="0" rtlCol="0" anchor="t"/>
          <a:lstStyle/>
          <a:p>
            <a:pPr indent="0" marL="0">
              <a:lnSpc>
                <a:spcPct val="115000"/>
              </a:lnSpc>
              <a:buNone/>
            </a:pPr>
            <a:r>
              <a:rPr lang="en-US" sz="1050" dirty="0">
                <a:solidFill>
                  <a:srgbClr val="FFFFFF"/>
                </a:solidFill>
                <a:latin typeface="Arial" pitchFamily="34" charset="0"/>
                <a:ea typeface="Arial" pitchFamily="34" charset="-122"/>
                <a:cs typeface="Arial" pitchFamily="34" charset="-120"/>
              </a:rPr>
              <a:t>Every contact scored high, medium or low fit against a scorecard built with you. High fit goes first. Scripts A/B tested against real replies.</a:t>
            </a:r>
            <a:endParaRPr lang="en-US" sz="1050" dirty="0"/>
          </a:p>
        </p:txBody>
      </p:sp>
      <p:sp>
        <p:nvSpPr>
          <p:cNvPr id="322" name="Shape s3"/>
          <p:cNvSpPr/>
          <p:nvPr/>
        </p:nvSpPr>
        <p:spPr>
          <a:xfrm>
            <a:off x="566928" y="3611880"/>
            <a:ext cx="3593592" cy="1417320"/>
          </a:xfrm>
          <a:prstGeom prst="roundRect">
            <a:avLst>
              <a:gd name="adj" fmla="val 3529"/>
            </a:avLst>
          </a:prstGeom>
          <a:solidFill>
            <a:srgbClr val="0D0D26">
              <a:alpha val="55000"/>
            </a:srgbClr>
          </a:solidFill>
          <a:ln w="9525">
            <a:solidFill>
              <a:srgbClr val="31316A">
                <a:alpha val="75000"/>
              </a:srgbClr>
            </a:solidFill>
            <a:prstDash val="solid"/>
          </a:ln>
        </p:spPr>
      </p:sp>
      <p:sp>
        <p:nvSpPr>
          <p:cNvPr id="323" name="Text s3l"/>
          <p:cNvSpPr/>
          <p:nvPr/>
        </p:nvSpPr>
        <p:spPr>
          <a:xfrm>
            <a:off x="795528" y="3739896"/>
            <a:ext cx="3136392" cy="274320"/>
          </a:xfrm>
          <a:prstGeom prst="rect">
            <a:avLst/>
          </a:prstGeom>
          <a:noFill/>
          <a:ln/>
        </p:spPr>
        <p:txBody>
          <a:bodyPr wrap="square" lIns="0" tIns="0" rIns="0" bIns="0" rtlCol="0" anchor="ctr"/>
          <a:lstStyle/>
          <a:p>
            <a:pPr indent="0" marL="0">
              <a:buNone/>
            </a:pPr>
            <a:r>
              <a:rPr lang="en-US" sz="1300" b="1" spc="100" kern="0" dirty="0">
                <a:solidFill>
                  <a:srgbClr val="43D5FF"/>
                </a:solidFill>
                <a:latin typeface="Arial" pitchFamily="34" charset="0"/>
                <a:ea typeface="Arial" pitchFamily="34" charset="-122"/>
                <a:cs typeface="Arial" pitchFamily="34" charset="-120"/>
              </a:rPr>
              <a:t>4  ·  MANUAL REVIEW</a:t>
            </a:r>
            <a:endParaRPr lang="en-US" sz="1300" dirty="0"/>
          </a:p>
        </p:txBody>
      </p:sp>
      <p:sp>
        <p:nvSpPr>
          <p:cNvPr id="324" name="Text s3p"/>
          <p:cNvSpPr/>
          <p:nvPr/>
        </p:nvSpPr>
        <p:spPr>
          <a:xfrm>
            <a:off x="795528" y="4050792"/>
            <a:ext cx="3136392" cy="914400"/>
          </a:xfrm>
          <a:prstGeom prst="rect">
            <a:avLst/>
          </a:prstGeom>
          <a:noFill/>
          <a:ln/>
        </p:spPr>
        <p:txBody>
          <a:bodyPr wrap="square" lIns="0" tIns="0" rIns="0" bIns="0" rtlCol="0" anchor="t"/>
          <a:lstStyle/>
          <a:p>
            <a:pPr indent="0" marL="0">
              <a:lnSpc>
                <a:spcPct val="115000"/>
              </a:lnSpc>
              <a:buNone/>
            </a:pPr>
            <a:r>
              <a:rPr lang="en-US" sz="1050" dirty="0">
                <a:solidFill>
                  <a:srgbClr val="FFFFFF"/>
                </a:solidFill>
                <a:latin typeface="Arial" pitchFamily="34" charset="0"/>
                <a:ea typeface="Arial" pitchFamily="34" charset="-122"/>
                <a:cs typeface="Arial" pitchFamily="34" charset="-120"/>
              </a:rPr>
              <a:t>A dedicated account manager hand-checks every high-fit profile before a message goes out, and learns your story well enough to tell it in your voice.</a:t>
            </a:r>
            <a:endParaRPr lang="en-US" sz="1050" dirty="0"/>
          </a:p>
        </p:txBody>
      </p:sp>
      <p:sp>
        <p:nvSpPr>
          <p:cNvPr id="325" name="Shape s4"/>
          <p:cNvSpPr/>
          <p:nvPr/>
        </p:nvSpPr>
        <p:spPr>
          <a:xfrm>
            <a:off x="4434840" y="3611880"/>
            <a:ext cx="3593592" cy="1417320"/>
          </a:xfrm>
          <a:prstGeom prst="roundRect">
            <a:avLst>
              <a:gd name="adj" fmla="val 3529"/>
            </a:avLst>
          </a:prstGeom>
          <a:solidFill>
            <a:srgbClr val="0D0D26">
              <a:alpha val="55000"/>
            </a:srgbClr>
          </a:solidFill>
          <a:ln w="9525">
            <a:solidFill>
              <a:srgbClr val="31316A">
                <a:alpha val="75000"/>
              </a:srgbClr>
            </a:solidFill>
            <a:prstDash val="solid"/>
          </a:ln>
        </p:spPr>
      </p:sp>
      <p:sp>
        <p:nvSpPr>
          <p:cNvPr id="326" name="Text s4l"/>
          <p:cNvSpPr/>
          <p:nvPr/>
        </p:nvSpPr>
        <p:spPr>
          <a:xfrm>
            <a:off x="4663440" y="3739896"/>
            <a:ext cx="3136392" cy="274320"/>
          </a:xfrm>
          <a:prstGeom prst="rect">
            <a:avLst/>
          </a:prstGeom>
          <a:noFill/>
          <a:ln/>
        </p:spPr>
        <p:txBody>
          <a:bodyPr wrap="square" lIns="0" tIns="0" rIns="0" bIns="0" rtlCol="0" anchor="ctr"/>
          <a:lstStyle/>
          <a:p>
            <a:pPr indent="0" marL="0">
              <a:buNone/>
            </a:pPr>
            <a:r>
              <a:rPr lang="en-US" sz="1300" b="1" spc="100" kern="0" dirty="0">
                <a:solidFill>
                  <a:srgbClr val="43D5FF"/>
                </a:solidFill>
                <a:latin typeface="Arial" pitchFamily="34" charset="0"/>
                <a:ea typeface="Arial" pitchFamily="34" charset="-122"/>
                <a:cs typeface="Arial" pitchFamily="34" charset="-120"/>
              </a:rPr>
              <a:t>5  ·  PRE-CALL QUALIFICATION</a:t>
            </a:r>
            <a:endParaRPr lang="en-US" sz="1300" dirty="0"/>
          </a:p>
        </p:txBody>
      </p:sp>
      <p:sp>
        <p:nvSpPr>
          <p:cNvPr id="327" name="Text s4p"/>
          <p:cNvSpPr/>
          <p:nvPr/>
        </p:nvSpPr>
        <p:spPr>
          <a:xfrm>
            <a:off x="4663440" y="4050792"/>
            <a:ext cx="3136392" cy="914400"/>
          </a:xfrm>
          <a:prstGeom prst="rect">
            <a:avLst/>
          </a:prstGeom>
          <a:noFill/>
          <a:ln/>
        </p:spPr>
        <p:txBody>
          <a:bodyPr wrap="square" lIns="0" tIns="0" rIns="0" bIns="0" rtlCol="0" anchor="t"/>
          <a:lstStyle/>
          <a:p>
            <a:pPr indent="0" marL="0">
              <a:lnSpc>
                <a:spcPct val="115000"/>
              </a:lnSpc>
              <a:buNone/>
            </a:pPr>
            <a:r>
              <a:rPr lang="en-US" sz="1050" dirty="0">
                <a:solidFill>
                  <a:srgbClr val="FFFFFF"/>
                </a:solidFill>
                <a:latin typeface="Arial" pitchFamily="34" charset="0"/>
                <a:ea typeface="Arial" pitchFamily="34" charset="-122"/>
                <a:cs typeface="Arial" pitchFamily="34" charset="-120"/>
              </a:rPr>
              <a:t>Every booking routes through a short form: accreditation, check size, timeline, sectors. A briefing before every call; soft letdowns for the wrong fit.</a:t>
            </a:r>
            <a:endParaRPr lang="en-US" sz="1050" dirty="0"/>
          </a:p>
        </p:txBody>
      </p:sp>
      <p:sp>
        <p:nvSpPr>
          <p:cNvPr id="328" name="Shape s5"/>
          <p:cNvSpPr/>
          <p:nvPr/>
        </p:nvSpPr>
        <p:spPr>
          <a:xfrm>
            <a:off x="8302752" y="3611880"/>
            <a:ext cx="3593592" cy="1417320"/>
          </a:xfrm>
          <a:prstGeom prst="roundRect">
            <a:avLst>
              <a:gd name="adj" fmla="val 3529"/>
            </a:avLst>
          </a:prstGeom>
          <a:solidFill>
            <a:srgbClr val="0D0D26">
              <a:alpha val="55000"/>
            </a:srgbClr>
          </a:solidFill>
          <a:ln w="9525">
            <a:solidFill>
              <a:srgbClr val="31316A">
                <a:alpha val="75000"/>
              </a:srgbClr>
            </a:solidFill>
            <a:prstDash val="solid"/>
          </a:ln>
        </p:spPr>
      </p:sp>
      <p:sp>
        <p:nvSpPr>
          <p:cNvPr id="329" name="Text s5l"/>
          <p:cNvSpPr/>
          <p:nvPr/>
        </p:nvSpPr>
        <p:spPr>
          <a:xfrm>
            <a:off x="8531352" y="3739896"/>
            <a:ext cx="3136392" cy="274320"/>
          </a:xfrm>
          <a:prstGeom prst="rect">
            <a:avLst/>
          </a:prstGeom>
          <a:noFill/>
          <a:ln/>
        </p:spPr>
        <p:txBody>
          <a:bodyPr wrap="square" lIns="0" tIns="0" rIns="0" bIns="0" rtlCol="0" anchor="ctr"/>
          <a:lstStyle/>
          <a:p>
            <a:pPr indent="0" marL="0">
              <a:buNone/>
            </a:pPr>
            <a:r>
              <a:rPr lang="en-US" sz="1300" b="1" spc="100" kern="0" dirty="0">
                <a:solidFill>
                  <a:srgbClr val="43D5FF"/>
                </a:solidFill>
                <a:latin typeface="Arial" pitchFamily="34" charset="0"/>
                <a:ea typeface="Arial" pitchFamily="34" charset="-122"/>
                <a:cs typeface="Arial" pitchFamily="34" charset="-120"/>
              </a:rPr>
              <a:t>6  ·  YOUR FINAL APPROVAL</a:t>
            </a:r>
            <a:endParaRPr lang="en-US" sz="1300" dirty="0"/>
          </a:p>
        </p:txBody>
      </p:sp>
      <p:sp>
        <p:nvSpPr>
          <p:cNvPr id="330" name="Text s5p"/>
          <p:cNvSpPr/>
          <p:nvPr/>
        </p:nvSpPr>
        <p:spPr>
          <a:xfrm>
            <a:off x="8531352" y="4050792"/>
            <a:ext cx="3136392" cy="914400"/>
          </a:xfrm>
          <a:prstGeom prst="rect">
            <a:avLst/>
          </a:prstGeom>
          <a:noFill/>
          <a:ln/>
        </p:spPr>
        <p:txBody>
          <a:bodyPr wrap="square" lIns="0" tIns="0" rIns="0" bIns="0" rtlCol="0" anchor="t"/>
          <a:lstStyle/>
          <a:p>
            <a:pPr indent="0" marL="0">
              <a:lnSpc>
                <a:spcPct val="115000"/>
              </a:lnSpc>
              <a:buNone/>
            </a:pPr>
            <a:r>
              <a:rPr lang="en-US" sz="1050" dirty="0">
                <a:solidFill>
                  <a:srgbClr val="FFFFFF"/>
                </a:solidFill>
                <a:latin typeface="Arial" pitchFamily="34" charset="0"/>
                <a:ea typeface="Arial" pitchFamily="34" charset="-122"/>
                <a:cs typeface="Arial" pitchFamily="34" charset="-120"/>
              </a:rPr>
              <a:t>Accept, vet further or decline every meeting. Shared CRM from day one, weekly reporting, monthly strategy calls. If something isn’t working, you hear it from us first.</a:t>
            </a:r>
            <a:endParaRPr lang="en-US" sz="1050" dirty="0"/>
          </a:p>
        </p:txBody>
      </p:sp>
      <p:sp>
        <p:nvSpPr>
          <p:cNvPr id="15" name="Shape 12"/>
          <p:cNvSpPr/>
          <p:nvPr/>
        </p:nvSpPr>
        <p:spPr>
          <a:xfrm>
            <a:off x="566928" y="5212080"/>
            <a:ext cx="11338560" cy="1143000"/>
          </a:xfrm>
          <a:prstGeom prst="roundRect">
            <a:avLst>
              <a:gd name="adj" fmla="val 4865"/>
            </a:avLst>
          </a:prstGeom>
          <a:solidFill>
            <a:srgbClr val="0D0D26">
              <a:alpha val="55000"/>
            </a:srgbClr>
          </a:solidFill>
          <a:ln w="9525">
            <a:solidFill>
              <a:srgbClr val="31316A">
                <a:alpha val="75000"/>
              </a:srgbClr>
            </a:solidFill>
            <a:prstDash val="solid"/>
          </a:ln>
        </p:spPr>
      </p:sp>
      <p:sp>
        <p:nvSpPr>
          <p:cNvPr id="16" name="Text 13"/>
          <p:cNvSpPr/>
          <p:nvPr/>
        </p:nvSpPr>
        <p:spPr>
          <a:xfrm>
            <a:off x="795528" y="5340096"/>
            <a:ext cx="2743200" cy="274320"/>
          </a:xfrm>
          <a:prstGeom prst="rect">
            <a:avLst/>
          </a:prstGeom>
          <a:noFill/>
          <a:ln/>
        </p:spPr>
        <p:txBody>
          <a:bodyPr wrap="square" lIns="0" tIns="0" rIns="0" bIns="0" rtlCol="0" anchor="ctr"/>
          <a:lstStyle/>
          <a:p>
            <a:pPr indent="0" marL="0">
              <a:buNone/>
            </a:pPr>
            <a:r>
              <a:rPr lang="en-US" sz="1400" b="1" spc="100" kern="0" dirty="0">
                <a:solidFill>
                  <a:srgbClr val="7C6CFF"/>
                </a:solidFill>
                <a:latin typeface="Arial" pitchFamily="34" charset="0"/>
                <a:ea typeface="Arial" pitchFamily="34" charset="-122"/>
                <a:cs typeface="Arial" pitchFamily="34" charset="-120"/>
              </a:rPr>
              <a:t>THE FLOW</a:t>
            </a:r>
            <a:endParaRPr lang="en-US" sz="1400" dirty="0"/>
          </a:p>
        </p:txBody>
      </p:sp>
      <p:sp>
        <p:nvSpPr>
          <p:cNvPr id="17" name="Text 14"/>
          <p:cNvSpPr/>
          <p:nvPr/>
        </p:nvSpPr>
        <p:spPr>
          <a:xfrm>
            <a:off x="795528" y="5632704"/>
            <a:ext cx="10881360" cy="640080"/>
          </a:xfrm>
          <a:prstGeom prst="rect">
            <a:avLst/>
          </a:prstGeom>
          <a:noFill/>
          <a:ln/>
        </p:spPr>
        <p:txBody>
          <a:bodyPr wrap="square" lIns="0" tIns="0" rIns="0" bIns="0" rtlCol="0" anchor="t"/>
          <a:lstStyle/>
          <a:p>
            <a:pPr indent="0" marL="0">
              <a:lnSpc>
                <a:spcPct val="120000"/>
              </a:lnSpc>
              <a:buNone/>
            </a:pPr>
            <a:r>
              <a:rPr lang="en-US" sz="1200" dirty="0">
                <a:solidFill>
                  <a:srgbClr val="FFFFFF"/>
                </a:solidFill>
                <a:latin typeface="Arial" pitchFamily="34" charset="0"/>
                <a:ea typeface="Arial" pitchFamily="34" charset="-122"/>
                <a:cs typeface="Arial" pitchFamily="34" charset="-120"/>
              </a:rPr>
              <a:t>Multi-source data → signal filters → ICP scoring → manual review → pre-call qualification → your approval. Outreach only happens after the first four steps; a meeting only lands after all six. The briefing you receive before every call is on the next page.</a:t>
            </a:r>
            <a:endParaRPr lang="en-US" sz="12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pic>
        <p:nvPicPr>
          <p:cNvPr id="2" name="Image 0" descr="/home/claude/brand/clean/logo_header.png">    </p:cNvPr>
          <p:cNvPicPr>
            <a:picLocks noChangeAspect="1"/>
          </p:cNvPicPr>
          <p:nvPr/>
        </p:nvPicPr>
        <p:blipFill>
          <a:blip r:embed="rId2"/>
          <a:stretch>
            <a:fillRect/>
          </a:stretch>
        </p:blipFill>
        <p:spPr>
          <a:xfrm>
            <a:off x="411480" y="164592"/>
            <a:ext cx="850392" cy="530352"/>
          </a:xfrm>
          <a:prstGeom prst="rect">
            <a:avLst/>
          </a:prstGeom>
        </p:spPr>
      </p:pic>
      <p:sp>
        <p:nvSpPr>
          <p:cNvPr id="3" name="Text 0"/>
          <p:cNvSpPr/>
          <p:nvPr/>
        </p:nvSpPr>
        <p:spPr>
          <a:xfrm>
            <a:off x="1417320" y="201168"/>
            <a:ext cx="4114800" cy="457200"/>
          </a:xfrm>
          <a:prstGeom prst="rect">
            <a:avLst/>
          </a:prstGeom>
          <a:noFill/>
          <a:ln/>
        </p:spPr>
        <p:txBody>
          <a:bodyPr wrap="square" lIns="0" tIns="0" rIns="0" bIns="0" rtlCol="0" anchor="ctr"/>
          <a:lstStyle/>
          <a:p>
            <a:pPr indent="0" marL="0">
              <a:buNone/>
            </a:pPr>
            <a:r>
              <a:rPr lang="en-US" sz="1300" spc="200" kern="0" dirty="0">
                <a:solidFill>
                  <a:srgbClr val="FFFFFF"/>
                </a:solidFill>
                <a:latin typeface="Arial" pitchFamily="34" charset="0"/>
                <a:ea typeface="Arial" pitchFamily="34" charset="-122"/>
                <a:cs typeface="Arial" pitchFamily="34" charset="-120"/>
              </a:rPr>
              <a:t>THINKFISH LLC 2026</a:t>
            </a:r>
            <a:endParaRPr lang="en-US" sz="1300" dirty="0"/>
          </a:p>
        </p:txBody>
      </p:sp>
      <p:sp>
        <p:nvSpPr>
          <p:cNvPr id="4" name="Text 1"/>
          <p:cNvSpPr/>
          <p:nvPr/>
        </p:nvSpPr>
        <p:spPr>
          <a:xfrm>
            <a:off x="566928" y="868680"/>
            <a:ext cx="11155680" cy="777240"/>
          </a:xfrm>
          <a:prstGeom prst="rect">
            <a:avLst/>
          </a:prstGeom>
          <a:noFill/>
          <a:ln/>
        </p:spPr>
        <p:txBody>
          <a:bodyPr wrap="square" lIns="0" tIns="0" rIns="0" bIns="0" rtlCol="0" anchor="ctr"/>
          <a:lstStyle/>
          <a:p>
            <a:pPr indent="0" marL="0">
              <a:buNone/>
            </a:pPr>
            <a:r>
              <a:rPr lang="en-US" sz="3800" b="1" dirty="0">
                <a:solidFill>
                  <a:srgbClr val="FFFFFF"/>
                </a:solidFill>
                <a:latin typeface="Arial" pitchFamily="34" charset="0"/>
                <a:ea typeface="Arial" pitchFamily="34" charset="-122"/>
                <a:cs typeface="Arial" pitchFamily="34" charset="-120"/>
              </a:rPr>
              <a:t>The Call Briefing</a:t>
            </a:r>
            <a:endParaRPr lang="en-US" sz="3800" dirty="0"/>
          </a:p>
        </p:txBody>
      </p:sp>
      <p:sp>
        <p:nvSpPr>
          <p:cNvPr id="5" name="Text 2"/>
          <p:cNvSpPr/>
          <p:nvPr/>
        </p:nvSpPr>
        <p:spPr>
          <a:xfrm>
            <a:off x="594360" y="1481328"/>
            <a:ext cx="11155680" cy="320040"/>
          </a:xfrm>
          <a:prstGeom prst="rect">
            <a:avLst/>
          </a:prstGeom>
          <a:noFill/>
          <a:ln/>
        </p:spPr>
        <p:txBody>
          <a:bodyPr wrap="square" lIns="0" tIns="0" rIns="0" bIns="0" rtlCol="0" anchor="ctr"/>
          <a:lstStyle/>
          <a:p>
            <a:pPr indent="0" marL="0">
              <a:buNone/>
            </a:pPr>
            <a:r>
              <a:rPr lang="en-US" sz="1400" b="1" spc="100" kern="0" dirty="0">
                <a:solidFill>
                  <a:srgbClr val="43D5FF"/>
                </a:solidFill>
                <a:latin typeface="Arial" pitchFamily="34" charset="0"/>
                <a:ea typeface="Arial" pitchFamily="34" charset="-122"/>
                <a:cs typeface="Arial" pitchFamily="34" charset="-120"/>
              </a:rPr>
              <a:t>WHAT LANDS IN YOUR INBOX BEFORE EVERY MEETING  ·  A REAL ONE, NAMES WITHHELD</a:t>
            </a:r>
            <a:endParaRPr lang="en-US" sz="1400" dirty="0"/>
          </a:p>
        </p:txBody>
      </p:sp>
      <p:sp>
        <p:nvSpPr>
          <p:cNvPr id="331" name="Shape email"/>
          <p:cNvSpPr/>
          <p:nvPr/>
        </p:nvSpPr>
        <p:spPr>
          <a:xfrm>
            <a:off x="566928" y="1965960"/>
            <a:ext cx="7452360" cy="4617720"/>
          </a:xfrm>
          <a:prstGeom prst="roundRect">
            <a:avLst>
              <a:gd name="adj" fmla="val 2500"/>
            </a:avLst>
          </a:prstGeom>
          <a:solidFill>
            <a:srgbClr val="FFFFFF"/>
          </a:solidFill>
          <a:ln>
            <a:noFill/>
          </a:ln>
        </p:spPr>
      </p:sp>
      <p:sp>
        <p:nvSpPr>
          <p:cNvPr id="332" name="Text e-subj"/>
          <p:cNvSpPr txBox="1"/>
          <p:nvPr/>
        </p:nvSpPr>
        <p:spPr>
          <a:xfrm>
            <a:off x="822960" y="2103120"/>
            <a:ext cx="6940296" cy="256032"/>
          </a:xfrm>
          <a:prstGeom prst="rect">
            <a:avLst/>
          </a:prstGeom>
          <a:noFill/>
        </p:spPr>
        <p:txBody>
          <a:bodyPr wrap="square" lIns="0" tIns="0" rIns="0" bIns="0" rtlCol="0" anchor="t"/>
          <a:lstStyle/>
          <a:p>
            <a:pPr indent="0" marL="0">
              <a:lnSpc>
                <a:spcPct val="112000"/>
              </a:lnSpc>
              <a:spcAft>
                <a:spcPts val="300"/>
              </a:spcAft>
              <a:buNone/>
            </a:pPr>
            <a:r>
              <a:rPr lang="en-US" sz="1150" b="1" dirty="0">
                <a:solidFill>
                  <a:srgbClr val="1A1A2E"/>
                </a:solidFill>
                <a:latin typeface="Arial" pitchFamily="34" charset="0"/>
                <a:ea typeface="Arial" pitchFamily="34" charset="-122"/>
                <a:cs typeface="Arial" pitchFamily="34" charset="-120"/>
              </a:rPr>
              <a:t xml:space="preserve">CONFIRMED MEETING: New Scheduled Call – [Prospect]</a:t>
            </a:r>
            <a:endParaRPr lang="en-US" sz="1150" dirty="0"/>
          </a:p>
        </p:txBody>
      </p:sp>
      <p:sp>
        <p:nvSpPr>
          <p:cNvPr id="333" name="Text e-from"/>
          <p:cNvSpPr txBox="1"/>
          <p:nvPr/>
        </p:nvSpPr>
        <p:spPr>
          <a:xfrm>
            <a:off x="822960" y="2359152"/>
            <a:ext cx="6940296" cy="182880"/>
          </a:xfrm>
          <a:prstGeom prst="rect">
            <a:avLst/>
          </a:prstGeom>
          <a:noFill/>
        </p:spPr>
        <p:txBody>
          <a:bodyPr wrap="square" lIns="0" tIns="0" rIns="0" bIns="0" rtlCol="0" anchor="t"/>
          <a:lstStyle/>
          <a:p>
            <a:pPr indent="0" marL="0">
              <a:lnSpc>
                <a:spcPct val="112000"/>
              </a:lnSpc>
              <a:spcAft>
                <a:spcPts val="300"/>
              </a:spcAft>
              <a:buNone/>
            </a:pPr>
            <a:r>
              <a:rPr lang="en-US" sz="800" dirty="0">
                <a:solidFill>
                  <a:srgbClr val="5F6368"/>
                </a:solidFill>
                <a:latin typeface="Arial" pitchFamily="34" charset="0"/>
                <a:ea typeface="Arial" pitchFamily="34" charset="-122"/>
                <a:cs typeface="Arial" pitchFamily="34" charset="-120"/>
              </a:rPr>
              <a:t xml:space="preserve">From: your ThinkFISH account manager   ·   To: you   ·   Cc: Myra Grama, Freizle Abarrientos   ·   Thu, Sep 17, 2026, 6:26 PM</a:t>
            </a:r>
            <a:endParaRPr lang="en-US" sz="800" dirty="0"/>
          </a:p>
        </p:txBody>
      </p:sp>
      <p:sp>
        <p:nvSpPr>
          <p:cNvPr id="334" name="Shape e-rule"/>
          <p:cNvSpPr/>
          <p:nvPr/>
        </p:nvSpPr>
        <p:spPr>
          <a:xfrm>
            <a:off x="822960" y="2596896"/>
            <a:ext cx="6940296" cy="13716"/>
          </a:xfrm>
          <a:prstGeom prst="rect">
            <a:avLst/>
          </a:prstGeom>
          <a:solidFill>
            <a:srgbClr val="DADCE0"/>
          </a:solidFill>
          <a:ln>
            <a:noFill/>
          </a:ln>
        </p:spPr>
      </p:sp>
      <p:sp>
        <p:nvSpPr>
          <p:cNvPr id="335" name="Text e-2.94"/>
          <p:cNvSpPr txBox="1"/>
          <p:nvPr/>
        </p:nvSpPr>
        <p:spPr>
          <a:xfrm>
            <a:off x="822960" y="2688336"/>
            <a:ext cx="6940296" cy="640080"/>
          </a:xfrm>
          <a:prstGeom prst="rect">
            <a:avLst/>
          </a:prstGeom>
          <a:noFill/>
        </p:spPr>
        <p:txBody>
          <a:bodyPr wrap="square" lIns="0" tIns="0" rIns="0" bIns="0" rtlCol="0" anchor="t"/>
          <a:lstStyle/>
          <a:p>
            <a:pPr indent="0" marL="0">
              <a:lnSpc>
                <a:spcPct val="110000"/>
              </a:lnSpc>
              <a:spcAft>
                <a:spcPts val="150"/>
              </a:spcAft>
              <a:buNone/>
            </a:pPr>
            <a:r>
              <a:rPr lang="en-US" sz="850" dirty="0">
                <a:solidFill>
                  <a:srgbClr val="333333"/>
                </a:solidFill>
                <a:latin typeface="Arial" pitchFamily="34" charset="0"/>
                <a:ea typeface="Arial" pitchFamily="34" charset="-122"/>
                <a:cs typeface="Arial" pitchFamily="34" charset="-120"/>
              </a:rPr>
              <a:t xml:space="preserve">Here is the booking summary for your upcoming call with [Prospect] on Tuesday, September 22, at 5:30pm ET. This meeting came through outbound LinkedIn outreach, and is categorized under </a:t>
            </a:r>
            <a:r>
              <a:rPr lang="en-US" sz="850" b="1" dirty="0">
                <a:solidFill>
                  <a:srgbClr val="333333"/>
                </a:solidFill>
                <a:latin typeface="Arial" pitchFamily="34" charset="0"/>
                <a:ea typeface="Arial" pitchFamily="34" charset="-122"/>
                <a:cs typeface="Arial" pitchFamily="34" charset="-120"/>
              </a:rPr>
              <a:t xml:space="preserve">Segment A (Hospitality-Connected Investors)</a:t>
            </a:r>
            <a:r>
              <a:rPr lang="en-US" sz="850" dirty="0">
                <a:solidFill>
                  <a:srgbClr val="333333"/>
                </a:solidFill>
                <a:latin typeface="Arial" pitchFamily="34" charset="0"/>
                <a:ea typeface="Arial" pitchFamily="34" charset="-122"/>
                <a:cs typeface="Arial" pitchFamily="34" charset="-120"/>
              </a:rPr>
              <a:t xml:space="preserve">, with secondary alignment to </a:t>
            </a:r>
            <a:r>
              <a:rPr lang="en-US" sz="850" b="1" dirty="0">
                <a:solidFill>
                  <a:srgbClr val="333333"/>
                </a:solidFill>
                <a:latin typeface="Arial" pitchFamily="34" charset="0"/>
                <a:ea typeface="Arial" pitchFamily="34" charset="-122"/>
                <a:cs typeface="Arial" pitchFamily="34" charset="-120"/>
              </a:rPr>
              <a:t xml:space="preserve">Segment C (Operator-Turned-Investor / High-Income Professional)</a:t>
            </a:r>
            <a:r>
              <a:rPr lang="en-US" sz="850" dirty="0">
                <a:solidFill>
                  <a:srgbClr val="333333"/>
                </a:solidFill>
                <a:latin typeface="Arial" pitchFamily="34" charset="0"/>
                <a:ea typeface="Arial" pitchFamily="34" charset="-122"/>
                <a:cs typeface="Arial" pitchFamily="34" charset="-120"/>
              </a:rPr>
              <a:t xml:space="preserve">. He initially pushed back hard on the original pitch, questioning whether luggage storage footprint would move a hotel’s P&amp;L, then re-engaged and booked once the conversation was reframed around the raise and his advisory perspective rather than a property-pilot pitch.</a:t>
            </a:r>
            <a:endParaRPr lang="en-US" sz="850" dirty="0"/>
          </a:p>
        </p:txBody>
      </p:sp>
      <p:sp>
        <p:nvSpPr>
          <p:cNvPr id="336" name="Text e-3.78"/>
          <p:cNvSpPr txBox="1"/>
          <p:nvPr/>
        </p:nvSpPr>
        <p:spPr>
          <a:xfrm>
            <a:off x="822960" y="3456432"/>
            <a:ext cx="6940296" cy="868680"/>
          </a:xfrm>
          <a:prstGeom prst="rect">
            <a:avLst/>
          </a:prstGeom>
          <a:noFill/>
        </p:spPr>
        <p:txBody>
          <a:bodyPr wrap="square" lIns="0" tIns="0" rIns="0" bIns="0" rtlCol="0" anchor="t"/>
          <a:lstStyle/>
          <a:p>
            <a:pPr indent="0" marL="0">
              <a:lnSpc>
                <a:spcPct val="110000"/>
              </a:lnSpc>
              <a:spcAft>
                <a:spcPts val="150"/>
              </a:spcAft>
              <a:buNone/>
            </a:pPr>
            <a:r>
              <a:rPr lang="en-US" sz="850" b="1" dirty="0">
                <a:solidFill>
                  <a:srgbClr val="1A1A2E"/>
                </a:solidFill>
                <a:latin typeface="Arial" pitchFamily="34" charset="0"/>
                <a:ea typeface="Arial" pitchFamily="34" charset="-122"/>
                <a:cs typeface="Arial" pitchFamily="34" charset="-120"/>
              </a:rPr>
              <a:t xml:space="preserve">Summary of why he’s a good fit:</a:t>
            </a:r>
            <a:endParaRPr lang="en-US" sz="850" dirty="0"/>
          </a:p>
          <a:p>
            <a:pPr indent="0" marL="0">
              <a:lnSpc>
                <a:spcPct val="110000"/>
              </a:lnSpc>
              <a:spcAft>
                <a:spcPts val="150"/>
              </a:spcAft>
              <a:buNone/>
            </a:pPr>
            <a:r>
              <a:rPr lang="en-US" sz="850" dirty="0">
                <a:solidFill>
                  <a:srgbClr val="333333"/>
                </a:solidFill>
                <a:latin typeface="Arial" pitchFamily="34" charset="0"/>
                <a:ea typeface="Arial" pitchFamily="34" charset="-122"/>
                <a:cs typeface="Arial" pitchFamily="34" charset="-120"/>
              </a:rPr>
              <a:t xml:space="preserve">15+ years of senior hospitality brand leadership: Global Brand Director for Westin Hotels &amp; Resorts and Global Brand lead across Marriott’s premium and lifestyle portfolio, Director of Brand F&amp;B Development (Americas) at Hilton, and a stint at a VC-backed hospitality-tech startup. He now advises private clients across the hospitality sector. </a:t>
            </a:r>
            <a:r>
              <a:rPr lang="en-US" sz="850" b="1" dirty="0">
                <a:solidFill>
                  <a:srgbClr val="333333"/>
                </a:solidFill>
                <a:latin typeface="Arial" pitchFamily="34" charset="0"/>
                <a:ea typeface="Arial" pitchFamily="34" charset="-122"/>
                <a:cs typeface="Arial" pitchFamily="34" charset="-120"/>
              </a:rPr>
              <a:t xml:space="preserve">His own qualifying answers reflect that: he marked himself as not accredited but also selected a $25K–$50K check size, direct investment, and a 30–90 day timeline</a:t>
            </a:r>
            <a:r>
              <a:rPr lang="en-US" sz="850" dirty="0">
                <a:solidFill>
                  <a:srgbClr val="333333"/>
                </a:solidFill>
                <a:latin typeface="Arial" pitchFamily="34" charset="0"/>
                <a:ea typeface="Arial" pitchFamily="34" charset="-122"/>
                <a:cs typeface="Arial" pitchFamily="34" charset="-120"/>
              </a:rPr>
              <a:t xml:space="preserve">, an inconsistency worth being aware of going in. He also selected Advisor/Consultant as his partnership interest, so the call may land better framed as an operator/advisory conversation.</a:t>
            </a:r>
            <a:endParaRPr lang="en-US" sz="850" dirty="0"/>
          </a:p>
        </p:txBody>
      </p:sp>
      <p:sp>
        <p:nvSpPr>
          <p:cNvPr id="337" name="Text e-4.92"/>
          <p:cNvSpPr txBox="1"/>
          <p:nvPr/>
        </p:nvSpPr>
        <p:spPr>
          <a:xfrm>
            <a:off x="822960" y="4498848"/>
            <a:ext cx="6940296" cy="274320"/>
          </a:xfrm>
          <a:prstGeom prst="rect">
            <a:avLst/>
          </a:prstGeom>
          <a:noFill/>
        </p:spPr>
        <p:txBody>
          <a:bodyPr wrap="square" lIns="0" tIns="0" rIns="0" bIns="0" rtlCol="0" anchor="t"/>
          <a:lstStyle/>
          <a:p>
            <a:pPr indent="0" marL="0">
              <a:lnSpc>
                <a:spcPct val="110000"/>
              </a:lnSpc>
              <a:spcAft>
                <a:spcPts val="150"/>
              </a:spcAft>
              <a:buNone/>
            </a:pPr>
            <a:r>
              <a:rPr lang="en-US" sz="850" b="1" dirty="0">
                <a:solidFill>
                  <a:srgbClr val="1A1A2E"/>
                </a:solidFill>
                <a:latin typeface="Arial" pitchFamily="34" charset="0"/>
                <a:ea typeface="Arial" pitchFamily="34" charset="-122"/>
                <a:cs typeface="Arial" pitchFamily="34" charset="-120"/>
              </a:rPr>
              <a:t xml:space="preserve">Mutual Connections: </a:t>
            </a:r>
            <a:r>
              <a:rPr lang="en-US" sz="850" dirty="0">
                <a:solidFill>
                  <a:srgbClr val="333333"/>
                </a:solidFill>
                <a:latin typeface="Arial" pitchFamily="34" charset="0"/>
                <a:ea typeface="Arial" pitchFamily="34" charset="-122"/>
                <a:cs typeface="Arial" pitchFamily="34" charset="-120"/>
              </a:rPr>
              <a:t xml:space="preserve">Matthew and Cherryh.   </a:t>
            </a:r>
            <a:r>
              <a:rPr lang="en-US" sz="850" b="1" dirty="0">
                <a:solidFill>
                  <a:srgbClr val="1A1A2E"/>
                </a:solidFill>
                <a:latin typeface="Arial" pitchFamily="34" charset="0"/>
                <a:ea typeface="Arial" pitchFamily="34" charset="-122"/>
                <a:cs typeface="Arial" pitchFamily="34" charset="-120"/>
              </a:rPr>
              <a:t xml:space="preserve">Network Highlights: </a:t>
            </a:r>
            <a:r>
              <a:rPr lang="en-US" sz="850" dirty="0">
                <a:solidFill>
                  <a:srgbClr val="333333"/>
                </a:solidFill>
                <a:latin typeface="Arial" pitchFamily="34" charset="0"/>
                <a:ea typeface="Arial" pitchFamily="34" charset="-122"/>
                <a:cs typeface="Arial" pitchFamily="34" charset="-120"/>
              </a:rPr>
              <a:t xml:space="preserve">4,251 followers, active on LinkedIn engaging with colleagues’ career milestones; Cornell-affiliated.</a:t>
            </a:r>
            <a:endParaRPr lang="en-US" sz="850" dirty="0"/>
          </a:p>
        </p:txBody>
      </p:sp>
      <p:sp>
        <p:nvSpPr>
          <p:cNvPr id="338" name="Text e-5.3"/>
          <p:cNvSpPr txBox="1"/>
          <p:nvPr/>
        </p:nvSpPr>
        <p:spPr>
          <a:xfrm>
            <a:off x="822960" y="4846320"/>
            <a:ext cx="6940296" cy="512064"/>
          </a:xfrm>
          <a:prstGeom prst="rect">
            <a:avLst/>
          </a:prstGeom>
          <a:noFill/>
        </p:spPr>
        <p:txBody>
          <a:bodyPr wrap="square" lIns="0" tIns="0" rIns="0" bIns="0" rtlCol="0" anchor="t"/>
          <a:lstStyle/>
          <a:p>
            <a:pPr indent="0" marL="0">
              <a:lnSpc>
                <a:spcPct val="110000"/>
              </a:lnSpc>
              <a:spcAft>
                <a:spcPts val="150"/>
              </a:spcAft>
              <a:buNone/>
            </a:pPr>
            <a:r>
              <a:rPr lang="en-US" sz="850" b="1" dirty="0">
                <a:solidFill>
                  <a:srgbClr val="1A1A2E"/>
                </a:solidFill>
                <a:latin typeface="Arial" pitchFamily="34" charset="0"/>
                <a:ea typeface="Arial" pitchFamily="34" charset="-122"/>
                <a:cs typeface="Arial" pitchFamily="34" charset="-120"/>
              </a:rPr>
              <a:t xml:space="preserve">Affiliations &amp; notable initiatives: </a:t>
            </a:r>
            <a:r>
              <a:rPr lang="en-US" sz="850" dirty="0">
                <a:solidFill>
                  <a:srgbClr val="333333"/>
                </a:solidFill>
                <a:latin typeface="Arial" pitchFamily="34" charset="0"/>
                <a:ea typeface="Arial" pitchFamily="34" charset="-122"/>
                <a:cs typeface="Arial" pitchFamily="34" charset="-120"/>
              </a:rPr>
              <a:t xml:space="preserve">VP, Strategy at a hospitality brand consultancy  ·  Former Global Brand Director, Westin Hotels &amp; Resorts (Marriott International)  ·  Former Director, Brand F&amp;B Development (Americas), Hilton  ·  Led global brand strategy across Westin, Sheraton, Autograph Collection, Le Méridien, Renaissance and Delta  ·  Part of a team that drove a 5x revenue increase with 40% margin expansion across 9 markets and 200,000+ hotel guest rooms.</a:t>
            </a:r>
            <a:endParaRPr lang="en-US" sz="850" dirty="0"/>
          </a:p>
        </p:txBody>
      </p:sp>
      <p:sp>
        <p:nvSpPr>
          <p:cNvPr id="339" name="Text e-5.96"/>
          <p:cNvSpPr txBox="1"/>
          <p:nvPr/>
        </p:nvSpPr>
        <p:spPr>
          <a:xfrm>
            <a:off x="822960" y="5449824"/>
            <a:ext cx="6940296" cy="713232"/>
          </a:xfrm>
          <a:prstGeom prst="rect">
            <a:avLst/>
          </a:prstGeom>
          <a:noFill/>
        </p:spPr>
        <p:txBody>
          <a:bodyPr wrap="square" lIns="0" tIns="0" rIns="0" bIns="0" rtlCol="0" anchor="t"/>
          <a:lstStyle/>
          <a:p>
            <a:pPr indent="0" marL="0">
              <a:lnSpc>
                <a:spcPct val="108000"/>
              </a:lnSpc>
              <a:spcAft>
                <a:spcPts val="100"/>
              </a:spcAft>
              <a:buNone/>
            </a:pPr>
            <a:r>
              <a:rPr lang="en-US" sz="800" b="1" dirty="0">
                <a:solidFill>
                  <a:srgbClr val="1A1A2E"/>
                </a:solidFill>
                <a:latin typeface="Arial" pitchFamily="34" charset="0"/>
                <a:ea typeface="Arial" pitchFamily="34" charset="-122"/>
                <a:cs typeface="Arial" pitchFamily="34" charset="-120"/>
              </a:rPr>
              <a:t xml:space="preserve">Conversation Thread:</a:t>
            </a:r>
            <a:endParaRPr lang="en-US" sz="800" dirty="0"/>
          </a:p>
          <a:p>
            <a:pPr indent="0" marL="0">
              <a:lnSpc>
                <a:spcPct val="108000"/>
              </a:lnSpc>
              <a:spcAft>
                <a:spcPts val="100"/>
              </a:spcAft>
              <a:buNone/>
            </a:pPr>
            <a:r>
              <a:rPr lang="en-US" sz="800" b="1" i="1" dirty="0">
                <a:solidFill>
                  <a:srgbClr val="333333"/>
                </a:solidFill>
                <a:latin typeface="Arial" pitchFamily="34" charset="0"/>
                <a:ea typeface="Arial" pitchFamily="34" charset="-122"/>
                <a:cs typeface="Arial" pitchFamily="34" charset="-120"/>
              </a:rPr>
              <a:t xml:space="preserve">Prospect: </a:t>
            </a:r>
            <a:r>
              <a:rPr lang="en-US" sz="800" i="1" dirty="0">
                <a:solidFill>
                  <a:srgbClr val="333333"/>
                </a:solidFill>
                <a:latin typeface="Arial" pitchFamily="34" charset="0"/>
                <a:ea typeface="Arial" pitchFamily="34" charset="-122"/>
                <a:cs typeface="Arial" pitchFamily="34" charset="-120"/>
              </a:rPr>
              <a:t xml:space="preserve">“…Not sure the additional 50 sq meters a luggage storage room would change the hotel P&amp;L much if any. I’m no longer your target audience… Let me know if helpful to chat.”</a:t>
            </a:r>
            <a:endParaRPr lang="en-US" sz="800" dirty="0"/>
          </a:p>
          <a:p>
            <a:pPr indent="0" marL="0">
              <a:lnSpc>
                <a:spcPct val="108000"/>
              </a:lnSpc>
              <a:spcAft>
                <a:spcPts val="100"/>
              </a:spcAft>
              <a:buNone/>
            </a:pPr>
            <a:r>
              <a:rPr lang="en-US" sz="800" b="1" i="1" dirty="0">
                <a:solidFill>
                  <a:srgbClr val="333333"/>
                </a:solidFill>
                <a:latin typeface="Arial" pitchFamily="34" charset="0"/>
                <a:ea typeface="Arial" pitchFamily="34" charset="-122"/>
                <a:cs typeface="Arial" pitchFamily="34" charset="-120"/>
              </a:rPr>
              <a:t xml:space="preserve">Founder: </a:t>
            </a:r>
            <a:r>
              <a:rPr lang="en-US" sz="800" i="1" dirty="0">
                <a:solidFill>
                  <a:srgbClr val="333333"/>
                </a:solidFill>
                <a:latin typeface="Arial" pitchFamily="34" charset="0"/>
                <a:ea typeface="Arial" pitchFamily="34" charset="-122"/>
                <a:cs typeface="Arial" pitchFamily="34" charset="-120"/>
              </a:rPr>
              <a:t xml:space="preserve">“…To be upfront, this outreach is part of a raise we’re running, not a property-pilot pitch… Given your background, I’d genuinely value your take on it from that angle.”</a:t>
            </a:r>
            <a:endParaRPr lang="en-US" sz="800" dirty="0"/>
          </a:p>
          <a:p>
            <a:pPr indent="0" marL="0">
              <a:lnSpc>
                <a:spcPct val="108000"/>
              </a:lnSpc>
              <a:spcAft>
                <a:spcPts val="100"/>
              </a:spcAft>
              <a:buNone/>
            </a:pPr>
            <a:r>
              <a:rPr lang="en-US" sz="800" b="1" i="1" dirty="0">
                <a:solidFill>
                  <a:srgbClr val="333333"/>
                </a:solidFill>
                <a:latin typeface="Arial" pitchFamily="34" charset="0"/>
                <a:ea typeface="Arial" pitchFamily="34" charset="-122"/>
                <a:cs typeface="Arial" pitchFamily="34" charset="-120"/>
              </a:rPr>
              <a:t xml:space="preserve">Prospect: </a:t>
            </a:r>
            <a:r>
              <a:rPr lang="en-US" sz="800" i="1" dirty="0">
                <a:solidFill>
                  <a:srgbClr val="333333"/>
                </a:solidFill>
                <a:latin typeface="Arial" pitchFamily="34" charset="0"/>
                <a:ea typeface="Arial" pitchFamily="34" charset="-122"/>
                <a:cs typeface="Arial" pitchFamily="34" charset="-120"/>
              </a:rPr>
              <a:t xml:space="preserve">“Love it. Let’s connect.”  …  “Perfect. Sent. Looking forward.”</a:t>
            </a:r>
            <a:endParaRPr lang="en-US" sz="800" dirty="0"/>
          </a:p>
        </p:txBody>
      </p:sp>
      <p:sp>
        <p:nvSpPr>
          <p:cNvPr id="340" name="Text e-6.86"/>
          <p:cNvSpPr txBox="1"/>
          <p:nvPr/>
        </p:nvSpPr>
        <p:spPr>
          <a:xfrm>
            <a:off x="822960" y="6272784"/>
            <a:ext cx="6940296" cy="182880"/>
          </a:xfrm>
          <a:prstGeom prst="rect">
            <a:avLst/>
          </a:prstGeom>
          <a:noFill/>
        </p:spPr>
        <p:txBody>
          <a:bodyPr wrap="square" lIns="0" tIns="0" rIns="0" bIns="0" rtlCol="0" anchor="t"/>
          <a:lstStyle/>
          <a:p>
            <a:pPr indent="0" marL="0">
              <a:lnSpc>
                <a:spcPct val="110000"/>
              </a:lnSpc>
              <a:spcAft>
                <a:spcPts val="150"/>
              </a:spcAft>
              <a:buNone/>
            </a:pPr>
            <a:r>
              <a:rPr lang="en-US" sz="850" b="1" dirty="0">
                <a:solidFill>
                  <a:srgbClr val="1A1A2E"/>
                </a:solidFill>
                <a:latin typeface="Arial" pitchFamily="34" charset="0"/>
                <a:ea typeface="Arial" pitchFamily="34" charset="-122"/>
                <a:cs typeface="Arial" pitchFamily="34" charset="-120"/>
              </a:rPr>
              <a:t xml:space="preserve">LinkedIn Profile: </a:t>
            </a:r>
            <a:r>
              <a:rPr lang="en-US" sz="850" dirty="0">
                <a:solidFill>
                  <a:srgbClr val="1A73E8"/>
                </a:solidFill>
                <a:latin typeface="Arial" pitchFamily="34" charset="0"/>
                <a:ea typeface="Arial" pitchFamily="34" charset="-122"/>
                <a:cs typeface="Arial" pitchFamily="34" charset="-120"/>
              </a:rPr>
              <a:t xml:space="preserve">full profile attached below</a:t>
            </a:r>
            <a:r>
              <a:rPr lang="en-US" sz="850" b="1" dirty="0">
                <a:solidFill>
                  <a:srgbClr val="1A1A2E"/>
                </a:solidFill>
                <a:latin typeface="Arial" pitchFamily="34" charset="0"/>
                <a:ea typeface="Arial" pitchFamily="34" charset="-122"/>
                <a:cs typeface="Arial" pitchFamily="34" charset="-120"/>
              </a:rPr>
              <a:t xml:space="preserve">     Calendly booking: </a:t>
            </a:r>
            <a:r>
              <a:rPr lang="en-US" sz="850" dirty="0">
                <a:solidFill>
                  <a:srgbClr val="1A73E8"/>
                </a:solidFill>
                <a:latin typeface="Arial" pitchFamily="34" charset="0"/>
                <a:ea typeface="Arial" pitchFamily="34" charset="-122"/>
                <a:cs typeface="Arial" pitchFamily="34" charset="-120"/>
              </a:rPr>
              <a:t xml:space="preserve">confirmed for Tue, Sep 22, 5:30pm ET</a:t>
            </a:r>
            <a:endParaRPr lang="en-US" sz="850" dirty="0"/>
          </a:p>
        </p:txBody>
      </p:sp>
      <p:sp>
        <p:nvSpPr>
          <p:cNvPr id="341" name="Shape arrow 2.94"/>
          <p:cNvSpPr/>
          <p:nvPr/>
        </p:nvSpPr>
        <p:spPr>
          <a:xfrm>
            <a:off x="8083296" y="2706624"/>
            <a:ext cx="329184" cy="182880"/>
          </a:xfrm>
          <a:prstGeom prst="leftArrow">
            <a:avLst/>
          </a:prstGeom>
          <a:solidFill>
            <a:srgbClr val="43D5FF"/>
          </a:solidFill>
          <a:ln>
            <a:noFill/>
          </a:ln>
        </p:spPr>
      </p:sp>
      <p:sp>
        <p:nvSpPr>
          <p:cNvPr id="342" name="Text co-l 2.94"/>
          <p:cNvSpPr txBox="1"/>
          <p:nvPr/>
        </p:nvSpPr>
        <p:spPr>
          <a:xfrm>
            <a:off x="8522208" y="2670048"/>
            <a:ext cx="3108960" cy="219456"/>
          </a:xfrm>
          <a:prstGeom prst="rect">
            <a:avLst/>
          </a:prstGeom>
          <a:noFill/>
        </p:spPr>
        <p:txBody>
          <a:bodyPr wrap="square" lIns="0" tIns="0" rIns="0" bIns="0" rtlCol="0" anchor="t"/>
          <a:lstStyle/>
          <a:p>
            <a:pPr indent="0" marL="0">
              <a:lnSpc>
                <a:spcPct val="112000"/>
              </a:lnSpc>
              <a:spcAft>
                <a:spcPts val="300"/>
              </a:spcAft>
              <a:buNone/>
            </a:pPr>
            <a:r>
              <a:rPr lang="en-US" sz="1050" b="1" dirty="0">
                <a:solidFill>
                  <a:srgbClr val="43D5FF"/>
                </a:solidFill>
                <a:latin typeface="Arial" pitchFamily="34" charset="0"/>
                <a:ea typeface="Arial" pitchFamily="34" charset="-122"/>
                <a:cs typeface="Arial" pitchFamily="34" charset="-120"/>
              </a:rPr>
              <a:t xml:space="preserve">SEGMENT FIT, STATED</a:t>
            </a:r>
            <a:endParaRPr lang="en-US" sz="1050" dirty="0"/>
          </a:p>
        </p:txBody>
      </p:sp>
      <p:sp>
        <p:nvSpPr>
          <p:cNvPr id="343" name="Text co-t 2.94"/>
          <p:cNvSpPr txBox="1"/>
          <p:nvPr/>
        </p:nvSpPr>
        <p:spPr>
          <a:xfrm>
            <a:off x="8522208" y="2907792"/>
            <a:ext cx="3108960" cy="566928"/>
          </a:xfrm>
          <a:prstGeom prst="rect">
            <a:avLst/>
          </a:prstGeom>
          <a:noFill/>
        </p:spPr>
        <p:txBody>
          <a:bodyPr wrap="square" lIns="0" tIns="0" rIns="0" bIns="0" rtlCol="0" anchor="t"/>
          <a:lstStyle/>
          <a:p>
            <a:pPr indent="0" marL="0">
              <a:lnSpc>
                <a:spcPct val="110000"/>
              </a:lnSpc>
              <a:spcAft>
                <a:spcPts val="0"/>
              </a:spcAft>
              <a:buNone/>
            </a:pPr>
            <a:r>
              <a:rPr lang="en-US" sz="950" dirty="0">
                <a:solidFill>
                  <a:srgbClr val="FFFFFF"/>
                </a:solidFill>
                <a:latin typeface="Arial" pitchFamily="34" charset="0"/>
                <a:ea typeface="Arial" pitchFamily="34" charset="-122"/>
                <a:cs typeface="Arial" pitchFamily="34" charset="-120"/>
              </a:rPr>
              <a:t xml:space="preserve">Which of your ICP segments they matched and how the conversation got to a booking, so nothing is a surprise on the call.</a:t>
            </a:r>
            <a:endParaRPr lang="en-US" sz="950" dirty="0"/>
          </a:p>
        </p:txBody>
      </p:sp>
      <p:sp>
        <p:nvSpPr>
          <p:cNvPr id="344" name="Shape arrow 4"/>
          <p:cNvSpPr/>
          <p:nvPr/>
        </p:nvSpPr>
        <p:spPr>
          <a:xfrm>
            <a:off x="8083296" y="3675888"/>
            <a:ext cx="329184" cy="182880"/>
          </a:xfrm>
          <a:prstGeom prst="leftArrow">
            <a:avLst/>
          </a:prstGeom>
          <a:solidFill>
            <a:srgbClr val="43D5FF"/>
          </a:solidFill>
          <a:ln>
            <a:noFill/>
          </a:ln>
        </p:spPr>
      </p:sp>
      <p:sp>
        <p:nvSpPr>
          <p:cNvPr id="345" name="Text co-l 4"/>
          <p:cNvSpPr txBox="1"/>
          <p:nvPr/>
        </p:nvSpPr>
        <p:spPr>
          <a:xfrm>
            <a:off x="8522208" y="3639312"/>
            <a:ext cx="3108960" cy="219456"/>
          </a:xfrm>
          <a:prstGeom prst="rect">
            <a:avLst/>
          </a:prstGeom>
          <a:noFill/>
        </p:spPr>
        <p:txBody>
          <a:bodyPr wrap="square" lIns="0" tIns="0" rIns="0" bIns="0" rtlCol="0" anchor="t"/>
          <a:lstStyle/>
          <a:p>
            <a:pPr indent="0" marL="0">
              <a:lnSpc>
                <a:spcPct val="112000"/>
              </a:lnSpc>
              <a:spcAft>
                <a:spcPts val="300"/>
              </a:spcAft>
              <a:buNone/>
            </a:pPr>
            <a:r>
              <a:rPr lang="en-US" sz="1050" b="1" dirty="0">
                <a:solidFill>
                  <a:srgbClr val="43D5FF"/>
                </a:solidFill>
                <a:latin typeface="Arial" pitchFamily="34" charset="0"/>
                <a:ea typeface="Arial" pitchFamily="34" charset="-122"/>
                <a:cs typeface="Arial" pitchFamily="34" charset="-120"/>
              </a:rPr>
              <a:t xml:space="preserve">WHY THEY’RE WORTH YOUR TIME</a:t>
            </a:r>
            <a:endParaRPr lang="en-US" sz="1050" dirty="0"/>
          </a:p>
        </p:txBody>
      </p:sp>
      <p:sp>
        <p:nvSpPr>
          <p:cNvPr id="346" name="Text co-t 4"/>
          <p:cNvSpPr txBox="1"/>
          <p:nvPr/>
        </p:nvSpPr>
        <p:spPr>
          <a:xfrm>
            <a:off x="8522208" y="3877056"/>
            <a:ext cx="3108960" cy="566928"/>
          </a:xfrm>
          <a:prstGeom prst="rect">
            <a:avLst/>
          </a:prstGeom>
          <a:noFill/>
        </p:spPr>
        <p:txBody>
          <a:bodyPr wrap="square" lIns="0" tIns="0" rIns="0" bIns="0" rtlCol="0" anchor="t"/>
          <a:lstStyle/>
          <a:p>
            <a:pPr indent="0" marL="0">
              <a:lnSpc>
                <a:spcPct val="110000"/>
              </a:lnSpc>
              <a:spcAft>
                <a:spcPts val="0"/>
              </a:spcAft>
              <a:buNone/>
            </a:pPr>
            <a:r>
              <a:rPr lang="en-US" sz="950" dirty="0">
                <a:solidFill>
                  <a:srgbClr val="FFFFFF"/>
                </a:solidFill>
                <a:latin typeface="Arial" pitchFamily="34" charset="0"/>
                <a:ea typeface="Arial" pitchFamily="34" charset="-122"/>
                <a:cs typeface="Arial" pitchFamily="34" charset="-120"/>
              </a:rPr>
              <a:t xml:space="preserve">Background, their own qualifying answers and an honest read on how to frame the call, inconsistencies included.</a:t>
            </a:r>
            <a:endParaRPr lang="en-US" sz="950" dirty="0"/>
          </a:p>
        </p:txBody>
      </p:sp>
      <p:sp>
        <p:nvSpPr>
          <p:cNvPr id="347" name="Shape arrow 5.14"/>
          <p:cNvSpPr/>
          <p:nvPr/>
        </p:nvSpPr>
        <p:spPr>
          <a:xfrm>
            <a:off x="8083296" y="4718304"/>
            <a:ext cx="329184" cy="182880"/>
          </a:xfrm>
          <a:prstGeom prst="leftArrow">
            <a:avLst/>
          </a:prstGeom>
          <a:solidFill>
            <a:srgbClr val="43D5FF"/>
          </a:solidFill>
          <a:ln>
            <a:noFill/>
          </a:ln>
        </p:spPr>
      </p:sp>
      <p:sp>
        <p:nvSpPr>
          <p:cNvPr id="348" name="Text co-l 5.14"/>
          <p:cNvSpPr txBox="1"/>
          <p:nvPr/>
        </p:nvSpPr>
        <p:spPr>
          <a:xfrm>
            <a:off x="8522208" y="4681728"/>
            <a:ext cx="3108960" cy="219456"/>
          </a:xfrm>
          <a:prstGeom prst="rect">
            <a:avLst/>
          </a:prstGeom>
          <a:noFill/>
        </p:spPr>
        <p:txBody>
          <a:bodyPr wrap="square" lIns="0" tIns="0" rIns="0" bIns="0" rtlCol="0" anchor="t"/>
          <a:lstStyle/>
          <a:p>
            <a:pPr indent="0" marL="0">
              <a:lnSpc>
                <a:spcPct val="112000"/>
              </a:lnSpc>
              <a:spcAft>
                <a:spcPts val="300"/>
              </a:spcAft>
              <a:buNone/>
            </a:pPr>
            <a:r>
              <a:rPr lang="en-US" sz="1050" b="1" dirty="0">
                <a:solidFill>
                  <a:srgbClr val="43D5FF"/>
                </a:solidFill>
                <a:latin typeface="Arial" pitchFamily="34" charset="0"/>
                <a:ea typeface="Arial" pitchFamily="34" charset="-122"/>
                <a:cs typeface="Arial" pitchFamily="34" charset="-120"/>
              </a:rPr>
              <a:t xml:space="preserve">WARM PATHS IN + TRACK RECORD</a:t>
            </a:r>
            <a:endParaRPr lang="en-US" sz="1050" dirty="0"/>
          </a:p>
        </p:txBody>
      </p:sp>
      <p:sp>
        <p:nvSpPr>
          <p:cNvPr id="349" name="Text co-t 5.14"/>
          <p:cNvSpPr txBox="1"/>
          <p:nvPr/>
        </p:nvSpPr>
        <p:spPr>
          <a:xfrm>
            <a:off x="8522208" y="4919472"/>
            <a:ext cx="3108960" cy="566928"/>
          </a:xfrm>
          <a:prstGeom prst="rect">
            <a:avLst/>
          </a:prstGeom>
          <a:noFill/>
        </p:spPr>
        <p:txBody>
          <a:bodyPr wrap="square" lIns="0" tIns="0" rIns="0" bIns="0" rtlCol="0" anchor="t"/>
          <a:lstStyle/>
          <a:p>
            <a:pPr indent="0" marL="0">
              <a:lnSpc>
                <a:spcPct val="110000"/>
              </a:lnSpc>
              <a:spcAft>
                <a:spcPts val="0"/>
              </a:spcAft>
              <a:buNone/>
            </a:pPr>
            <a:r>
              <a:rPr lang="en-US" sz="950" dirty="0">
                <a:solidFill>
                  <a:srgbClr val="FFFFFF"/>
                </a:solidFill>
                <a:latin typeface="Arial" pitchFamily="34" charset="0"/>
                <a:ea typeface="Arial" pitchFamily="34" charset="-122"/>
                <a:cs typeface="Arial" pitchFamily="34" charset="-120"/>
              </a:rPr>
              <a:t xml:space="preserve">Mutual connections, shared schools, roles, affiliations and initiatives that matter to you, each checked by a person.</a:t>
            </a:r>
            <a:endParaRPr lang="en-US" sz="950" dirty="0"/>
          </a:p>
        </p:txBody>
      </p:sp>
      <p:sp>
        <p:nvSpPr>
          <p:cNvPr id="350" name="Shape arrow 6.12"/>
          <p:cNvSpPr/>
          <p:nvPr/>
        </p:nvSpPr>
        <p:spPr>
          <a:xfrm>
            <a:off x="8083296" y="5614416"/>
            <a:ext cx="329184" cy="182880"/>
          </a:xfrm>
          <a:prstGeom prst="leftArrow">
            <a:avLst/>
          </a:prstGeom>
          <a:solidFill>
            <a:srgbClr val="43D5FF"/>
          </a:solidFill>
          <a:ln>
            <a:noFill/>
          </a:ln>
        </p:spPr>
      </p:sp>
      <p:sp>
        <p:nvSpPr>
          <p:cNvPr id="351" name="Text co-l 6.12"/>
          <p:cNvSpPr txBox="1"/>
          <p:nvPr/>
        </p:nvSpPr>
        <p:spPr>
          <a:xfrm>
            <a:off x="8522208" y="5577840"/>
            <a:ext cx="3108960" cy="219456"/>
          </a:xfrm>
          <a:prstGeom prst="rect">
            <a:avLst/>
          </a:prstGeom>
          <a:noFill/>
        </p:spPr>
        <p:txBody>
          <a:bodyPr wrap="square" lIns="0" tIns="0" rIns="0" bIns="0" rtlCol="0" anchor="t"/>
          <a:lstStyle/>
          <a:p>
            <a:pPr indent="0" marL="0">
              <a:lnSpc>
                <a:spcPct val="112000"/>
              </a:lnSpc>
              <a:spcAft>
                <a:spcPts val="300"/>
              </a:spcAft>
              <a:buNone/>
            </a:pPr>
            <a:r>
              <a:rPr lang="en-US" sz="1050" b="1" dirty="0">
                <a:solidFill>
                  <a:srgbClr val="43D5FF"/>
                </a:solidFill>
                <a:latin typeface="Arial" pitchFamily="34" charset="0"/>
                <a:ea typeface="Arial" pitchFamily="34" charset="-122"/>
                <a:cs typeface="Arial" pitchFamily="34" charset="-120"/>
              </a:rPr>
              <a:t xml:space="preserve">THE WHOLE CONVERSATION</a:t>
            </a:r>
            <a:endParaRPr lang="en-US" sz="1050" dirty="0"/>
          </a:p>
        </p:txBody>
      </p:sp>
      <p:sp>
        <p:nvSpPr>
          <p:cNvPr id="352" name="Text co-t 6.12"/>
          <p:cNvSpPr txBox="1"/>
          <p:nvPr/>
        </p:nvSpPr>
        <p:spPr>
          <a:xfrm>
            <a:off x="8522208" y="5815584"/>
            <a:ext cx="3108960" cy="566928"/>
          </a:xfrm>
          <a:prstGeom prst="rect">
            <a:avLst/>
          </a:prstGeom>
          <a:noFill/>
        </p:spPr>
        <p:txBody>
          <a:bodyPr wrap="square" lIns="0" tIns="0" rIns="0" bIns="0" rtlCol="0" anchor="t"/>
          <a:lstStyle/>
          <a:p>
            <a:pPr indent="0" marL="0">
              <a:lnSpc>
                <a:spcPct val="110000"/>
              </a:lnSpc>
              <a:spcAft>
                <a:spcPts val="0"/>
              </a:spcAft>
              <a:buNone/>
            </a:pPr>
            <a:r>
              <a:rPr lang="en-US" sz="950" dirty="0">
                <a:solidFill>
                  <a:srgbClr val="FFFFFF"/>
                </a:solidFill>
                <a:latin typeface="Arial" pitchFamily="34" charset="0"/>
                <a:ea typeface="Arial" pitchFamily="34" charset="-122"/>
                <a:cs typeface="Arial" pitchFamily="34" charset="-120"/>
              </a:rPr>
              <a:t xml:space="preserve">Every message exchanged, so you walk in knowing exactly what was said and promised.</a:t>
            </a:r>
            <a:endParaRPr lang="en-US" sz="950" dirty="0"/>
          </a:p>
        </p:txBody>
      </p:sp>
      <p:sp>
        <p:nvSpPr>
          <p:cNvPr id="353" name="Shape arrow 6.88"/>
          <p:cNvSpPr/>
          <p:nvPr/>
        </p:nvSpPr>
        <p:spPr>
          <a:xfrm>
            <a:off x="8083296" y="6309360"/>
            <a:ext cx="329184" cy="182880"/>
          </a:xfrm>
          <a:prstGeom prst="leftArrow">
            <a:avLst/>
          </a:prstGeom>
          <a:solidFill>
            <a:srgbClr val="43D5FF"/>
          </a:solidFill>
          <a:ln>
            <a:noFill/>
          </a:ln>
        </p:spPr>
      </p:sp>
      <p:sp>
        <p:nvSpPr>
          <p:cNvPr id="354" name="Text co-l 6.88"/>
          <p:cNvSpPr txBox="1"/>
          <p:nvPr/>
        </p:nvSpPr>
        <p:spPr>
          <a:xfrm>
            <a:off x="8522208" y="6272784"/>
            <a:ext cx="3108960" cy="219456"/>
          </a:xfrm>
          <a:prstGeom prst="rect">
            <a:avLst/>
          </a:prstGeom>
          <a:noFill/>
        </p:spPr>
        <p:txBody>
          <a:bodyPr wrap="square" lIns="0" tIns="0" rIns="0" bIns="0" rtlCol="0" anchor="t"/>
          <a:lstStyle/>
          <a:p>
            <a:pPr indent="0" marL="0">
              <a:lnSpc>
                <a:spcPct val="112000"/>
              </a:lnSpc>
              <a:spcAft>
                <a:spcPts val="300"/>
              </a:spcAft>
              <a:buNone/>
            </a:pPr>
            <a:r>
              <a:rPr lang="en-US" sz="1050" b="1" dirty="0">
                <a:solidFill>
                  <a:srgbClr val="43D5FF"/>
                </a:solidFill>
                <a:latin typeface="Arial" pitchFamily="34" charset="0"/>
                <a:ea typeface="Arial" pitchFamily="34" charset="-122"/>
                <a:cs typeface="Arial" pitchFamily="34" charset="-120"/>
              </a:rPr>
              <a:t xml:space="preserve">PROFILE + BOOKING</a:t>
            </a:r>
            <a:endParaRPr lang="en-US" sz="1050" dirty="0"/>
          </a:p>
        </p:txBody>
      </p:sp>
      <p:sp>
        <p:nvSpPr>
          <p:cNvPr id="355" name="Text co-t 6.88"/>
          <p:cNvSpPr txBox="1"/>
          <p:nvPr/>
        </p:nvSpPr>
        <p:spPr>
          <a:xfrm>
            <a:off x="8522208" y="6510528"/>
            <a:ext cx="3108960" cy="566928"/>
          </a:xfrm>
          <a:prstGeom prst="rect">
            <a:avLst/>
          </a:prstGeom>
          <a:noFill/>
        </p:spPr>
        <p:txBody>
          <a:bodyPr wrap="square" lIns="0" tIns="0" rIns="0" bIns="0" rtlCol="0" anchor="t"/>
          <a:lstStyle/>
          <a:p>
            <a:pPr indent="0" marL="0">
              <a:lnSpc>
                <a:spcPct val="110000"/>
              </a:lnSpc>
              <a:spcAft>
                <a:spcPts val="0"/>
              </a:spcAft>
              <a:buNone/>
            </a:pPr>
            <a:r>
              <a:rPr lang="en-US" sz="950" dirty="0">
                <a:solidFill>
                  <a:srgbClr val="FFFFFF"/>
                </a:solidFill>
                <a:latin typeface="Arial" pitchFamily="34" charset="0"/>
                <a:ea typeface="Arial" pitchFamily="34" charset="-122"/>
                <a:cs typeface="Arial" pitchFamily="34" charset="-120"/>
              </a:rPr>
              <a:t xml:space="preserve">Full profile attached; the slot is already on your calendar.</a:t>
            </a:r>
            <a:endParaRPr lang="en-US" sz="9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pic>
        <p:nvPicPr>
          <p:cNvPr id="2" name="Image 0" descr="/home/claude/brand/clean/logo_header.png">    </p:cNvPr>
          <p:cNvPicPr>
            <a:picLocks noChangeAspect="1"/>
          </p:cNvPicPr>
          <p:nvPr/>
        </p:nvPicPr>
        <p:blipFill>
          <a:blip r:embed="rId2"/>
          <a:stretch>
            <a:fillRect/>
          </a:stretch>
        </p:blipFill>
        <p:spPr>
          <a:xfrm>
            <a:off x="411480" y="164592"/>
            <a:ext cx="850392" cy="530352"/>
          </a:xfrm>
          <a:prstGeom prst="rect">
            <a:avLst/>
          </a:prstGeom>
        </p:spPr>
      </p:pic>
      <p:sp>
        <p:nvSpPr>
          <p:cNvPr id="3" name="Text 0"/>
          <p:cNvSpPr/>
          <p:nvPr/>
        </p:nvSpPr>
        <p:spPr>
          <a:xfrm>
            <a:off x="1417320" y="201168"/>
            <a:ext cx="4114800" cy="457200"/>
          </a:xfrm>
          <a:prstGeom prst="rect">
            <a:avLst/>
          </a:prstGeom>
          <a:noFill/>
          <a:ln/>
        </p:spPr>
        <p:txBody>
          <a:bodyPr wrap="square" lIns="0" tIns="0" rIns="0" bIns="0" rtlCol="0" anchor="ctr"/>
          <a:lstStyle/>
          <a:p>
            <a:pPr indent="0" marL="0">
              <a:buNone/>
            </a:pPr>
            <a:r>
              <a:rPr lang="en-US" sz="1300" spc="200" kern="0" dirty="0">
                <a:solidFill>
                  <a:srgbClr val="FFFFFF"/>
                </a:solidFill>
                <a:latin typeface="Arial" pitchFamily="34" charset="0"/>
                <a:ea typeface="Arial" pitchFamily="34" charset="-122"/>
                <a:cs typeface="Arial" pitchFamily="34" charset="-120"/>
              </a:rPr>
              <a:t>THINKFISH LLC 2026</a:t>
            </a:r>
            <a:endParaRPr lang="en-US" sz="1300" dirty="0"/>
          </a:p>
        </p:txBody>
      </p:sp>
      <p:sp>
        <p:nvSpPr>
          <p:cNvPr id="4" name="Text 1"/>
          <p:cNvSpPr/>
          <p:nvPr/>
        </p:nvSpPr>
        <p:spPr>
          <a:xfrm>
            <a:off x="566928" y="868680"/>
            <a:ext cx="11155680" cy="777240"/>
          </a:xfrm>
          <a:prstGeom prst="rect">
            <a:avLst/>
          </a:prstGeom>
          <a:noFill/>
          <a:ln/>
        </p:spPr>
        <p:txBody>
          <a:bodyPr wrap="square" lIns="0" tIns="0" rIns="0" bIns="0" rtlCol="0" anchor="ctr"/>
          <a:lstStyle/>
          <a:p>
            <a:pPr indent="0" marL="0">
              <a:buNone/>
            </a:pPr>
            <a:r>
              <a:rPr lang="en-US" sz="3800" b="1" dirty="0">
                <a:solidFill>
                  <a:srgbClr val="FFFFFF"/>
                </a:solidFill>
                <a:latin typeface="Arial" pitchFamily="34" charset="0"/>
                <a:ea typeface="Arial" pitchFamily="34" charset="-122"/>
                <a:cs typeface="Arial" pitchFamily="34" charset="-120"/>
              </a:rPr>
              <a:t>What To Expect</a:t>
            </a:r>
            <a:endParaRPr lang="en-US" sz="3800" dirty="0"/>
          </a:p>
        </p:txBody>
      </p:sp>
      <p:sp>
        <p:nvSpPr>
          <p:cNvPr id="5" name="Text 2"/>
          <p:cNvSpPr/>
          <p:nvPr/>
        </p:nvSpPr>
        <p:spPr>
          <a:xfrm>
            <a:off x="594360" y="1481328"/>
            <a:ext cx="11155680" cy="320040"/>
          </a:xfrm>
          <a:prstGeom prst="rect">
            <a:avLst/>
          </a:prstGeom>
          <a:noFill/>
          <a:ln/>
        </p:spPr>
        <p:txBody>
          <a:bodyPr wrap="square" lIns="0" tIns="0" rIns="0" bIns="0" rtlCol="0" anchor="ctr"/>
          <a:lstStyle/>
          <a:p>
            <a:pPr indent="0" marL="0">
              <a:buNone/>
            </a:pPr>
            <a:r>
              <a:rPr lang="en-US" sz="1400" b="1" spc="100" kern="0" dirty="0">
                <a:solidFill>
                  <a:srgbClr val="43D5FF"/>
                </a:solidFill>
                <a:latin typeface="Arial" pitchFamily="34" charset="0"/>
                <a:ea typeface="Arial" pitchFamily="34" charset="-122"/>
                <a:cs typeface="Arial" pitchFamily="34" charset="-120"/>
              </a:rPr>
              <a:t>VOLUME, MEETINGS, TIMING</a:t>
            </a:r>
            <a:endParaRPr lang="en-US" sz="1400" dirty="0"/>
          </a:p>
        </p:txBody>
      </p:sp>
      <p:sp>
        <p:nvSpPr>
          <p:cNvPr id="6" name="Shape 3"/>
          <p:cNvSpPr/>
          <p:nvPr/>
        </p:nvSpPr>
        <p:spPr>
          <a:xfrm>
            <a:off x="566928" y="2103120"/>
            <a:ext cx="3593592" cy="2514600"/>
          </a:xfrm>
          <a:prstGeom prst="roundRect">
            <a:avLst>
              <a:gd name="adj" fmla="val 3273"/>
            </a:avLst>
          </a:prstGeom>
          <a:solidFill>
            <a:srgbClr val="0D0D26">
              <a:alpha val="55000"/>
            </a:srgbClr>
          </a:solidFill>
          <a:ln w="9525">
            <a:solidFill>
              <a:srgbClr val="31316A">
                <a:alpha val="75000"/>
              </a:srgbClr>
            </a:solidFill>
            <a:prstDash val="solid"/>
          </a:ln>
        </p:spPr>
      </p:sp>
      <p:sp>
        <p:nvSpPr>
          <p:cNvPr id="7" name="Text 4"/>
          <p:cNvSpPr/>
          <p:nvPr/>
        </p:nvSpPr>
        <p:spPr>
          <a:xfrm>
            <a:off x="795528" y="2286000"/>
            <a:ext cx="3136392" cy="292608"/>
          </a:xfrm>
          <a:prstGeom prst="rect">
            <a:avLst/>
          </a:prstGeom>
          <a:noFill/>
          <a:ln/>
        </p:spPr>
        <p:txBody>
          <a:bodyPr wrap="square" lIns="0" tIns="0" rIns="0" bIns="0" rtlCol="0" anchor="ctr"/>
          <a:lstStyle/>
          <a:p>
            <a:pPr indent="0" marL="0">
              <a:buNone/>
            </a:pPr>
            <a:r>
              <a:rPr lang="en-US" sz="1250" b="1" spc="100" kern="0" dirty="0">
                <a:solidFill>
                  <a:srgbClr val="43D5FF"/>
                </a:solidFill>
                <a:latin typeface="Arial" pitchFamily="34" charset="0"/>
                <a:ea typeface="Arial" pitchFamily="34" charset="-122"/>
                <a:cs typeface="Arial" pitchFamily="34" charset="-120"/>
              </a:rPr>
              <a:t>OUTREACH VOLUME</a:t>
            </a:r>
            <a:endParaRPr lang="en-US" sz="1250" dirty="0"/>
          </a:p>
        </p:txBody>
      </p:sp>
      <p:sp>
        <p:nvSpPr>
          <p:cNvPr id="8" name="Text 5"/>
          <p:cNvSpPr/>
          <p:nvPr/>
        </p:nvSpPr>
        <p:spPr>
          <a:xfrm>
            <a:off x="795528" y="2560320"/>
            <a:ext cx="3136392" cy="685800"/>
          </a:xfrm>
          <a:prstGeom prst="rect">
            <a:avLst/>
          </a:prstGeom>
          <a:noFill/>
          <a:ln/>
        </p:spPr>
        <p:txBody>
          <a:bodyPr wrap="square" lIns="0" tIns="0" rIns="0" bIns="0" rtlCol="0" anchor="ctr"/>
          <a:lstStyle/>
          <a:p>
            <a:pPr indent="0" marL="0">
              <a:buNone/>
            </a:pPr>
            <a:r>
              <a:rPr lang="en-US" sz="4400" b="1" dirty="0">
                <a:solidFill>
                  <a:srgbClr val="FFFFFF"/>
                </a:solidFill>
                <a:latin typeface="Arial" pitchFamily="34" charset="0"/>
                <a:ea typeface="Arial" pitchFamily="34" charset="-122"/>
                <a:cs typeface="Arial" pitchFamily="34" charset="-120"/>
              </a:rPr>
              <a:t>4,800</a:t>
            </a:r>
            <a:endParaRPr lang="en-US" sz="4400" dirty="0"/>
          </a:p>
        </p:txBody>
      </p:sp>
      <p:sp>
        <p:nvSpPr>
          <p:cNvPr id="9" name="Text 6"/>
          <p:cNvSpPr/>
          <p:nvPr/>
        </p:nvSpPr>
        <p:spPr>
          <a:xfrm>
            <a:off x="795528" y="3255264"/>
            <a:ext cx="3136392" cy="274320"/>
          </a:xfrm>
          <a:prstGeom prst="rect">
            <a:avLst/>
          </a:prstGeom>
          <a:noFill/>
          <a:ln/>
        </p:spPr>
        <p:txBody>
          <a:bodyPr wrap="square" lIns="0" tIns="0" rIns="0" bIns="0" rtlCol="0" anchor="ctr"/>
          <a:lstStyle/>
          <a:p>
            <a:pPr indent="0" marL="0">
              <a:buNone/>
            </a:pPr>
            <a:r>
              <a:rPr lang="en-US" sz="1100" dirty="0">
                <a:solidFill>
                  <a:srgbClr val="B9BEDC"/>
                </a:solidFill>
                <a:latin typeface="Arial" pitchFamily="34" charset="0"/>
                <a:ea typeface="Arial" pitchFamily="34" charset="-122"/>
                <a:cs typeface="Arial" pitchFamily="34" charset="-120"/>
              </a:rPr>
              <a:t>LinkedIn touches / month, three profiles</a:t>
            </a:r>
            <a:endParaRPr lang="en-US" sz="1100" dirty="0"/>
          </a:p>
        </p:txBody>
      </p:sp>
      <p:sp>
        <p:nvSpPr>
          <p:cNvPr id="10" name="Text 7"/>
          <p:cNvSpPr/>
          <p:nvPr/>
        </p:nvSpPr>
        <p:spPr>
          <a:xfrm>
            <a:off x="795528" y="3566160"/>
            <a:ext cx="3136392" cy="868680"/>
          </a:xfrm>
          <a:prstGeom prst="rect">
            <a:avLst/>
          </a:prstGeom>
          <a:noFill/>
          <a:ln/>
        </p:spPr>
        <p:txBody>
          <a:bodyPr wrap="square" lIns="0" tIns="0" rIns="0" bIns="0" rtlCol="0" anchor="t"/>
          <a:lstStyle/>
          <a:p>
            <a:pPr indent="0" marL="0">
              <a:lnSpc>
                <a:spcPct val="112000"/>
              </a:lnSpc>
              <a:buNone/>
            </a:pPr>
            <a:r>
              <a:rPr lang="en-US" sz="1050" dirty="0">
                <a:solidFill>
                  <a:srgbClr val="FFFFFF"/>
                </a:solidFill>
                <a:latin typeface="Arial" pitchFamily="34" charset="0"/>
                <a:ea typeface="Arial" pitchFamily="34" charset="-122"/>
                <a:cs typeface="Arial" pitchFamily="34" charset="-120"/>
              </a:rPr>
              <a:t>About 800 InMails and 800 connection invites per profile each month once warmed up: Ted and Jesse from launch, Hector from month two. Every touch scored and hand-reviewed before it goes out.</a:t>
            </a:r>
            <a:endParaRPr lang="en-US" sz="1050" dirty="0"/>
          </a:p>
        </p:txBody>
      </p:sp>
      <p:sp>
        <p:nvSpPr>
          <p:cNvPr id="11" name="Shape 8"/>
          <p:cNvSpPr/>
          <p:nvPr/>
        </p:nvSpPr>
        <p:spPr>
          <a:xfrm>
            <a:off x="4434840" y="2103120"/>
            <a:ext cx="3593592" cy="2514600"/>
          </a:xfrm>
          <a:prstGeom prst="roundRect">
            <a:avLst>
              <a:gd name="adj" fmla="val 3273"/>
            </a:avLst>
          </a:prstGeom>
          <a:solidFill>
            <a:srgbClr val="0D0D26">
              <a:alpha val="55000"/>
            </a:srgbClr>
          </a:solidFill>
          <a:ln w="9525">
            <a:solidFill>
              <a:srgbClr val="31316A">
                <a:alpha val="75000"/>
              </a:srgbClr>
            </a:solidFill>
            <a:prstDash val="solid"/>
          </a:ln>
        </p:spPr>
      </p:sp>
      <p:sp>
        <p:nvSpPr>
          <p:cNvPr id="12" name="Text 9"/>
          <p:cNvSpPr/>
          <p:nvPr/>
        </p:nvSpPr>
        <p:spPr>
          <a:xfrm>
            <a:off x="4663440" y="2286000"/>
            <a:ext cx="3136392" cy="292608"/>
          </a:xfrm>
          <a:prstGeom prst="rect">
            <a:avLst/>
          </a:prstGeom>
          <a:noFill/>
          <a:ln/>
        </p:spPr>
        <p:txBody>
          <a:bodyPr wrap="square" lIns="0" tIns="0" rIns="0" bIns="0" rtlCol="0" anchor="ctr"/>
          <a:lstStyle/>
          <a:p>
            <a:pPr indent="0" marL="0">
              <a:buNone/>
            </a:pPr>
            <a:r>
              <a:rPr lang="en-US" sz="1250" b="1" spc="100" kern="0" dirty="0">
                <a:solidFill>
                  <a:srgbClr val="43D5FF"/>
                </a:solidFill>
                <a:latin typeface="Arial" pitchFamily="34" charset="0"/>
                <a:ea typeface="Arial" pitchFamily="34" charset="-122"/>
                <a:cs typeface="Arial" pitchFamily="34" charset="-120"/>
              </a:rPr>
              <a:t>QUALIFIED MEETINGS</a:t>
            </a:r>
            <a:endParaRPr lang="en-US" sz="1250" dirty="0"/>
          </a:p>
        </p:txBody>
      </p:sp>
      <p:sp>
        <p:nvSpPr>
          <p:cNvPr id="13" name="Text 10"/>
          <p:cNvSpPr/>
          <p:nvPr/>
        </p:nvSpPr>
        <p:spPr>
          <a:xfrm>
            <a:off x="4663440" y="2560320"/>
            <a:ext cx="3136392" cy="685800"/>
          </a:xfrm>
          <a:prstGeom prst="rect">
            <a:avLst/>
          </a:prstGeom>
          <a:noFill/>
          <a:ln/>
        </p:spPr>
        <p:txBody>
          <a:bodyPr wrap="square" lIns="0" tIns="0" rIns="0" bIns="0" rtlCol="0" anchor="ctr"/>
          <a:lstStyle/>
          <a:p>
            <a:pPr indent="0" marL="0">
              <a:buNone/>
            </a:pPr>
            <a:r>
              <a:rPr lang="en-US" sz="4400" b="1" dirty="0">
                <a:solidFill>
                  <a:srgbClr val="FFFFFF"/>
                </a:solidFill>
                <a:latin typeface="Arial" pitchFamily="34" charset="0"/>
                <a:ea typeface="Arial" pitchFamily="34" charset="-122"/>
                <a:cs typeface="Arial" pitchFamily="34" charset="-120"/>
              </a:rPr>
              <a:t>3–6</a:t>
            </a:r>
            <a:endParaRPr lang="en-US" sz="4400" dirty="0"/>
          </a:p>
        </p:txBody>
      </p:sp>
      <p:sp>
        <p:nvSpPr>
          <p:cNvPr id="14" name="Text 11"/>
          <p:cNvSpPr/>
          <p:nvPr/>
        </p:nvSpPr>
        <p:spPr>
          <a:xfrm>
            <a:off x="4663440" y="3255264"/>
            <a:ext cx="3136392" cy="274320"/>
          </a:xfrm>
          <a:prstGeom prst="rect">
            <a:avLst/>
          </a:prstGeom>
          <a:noFill/>
          <a:ln/>
        </p:spPr>
        <p:txBody>
          <a:bodyPr wrap="square" lIns="0" tIns="0" rIns="0" bIns="0" rtlCol="0" anchor="ctr"/>
          <a:lstStyle/>
          <a:p>
            <a:pPr indent="0" marL="0">
              <a:buNone/>
            </a:pPr>
            <a:r>
              <a:rPr lang="en-US" sz="1100" dirty="0">
                <a:solidFill>
                  <a:srgbClr val="B9BEDC"/>
                </a:solidFill>
                <a:latin typeface="Arial" pitchFamily="34" charset="0"/>
                <a:ea typeface="Arial" pitchFamily="34" charset="-122"/>
                <a:cs typeface="Arial" pitchFamily="34" charset="-120"/>
              </a:rPr>
              <a:t>per week at steady state, three profiles</a:t>
            </a:r>
            <a:endParaRPr lang="en-US" sz="1100" dirty="0"/>
          </a:p>
        </p:txBody>
      </p:sp>
      <p:sp>
        <p:nvSpPr>
          <p:cNvPr id="15" name="Text 12"/>
          <p:cNvSpPr/>
          <p:nvPr/>
        </p:nvSpPr>
        <p:spPr>
          <a:xfrm>
            <a:off x="4663440" y="3566160"/>
            <a:ext cx="3136392" cy="868680"/>
          </a:xfrm>
          <a:prstGeom prst="rect">
            <a:avLst/>
          </a:prstGeom>
          <a:noFill/>
          <a:ln/>
        </p:spPr>
        <p:txBody>
          <a:bodyPr wrap="square" lIns="0" tIns="0" rIns="0" bIns="0" rtlCol="0" anchor="t"/>
          <a:lstStyle/>
          <a:p>
            <a:pPr indent="0" marL="0">
              <a:lnSpc>
                <a:spcPct val="112000"/>
              </a:lnSpc>
              <a:buNone/>
            </a:pPr>
            <a:r>
              <a:rPr lang="en-US" sz="1050" dirty="0">
                <a:solidFill>
                  <a:srgbClr val="FFFFFF"/>
                </a:solidFill>
                <a:latin typeface="Arial" pitchFamily="34" charset="0"/>
                <a:ea typeface="Arial" pitchFamily="34" charset="-122"/>
                <a:cs typeface="Arial" pitchFamily="34" charset="-120"/>
              </a:rPr>
              <a:t>Conservatively 1–2 per profile per week once calibrated (2–4 from Ted and Jesse alone in month one). Not a guarantee, but the range we deliver consistently.</a:t>
            </a:r>
            <a:endParaRPr lang="en-US" sz="1050" dirty="0"/>
          </a:p>
        </p:txBody>
      </p:sp>
      <p:sp>
        <p:nvSpPr>
          <p:cNvPr id="16" name="Shape 13"/>
          <p:cNvSpPr/>
          <p:nvPr/>
        </p:nvSpPr>
        <p:spPr>
          <a:xfrm>
            <a:off x="8302752" y="2103120"/>
            <a:ext cx="3593592" cy="2514600"/>
          </a:xfrm>
          <a:prstGeom prst="roundRect">
            <a:avLst>
              <a:gd name="adj" fmla="val 3273"/>
            </a:avLst>
          </a:prstGeom>
          <a:solidFill>
            <a:srgbClr val="0D0D26">
              <a:alpha val="55000"/>
            </a:srgbClr>
          </a:solidFill>
          <a:ln w="9525">
            <a:solidFill>
              <a:srgbClr val="31316A">
                <a:alpha val="75000"/>
              </a:srgbClr>
            </a:solidFill>
            <a:prstDash val="solid"/>
          </a:ln>
        </p:spPr>
      </p:sp>
      <p:sp>
        <p:nvSpPr>
          <p:cNvPr id="17" name="Text 14"/>
          <p:cNvSpPr/>
          <p:nvPr/>
        </p:nvSpPr>
        <p:spPr>
          <a:xfrm>
            <a:off x="8531352" y="2286000"/>
            <a:ext cx="3136392" cy="292608"/>
          </a:xfrm>
          <a:prstGeom prst="rect">
            <a:avLst/>
          </a:prstGeom>
          <a:noFill/>
          <a:ln/>
        </p:spPr>
        <p:txBody>
          <a:bodyPr wrap="square" lIns="0" tIns="0" rIns="0" bIns="0" rtlCol="0" anchor="ctr"/>
          <a:lstStyle/>
          <a:p>
            <a:pPr indent="0" marL="0">
              <a:buNone/>
            </a:pPr>
            <a:r>
              <a:rPr lang="en-US" sz="1250" b="1" spc="100" kern="0" dirty="0">
                <a:solidFill>
                  <a:srgbClr val="43D5FF"/>
                </a:solidFill>
                <a:latin typeface="Arial" pitchFamily="34" charset="0"/>
                <a:ea typeface="Arial" pitchFamily="34" charset="-122"/>
                <a:cs typeface="Arial" pitchFamily="34" charset="-120"/>
              </a:rPr>
              <a:t>TIME TO FIRST MEETINGS</a:t>
            </a:r>
            <a:endParaRPr lang="en-US" sz="1250" dirty="0"/>
          </a:p>
        </p:txBody>
      </p:sp>
      <p:sp>
        <p:nvSpPr>
          <p:cNvPr id="18" name="Text 15"/>
          <p:cNvSpPr/>
          <p:nvPr/>
        </p:nvSpPr>
        <p:spPr>
          <a:xfrm>
            <a:off x="8531352" y="2560320"/>
            <a:ext cx="3136392" cy="685800"/>
          </a:xfrm>
          <a:prstGeom prst="rect">
            <a:avLst/>
          </a:prstGeom>
          <a:noFill/>
          <a:ln/>
        </p:spPr>
        <p:txBody>
          <a:bodyPr wrap="square" lIns="0" tIns="0" rIns="0" bIns="0" rtlCol="0" anchor="ctr"/>
          <a:lstStyle/>
          <a:p>
            <a:pPr indent="0" marL="0">
              <a:buNone/>
            </a:pPr>
            <a:r>
              <a:rPr lang="en-US" sz="4400" b="1" dirty="0">
                <a:solidFill>
                  <a:srgbClr val="FFFFFF"/>
                </a:solidFill>
                <a:latin typeface="Arial" pitchFamily="34" charset="0"/>
                <a:ea typeface="Arial" pitchFamily="34" charset="-122"/>
                <a:cs typeface="Arial" pitchFamily="34" charset="-120"/>
              </a:rPr>
              <a:t>3–4</a:t>
            </a:r>
            <a:endParaRPr lang="en-US" sz="4400" dirty="0"/>
          </a:p>
        </p:txBody>
      </p:sp>
      <p:sp>
        <p:nvSpPr>
          <p:cNvPr id="19" name="Text 16"/>
          <p:cNvSpPr/>
          <p:nvPr/>
        </p:nvSpPr>
        <p:spPr>
          <a:xfrm>
            <a:off x="8531352" y="3255264"/>
            <a:ext cx="3136392" cy="274320"/>
          </a:xfrm>
          <a:prstGeom prst="rect">
            <a:avLst/>
          </a:prstGeom>
          <a:noFill/>
          <a:ln/>
        </p:spPr>
        <p:txBody>
          <a:bodyPr wrap="square" lIns="0" tIns="0" rIns="0" bIns="0" rtlCol="0" anchor="ctr"/>
          <a:lstStyle/>
          <a:p>
            <a:pPr indent="0" marL="0">
              <a:buNone/>
            </a:pPr>
            <a:r>
              <a:rPr lang="en-US" sz="1100" dirty="0">
                <a:solidFill>
                  <a:srgbClr val="B9BEDC"/>
                </a:solidFill>
                <a:latin typeface="Arial" pitchFamily="34" charset="0"/>
                <a:ea typeface="Arial" pitchFamily="34" charset="-122"/>
                <a:cs typeface="Arial" pitchFamily="34" charset="-120"/>
              </a:rPr>
              <a:t>weeks from kickoff to first booked calls</a:t>
            </a:r>
            <a:endParaRPr lang="en-US" sz="1100" dirty="0"/>
          </a:p>
        </p:txBody>
      </p:sp>
      <p:sp>
        <p:nvSpPr>
          <p:cNvPr id="20" name="Text 17"/>
          <p:cNvSpPr/>
          <p:nvPr/>
        </p:nvSpPr>
        <p:spPr>
          <a:xfrm>
            <a:off x="8531352" y="3566160"/>
            <a:ext cx="3136392" cy="868680"/>
          </a:xfrm>
          <a:prstGeom prst="rect">
            <a:avLst/>
          </a:prstGeom>
          <a:noFill/>
          <a:ln/>
        </p:spPr>
        <p:txBody>
          <a:bodyPr wrap="square" lIns="0" tIns="0" rIns="0" bIns="0" rtlCol="0" anchor="t"/>
          <a:lstStyle/>
          <a:p>
            <a:pPr indent="0" marL="0">
              <a:lnSpc>
                <a:spcPct val="112000"/>
              </a:lnSpc>
              <a:buNone/>
            </a:pPr>
            <a:r>
              <a:rPr lang="en-US" sz="1050" dirty="0">
                <a:solidFill>
                  <a:srgbClr val="FFFFFF"/>
                </a:solidFill>
                <a:latin typeface="Arial" pitchFamily="34" charset="0"/>
                <a:ea typeface="Arial" pitchFamily="34" charset="-122"/>
                <a:cs typeface="Arial" pitchFamily="34" charset="-120"/>
              </a:rPr>
              <a:t>Weeks one and two are setup: segments, retargeting our database, scripts in your voice, profile updates. Live outreach starts in week three, and the first bookings follow within days.</a:t>
            </a:r>
            <a:endParaRPr lang="en-US" sz="1050" dirty="0"/>
          </a:p>
        </p:txBody>
      </p:sp>
      <p:sp>
        <p:nvSpPr>
          <p:cNvPr id="21" name="Shape 18"/>
          <p:cNvSpPr/>
          <p:nvPr/>
        </p:nvSpPr>
        <p:spPr>
          <a:xfrm>
            <a:off x="566928" y="4846320"/>
            <a:ext cx="11338560" cy="1463040"/>
          </a:xfrm>
          <a:prstGeom prst="roundRect">
            <a:avLst>
              <a:gd name="adj" fmla="val 5625"/>
            </a:avLst>
          </a:prstGeom>
          <a:solidFill>
            <a:srgbClr val="0D0D26">
              <a:alpha val="55000"/>
            </a:srgbClr>
          </a:solidFill>
          <a:ln w="9525">
            <a:solidFill>
              <a:srgbClr val="31316A">
                <a:alpha val="75000"/>
              </a:srgbClr>
            </a:solidFill>
            <a:prstDash val="solid"/>
          </a:ln>
        </p:spPr>
      </p:sp>
      <p:sp>
        <p:nvSpPr>
          <p:cNvPr id="22" name="Text 19"/>
          <p:cNvSpPr/>
          <p:nvPr/>
        </p:nvSpPr>
        <p:spPr>
          <a:xfrm>
            <a:off x="795528" y="5010912"/>
            <a:ext cx="10881360" cy="274320"/>
          </a:xfrm>
          <a:prstGeom prst="rect">
            <a:avLst/>
          </a:prstGeom>
          <a:noFill/>
          <a:ln/>
        </p:spPr>
        <p:txBody>
          <a:bodyPr wrap="square" lIns="0" tIns="0" rIns="0" bIns="0" rtlCol="0" anchor="ctr"/>
          <a:lstStyle/>
          <a:p>
            <a:pPr indent="0" marL="0">
              <a:buNone/>
            </a:pPr>
            <a:r>
              <a:rPr lang="en-US" sz="1200" b="1" spc="100" kern="0" dirty="0">
                <a:solidFill>
                  <a:srgbClr val="7C6CFF"/>
                </a:solidFill>
                <a:latin typeface="Arial" pitchFamily="34" charset="0"/>
                <a:ea typeface="Arial" pitchFamily="34" charset="-122"/>
                <a:cs typeface="Arial" pitchFamily="34" charset="-120"/>
              </a:rPr>
              <a:t>WHAT “QUALIFIED” MEANS, AND THE HONEST TIMELINE</a:t>
            </a:r>
            <a:endParaRPr lang="en-US" sz="1200" dirty="0"/>
          </a:p>
        </p:txBody>
      </p:sp>
      <p:sp>
        <p:nvSpPr>
          <p:cNvPr id="23" name="Text 20"/>
          <p:cNvSpPr/>
          <p:nvPr/>
        </p:nvSpPr>
        <p:spPr>
          <a:xfrm>
            <a:off x="795528" y="5321808"/>
            <a:ext cx="10881360" cy="868680"/>
          </a:xfrm>
          <a:prstGeom prst="rect">
            <a:avLst/>
          </a:prstGeom>
          <a:noFill/>
          <a:ln/>
        </p:spPr>
        <p:txBody>
          <a:bodyPr wrap="square" lIns="0" tIns="0" rIns="0" bIns="0" rtlCol="0" anchor="t"/>
          <a:lstStyle/>
          <a:p>
            <a:pPr indent="0" marL="0">
              <a:lnSpc>
                <a:spcPct val="125000"/>
              </a:lnSpc>
              <a:buNone/>
            </a:pPr>
            <a:r>
              <a:rPr lang="en-US" sz="1150" dirty="0">
                <a:solidFill>
                  <a:srgbClr val="FFFFFF"/>
                </a:solidFill>
                <a:latin typeface="Arial" pitchFamily="34" charset="0"/>
                <a:ea typeface="Arial" pitchFamily="34" charset="-122"/>
                <a:cs typeface="Arial" pitchFamily="34" charset="-120"/>
              </a:rPr>
              <a:t>A qualified meeting is an accredited individual, fund or family office with a history of similar real estate investments, who passed scoring and human review, confirmed your $150K minimum on booking, and whose briefing you approved. Investors new to you take longer than your network: plan on several meetings per close and 6–12 months from first outreach to committed capital at scale. We’ll fill the top of the funnel; the close is yours.</a:t>
            </a:r>
            <a:endParaRPr lang="en-US" sz="11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pic>
        <p:nvPicPr>
          <p:cNvPr id="2" name="Image 0" descr="/home/claude/brand/clean/logo_header.png">    </p:cNvPr>
          <p:cNvPicPr>
            <a:picLocks noChangeAspect="1"/>
          </p:cNvPicPr>
          <p:nvPr/>
        </p:nvPicPr>
        <p:blipFill>
          <a:blip r:embed="rId2"/>
          <a:stretch>
            <a:fillRect/>
          </a:stretch>
        </p:blipFill>
        <p:spPr>
          <a:xfrm>
            <a:off x="411480" y="164592"/>
            <a:ext cx="850392" cy="530352"/>
          </a:xfrm>
          <a:prstGeom prst="rect">
            <a:avLst/>
          </a:prstGeom>
        </p:spPr>
      </p:pic>
      <p:sp>
        <p:nvSpPr>
          <p:cNvPr id="3" name="Text 0"/>
          <p:cNvSpPr/>
          <p:nvPr/>
        </p:nvSpPr>
        <p:spPr>
          <a:xfrm>
            <a:off x="1417320" y="201168"/>
            <a:ext cx="4114800" cy="457200"/>
          </a:xfrm>
          <a:prstGeom prst="rect">
            <a:avLst/>
          </a:prstGeom>
          <a:noFill/>
          <a:ln/>
        </p:spPr>
        <p:txBody>
          <a:bodyPr wrap="square" lIns="0" tIns="0" rIns="0" bIns="0" rtlCol="0" anchor="ctr"/>
          <a:lstStyle/>
          <a:p>
            <a:pPr indent="0" marL="0">
              <a:buNone/>
            </a:pPr>
            <a:r>
              <a:rPr lang="en-US" sz="1300" spc="200" kern="0" dirty="0">
                <a:solidFill>
                  <a:srgbClr val="FFFFFF"/>
                </a:solidFill>
                <a:latin typeface="Arial" pitchFamily="34" charset="0"/>
                <a:ea typeface="Arial" pitchFamily="34" charset="-122"/>
                <a:cs typeface="Arial" pitchFamily="34" charset="-120"/>
              </a:rPr>
              <a:t>THINKFISH LLC 2026</a:t>
            </a:r>
            <a:endParaRPr lang="en-US" sz="1300" dirty="0"/>
          </a:p>
        </p:txBody>
      </p:sp>
      <p:sp>
        <p:nvSpPr>
          <p:cNvPr id="4" name="Text 1"/>
          <p:cNvSpPr/>
          <p:nvPr/>
        </p:nvSpPr>
        <p:spPr>
          <a:xfrm>
            <a:off x="566928" y="868680"/>
            <a:ext cx="11155680" cy="777240"/>
          </a:xfrm>
          <a:prstGeom prst="rect">
            <a:avLst/>
          </a:prstGeom>
          <a:noFill/>
          <a:ln/>
        </p:spPr>
        <p:txBody>
          <a:bodyPr wrap="square" lIns="0" tIns="0" rIns="0" bIns="0" rtlCol="0" anchor="ctr"/>
          <a:lstStyle/>
          <a:p>
            <a:pPr indent="0" marL="0">
              <a:buNone/>
            </a:pPr>
            <a:r>
              <a:rPr lang="en-US" sz="3800" b="1" dirty="0">
                <a:solidFill>
                  <a:srgbClr val="FFFFFF"/>
                </a:solidFill>
                <a:latin typeface="Arial" pitchFamily="34" charset="0"/>
                <a:ea typeface="Arial" pitchFamily="34" charset="-122"/>
                <a:cs typeface="Arial" pitchFamily="34" charset="-120"/>
              </a:rPr>
              <a:t>Your First 90 Days</a:t>
            </a:r>
            <a:endParaRPr lang="en-US" sz="3800" dirty="0"/>
          </a:p>
        </p:txBody>
      </p:sp>
      <p:sp>
        <p:nvSpPr>
          <p:cNvPr id="5" name="Text 2"/>
          <p:cNvSpPr/>
          <p:nvPr/>
        </p:nvSpPr>
        <p:spPr>
          <a:xfrm>
            <a:off x="594360" y="1481328"/>
            <a:ext cx="11155680" cy="320040"/>
          </a:xfrm>
          <a:prstGeom prst="rect">
            <a:avLst/>
          </a:prstGeom>
          <a:noFill/>
          <a:ln/>
        </p:spPr>
        <p:txBody>
          <a:bodyPr wrap="square" lIns="0" tIns="0" rIns="0" bIns="0" rtlCol="0" anchor="ctr"/>
          <a:lstStyle/>
          <a:p>
            <a:pPr indent="0" marL="0">
              <a:buNone/>
            </a:pPr>
            <a:r>
              <a:rPr lang="en-US" sz="1400" b="1" spc="100" kern="0" dirty="0">
                <a:solidFill>
                  <a:srgbClr val="43D5FF"/>
                </a:solidFill>
                <a:latin typeface="Arial" pitchFamily="34" charset="0"/>
                <a:ea typeface="Arial" pitchFamily="34" charset="-122"/>
                <a:cs typeface="Arial" pitchFamily="34" charset="-120"/>
              </a:rPr>
              <a:t>WHAT HAPPENS, AND WHEN</a:t>
            </a:r>
            <a:endParaRPr lang="en-US" sz="1400" dirty="0"/>
          </a:p>
        </p:txBody>
      </p:sp>
      <p:sp>
        <p:nvSpPr>
          <p:cNvPr id="6" name="Shape 3"/>
          <p:cNvSpPr/>
          <p:nvPr/>
        </p:nvSpPr>
        <p:spPr>
          <a:xfrm>
            <a:off x="566928" y="2148840"/>
            <a:ext cx="2724912" cy="2642616"/>
          </a:xfrm>
          <a:prstGeom prst="roundRect">
            <a:avLst>
              <a:gd name="adj" fmla="val 3114"/>
            </a:avLst>
          </a:prstGeom>
          <a:solidFill>
            <a:srgbClr val="0D0D26">
              <a:alpha val="55000"/>
            </a:srgbClr>
          </a:solidFill>
          <a:ln w="9525">
            <a:solidFill>
              <a:srgbClr val="31316A">
                <a:alpha val="75000"/>
              </a:srgbClr>
            </a:solidFill>
            <a:prstDash val="solid"/>
          </a:ln>
        </p:spPr>
      </p:sp>
      <p:sp>
        <p:nvSpPr>
          <p:cNvPr id="7" name="Text 4"/>
          <p:cNvSpPr/>
          <p:nvPr/>
        </p:nvSpPr>
        <p:spPr>
          <a:xfrm>
            <a:off x="768096" y="2350008"/>
            <a:ext cx="2322576" cy="292608"/>
          </a:xfrm>
          <a:prstGeom prst="rect">
            <a:avLst/>
          </a:prstGeom>
          <a:noFill/>
          <a:ln/>
        </p:spPr>
        <p:txBody>
          <a:bodyPr wrap="square" lIns="0" tIns="0" rIns="0" bIns="0" rtlCol="0" anchor="ctr"/>
          <a:lstStyle/>
          <a:p>
            <a:pPr indent="0" marL="0">
              <a:buNone/>
            </a:pPr>
            <a:r>
              <a:rPr lang="en-US" sz="1200" b="1" spc="100" kern="0" dirty="0">
                <a:solidFill>
                  <a:srgbClr val="43D5FF"/>
                </a:solidFill>
                <a:latin typeface="Arial" pitchFamily="34" charset="0"/>
                <a:ea typeface="Arial" pitchFamily="34" charset="-122"/>
                <a:cs typeface="Arial" pitchFamily="34" charset="-120"/>
              </a:rPr>
              <a:t>WEEKS 1-2  ·  EARLY NOV</a:t>
            </a:r>
            <a:endParaRPr lang="en-US" sz="1200" dirty="0"/>
          </a:p>
        </p:txBody>
      </p:sp>
      <p:sp>
        <p:nvSpPr>
          <p:cNvPr id="8" name="Text 5"/>
          <p:cNvSpPr/>
          <p:nvPr/>
        </p:nvSpPr>
        <p:spPr>
          <a:xfrm>
            <a:off x="768096" y="2660904"/>
            <a:ext cx="2322576" cy="566928"/>
          </a:xfrm>
          <a:prstGeom prst="rect">
            <a:avLst/>
          </a:prstGeom>
          <a:noFill/>
          <a:ln/>
        </p:spPr>
        <p:txBody>
          <a:bodyPr wrap="square" lIns="0" tIns="0" rIns="0" bIns="0" rtlCol="0" anchor="t"/>
          <a:lstStyle/>
          <a:p>
            <a:pPr indent="0" marL="0">
              <a:buNone/>
            </a:pPr>
            <a:r>
              <a:rPr lang="en-US" sz="1600" b="1" dirty="0">
                <a:solidFill>
                  <a:srgbClr val="FFFFFF"/>
                </a:solidFill>
                <a:latin typeface="Arial" pitchFamily="34" charset="0"/>
                <a:ea typeface="Arial" pitchFamily="34" charset="-122"/>
                <a:cs typeface="Arial" pitchFamily="34" charset="-120"/>
              </a:rPr>
              <a:t>Setup &amp; Calibration</a:t>
            </a:r>
            <a:endParaRPr lang="en-US" sz="1600" dirty="0"/>
          </a:p>
        </p:txBody>
      </p:sp>
      <p:sp>
        <p:nvSpPr>
          <p:cNvPr id="9" name="Text 6"/>
          <p:cNvSpPr/>
          <p:nvPr/>
        </p:nvSpPr>
        <p:spPr>
          <a:xfrm>
            <a:off x="768096" y="3337560"/>
            <a:ext cx="2359152" cy="1225296"/>
          </a:xfrm>
          <a:prstGeom prst="rect">
            <a:avLst/>
          </a:prstGeom>
          <a:noFill/>
          <a:ln/>
        </p:spPr>
        <p:txBody>
          <a:bodyPr wrap="square" lIns="0" tIns="0" rIns="0" bIns="0" rtlCol="0" anchor="t"/>
          <a:lstStyle/>
          <a:p>
            <a:pPr marL="127000" indent="-127000">
              <a:lnSpc>
                <a:spcPct val="110000"/>
              </a:lnSpc>
              <a:spcAft>
                <a:spcPts val="800"/>
              </a:spcAft>
              <a:buSzPct val="100000"/>
              <a:buChar char="•"/>
            </a:pPr>
            <a:r>
              <a:rPr lang="en-US" sz="1150" dirty="0">
                <a:solidFill>
                  <a:srgbClr val="FFFFFF"/>
                </a:solidFill>
                <a:latin typeface="Arial" pitchFamily="34" charset="0"/>
                <a:ea typeface="Arial" pitchFamily="34" charset="-122"/>
                <a:cs typeface="Arial" pitchFamily="34" charset="-120"/>
              </a:rPr>
              <a:t>Interviews: Ted, Jesse and Hector</a:t>
            </a:r>
            <a:endParaRPr lang="en-US" sz="1150" dirty="0"/>
          </a:p>
          <a:p>
            <a:pPr marL="127000" indent="-127000">
              <a:lnSpc>
                <a:spcPct val="110000"/>
              </a:lnSpc>
              <a:spcAft>
                <a:spcPts val="800"/>
              </a:spcAft>
              <a:buSzPct val="100000"/>
              <a:buChar char="•"/>
            </a:pPr>
            <a:r>
              <a:rPr lang="en-US" sz="1150" dirty="0">
                <a:solidFill>
                  <a:srgbClr val="FFFFFF"/>
                </a:solidFill>
                <a:latin typeface="Arial" pitchFamily="34" charset="0"/>
                <a:ea typeface="Arial" pitchFamily="34" charset="-122"/>
                <a:cs typeface="Arial" pitchFamily="34" charset="-120"/>
              </a:rPr>
              <a:t>Segments built, database retargeted</a:t>
            </a:r>
            <a:endParaRPr lang="en-US" sz="1150" dirty="0"/>
          </a:p>
          <a:p>
            <a:pPr marL="127000" indent="-127000">
              <a:lnSpc>
                <a:spcPct val="110000"/>
              </a:lnSpc>
              <a:spcAft>
                <a:spcPts val="800"/>
              </a:spcAft>
              <a:buSzPct val="100000"/>
              <a:buChar char="•"/>
            </a:pPr>
            <a:r>
              <a:rPr lang="en-US" sz="1150" dirty="0">
                <a:solidFill>
                  <a:srgbClr val="FFFFFF"/>
                </a:solidFill>
                <a:latin typeface="Arial" pitchFamily="34" charset="0"/>
                <a:ea typeface="Arial" pitchFamily="34" charset="-122"/>
                <a:cs typeface="Arial" pitchFamily="34" charset="-120"/>
              </a:rPr>
              <a:t>Ted’s profile leads with Heather</a:t>
            </a:r>
            <a:endParaRPr lang="en-US" sz="1150" dirty="0"/>
          </a:p>
          <a:p>
            <a:pPr marL="127000" indent="-127000">
              <a:lnSpc>
                <a:spcPct val="110000"/>
              </a:lnSpc>
              <a:spcAft>
                <a:spcPts val="800"/>
              </a:spcAft>
              <a:buSzPct val="100000"/>
              <a:buChar char="•"/>
            </a:pPr>
            <a:r>
              <a:rPr lang="en-US" sz="1150" dirty="0">
                <a:solidFill>
                  <a:srgbClr val="FFFFFF"/>
                </a:solidFill>
                <a:latin typeface="Arial" pitchFamily="34" charset="0"/>
                <a:ea typeface="Arial" pitchFamily="34" charset="-122"/>
                <a:cs typeface="Arial" pitchFamily="34" charset="-120"/>
              </a:rPr>
              <a:t>Hector’s warm-up begins</a:t>
            </a:r>
            <a:endParaRPr lang="en-US" sz="1150" dirty="0"/>
          </a:p>
        </p:txBody>
      </p:sp>
      <p:sp>
        <p:nvSpPr>
          <p:cNvPr id="10" name="Shape 7"/>
          <p:cNvSpPr/>
          <p:nvPr/>
        </p:nvSpPr>
        <p:spPr>
          <a:xfrm>
            <a:off x="3447288" y="2148840"/>
            <a:ext cx="2724912" cy="2642616"/>
          </a:xfrm>
          <a:prstGeom prst="roundRect">
            <a:avLst>
              <a:gd name="adj" fmla="val 3114"/>
            </a:avLst>
          </a:prstGeom>
          <a:solidFill>
            <a:srgbClr val="0D0D26">
              <a:alpha val="55000"/>
            </a:srgbClr>
          </a:solidFill>
          <a:ln w="9525">
            <a:solidFill>
              <a:srgbClr val="31316A">
                <a:alpha val="75000"/>
              </a:srgbClr>
            </a:solidFill>
            <a:prstDash val="solid"/>
          </a:ln>
        </p:spPr>
      </p:sp>
      <p:sp>
        <p:nvSpPr>
          <p:cNvPr id="11" name="Text 8"/>
          <p:cNvSpPr/>
          <p:nvPr/>
        </p:nvSpPr>
        <p:spPr>
          <a:xfrm>
            <a:off x="3648456" y="2350008"/>
            <a:ext cx="2322576" cy="292608"/>
          </a:xfrm>
          <a:prstGeom prst="rect">
            <a:avLst/>
          </a:prstGeom>
          <a:noFill/>
          <a:ln/>
        </p:spPr>
        <p:txBody>
          <a:bodyPr wrap="square" lIns="0" tIns="0" rIns="0" bIns="0" rtlCol="0" anchor="ctr"/>
          <a:lstStyle/>
          <a:p>
            <a:pPr indent="0" marL="0">
              <a:buNone/>
            </a:pPr>
            <a:r>
              <a:rPr lang="en-US" sz="1200" b="1" spc="100" kern="0" dirty="0">
                <a:solidFill>
                  <a:srgbClr val="43D5FF"/>
                </a:solidFill>
                <a:latin typeface="Arial" pitchFamily="34" charset="0"/>
                <a:ea typeface="Arial" pitchFamily="34" charset="-122"/>
                <a:cs typeface="Arial" pitchFamily="34" charset="-120"/>
              </a:rPr>
              <a:t>WEEKS 3-4  ·  LATE NOV</a:t>
            </a:r>
            <a:endParaRPr lang="en-US" sz="1200" dirty="0"/>
          </a:p>
        </p:txBody>
      </p:sp>
      <p:sp>
        <p:nvSpPr>
          <p:cNvPr id="12" name="Text 9"/>
          <p:cNvSpPr/>
          <p:nvPr/>
        </p:nvSpPr>
        <p:spPr>
          <a:xfrm>
            <a:off x="3648456" y="2660904"/>
            <a:ext cx="2322576" cy="566928"/>
          </a:xfrm>
          <a:prstGeom prst="rect">
            <a:avLst/>
          </a:prstGeom>
          <a:noFill/>
          <a:ln/>
        </p:spPr>
        <p:txBody>
          <a:bodyPr wrap="square" lIns="0" tIns="0" rIns="0" bIns="0" rtlCol="0" anchor="t"/>
          <a:lstStyle/>
          <a:p>
            <a:pPr indent="0" marL="0">
              <a:buNone/>
            </a:pPr>
            <a:r>
              <a:rPr lang="en-US" sz="1600" b="1" dirty="0">
                <a:solidFill>
                  <a:srgbClr val="FFFFFF"/>
                </a:solidFill>
                <a:latin typeface="Arial" pitchFamily="34" charset="0"/>
                <a:ea typeface="Arial" pitchFamily="34" charset="-122"/>
                <a:cs typeface="Arial" pitchFamily="34" charset="-120"/>
              </a:rPr>
              <a:t>First Live Outreach</a:t>
            </a:r>
            <a:endParaRPr lang="en-US" sz="1600" dirty="0"/>
          </a:p>
        </p:txBody>
      </p:sp>
      <p:sp>
        <p:nvSpPr>
          <p:cNvPr id="13" name="Text 10"/>
          <p:cNvSpPr/>
          <p:nvPr/>
        </p:nvSpPr>
        <p:spPr>
          <a:xfrm>
            <a:off x="3648456" y="3337560"/>
            <a:ext cx="2359152" cy="1225296"/>
          </a:xfrm>
          <a:prstGeom prst="rect">
            <a:avLst/>
          </a:prstGeom>
          <a:noFill/>
          <a:ln/>
        </p:spPr>
        <p:txBody>
          <a:bodyPr wrap="square" lIns="0" tIns="0" rIns="0" bIns="0" rtlCol="0" anchor="t"/>
          <a:lstStyle/>
          <a:p>
            <a:pPr marL="127000" indent="-127000">
              <a:lnSpc>
                <a:spcPct val="110000"/>
              </a:lnSpc>
              <a:spcAft>
                <a:spcPts val="800"/>
              </a:spcAft>
              <a:buSzPct val="100000"/>
              <a:buChar char="•"/>
            </a:pPr>
            <a:r>
              <a:rPr lang="en-US" sz="1150" dirty="0">
                <a:solidFill>
                  <a:srgbClr val="FFFFFF"/>
                </a:solidFill>
                <a:latin typeface="Arial" pitchFamily="34" charset="0"/>
                <a:ea typeface="Arial" pitchFamily="34" charset="-122"/>
                <a:cs typeface="Arial" pitchFamily="34" charset="-120"/>
              </a:rPr>
              <a:t>Ted and Jesse live on LinkedIn</a:t>
            </a:r>
            <a:endParaRPr lang="en-US" sz="1150" dirty="0"/>
          </a:p>
          <a:p>
            <a:pPr marL="127000" indent="-127000">
              <a:lnSpc>
                <a:spcPct val="110000"/>
              </a:lnSpc>
              <a:spcAft>
                <a:spcPts val="800"/>
              </a:spcAft>
              <a:buSzPct val="100000"/>
              <a:buChar char="•"/>
            </a:pPr>
            <a:r>
              <a:rPr lang="en-US" sz="1150" dirty="0">
                <a:solidFill>
                  <a:srgbClr val="FFFFFF"/>
                </a:solidFill>
                <a:latin typeface="Arial" pitchFamily="34" charset="0"/>
                <a:ea typeface="Arial" pitchFamily="34" charset="-122"/>
                <a:cs typeface="Arial" pitchFamily="34" charset="-120"/>
              </a:rPr>
              <a:t>First replies, first booked meetings</a:t>
            </a:r>
            <a:endParaRPr lang="en-US" sz="1150" dirty="0"/>
          </a:p>
          <a:p>
            <a:pPr marL="127000" indent="-127000">
              <a:lnSpc>
                <a:spcPct val="110000"/>
              </a:lnSpc>
              <a:spcAft>
                <a:spcPts val="800"/>
              </a:spcAft>
              <a:buSzPct val="100000"/>
              <a:buChar char="•"/>
            </a:pPr>
            <a:r>
              <a:rPr lang="en-US" sz="1150" dirty="0">
                <a:solidFill>
                  <a:srgbClr val="FFFFFF"/>
                </a:solidFill>
                <a:latin typeface="Arial" pitchFamily="34" charset="0"/>
                <a:ea typeface="Arial" pitchFamily="34" charset="-122"/>
                <a:cs typeface="Arial" pitchFamily="34" charset="-120"/>
              </a:rPr>
              <a:t>Pitch run-through with our CEO</a:t>
            </a:r>
            <a:endParaRPr lang="en-US" sz="1150" dirty="0"/>
          </a:p>
        </p:txBody>
      </p:sp>
      <p:sp>
        <p:nvSpPr>
          <p:cNvPr id="14" name="Shape 11"/>
          <p:cNvSpPr/>
          <p:nvPr/>
        </p:nvSpPr>
        <p:spPr>
          <a:xfrm>
            <a:off x="6327648" y="2148840"/>
            <a:ext cx="2724912" cy="2642616"/>
          </a:xfrm>
          <a:prstGeom prst="roundRect">
            <a:avLst>
              <a:gd name="adj" fmla="val 3114"/>
            </a:avLst>
          </a:prstGeom>
          <a:solidFill>
            <a:srgbClr val="0D0D26">
              <a:alpha val="55000"/>
            </a:srgbClr>
          </a:solidFill>
          <a:ln w="9525">
            <a:solidFill>
              <a:srgbClr val="31316A">
                <a:alpha val="75000"/>
              </a:srgbClr>
            </a:solidFill>
            <a:prstDash val="solid"/>
          </a:ln>
        </p:spPr>
      </p:sp>
      <p:sp>
        <p:nvSpPr>
          <p:cNvPr id="15" name="Text 12"/>
          <p:cNvSpPr/>
          <p:nvPr/>
        </p:nvSpPr>
        <p:spPr>
          <a:xfrm>
            <a:off x="6528816" y="2350008"/>
            <a:ext cx="2322576" cy="292608"/>
          </a:xfrm>
          <a:prstGeom prst="rect">
            <a:avLst/>
          </a:prstGeom>
          <a:noFill/>
          <a:ln/>
        </p:spPr>
        <p:txBody>
          <a:bodyPr wrap="square" lIns="0" tIns="0" rIns="0" bIns="0" rtlCol="0" anchor="ctr"/>
          <a:lstStyle/>
          <a:p>
            <a:pPr indent="0" marL="0">
              <a:buNone/>
            </a:pPr>
            <a:r>
              <a:rPr lang="en-US" sz="1200" b="1" spc="100" kern="0" dirty="0">
                <a:solidFill>
                  <a:srgbClr val="43D5FF"/>
                </a:solidFill>
                <a:latin typeface="Arial" pitchFamily="34" charset="0"/>
                <a:ea typeface="Arial" pitchFamily="34" charset="-122"/>
                <a:cs typeface="Arial" pitchFamily="34" charset="-120"/>
              </a:rPr>
              <a:t>MONTH 2  ·  DECEMBER</a:t>
            </a:r>
            <a:endParaRPr lang="en-US" sz="1200" dirty="0"/>
          </a:p>
        </p:txBody>
      </p:sp>
      <p:sp>
        <p:nvSpPr>
          <p:cNvPr id="16" name="Text 13"/>
          <p:cNvSpPr/>
          <p:nvPr/>
        </p:nvSpPr>
        <p:spPr>
          <a:xfrm>
            <a:off x="6528816" y="2660904"/>
            <a:ext cx="2322576" cy="566928"/>
          </a:xfrm>
          <a:prstGeom prst="rect">
            <a:avLst/>
          </a:prstGeom>
          <a:noFill/>
          <a:ln/>
        </p:spPr>
        <p:txBody>
          <a:bodyPr wrap="square" lIns="0" tIns="0" rIns="0" bIns="0" rtlCol="0" anchor="t"/>
          <a:lstStyle/>
          <a:p>
            <a:pPr indent="0" marL="0">
              <a:buNone/>
            </a:pPr>
            <a:r>
              <a:rPr lang="en-US" sz="1600" b="1" dirty="0">
                <a:solidFill>
                  <a:srgbClr val="FFFFFF"/>
                </a:solidFill>
                <a:latin typeface="Arial" pitchFamily="34" charset="0"/>
                <a:ea typeface="Arial" pitchFamily="34" charset="-122"/>
                <a:cs typeface="Arial" pitchFamily="34" charset="-120"/>
              </a:rPr>
              <a:t>Three Profiles Live</a:t>
            </a:r>
            <a:endParaRPr lang="en-US" sz="1600" dirty="0"/>
          </a:p>
        </p:txBody>
      </p:sp>
      <p:sp>
        <p:nvSpPr>
          <p:cNvPr id="17" name="Text 14"/>
          <p:cNvSpPr/>
          <p:nvPr/>
        </p:nvSpPr>
        <p:spPr>
          <a:xfrm>
            <a:off x="6528816" y="3337560"/>
            <a:ext cx="2359152" cy="1225296"/>
          </a:xfrm>
          <a:prstGeom prst="rect">
            <a:avLst/>
          </a:prstGeom>
          <a:noFill/>
          <a:ln/>
        </p:spPr>
        <p:txBody>
          <a:bodyPr wrap="square" lIns="0" tIns="0" rIns="0" bIns="0" rtlCol="0" anchor="t"/>
          <a:lstStyle/>
          <a:p>
            <a:pPr marL="127000" indent="-127000">
              <a:lnSpc>
                <a:spcPct val="110000"/>
              </a:lnSpc>
              <a:spcAft>
                <a:spcPts val="800"/>
              </a:spcAft>
              <a:buSzPct val="100000"/>
              <a:buChar char="•"/>
            </a:pPr>
            <a:r>
              <a:rPr lang="en-US" sz="1150" dirty="0">
                <a:solidFill>
                  <a:srgbClr val="FFFFFF"/>
                </a:solidFill>
                <a:latin typeface="Arial" pitchFamily="34" charset="0"/>
                <a:ea typeface="Arial" pitchFamily="34" charset="-122"/>
                <a:cs typeface="Arial" pitchFamily="34" charset="-120"/>
              </a:rPr>
              <a:t>Hector joins at 500+ connections</a:t>
            </a:r>
            <a:endParaRPr lang="en-US" sz="1150" dirty="0"/>
          </a:p>
          <a:p>
            <a:pPr marL="127000" indent="-127000">
              <a:lnSpc>
                <a:spcPct val="110000"/>
              </a:lnSpc>
              <a:spcAft>
                <a:spcPts val="800"/>
              </a:spcAft>
              <a:buSzPct val="100000"/>
              <a:buChar char="•"/>
            </a:pPr>
            <a:r>
              <a:rPr lang="en-US" sz="1150" dirty="0">
                <a:solidFill>
                  <a:srgbClr val="FFFFFF"/>
                </a:solidFill>
                <a:latin typeface="Arial" pitchFamily="34" charset="0"/>
                <a:ea typeface="Arial" pitchFamily="34" charset="-122"/>
                <a:cs typeface="Arial" pitchFamily="34" charset="-120"/>
              </a:rPr>
              <a:t>Targeting tightened on real replies</a:t>
            </a:r>
            <a:endParaRPr lang="en-US" sz="1150" dirty="0"/>
          </a:p>
          <a:p>
            <a:pPr marL="127000" indent="-127000">
              <a:lnSpc>
                <a:spcPct val="110000"/>
              </a:lnSpc>
              <a:spcAft>
                <a:spcPts val="800"/>
              </a:spcAft>
              <a:buSzPct val="100000"/>
              <a:buChar char="•"/>
            </a:pPr>
            <a:r>
              <a:rPr lang="en-US" sz="1150" dirty="0">
                <a:solidFill>
                  <a:srgbClr val="FFFFFF"/>
                </a:solidFill>
                <a:latin typeface="Arial" pitchFamily="34" charset="0"/>
                <a:ea typeface="Arial" pitchFamily="34" charset="-122"/>
                <a:cs typeface="Arial" pitchFamily="34" charset="-120"/>
              </a:rPr>
              <a:t>Segment reporting: what converts</a:t>
            </a:r>
            <a:endParaRPr lang="en-US" sz="1150" dirty="0"/>
          </a:p>
        </p:txBody>
      </p:sp>
      <p:sp>
        <p:nvSpPr>
          <p:cNvPr id="18" name="Shape 15"/>
          <p:cNvSpPr/>
          <p:nvPr/>
        </p:nvSpPr>
        <p:spPr>
          <a:xfrm>
            <a:off x="9208008" y="2148840"/>
            <a:ext cx="2724912" cy="2642616"/>
          </a:xfrm>
          <a:prstGeom prst="roundRect">
            <a:avLst>
              <a:gd name="adj" fmla="val 3114"/>
            </a:avLst>
          </a:prstGeom>
          <a:solidFill>
            <a:srgbClr val="0D0D26">
              <a:alpha val="55000"/>
            </a:srgbClr>
          </a:solidFill>
          <a:ln w="9525">
            <a:solidFill>
              <a:srgbClr val="31316A">
                <a:alpha val="75000"/>
              </a:srgbClr>
            </a:solidFill>
            <a:prstDash val="solid"/>
          </a:ln>
        </p:spPr>
      </p:sp>
      <p:sp>
        <p:nvSpPr>
          <p:cNvPr id="19" name="Text 16"/>
          <p:cNvSpPr/>
          <p:nvPr/>
        </p:nvSpPr>
        <p:spPr>
          <a:xfrm>
            <a:off x="9409176" y="2350008"/>
            <a:ext cx="2322576" cy="292608"/>
          </a:xfrm>
          <a:prstGeom prst="rect">
            <a:avLst/>
          </a:prstGeom>
          <a:noFill/>
          <a:ln/>
        </p:spPr>
        <p:txBody>
          <a:bodyPr wrap="square" lIns="0" tIns="0" rIns="0" bIns="0" rtlCol="0" anchor="ctr"/>
          <a:lstStyle/>
          <a:p>
            <a:pPr indent="0" marL="0">
              <a:buNone/>
            </a:pPr>
            <a:r>
              <a:rPr lang="en-US" sz="1200" b="1" spc="100" kern="0" dirty="0">
                <a:solidFill>
                  <a:srgbClr val="43D5FF"/>
                </a:solidFill>
                <a:latin typeface="Arial" pitchFamily="34" charset="0"/>
                <a:ea typeface="Arial" pitchFamily="34" charset="-122"/>
                <a:cs typeface="Arial" pitchFamily="34" charset="-120"/>
              </a:rPr>
              <a:t>MONTH 3  ·  JANUARY</a:t>
            </a:r>
            <a:endParaRPr lang="en-US" sz="1200" dirty="0"/>
          </a:p>
        </p:txBody>
      </p:sp>
      <p:sp>
        <p:nvSpPr>
          <p:cNvPr id="20" name="Text 17"/>
          <p:cNvSpPr/>
          <p:nvPr/>
        </p:nvSpPr>
        <p:spPr>
          <a:xfrm>
            <a:off x="9409176" y="2660904"/>
            <a:ext cx="2322576" cy="566928"/>
          </a:xfrm>
          <a:prstGeom prst="rect">
            <a:avLst/>
          </a:prstGeom>
          <a:noFill/>
          <a:ln/>
        </p:spPr>
        <p:txBody>
          <a:bodyPr wrap="square" lIns="0" tIns="0" rIns="0" bIns="0" rtlCol="0" anchor="t"/>
          <a:lstStyle/>
          <a:p>
            <a:pPr indent="0" marL="0">
              <a:buNone/>
            </a:pPr>
            <a:r>
              <a:rPr lang="en-US" sz="1600" b="1" dirty="0">
                <a:solidFill>
                  <a:srgbClr val="FFFFFF"/>
                </a:solidFill>
                <a:latin typeface="Arial" pitchFamily="34" charset="0"/>
                <a:ea typeface="Arial" pitchFamily="34" charset="-122"/>
                <a:cs typeface="Arial" pitchFamily="34" charset="-120"/>
              </a:rPr>
              <a:t>Prove-Out</a:t>
            </a:r>
            <a:endParaRPr lang="en-US" sz="1600" dirty="0"/>
          </a:p>
        </p:txBody>
      </p:sp>
      <p:sp>
        <p:nvSpPr>
          <p:cNvPr id="21" name="Text 18"/>
          <p:cNvSpPr/>
          <p:nvPr/>
        </p:nvSpPr>
        <p:spPr>
          <a:xfrm>
            <a:off x="9409176" y="3337560"/>
            <a:ext cx="2359152" cy="1225296"/>
          </a:xfrm>
          <a:prstGeom prst="rect">
            <a:avLst/>
          </a:prstGeom>
          <a:noFill/>
          <a:ln/>
        </p:spPr>
        <p:txBody>
          <a:bodyPr wrap="square" lIns="0" tIns="0" rIns="0" bIns="0" rtlCol="0" anchor="t"/>
          <a:lstStyle/>
          <a:p>
            <a:pPr marL="127000" indent="-127000">
              <a:lnSpc>
                <a:spcPct val="110000"/>
              </a:lnSpc>
              <a:spcAft>
                <a:spcPts val="800"/>
              </a:spcAft>
              <a:buSzPct val="100000"/>
              <a:buChar char="•"/>
            </a:pPr>
            <a:r>
              <a:rPr lang="en-US" sz="1150" dirty="0">
                <a:solidFill>
                  <a:srgbClr val="FFFFFF"/>
                </a:solidFill>
                <a:latin typeface="Arial" pitchFamily="34" charset="0"/>
                <a:ea typeface="Arial" pitchFamily="34" charset="-122"/>
                <a:cs typeface="Arial" pitchFamily="34" charset="-120"/>
              </a:rPr>
              <a:t>Review: three months of data</a:t>
            </a:r>
            <a:endParaRPr lang="en-US" sz="1150" dirty="0"/>
          </a:p>
          <a:p>
            <a:pPr marL="127000" indent="-127000">
              <a:lnSpc>
                <a:spcPct val="110000"/>
              </a:lnSpc>
              <a:spcAft>
                <a:spcPts val="800"/>
              </a:spcAft>
              <a:buSzPct val="100000"/>
              <a:buChar char="•"/>
            </a:pPr>
            <a:r>
              <a:rPr lang="en-US" sz="1150" dirty="0">
                <a:solidFill>
                  <a:srgbClr val="FFFFFF"/>
                </a:solidFill>
                <a:latin typeface="Arial" pitchFamily="34" charset="0"/>
                <a:ea typeface="Arial" pitchFamily="34" charset="-122"/>
                <a:cs typeface="Arial" pitchFamily="34" charset="-120"/>
              </a:rPr>
              <a:t>Decide on opening 1st-degree</a:t>
            </a:r>
            <a:endParaRPr lang="en-US" sz="1150" dirty="0"/>
          </a:p>
          <a:p>
            <a:pPr marL="127000" indent="-127000">
              <a:lnSpc>
                <a:spcPct val="110000"/>
              </a:lnSpc>
              <a:spcAft>
                <a:spcPts val="800"/>
              </a:spcAft>
              <a:buSzPct val="100000"/>
              <a:buChar char="•"/>
            </a:pPr>
            <a:r>
              <a:rPr lang="en-US" sz="1150" dirty="0">
                <a:solidFill>
                  <a:srgbClr val="FFFFFF"/>
                </a:solidFill>
                <a:latin typeface="Arial" pitchFamily="34" charset="0"/>
                <a:ea typeface="Arial" pitchFamily="34" charset="-122"/>
                <a:cs typeface="Arial" pitchFamily="34" charset="-120"/>
              </a:rPr>
              <a:t>Plan month four and beyond</a:t>
            </a:r>
            <a:endParaRPr lang="en-US" sz="1150" dirty="0"/>
          </a:p>
        </p:txBody>
      </p:sp>
      <p:sp>
        <p:nvSpPr>
          <p:cNvPr id="356" name="Shape 20"/>
          <p:cNvSpPr/>
          <p:nvPr/>
        </p:nvSpPr>
        <p:spPr>
          <a:xfrm>
            <a:off x="566928" y="5029200"/>
            <a:ext cx="11338560" cy="1325880"/>
          </a:xfrm>
          <a:prstGeom prst="roundRect">
            <a:avLst>
              <a:gd name="adj" fmla="val 4865"/>
            </a:avLst>
          </a:prstGeom>
          <a:solidFill>
            <a:srgbClr val="0D0D26">
              <a:alpha val="55000"/>
            </a:srgbClr>
          </a:solidFill>
          <a:ln w="9525">
            <a:solidFill>
              <a:srgbClr val="31316A">
                <a:alpha val="75000"/>
              </a:srgbClr>
            </a:solidFill>
            <a:prstDash val="solid"/>
          </a:ln>
        </p:spPr>
      </p:sp>
      <p:sp>
        <p:nvSpPr>
          <p:cNvPr id="357" name="Text 21"/>
          <p:cNvSpPr/>
          <p:nvPr/>
        </p:nvSpPr>
        <p:spPr>
          <a:xfrm>
            <a:off x="795528" y="5175504"/>
            <a:ext cx="5486400" cy="320040"/>
          </a:xfrm>
          <a:prstGeom prst="rect">
            <a:avLst/>
          </a:prstGeom>
          <a:noFill/>
          <a:ln/>
        </p:spPr>
        <p:txBody>
          <a:bodyPr wrap="square" lIns="0" tIns="0" rIns="0" bIns="0" rtlCol="0" anchor="ctr"/>
          <a:lstStyle/>
          <a:p>
            <a:pPr indent="0" marL="0">
              <a:buNone/>
            </a:pPr>
            <a:r>
              <a:rPr lang="en-US" sz="1400" b="1" spc="100" kern="0" dirty="0">
                <a:solidFill>
                  <a:srgbClr val="7C6CFF"/>
                </a:solidFill>
                <a:latin typeface="Arial" pitchFamily="34" charset="0"/>
                <a:ea typeface="Arial" pitchFamily="34" charset="-122"/>
                <a:cs typeface="Arial" pitchFamily="34" charset="-120"/>
              </a:rPr>
              <a:t>THE FOUR-MONTH DECISION</a:t>
            </a:r>
            <a:endParaRPr lang="en-US" sz="1400" dirty="0"/>
          </a:p>
        </p:txBody>
      </p:sp>
      <p:sp>
        <p:nvSpPr>
          <p:cNvPr id="358" name="Text 22"/>
          <p:cNvSpPr/>
          <p:nvPr/>
        </p:nvSpPr>
        <p:spPr>
          <a:xfrm>
            <a:off x="795528" y="5504688"/>
            <a:ext cx="10881360" cy="777240"/>
          </a:xfrm>
          <a:prstGeom prst="rect">
            <a:avLst/>
          </a:prstGeom>
          <a:noFill/>
          <a:ln/>
        </p:spPr>
        <p:txBody>
          <a:bodyPr wrap="square" lIns="0" tIns="0" rIns="0" bIns="0" rtlCol="0" anchor="t"/>
          <a:lstStyle/>
          <a:p>
            <a:pPr indent="0" marL="0">
              <a:lnSpc>
                <a:spcPct val="120000"/>
              </a:lnSpc>
              <a:buNone/>
            </a:pPr>
            <a:r>
              <a:rPr lang="en-US" sz="1250" dirty="0">
                <a:solidFill>
                  <a:srgbClr val="FFFFFF"/>
                </a:solidFill>
                <a:latin typeface="Arial" pitchFamily="34" charset="0"/>
                <a:ea typeface="Arial" pitchFamily="34" charset="-122"/>
                <a:cs typeface="Arial" pitchFamily="34" charset="-120"/>
              </a:rPr>
              <a:t>By the end of the four-month term you’ll have real numbers on audience quality, meeting quality and what closes, split by profile and by segment. That’s when you decide whether to continue, scale (open the 1st-degree network, add a profile) or stop. The decision gets made on data, not on faith.</a:t>
            </a:r>
            <a:endParaRPr lang="en-US" sz="125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pic>
        <p:nvPicPr>
          <p:cNvPr id="2" name="Image 0" descr="/home/claude/brand/clean/logo_header.png">    </p:cNvPr>
          <p:cNvPicPr>
            <a:picLocks noChangeAspect="1"/>
          </p:cNvPicPr>
          <p:nvPr/>
        </p:nvPicPr>
        <p:blipFill>
          <a:blip r:embed="rId2"/>
          <a:stretch>
            <a:fillRect/>
          </a:stretch>
        </p:blipFill>
        <p:spPr>
          <a:xfrm>
            <a:off x="411480" y="164592"/>
            <a:ext cx="850392" cy="530352"/>
          </a:xfrm>
          <a:prstGeom prst="rect">
            <a:avLst/>
          </a:prstGeom>
        </p:spPr>
      </p:pic>
      <p:sp>
        <p:nvSpPr>
          <p:cNvPr id="3" name="Text 0"/>
          <p:cNvSpPr/>
          <p:nvPr/>
        </p:nvSpPr>
        <p:spPr>
          <a:xfrm>
            <a:off x="1417320" y="201168"/>
            <a:ext cx="4114800" cy="457200"/>
          </a:xfrm>
          <a:prstGeom prst="rect">
            <a:avLst/>
          </a:prstGeom>
          <a:noFill/>
          <a:ln/>
        </p:spPr>
        <p:txBody>
          <a:bodyPr wrap="square" lIns="0" tIns="0" rIns="0" bIns="0" rtlCol="0" anchor="ctr"/>
          <a:lstStyle/>
          <a:p>
            <a:pPr indent="0" marL="0">
              <a:buNone/>
            </a:pPr>
            <a:r>
              <a:rPr lang="en-US" sz="1300" spc="200" kern="0" dirty="0">
                <a:solidFill>
                  <a:srgbClr val="FFFFFF"/>
                </a:solidFill>
                <a:latin typeface="Arial" pitchFamily="34" charset="0"/>
                <a:ea typeface="Arial" pitchFamily="34" charset="-122"/>
                <a:cs typeface="Arial" pitchFamily="34" charset="-120"/>
              </a:rPr>
              <a:t>THINKFISH LLC 2026</a:t>
            </a:r>
            <a:endParaRPr lang="en-US" sz="1300" dirty="0"/>
          </a:p>
        </p:txBody>
      </p:sp>
      <p:sp>
        <p:nvSpPr>
          <p:cNvPr id="4" name="Text 1"/>
          <p:cNvSpPr/>
          <p:nvPr/>
        </p:nvSpPr>
        <p:spPr>
          <a:xfrm>
            <a:off x="566928" y="868680"/>
            <a:ext cx="11155680" cy="777240"/>
          </a:xfrm>
          <a:prstGeom prst="rect">
            <a:avLst/>
          </a:prstGeom>
          <a:noFill/>
          <a:ln/>
        </p:spPr>
        <p:txBody>
          <a:bodyPr wrap="square" lIns="0" tIns="0" rIns="0" bIns="0" rtlCol="0" anchor="ctr"/>
          <a:lstStyle/>
          <a:p>
            <a:pPr indent="0" marL="0">
              <a:buNone/>
            </a:pPr>
            <a:r>
              <a:rPr lang="en-US" sz="3800" b="1" dirty="0">
                <a:solidFill>
                  <a:srgbClr val="FFFFFF"/>
                </a:solidFill>
                <a:latin typeface="Arial" pitchFamily="34" charset="0"/>
                <a:ea typeface="Arial" pitchFamily="34" charset="-122"/>
                <a:cs typeface="Arial" pitchFamily="34" charset="-120"/>
              </a:rPr>
              <a:t>Pricing</a:t>
            </a:r>
            <a:endParaRPr lang="en-US" sz="3800" dirty="0"/>
          </a:p>
        </p:txBody>
      </p:sp>
      <p:sp>
        <p:nvSpPr>
          <p:cNvPr id="5" name="Text 2"/>
          <p:cNvSpPr/>
          <p:nvPr/>
        </p:nvSpPr>
        <p:spPr>
          <a:xfrm>
            <a:off x="594360" y="1481328"/>
            <a:ext cx="11155680" cy="320040"/>
          </a:xfrm>
          <a:prstGeom prst="rect">
            <a:avLst/>
          </a:prstGeom>
          <a:noFill/>
          <a:ln/>
        </p:spPr>
        <p:txBody>
          <a:bodyPr wrap="square" lIns="0" tIns="0" rIns="0" bIns="0" rtlCol="0" anchor="ctr"/>
          <a:lstStyle/>
          <a:p>
            <a:pPr indent="0" marL="0">
              <a:buNone/>
            </a:pPr>
            <a:r>
              <a:rPr lang="en-US" sz="1400" b="1" spc="100" kern="0" dirty="0">
                <a:solidFill>
                  <a:srgbClr val="43D5FF"/>
                </a:solidFill>
                <a:latin typeface="Arial" pitchFamily="34" charset="0"/>
                <a:ea typeface="Arial" pitchFamily="34" charset="-122"/>
                <a:cs typeface="Arial" pitchFamily="34" charset="-120"/>
              </a:rPr>
              <a:t>FLAT RETAINER. NO SETUP FEES, NO SUCCESS FEES, NO SURPRISES.</a:t>
            </a:r>
            <a:endParaRPr lang="en-US" sz="1400" dirty="0"/>
          </a:p>
        </p:txBody>
      </p:sp>
      <p:sp>
        <p:nvSpPr>
          <p:cNvPr id="6" name="Shape 3"/>
          <p:cNvSpPr/>
          <p:nvPr/>
        </p:nvSpPr>
        <p:spPr>
          <a:xfrm>
            <a:off x="566928" y="2148840"/>
            <a:ext cx="5532120" cy="4114800"/>
          </a:xfrm>
          <a:prstGeom prst="roundRect">
            <a:avLst>
              <a:gd name="adj" fmla="val 2000"/>
            </a:avLst>
          </a:prstGeom>
          <a:solidFill>
            <a:srgbClr val="0D0D26">
              <a:alpha val="55000"/>
            </a:srgbClr>
          </a:solidFill>
          <a:ln w="9525">
            <a:solidFill>
              <a:srgbClr val="31316A">
                <a:alpha val="75000"/>
              </a:srgbClr>
            </a:solidFill>
            <a:prstDash val="solid"/>
          </a:ln>
        </p:spPr>
      </p:sp>
      <p:sp>
        <p:nvSpPr>
          <p:cNvPr id="7" name="Text 4"/>
          <p:cNvSpPr/>
          <p:nvPr/>
        </p:nvSpPr>
        <p:spPr>
          <a:xfrm>
            <a:off x="886968" y="2423160"/>
            <a:ext cx="4892040" cy="292608"/>
          </a:xfrm>
          <a:prstGeom prst="rect">
            <a:avLst/>
          </a:prstGeom>
          <a:noFill/>
          <a:ln/>
        </p:spPr>
        <p:txBody>
          <a:bodyPr wrap="square" lIns="0" tIns="0" rIns="0" bIns="0" rtlCol="0" anchor="ctr"/>
          <a:lstStyle/>
          <a:p>
            <a:pPr indent="0" marL="0">
              <a:buNone/>
            </a:pPr>
            <a:r>
              <a:rPr lang="en-US" sz="1300" b="1" spc="100" kern="0" dirty="0">
                <a:solidFill>
                  <a:srgbClr val="43D5FF"/>
                </a:solidFill>
                <a:latin typeface="Arial" pitchFamily="34" charset="0"/>
                <a:ea typeface="Arial" pitchFamily="34" charset="-122"/>
                <a:cs typeface="Arial" pitchFamily="34" charset="-120"/>
              </a:rPr>
              <a:t>THINKFISH FUNDRAISING  ·  DONE-FOR-YOU</a:t>
            </a:r>
            <a:endParaRPr lang="en-US" sz="1300" dirty="0"/>
          </a:p>
        </p:txBody>
      </p:sp>
      <p:sp>
        <p:nvSpPr>
          <p:cNvPr id="8" name="Text 5"/>
          <p:cNvSpPr/>
          <p:nvPr/>
        </p:nvSpPr>
        <p:spPr>
          <a:xfrm>
            <a:off x="886968" y="2770632"/>
            <a:ext cx="4892040" cy="731520"/>
          </a:xfrm>
          <a:prstGeom prst="rect">
            <a:avLst/>
          </a:prstGeom>
          <a:noFill/>
          <a:ln/>
        </p:spPr>
        <p:txBody>
          <a:bodyPr wrap="square" lIns="0" tIns="0" rIns="0" bIns="0" rtlCol="0" anchor="ctr"/>
          <a:lstStyle/>
          <a:p>
            <a:pPr indent="0" marL="0">
              <a:buNone/>
            </a:pPr>
            <a:r>
              <a:rPr lang="en-US" sz="4000" b="1" dirty="0">
                <a:solidFill>
                  <a:srgbClr val="FFFFFF"/>
                </a:solidFill>
                <a:latin typeface="Arial" pitchFamily="34" charset="0"/>
                <a:ea typeface="Arial" pitchFamily="34" charset="-122"/>
                <a:cs typeface="Arial" pitchFamily="34" charset="-120"/>
              </a:rPr>
              <a:t>$3,000</a:t>
            </a:r>
            <a:r>
              <a:rPr lang="en-US" sz="1400" dirty="0">
                <a:solidFill>
                  <a:srgbClr val="B9BEDC"/>
                </a:solidFill>
                <a:latin typeface="Arial" pitchFamily="34" charset="0"/>
                <a:ea typeface="Arial" pitchFamily="34" charset="-122"/>
                <a:cs typeface="Arial" pitchFamily="34" charset="-120"/>
              </a:rPr>
              <a:t xml:space="preserve">  / month, 3 profiles</a:t>
            </a:r>
          </a:p>
        </p:txBody>
      </p:sp>
      <p:sp>
        <p:nvSpPr>
          <p:cNvPr id="9" name="Text 6"/>
          <p:cNvSpPr/>
          <p:nvPr/>
        </p:nvSpPr>
        <p:spPr>
          <a:xfrm>
            <a:off x="886968" y="3520440"/>
            <a:ext cx="4892040" cy="320040"/>
          </a:xfrm>
          <a:prstGeom prst="rect">
            <a:avLst/>
          </a:prstGeom>
          <a:noFill/>
          <a:ln/>
        </p:spPr>
        <p:txBody>
          <a:bodyPr wrap="square" lIns="0" tIns="0" rIns="0" bIns="0" rtlCol="0" anchor="ctr"/>
          <a:lstStyle/>
          <a:p>
            <a:pPr indent="0" marL="0">
              <a:buNone/>
            </a:pPr>
            <a:r>
              <a:rPr lang="en-US" sz="1200" i="1" dirty="0">
                <a:solidFill>
                  <a:srgbClr val="B9BEDC"/>
                </a:solidFill>
                <a:latin typeface="Arial" pitchFamily="34" charset="0"/>
                <a:ea typeface="Arial" pitchFamily="34" charset="-122"/>
                <a:cs typeface="Arial" pitchFamily="34" charset="-120"/>
              </a:rPr>
              <a:t>4-month term  ·  Signed by Oct 31  ·  List price $4,000</a:t>
            </a:r>
            <a:endParaRPr lang="en-US" sz="1200" dirty="0"/>
          </a:p>
        </p:txBody>
      </p:sp>
      <p:sp>
        <p:nvSpPr>
          <p:cNvPr id="10" name="Text 7"/>
          <p:cNvSpPr/>
          <p:nvPr/>
        </p:nvSpPr>
        <p:spPr>
          <a:xfrm>
            <a:off x="886968" y="3977640"/>
            <a:ext cx="4892040" cy="2057400"/>
          </a:xfrm>
          <a:prstGeom prst="rect">
            <a:avLst/>
          </a:prstGeom>
          <a:noFill/>
          <a:ln/>
        </p:spPr>
        <p:txBody>
          <a:bodyPr wrap="square" lIns="0" tIns="0" rIns="0" bIns="0" rtlCol="0" anchor="t"/>
          <a:lstStyle/>
          <a:p>
            <a:pPr marL="127000" indent="-127000">
              <a:lnSpc>
                <a:spcPct val="112000"/>
              </a:lnSpc>
              <a:spcAft>
                <a:spcPts val="800"/>
              </a:spcAft>
              <a:buSzPct val="100000"/>
              <a:buChar char="•"/>
            </a:pPr>
            <a:r>
              <a:rPr lang="en-US" sz="1250" dirty="0">
                <a:solidFill>
                  <a:srgbClr val="FFFFFF"/>
                </a:solidFill>
                <a:latin typeface="Arial" pitchFamily="34" charset="0"/>
                <a:ea typeface="Arial" pitchFamily="34" charset="-122"/>
                <a:cs typeface="Arial" pitchFamily="34" charset="-120"/>
              </a:rPr>
              <a:t>Three LinkedIn profiles (Ted, Jesse, Hector), fully managed</a:t>
            </a:r>
            <a:endParaRPr lang="en-US" sz="1250" dirty="0"/>
          </a:p>
          <a:p>
            <a:pPr marL="127000" indent="-127000">
              <a:lnSpc>
                <a:spcPct val="112000"/>
              </a:lnSpc>
              <a:spcAft>
                <a:spcPts val="800"/>
              </a:spcAft>
              <a:buSzPct val="100000"/>
              <a:buChar char="•"/>
            </a:pPr>
            <a:r>
              <a:rPr lang="en-US" sz="1250" dirty="0">
                <a:solidFill>
                  <a:srgbClr val="FFFFFF"/>
                </a:solidFill>
                <a:latin typeface="Arial" pitchFamily="34" charset="0"/>
                <a:ea typeface="Arial" pitchFamily="34" charset="-122"/>
                <a:cs typeface="Arial" pitchFamily="34" charset="-120"/>
              </a:rPr>
              <a:t>Full campaign execution for the fund raise, end to end</a:t>
            </a:r>
            <a:endParaRPr lang="en-US" sz="1250" dirty="0"/>
          </a:p>
          <a:p>
            <a:pPr marL="127000" indent="-127000">
              <a:lnSpc>
                <a:spcPct val="112000"/>
              </a:lnSpc>
              <a:spcAft>
                <a:spcPts val="800"/>
              </a:spcAft>
              <a:buSzPct val="100000"/>
              <a:buChar char="•"/>
            </a:pPr>
            <a:r>
              <a:rPr lang="en-US" sz="1250" dirty="0">
                <a:solidFill>
                  <a:srgbClr val="FFFFFF"/>
                </a:solidFill>
                <a:latin typeface="Arial" pitchFamily="34" charset="0"/>
                <a:ea typeface="Arial" pitchFamily="34" charset="-122"/>
                <a:cs typeface="Arial" pitchFamily="34" charset="-120"/>
              </a:rPr>
              <a:t>Outreach, inbox management &amp; follow-ups, in your voice</a:t>
            </a:r>
            <a:endParaRPr lang="en-US" sz="1250" dirty="0"/>
          </a:p>
          <a:p>
            <a:pPr marL="127000" indent="-127000">
              <a:lnSpc>
                <a:spcPct val="112000"/>
              </a:lnSpc>
              <a:spcAft>
                <a:spcPts val="800"/>
              </a:spcAft>
              <a:buSzPct val="100000"/>
              <a:buChar char="•"/>
            </a:pPr>
            <a:r>
              <a:rPr lang="en-US" sz="1250" dirty="0">
                <a:solidFill>
                  <a:srgbClr val="FFFFFF"/>
                </a:solidFill>
                <a:latin typeface="Arial" pitchFamily="34" charset="0"/>
                <a:ea typeface="Arial" pitchFamily="34" charset="-122"/>
                <a:cs typeface="Arial" pitchFamily="34" charset="-120"/>
              </a:rPr>
              <a:t>Lead qualification, pre-call briefings &amp; scheduling</a:t>
            </a:r>
            <a:endParaRPr lang="en-US" sz="1250" dirty="0"/>
          </a:p>
          <a:p>
            <a:pPr marL="127000" indent="-127000">
              <a:lnSpc>
                <a:spcPct val="112000"/>
              </a:lnSpc>
              <a:spcAft>
                <a:spcPts val="800"/>
              </a:spcAft>
              <a:buSzPct val="100000"/>
              <a:buChar char="•"/>
            </a:pPr>
            <a:r>
              <a:rPr lang="en-US" sz="1250" dirty="0">
                <a:solidFill>
                  <a:srgbClr val="FFFFFF"/>
                </a:solidFill>
                <a:latin typeface="Arial" pitchFamily="34" charset="0"/>
                <a:ea typeface="Arial" pitchFamily="34" charset="-122"/>
                <a:cs typeface="Arial" pitchFamily="34" charset="-120"/>
              </a:rPr>
              <a:t>The Reef retargeting &amp; Startup Deal Desk feature</a:t>
            </a:r>
            <a:endParaRPr lang="en-US" sz="1250" dirty="0"/>
          </a:p>
          <a:p>
            <a:pPr marL="127000" indent="-127000">
              <a:lnSpc>
                <a:spcPct val="112000"/>
              </a:lnSpc>
              <a:spcAft>
                <a:spcPts val="800"/>
              </a:spcAft>
              <a:buSzPct val="100000"/>
              <a:buChar char="•"/>
            </a:pPr>
            <a:r>
              <a:rPr lang="en-US" sz="1250" dirty="0">
                <a:solidFill>
                  <a:srgbClr val="FFFFFF"/>
                </a:solidFill>
                <a:latin typeface="Arial" pitchFamily="34" charset="0"/>
                <a:ea typeface="Arial" pitchFamily="34" charset="-122"/>
                <a:cs typeface="Arial" pitchFamily="34" charset="-120"/>
              </a:rPr>
              <a:t>Profile optimization, pitch, deck &amp; data-room guidance</a:t>
            </a:r>
            <a:endParaRPr lang="en-US" sz="1250" dirty="0"/>
          </a:p>
          <a:p>
            <a:pPr marL="127000" indent="-127000">
              <a:lnSpc>
                <a:spcPct val="112000"/>
              </a:lnSpc>
              <a:spcAft>
                <a:spcPts val="800"/>
              </a:spcAft>
              <a:buSzPct val="100000"/>
              <a:buChar char="•"/>
            </a:pPr>
            <a:r>
              <a:rPr lang="en-US" sz="1250" dirty="0">
                <a:solidFill>
                  <a:srgbClr val="FFFFFF"/>
                </a:solidFill>
                <a:latin typeface="Arial" pitchFamily="34" charset="0"/>
                <a:ea typeface="Arial" pitchFamily="34" charset="-122"/>
                <a:cs typeface="Arial" pitchFamily="34" charset="-120"/>
              </a:rPr>
              <a:t>CRM, weekly reporting, A/B testing &amp; optimization</a:t>
            </a:r>
            <a:endParaRPr lang="en-US" sz="1250" dirty="0"/>
          </a:p>
        </p:txBody>
      </p:sp>
      <p:sp>
        <p:nvSpPr>
          <p:cNvPr id="359" name="Shape 30"/>
          <p:cNvSpPr/>
          <p:nvPr/>
        </p:nvSpPr>
        <p:spPr>
          <a:xfrm>
            <a:off x="6373368" y="2148840"/>
            <a:ext cx="5532120" cy="4114800"/>
          </a:xfrm>
          <a:prstGeom prst="roundRect">
            <a:avLst>
              <a:gd name="adj" fmla="val 2000"/>
            </a:avLst>
          </a:prstGeom>
          <a:solidFill>
            <a:srgbClr val="0D0D26">
              <a:alpha val="55000"/>
            </a:srgbClr>
          </a:solidFill>
          <a:ln w="9525">
            <a:solidFill>
              <a:srgbClr val="31316A">
                <a:alpha val="75000"/>
              </a:srgbClr>
            </a:solidFill>
            <a:prstDash val="solid"/>
          </a:ln>
        </p:spPr>
      </p:sp>
      <p:sp>
        <p:nvSpPr>
          <p:cNvPr id="360" name="Text 31"/>
          <p:cNvSpPr/>
          <p:nvPr/>
        </p:nvSpPr>
        <p:spPr>
          <a:xfrm>
            <a:off x="6693408" y="2423160"/>
            <a:ext cx="4892040" cy="292608"/>
          </a:xfrm>
          <a:prstGeom prst="rect">
            <a:avLst/>
          </a:prstGeom>
          <a:noFill/>
          <a:ln/>
        </p:spPr>
        <p:txBody>
          <a:bodyPr wrap="square" lIns="0" tIns="0" rIns="0" bIns="0" rtlCol="0" anchor="ctr"/>
          <a:lstStyle/>
          <a:p>
            <a:pPr indent="0" marL="0">
              <a:buNone/>
            </a:pPr>
            <a:r>
              <a:rPr lang="en-US" sz="1300" b="1" spc="100" kern="0" dirty="0">
                <a:solidFill>
                  <a:srgbClr val="43D5FF"/>
                </a:solidFill>
                <a:latin typeface="Arial" pitchFamily="34" charset="0"/>
                <a:ea typeface="Arial" pitchFamily="34" charset="-122"/>
                <a:cs typeface="Arial" pitchFamily="34" charset="-120"/>
              </a:rPr>
              <a:t>WHAT THAT BUYS</a:t>
            </a:r>
            <a:endParaRPr lang="en-US" sz="1300" dirty="0"/>
          </a:p>
        </p:txBody>
      </p:sp>
      <p:sp>
        <p:nvSpPr>
          <p:cNvPr id="361" name="Text 32"/>
          <p:cNvSpPr/>
          <p:nvPr/>
        </p:nvSpPr>
        <p:spPr>
          <a:xfrm>
            <a:off x="6693408" y="2834640"/>
            <a:ext cx="4892040" cy="3291840"/>
          </a:xfrm>
          <a:prstGeom prst="rect">
            <a:avLst/>
          </a:prstGeom>
          <a:noFill/>
          <a:ln/>
        </p:spPr>
        <p:txBody>
          <a:bodyPr wrap="square" lIns="0" tIns="0" rIns="0" bIns="0" rtlCol="0" anchor="t"/>
          <a:lstStyle/>
          <a:p>
            <a:pPr marL="127000" indent="-127000">
              <a:lnSpc>
                <a:spcPct val="112000"/>
              </a:lnSpc>
              <a:spcAft>
                <a:spcPts val="1000"/>
              </a:spcAft>
              <a:buSzPct val="100000"/>
              <a:buChar char="•"/>
            </a:pPr>
            <a:r>
              <a:rPr lang="en-US" sz="1150" dirty="0">
                <a:solidFill>
                  <a:srgbClr val="FFFFFF"/>
                </a:solidFill>
                <a:latin typeface="Arial" pitchFamily="34" charset="0"/>
                <a:ea typeface="Arial" pitchFamily="34" charset="-122"/>
                <a:cs typeface="Arial" pitchFamily="34" charset="-120"/>
              </a:rPr>
              <a:t>Three profiles for the price of two: $3,000 instead of $4,000, signed by October 31</a:t>
            </a:r>
            <a:endParaRPr lang="en-US" sz="1150" dirty="0"/>
          </a:p>
          <a:p>
            <a:pPr marL="127000" indent="-127000">
              <a:lnSpc>
                <a:spcPct val="112000"/>
              </a:lnSpc>
              <a:spcAft>
                <a:spcPts val="1000"/>
              </a:spcAft>
              <a:buSzPct val="100000"/>
              <a:buChar char="•"/>
            </a:pPr>
            <a:r>
              <a:rPr lang="en-US" sz="1150" dirty="0">
                <a:solidFill>
                  <a:srgbClr val="FFFFFF"/>
                </a:solidFill>
                <a:latin typeface="Arial" pitchFamily="34" charset="0"/>
                <a:ea typeface="Arial" pitchFamily="34" charset="-122"/>
                <a:cs typeface="Arial" pitchFamily="34" charset="-120"/>
              </a:rPr>
              <a:t>Ted and Jesse back on deals and realtors while we do the lift of finding and booking investors</a:t>
            </a:r>
            <a:endParaRPr lang="en-US" sz="1150" dirty="0"/>
          </a:p>
          <a:p>
            <a:pPr marL="127000" indent="-127000">
              <a:lnSpc>
                <a:spcPct val="112000"/>
              </a:lnSpc>
              <a:spcAft>
                <a:spcPts val="1000"/>
              </a:spcAft>
              <a:buSzPct val="100000"/>
              <a:buChar char="•"/>
            </a:pPr>
            <a:r>
              <a:rPr lang="en-US" sz="1150" dirty="0">
                <a:solidFill>
                  <a:srgbClr val="FFFFFF"/>
                </a:solidFill>
                <a:latin typeface="Arial" pitchFamily="34" charset="0"/>
                <a:ea typeface="Arial" pitchFamily="34" charset="-122"/>
                <a:cs typeface="Arial" pitchFamily="34" charset="-120"/>
              </a:rPr>
              <a:t>A process you can show your banks: structured, documented, repeatable, not founder-dependent</a:t>
            </a:r>
            <a:endParaRPr lang="en-US" sz="1150" dirty="0"/>
          </a:p>
          <a:p>
            <a:pPr marL="127000" indent="-127000">
              <a:lnSpc>
                <a:spcPct val="112000"/>
              </a:lnSpc>
              <a:spcAft>
                <a:spcPts val="1000"/>
              </a:spcAft>
              <a:buSzPct val="100000"/>
              <a:buChar char="•"/>
            </a:pPr>
            <a:r>
              <a:rPr lang="en-US" sz="1150" dirty="0">
                <a:solidFill>
                  <a:srgbClr val="FFFFFF"/>
                </a:solidFill>
                <a:latin typeface="Arial" pitchFamily="34" charset="0"/>
                <a:ea typeface="Arial" pitchFamily="34" charset="-122"/>
                <a:cs typeface="Arial" pitchFamily="34" charset="-120"/>
              </a:rPr>
              <a:t>Feedback from investors who write checks: a pitch run-through with our CEO, a family-office real estate investor</a:t>
            </a:r>
            <a:endParaRPr lang="en-US" sz="1150" dirty="0"/>
          </a:p>
          <a:p>
            <a:pPr marL="127000" indent="-127000">
              <a:lnSpc>
                <a:spcPct val="112000"/>
              </a:lnSpc>
              <a:spcAft>
                <a:spcPts val="1000"/>
              </a:spcAft>
              <a:buSzPct val="100000"/>
              <a:buChar char="•"/>
            </a:pPr>
            <a:r>
              <a:rPr lang="en-US" sz="1150" dirty="0">
                <a:solidFill>
                  <a:srgbClr val="FFFFFF"/>
                </a:solidFill>
                <a:latin typeface="Arial" pitchFamily="34" charset="0"/>
                <a:ea typeface="Arial" pitchFamily="34" charset="-122"/>
                <a:cs typeface="Arial" pitchFamily="34" charset="-120"/>
              </a:rPr>
              <a:t>Flat fee, no commission: opening your 1st-degree network later costs nothing extra</a:t>
            </a:r>
            <a:endParaRPr lang="en-US" sz="115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pic>
        <p:nvPicPr>
          <p:cNvPr id="2" name="Image 0" descr="/home/claude/brand/clean/logo_header.png">    </p:cNvPr>
          <p:cNvPicPr>
            <a:picLocks noChangeAspect="1"/>
          </p:cNvPicPr>
          <p:nvPr/>
        </p:nvPicPr>
        <p:blipFill>
          <a:blip r:embed="rId2"/>
          <a:stretch>
            <a:fillRect/>
          </a:stretch>
        </p:blipFill>
        <p:spPr>
          <a:xfrm>
            <a:off x="411480" y="164592"/>
            <a:ext cx="850392" cy="530352"/>
          </a:xfrm>
          <a:prstGeom prst="rect">
            <a:avLst/>
          </a:prstGeom>
        </p:spPr>
      </p:pic>
      <p:sp>
        <p:nvSpPr>
          <p:cNvPr id="3" name="Text 0"/>
          <p:cNvSpPr/>
          <p:nvPr/>
        </p:nvSpPr>
        <p:spPr>
          <a:xfrm>
            <a:off x="1417320" y="201168"/>
            <a:ext cx="4114800" cy="457200"/>
          </a:xfrm>
          <a:prstGeom prst="rect">
            <a:avLst/>
          </a:prstGeom>
          <a:noFill/>
          <a:ln/>
        </p:spPr>
        <p:txBody>
          <a:bodyPr wrap="square" lIns="0" tIns="0" rIns="0" bIns="0" rtlCol="0" anchor="ctr"/>
          <a:lstStyle/>
          <a:p>
            <a:pPr indent="0" marL="0">
              <a:buNone/>
            </a:pPr>
            <a:r>
              <a:rPr lang="en-US" sz="1300" spc="200" kern="0" dirty="0">
                <a:solidFill>
                  <a:srgbClr val="FFFFFF"/>
                </a:solidFill>
                <a:latin typeface="Arial" pitchFamily="34" charset="0"/>
                <a:ea typeface="Arial" pitchFamily="34" charset="-122"/>
                <a:cs typeface="Arial" pitchFamily="34" charset="-120"/>
              </a:rPr>
              <a:t>THINKFISH LLC 2026</a:t>
            </a:r>
            <a:endParaRPr lang="en-US" sz="1300" dirty="0"/>
          </a:p>
        </p:txBody>
      </p:sp>
      <p:sp>
        <p:nvSpPr>
          <p:cNvPr id="4" name="Text 1"/>
          <p:cNvSpPr/>
          <p:nvPr/>
        </p:nvSpPr>
        <p:spPr>
          <a:xfrm>
            <a:off x="566928" y="868680"/>
            <a:ext cx="11155680" cy="777240"/>
          </a:xfrm>
          <a:prstGeom prst="rect">
            <a:avLst/>
          </a:prstGeom>
          <a:noFill/>
          <a:ln/>
        </p:spPr>
        <p:txBody>
          <a:bodyPr wrap="square" lIns="0" tIns="0" rIns="0" bIns="0" rtlCol="0" anchor="ctr"/>
          <a:lstStyle/>
          <a:p>
            <a:pPr indent="0" marL="0">
              <a:buNone/>
            </a:pPr>
            <a:r>
              <a:rPr lang="en-US" sz="3800" b="1" dirty="0">
                <a:solidFill>
                  <a:srgbClr val="FFFFFF"/>
                </a:solidFill>
                <a:latin typeface="Arial" pitchFamily="34" charset="0"/>
                <a:ea typeface="Arial" pitchFamily="34" charset="-122"/>
                <a:cs typeface="Arial" pitchFamily="34" charset="-120"/>
              </a:rPr>
              <a:t>What We Are, and What We’re Not</a:t>
            </a:r>
            <a:endParaRPr lang="en-US" sz="3800" dirty="0"/>
          </a:p>
        </p:txBody>
      </p:sp>
      <p:sp>
        <p:nvSpPr>
          <p:cNvPr id="5" name="Text 2"/>
          <p:cNvSpPr/>
          <p:nvPr/>
        </p:nvSpPr>
        <p:spPr>
          <a:xfrm>
            <a:off x="594360" y="1481328"/>
            <a:ext cx="11155680" cy="320040"/>
          </a:xfrm>
          <a:prstGeom prst="rect">
            <a:avLst/>
          </a:prstGeom>
          <a:noFill/>
          <a:ln/>
        </p:spPr>
        <p:txBody>
          <a:bodyPr wrap="square" lIns="0" tIns="0" rIns="0" bIns="0" rtlCol="0" anchor="ctr"/>
          <a:lstStyle/>
          <a:p>
            <a:pPr indent="0" marL="0">
              <a:buNone/>
            </a:pPr>
            <a:r>
              <a:rPr lang="en-US" sz="1400" b="1" spc="100" kern="0" dirty="0">
                <a:solidFill>
                  <a:srgbClr val="43D5FF"/>
                </a:solidFill>
                <a:latin typeface="Arial" pitchFamily="34" charset="0"/>
                <a:ea typeface="Arial" pitchFamily="34" charset="-122"/>
                <a:cs typeface="Arial" pitchFamily="34" charset="-120"/>
              </a:rPr>
              <a:t>THE COMPLIANCE QUESTION, ANSWERED UP FRONT</a:t>
            </a:r>
            <a:endParaRPr lang="en-US" sz="1400" dirty="0"/>
          </a:p>
        </p:txBody>
      </p:sp>
      <p:sp>
        <p:nvSpPr>
          <p:cNvPr id="6" name="Shape 3"/>
          <p:cNvSpPr/>
          <p:nvPr/>
        </p:nvSpPr>
        <p:spPr>
          <a:xfrm>
            <a:off x="566928" y="2240280"/>
            <a:ext cx="3593592" cy="3291840"/>
          </a:xfrm>
          <a:prstGeom prst="roundRect">
            <a:avLst>
              <a:gd name="adj" fmla="val 3529"/>
            </a:avLst>
          </a:prstGeom>
          <a:solidFill>
            <a:srgbClr val="0D0D26">
              <a:alpha val="55000"/>
            </a:srgbClr>
          </a:solidFill>
          <a:ln w="9525">
            <a:solidFill>
              <a:srgbClr val="31316A">
                <a:alpha val="75000"/>
              </a:srgbClr>
            </a:solidFill>
            <a:prstDash val="solid"/>
          </a:ln>
        </p:spPr>
      </p:sp>
      <p:sp>
        <p:nvSpPr>
          <p:cNvPr id="7" name="Text 4"/>
          <p:cNvSpPr/>
          <p:nvPr/>
        </p:nvSpPr>
        <p:spPr>
          <a:xfrm>
            <a:off x="795528" y="2468880"/>
            <a:ext cx="3136392" cy="320040"/>
          </a:xfrm>
          <a:prstGeom prst="rect">
            <a:avLst/>
          </a:prstGeom>
          <a:noFill/>
          <a:ln/>
        </p:spPr>
        <p:txBody>
          <a:bodyPr wrap="square" lIns="0" tIns="0" rIns="0" bIns="0" rtlCol="0" anchor="ctr"/>
          <a:lstStyle/>
          <a:p>
            <a:pPr indent="0" marL="0">
              <a:buNone/>
            </a:pPr>
            <a:r>
              <a:rPr lang="en-US" sz="1400" b="1" spc="100" kern="0" dirty="0">
                <a:solidFill>
                  <a:srgbClr val="43D5FF"/>
                </a:solidFill>
                <a:latin typeface="Arial" pitchFamily="34" charset="0"/>
                <a:ea typeface="Arial" pitchFamily="34" charset="-122"/>
                <a:cs typeface="Arial" pitchFamily="34" charset="-120"/>
              </a:rPr>
              <a:t>WHAT WE ARE</a:t>
            </a:r>
            <a:endParaRPr lang="en-US" sz="1400" dirty="0"/>
          </a:p>
        </p:txBody>
      </p:sp>
      <p:sp>
        <p:nvSpPr>
          <p:cNvPr id="8" name="Text 5"/>
          <p:cNvSpPr/>
          <p:nvPr/>
        </p:nvSpPr>
        <p:spPr>
          <a:xfrm>
            <a:off x="795528" y="2880360"/>
            <a:ext cx="3136392" cy="2514600"/>
          </a:xfrm>
          <a:prstGeom prst="rect">
            <a:avLst/>
          </a:prstGeom>
          <a:noFill/>
          <a:ln/>
        </p:spPr>
        <p:txBody>
          <a:bodyPr wrap="square" lIns="0" tIns="0" rIns="0" bIns="0" rtlCol="0" anchor="t"/>
          <a:lstStyle/>
          <a:p>
            <a:pPr indent="0" marL="0">
              <a:lnSpc>
                <a:spcPct val="115000"/>
              </a:lnSpc>
              <a:buNone/>
            </a:pPr>
            <a:r>
              <a:rPr lang="en-US" sz="1200" dirty="0">
                <a:solidFill>
                  <a:srgbClr val="FFFFFF"/>
                </a:solidFill>
                <a:latin typeface="Arial" pitchFamily="34" charset="0"/>
                <a:ea typeface="Arial" pitchFamily="34" charset="-122"/>
                <a:cs typeface="Arial" pitchFamily="34" charset="-120"/>
              </a:rPr>
              <a:t>A digital media and investor-relations firm. We build and run LinkedIn outreach in your name, qualify the responses, and put pre-vetted investor conversations on your calendar. Flat monthly fee, nothing else.</a:t>
            </a:r>
            <a:endParaRPr lang="en-US" sz="1200" dirty="0"/>
          </a:p>
        </p:txBody>
      </p:sp>
      <p:sp>
        <p:nvSpPr>
          <p:cNvPr id="9" name="Shape 6"/>
          <p:cNvSpPr/>
          <p:nvPr/>
        </p:nvSpPr>
        <p:spPr>
          <a:xfrm>
            <a:off x="4434840" y="2240280"/>
            <a:ext cx="3593592" cy="3291840"/>
          </a:xfrm>
          <a:prstGeom prst="roundRect">
            <a:avLst>
              <a:gd name="adj" fmla="val 3529"/>
            </a:avLst>
          </a:prstGeom>
          <a:solidFill>
            <a:srgbClr val="0D0D26">
              <a:alpha val="55000"/>
            </a:srgbClr>
          </a:solidFill>
          <a:ln w="9525">
            <a:solidFill>
              <a:srgbClr val="31316A">
                <a:alpha val="75000"/>
              </a:srgbClr>
            </a:solidFill>
            <a:prstDash val="solid"/>
          </a:ln>
        </p:spPr>
      </p:sp>
      <p:sp>
        <p:nvSpPr>
          <p:cNvPr id="10" name="Text 7"/>
          <p:cNvSpPr/>
          <p:nvPr/>
        </p:nvSpPr>
        <p:spPr>
          <a:xfrm>
            <a:off x="4663440" y="2468880"/>
            <a:ext cx="3136392" cy="320040"/>
          </a:xfrm>
          <a:prstGeom prst="rect">
            <a:avLst/>
          </a:prstGeom>
          <a:noFill/>
          <a:ln/>
        </p:spPr>
        <p:txBody>
          <a:bodyPr wrap="square" lIns="0" tIns="0" rIns="0" bIns="0" rtlCol="0" anchor="ctr"/>
          <a:lstStyle/>
          <a:p>
            <a:pPr indent="0" marL="0">
              <a:buNone/>
            </a:pPr>
            <a:r>
              <a:rPr lang="en-US" sz="1400" b="1" spc="100" kern="0" dirty="0">
                <a:solidFill>
                  <a:srgbClr val="43D5FF"/>
                </a:solidFill>
                <a:latin typeface="Arial" pitchFamily="34" charset="0"/>
                <a:ea typeface="Arial" pitchFamily="34" charset="-122"/>
                <a:cs typeface="Arial" pitchFamily="34" charset="-120"/>
              </a:rPr>
              <a:t>WHAT WE ARE NOT</a:t>
            </a:r>
            <a:endParaRPr lang="en-US" sz="1400" dirty="0"/>
          </a:p>
        </p:txBody>
      </p:sp>
      <p:sp>
        <p:nvSpPr>
          <p:cNvPr id="11" name="Text 8"/>
          <p:cNvSpPr/>
          <p:nvPr/>
        </p:nvSpPr>
        <p:spPr>
          <a:xfrm>
            <a:off x="4663440" y="2880360"/>
            <a:ext cx="3136392" cy="2514600"/>
          </a:xfrm>
          <a:prstGeom prst="rect">
            <a:avLst/>
          </a:prstGeom>
          <a:noFill/>
          <a:ln/>
        </p:spPr>
        <p:txBody>
          <a:bodyPr wrap="square" lIns="0" tIns="0" rIns="0" bIns="0" rtlCol="0" anchor="t"/>
          <a:lstStyle/>
          <a:p>
            <a:pPr indent="0" marL="0">
              <a:lnSpc>
                <a:spcPct val="115000"/>
              </a:lnSpc>
              <a:buNone/>
            </a:pPr>
            <a:r>
              <a:rPr lang="en-US" sz="1200" dirty="0">
                <a:solidFill>
                  <a:srgbClr val="FFFFFF"/>
                </a:solidFill>
                <a:latin typeface="Arial" pitchFamily="34" charset="0"/>
                <a:ea typeface="Arial" pitchFamily="34" charset="-122"/>
                <a:cs typeface="Arial" pitchFamily="34" charset="-120"/>
              </a:rPr>
              <a:t>Not a broker-dealer, placement agent or finder. We don’t negotiate terms, don’t take a success fee or commission, don’t touch the transaction, and don’t raise the capital. You run the conversation and you close.</a:t>
            </a:r>
            <a:endParaRPr lang="en-US" sz="1200" dirty="0"/>
          </a:p>
        </p:txBody>
      </p:sp>
      <p:sp>
        <p:nvSpPr>
          <p:cNvPr id="12" name="Shape 9"/>
          <p:cNvSpPr/>
          <p:nvPr/>
        </p:nvSpPr>
        <p:spPr>
          <a:xfrm>
            <a:off x="8302752" y="2240280"/>
            <a:ext cx="3593592" cy="3291840"/>
          </a:xfrm>
          <a:prstGeom prst="roundRect">
            <a:avLst>
              <a:gd name="adj" fmla="val 3529"/>
            </a:avLst>
          </a:prstGeom>
          <a:solidFill>
            <a:srgbClr val="0D0D26">
              <a:alpha val="55000"/>
            </a:srgbClr>
          </a:solidFill>
          <a:ln w="9525">
            <a:solidFill>
              <a:srgbClr val="31316A">
                <a:alpha val="75000"/>
              </a:srgbClr>
            </a:solidFill>
            <a:prstDash val="solid"/>
          </a:ln>
        </p:spPr>
      </p:sp>
      <p:sp>
        <p:nvSpPr>
          <p:cNvPr id="13" name="Text 10"/>
          <p:cNvSpPr/>
          <p:nvPr/>
        </p:nvSpPr>
        <p:spPr>
          <a:xfrm>
            <a:off x="8531352" y="2468880"/>
            <a:ext cx="3136392" cy="320040"/>
          </a:xfrm>
          <a:prstGeom prst="rect">
            <a:avLst/>
          </a:prstGeom>
          <a:noFill/>
          <a:ln/>
        </p:spPr>
        <p:txBody>
          <a:bodyPr wrap="square" lIns="0" tIns="0" rIns="0" bIns="0" rtlCol="0" anchor="ctr"/>
          <a:lstStyle/>
          <a:p>
            <a:pPr indent="0" marL="0">
              <a:buNone/>
            </a:pPr>
            <a:r>
              <a:rPr lang="en-US" sz="1400" b="1" spc="100" kern="0" dirty="0">
                <a:solidFill>
                  <a:srgbClr val="43D5FF"/>
                </a:solidFill>
                <a:latin typeface="Arial" pitchFamily="34" charset="0"/>
                <a:ea typeface="Arial" pitchFamily="34" charset="-122"/>
                <a:cs typeface="Arial" pitchFamily="34" charset="-120"/>
              </a:rPr>
              <a:t>STAYING COMPLIANT</a:t>
            </a:r>
            <a:endParaRPr lang="en-US" sz="1400" dirty="0"/>
          </a:p>
        </p:txBody>
      </p:sp>
      <p:sp>
        <p:nvSpPr>
          <p:cNvPr id="14" name="Text 11"/>
          <p:cNvSpPr/>
          <p:nvPr/>
        </p:nvSpPr>
        <p:spPr>
          <a:xfrm>
            <a:off x="8531352" y="2880360"/>
            <a:ext cx="3136392" cy="2514600"/>
          </a:xfrm>
          <a:prstGeom prst="rect">
            <a:avLst/>
          </a:prstGeom>
          <a:noFill/>
          <a:ln/>
        </p:spPr>
        <p:txBody>
          <a:bodyPr wrap="square" lIns="0" tIns="0" rIns="0" bIns="0" rtlCol="0" anchor="t"/>
          <a:lstStyle/>
          <a:p>
            <a:pPr indent="0" marL="0">
              <a:lnSpc>
                <a:spcPct val="115000"/>
              </a:lnSpc>
              <a:buNone/>
            </a:pPr>
            <a:r>
              <a:rPr lang="en-US" sz="1200" dirty="0">
                <a:solidFill>
                  <a:srgbClr val="FFFFFF"/>
                </a:solidFill>
                <a:latin typeface="Arial" pitchFamily="34" charset="0"/>
                <a:ea typeface="Arial" pitchFamily="34" charset="-122"/>
                <a:cs typeface="Arial" pitchFamily="34" charset="-120"/>
              </a:rPr>
              <a:t>Early messages are relationship-first and high-level: no deal terms, no structure, no forecasts. Collateral only once interest is real, and you are the first to share a full deck. Every script is approved by you before it goes out.</a:t>
            </a:r>
            <a:endParaRPr lang="en-US" sz="12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pic>
        <p:nvPicPr>
          <p:cNvPr id="2" name="Image 0" descr="/home/claude/brand/clean/logo_header.png">    </p:cNvPr>
          <p:cNvPicPr>
            <a:picLocks noChangeAspect="1"/>
          </p:cNvPicPr>
          <p:nvPr/>
        </p:nvPicPr>
        <p:blipFill>
          <a:blip r:embed="rId2"/>
          <a:stretch>
            <a:fillRect/>
          </a:stretch>
        </p:blipFill>
        <p:spPr>
          <a:xfrm>
            <a:off x="411480" y="164592"/>
            <a:ext cx="850392" cy="530352"/>
          </a:xfrm>
          <a:prstGeom prst="rect">
            <a:avLst/>
          </a:prstGeom>
        </p:spPr>
      </p:pic>
      <p:sp>
        <p:nvSpPr>
          <p:cNvPr id="3" name="Text 0"/>
          <p:cNvSpPr/>
          <p:nvPr/>
        </p:nvSpPr>
        <p:spPr>
          <a:xfrm>
            <a:off x="1417320" y="201168"/>
            <a:ext cx="4114800" cy="457200"/>
          </a:xfrm>
          <a:prstGeom prst="rect">
            <a:avLst/>
          </a:prstGeom>
          <a:noFill/>
          <a:ln/>
        </p:spPr>
        <p:txBody>
          <a:bodyPr wrap="square" lIns="0" tIns="0" rIns="0" bIns="0" rtlCol="0" anchor="ctr"/>
          <a:lstStyle/>
          <a:p>
            <a:pPr indent="0" marL="0">
              <a:buNone/>
            </a:pPr>
            <a:r>
              <a:rPr lang="en-US" sz="1300" spc="200" kern="0" dirty="0">
                <a:solidFill>
                  <a:srgbClr val="FFFFFF"/>
                </a:solidFill>
                <a:latin typeface="Arial" pitchFamily="34" charset="0"/>
                <a:ea typeface="Arial" pitchFamily="34" charset="-122"/>
                <a:cs typeface="Arial" pitchFamily="34" charset="-120"/>
              </a:rPr>
              <a:t>THINKFISH LLC 2026</a:t>
            </a:r>
            <a:endParaRPr lang="en-US" sz="1300" dirty="0"/>
          </a:p>
        </p:txBody>
      </p:sp>
      <p:sp>
        <p:nvSpPr>
          <p:cNvPr id="4" name="Text 1"/>
          <p:cNvSpPr/>
          <p:nvPr/>
        </p:nvSpPr>
        <p:spPr>
          <a:xfrm>
            <a:off x="566928" y="868680"/>
            <a:ext cx="11155680" cy="777240"/>
          </a:xfrm>
          <a:prstGeom prst="rect">
            <a:avLst/>
          </a:prstGeom>
          <a:noFill/>
          <a:ln/>
        </p:spPr>
        <p:txBody>
          <a:bodyPr wrap="square" lIns="0" tIns="0" rIns="0" bIns="0" rtlCol="0" anchor="ctr"/>
          <a:lstStyle/>
          <a:p>
            <a:pPr indent="0" marL="0">
              <a:buNone/>
            </a:pPr>
            <a:r>
              <a:rPr lang="en-US" sz="3800" b="1" dirty="0">
                <a:solidFill>
                  <a:srgbClr val="FFFFFF"/>
                </a:solidFill>
                <a:latin typeface="Arial" pitchFamily="34" charset="0"/>
                <a:ea typeface="Arial" pitchFamily="34" charset="-122"/>
                <a:cs typeface="Arial" pitchFamily="34" charset="-120"/>
              </a:rPr>
              <a:t>Your Team</a:t>
            </a:r>
            <a:endParaRPr lang="en-US" sz="3800" dirty="0"/>
          </a:p>
        </p:txBody>
      </p:sp>
      <p:sp>
        <p:nvSpPr>
          <p:cNvPr id="5" name="Text 2"/>
          <p:cNvSpPr/>
          <p:nvPr/>
        </p:nvSpPr>
        <p:spPr>
          <a:xfrm>
            <a:off x="594360" y="1481328"/>
            <a:ext cx="11155680" cy="320040"/>
          </a:xfrm>
          <a:prstGeom prst="rect">
            <a:avLst/>
          </a:prstGeom>
          <a:noFill/>
          <a:ln/>
        </p:spPr>
        <p:txBody>
          <a:bodyPr wrap="square" lIns="0" tIns="0" rIns="0" bIns="0" rtlCol="0" anchor="ctr"/>
          <a:lstStyle/>
          <a:p>
            <a:pPr indent="0" marL="0">
              <a:buNone/>
            </a:pPr>
            <a:r>
              <a:rPr lang="en-US" sz="1400" b="1" spc="100" kern="0" dirty="0">
                <a:solidFill>
                  <a:srgbClr val="43D5FF"/>
                </a:solidFill>
                <a:latin typeface="Arial" pitchFamily="34" charset="0"/>
                <a:ea typeface="Arial" pitchFamily="34" charset="-122"/>
                <a:cs typeface="Arial" pitchFamily="34" charset="-120"/>
              </a:rPr>
              <a:t>WHO YOU WILL ACTUALLY BE WORKING WITH</a:t>
            </a:r>
            <a:endParaRPr lang="en-US" sz="1400" dirty="0"/>
          </a:p>
        </p:txBody>
      </p:sp>
      <p:sp>
        <p:nvSpPr>
          <p:cNvPr id="6" name="Shape 3"/>
          <p:cNvSpPr/>
          <p:nvPr/>
        </p:nvSpPr>
        <p:spPr>
          <a:xfrm>
            <a:off x="566928" y="2121408"/>
            <a:ext cx="3593592" cy="2331720"/>
          </a:xfrm>
          <a:prstGeom prst="roundRect">
            <a:avLst>
              <a:gd name="adj" fmla="val 3529"/>
            </a:avLst>
          </a:prstGeom>
          <a:solidFill>
            <a:srgbClr val="0D0D26">
              <a:alpha val="55000"/>
            </a:srgbClr>
          </a:solidFill>
          <a:ln w="9525">
            <a:solidFill>
              <a:srgbClr val="31316A">
                <a:alpha val="75000"/>
              </a:srgbClr>
            </a:solidFill>
            <a:prstDash val="solid"/>
          </a:ln>
        </p:spPr>
      </p:sp>
      <p:sp>
        <p:nvSpPr>
          <p:cNvPr id="7" name="Text 4"/>
          <p:cNvSpPr/>
          <p:nvPr/>
        </p:nvSpPr>
        <p:spPr>
          <a:xfrm>
            <a:off x="795528" y="2304288"/>
            <a:ext cx="3136392" cy="320040"/>
          </a:xfrm>
          <a:prstGeom prst="rect">
            <a:avLst/>
          </a:prstGeom>
          <a:noFill/>
          <a:ln/>
        </p:spPr>
        <p:txBody>
          <a:bodyPr wrap="square" lIns="0" tIns="0" rIns="0" bIns="0" rtlCol="0" anchor="ctr"/>
          <a:lstStyle/>
          <a:p>
            <a:pPr indent="0" marL="0">
              <a:buNone/>
            </a:pPr>
            <a:r>
              <a:rPr lang="en-US" sz="1400" b="1" spc="100" kern="0" dirty="0">
                <a:solidFill>
                  <a:srgbClr val="43D5FF"/>
                </a:solidFill>
                <a:latin typeface="Arial" pitchFamily="34" charset="0"/>
                <a:ea typeface="Arial" pitchFamily="34" charset="-122"/>
                <a:cs typeface="Arial" pitchFamily="34" charset="-120"/>
              </a:rPr>
              <a:t>FREIZLE ABARRIENTOS</a:t>
            </a:r>
            <a:endParaRPr lang="en-US" sz="1400" dirty="0"/>
          </a:p>
        </p:txBody>
      </p:sp>
      <p:sp>
        <p:nvSpPr>
          <p:cNvPr id="8" name="Text 5"/>
          <p:cNvSpPr/>
          <p:nvPr/>
        </p:nvSpPr>
        <p:spPr>
          <a:xfrm>
            <a:off x="795528" y="2651760"/>
            <a:ext cx="3136392" cy="1600200"/>
          </a:xfrm>
          <a:prstGeom prst="rect">
            <a:avLst/>
          </a:prstGeom>
          <a:noFill/>
          <a:ln/>
        </p:spPr>
        <p:txBody>
          <a:bodyPr wrap="square" lIns="0" tIns="0" rIns="0" bIns="0" rtlCol="0" anchor="t"/>
          <a:lstStyle/>
          <a:p>
            <a:pPr indent="0" marL="0">
              <a:lnSpc>
                <a:spcPct val="115000"/>
              </a:lnSpc>
              <a:buNone/>
            </a:pPr>
            <a:r>
              <a:rPr lang="en-US" sz="1100" dirty="0">
                <a:solidFill>
                  <a:srgbClr val="FFFFFF"/>
                </a:solidFill>
                <a:latin typeface="Arial" pitchFamily="34" charset="0"/>
                <a:ea typeface="Arial" pitchFamily="34" charset="-122"/>
                <a:cs typeface="Arial" pitchFamily="34" charset="-120"/>
              </a:rPr>
              <a:t>Chief Operating Officer. Two decades across operations, business development, investor relations and client services; oversees ThinkFISH’s daily operations. Leads strategy and the ICP design, and joins your monthly strategy calls.</a:t>
            </a:r>
            <a:endParaRPr lang="en-US" sz="1100" dirty="0"/>
          </a:p>
        </p:txBody>
      </p:sp>
      <p:sp>
        <p:nvSpPr>
          <p:cNvPr id="9" name="Shape 6"/>
          <p:cNvSpPr/>
          <p:nvPr/>
        </p:nvSpPr>
        <p:spPr>
          <a:xfrm>
            <a:off x="4434840" y="2121408"/>
            <a:ext cx="3593592" cy="2331720"/>
          </a:xfrm>
          <a:prstGeom prst="roundRect">
            <a:avLst>
              <a:gd name="adj" fmla="val 3529"/>
            </a:avLst>
          </a:prstGeom>
          <a:solidFill>
            <a:srgbClr val="0D0D26">
              <a:alpha val="55000"/>
            </a:srgbClr>
          </a:solidFill>
          <a:ln w="9525">
            <a:solidFill>
              <a:srgbClr val="31316A">
                <a:alpha val="75000"/>
              </a:srgbClr>
            </a:solidFill>
            <a:prstDash val="solid"/>
          </a:ln>
        </p:spPr>
      </p:sp>
      <p:sp>
        <p:nvSpPr>
          <p:cNvPr id="10" name="Text 7"/>
          <p:cNvSpPr/>
          <p:nvPr/>
        </p:nvSpPr>
        <p:spPr>
          <a:xfrm>
            <a:off x="4663440" y="2304288"/>
            <a:ext cx="3136392" cy="320040"/>
          </a:xfrm>
          <a:prstGeom prst="rect">
            <a:avLst/>
          </a:prstGeom>
          <a:noFill/>
          <a:ln/>
        </p:spPr>
        <p:txBody>
          <a:bodyPr wrap="square" lIns="0" tIns="0" rIns="0" bIns="0" rtlCol="0" anchor="ctr"/>
          <a:lstStyle/>
          <a:p>
            <a:pPr indent="0" marL="0">
              <a:buNone/>
            </a:pPr>
            <a:r>
              <a:rPr lang="en-US" sz="1400" b="1" spc="100" kern="0" dirty="0">
                <a:solidFill>
                  <a:srgbClr val="43D5FF"/>
                </a:solidFill>
                <a:latin typeface="Arial" pitchFamily="34" charset="0"/>
                <a:ea typeface="Arial" pitchFamily="34" charset="-122"/>
                <a:cs typeface="Arial" pitchFamily="34" charset="-120"/>
              </a:rPr>
              <a:t>SAMANTHA COWPER</a:t>
            </a:r>
            <a:endParaRPr lang="en-US" sz="1400" dirty="0"/>
          </a:p>
        </p:txBody>
      </p:sp>
      <p:sp>
        <p:nvSpPr>
          <p:cNvPr id="11" name="Text 8"/>
          <p:cNvSpPr/>
          <p:nvPr/>
        </p:nvSpPr>
        <p:spPr>
          <a:xfrm>
            <a:off x="4663440" y="2651760"/>
            <a:ext cx="3136392" cy="1600200"/>
          </a:xfrm>
          <a:prstGeom prst="rect">
            <a:avLst/>
          </a:prstGeom>
          <a:noFill/>
          <a:ln/>
        </p:spPr>
        <p:txBody>
          <a:bodyPr wrap="square" lIns="0" tIns="0" rIns="0" bIns="0" rtlCol="0" anchor="t"/>
          <a:lstStyle/>
          <a:p>
            <a:pPr indent="0" marL="0">
              <a:lnSpc>
                <a:spcPct val="115000"/>
              </a:lnSpc>
              <a:buNone/>
            </a:pPr>
            <a:r>
              <a:rPr lang="en-US" sz="1100" dirty="0">
                <a:solidFill>
                  <a:srgbClr val="FFFFFF"/>
                </a:solidFill>
                <a:latin typeface="Arial" pitchFamily="34" charset="0"/>
                <a:ea typeface="Arial" pitchFamily="34" charset="-122"/>
                <a:cs typeface="Arial" pitchFamily="34" charset="-120"/>
              </a:rPr>
              <a:t>Onboarding Manager. Runs your first two weeks: the onboarding interviews with Ted, Jesse and Hector, profile optimization, the ICP and audiences, and script approval, so the campaign launches on time and in your voice.</a:t>
            </a:r>
            <a:endParaRPr lang="en-US" sz="1100" dirty="0"/>
          </a:p>
        </p:txBody>
      </p:sp>
      <p:sp>
        <p:nvSpPr>
          <p:cNvPr id="12" name="Shape 9"/>
          <p:cNvSpPr/>
          <p:nvPr/>
        </p:nvSpPr>
        <p:spPr>
          <a:xfrm>
            <a:off x="8302752" y="2121408"/>
            <a:ext cx="3593592" cy="2331720"/>
          </a:xfrm>
          <a:prstGeom prst="roundRect">
            <a:avLst>
              <a:gd name="adj" fmla="val 3529"/>
            </a:avLst>
          </a:prstGeom>
          <a:solidFill>
            <a:srgbClr val="0D0D26">
              <a:alpha val="55000"/>
            </a:srgbClr>
          </a:solidFill>
          <a:ln w="9525">
            <a:solidFill>
              <a:srgbClr val="31316A">
                <a:alpha val="75000"/>
              </a:srgbClr>
            </a:solidFill>
            <a:prstDash val="solid"/>
          </a:ln>
        </p:spPr>
      </p:sp>
      <p:sp>
        <p:nvSpPr>
          <p:cNvPr id="13" name="Text 10"/>
          <p:cNvSpPr/>
          <p:nvPr/>
        </p:nvSpPr>
        <p:spPr>
          <a:xfrm>
            <a:off x="8531352" y="2304288"/>
            <a:ext cx="3136392" cy="320040"/>
          </a:xfrm>
          <a:prstGeom prst="rect">
            <a:avLst/>
          </a:prstGeom>
          <a:noFill/>
          <a:ln/>
        </p:spPr>
        <p:txBody>
          <a:bodyPr wrap="square" lIns="0" tIns="0" rIns="0" bIns="0" rtlCol="0" anchor="ctr"/>
          <a:lstStyle/>
          <a:p>
            <a:pPr indent="0" marL="0">
              <a:buNone/>
            </a:pPr>
            <a:r>
              <a:rPr lang="en-US" sz="1400" b="1" spc="100" kern="0" dirty="0">
                <a:solidFill>
                  <a:srgbClr val="43D5FF"/>
                </a:solidFill>
                <a:latin typeface="Arial" pitchFamily="34" charset="0"/>
                <a:ea typeface="Arial" pitchFamily="34" charset="-122"/>
                <a:cs typeface="Arial" pitchFamily="34" charset="-120"/>
              </a:rPr>
              <a:t>MYRA GRAMA</a:t>
            </a:r>
            <a:endParaRPr lang="en-US" sz="1400" dirty="0"/>
          </a:p>
        </p:txBody>
      </p:sp>
      <p:sp>
        <p:nvSpPr>
          <p:cNvPr id="14" name="Text 11"/>
          <p:cNvSpPr/>
          <p:nvPr/>
        </p:nvSpPr>
        <p:spPr>
          <a:xfrm>
            <a:off x="8531352" y="2651760"/>
            <a:ext cx="3136392" cy="1600200"/>
          </a:xfrm>
          <a:prstGeom prst="rect">
            <a:avLst/>
          </a:prstGeom>
          <a:noFill/>
          <a:ln/>
        </p:spPr>
        <p:txBody>
          <a:bodyPr wrap="square" lIns="0" tIns="0" rIns="0" bIns="0" rtlCol="0" anchor="t"/>
          <a:lstStyle/>
          <a:p>
            <a:pPr indent="0" marL="0">
              <a:lnSpc>
                <a:spcPct val="115000"/>
              </a:lnSpc>
              <a:buNone/>
            </a:pPr>
            <a:r>
              <a:rPr lang="en-US" sz="1100" dirty="0">
                <a:solidFill>
                  <a:srgbClr val="FFFFFF"/>
                </a:solidFill>
                <a:latin typeface="Arial" pitchFamily="34" charset="0"/>
                <a:ea typeface="Arial" pitchFamily="34" charset="-122"/>
                <a:cs typeface="Arial" pitchFamily="34" charset="-120"/>
              </a:rPr>
              <a:t>Account Director. Owns the relationship from launch onward: campaign performance, the weekly report, the monthly strategy call, and the escalation point if anything needs a pivot.</a:t>
            </a:r>
            <a:endParaRPr lang="en-US" sz="1100" dirty="0"/>
          </a:p>
        </p:txBody>
      </p:sp>
      <p:sp>
        <p:nvSpPr>
          <p:cNvPr id="15" name="Shape 12"/>
          <p:cNvSpPr/>
          <p:nvPr/>
        </p:nvSpPr>
        <p:spPr>
          <a:xfrm>
            <a:off x="566928" y="4663440"/>
            <a:ext cx="11338560" cy="1691640"/>
          </a:xfrm>
          <a:prstGeom prst="roundRect">
            <a:avLst>
              <a:gd name="adj" fmla="val 4865"/>
            </a:avLst>
          </a:prstGeom>
          <a:solidFill>
            <a:srgbClr val="0D0D26">
              <a:alpha val="55000"/>
            </a:srgbClr>
          </a:solidFill>
          <a:ln w="9525">
            <a:solidFill>
              <a:srgbClr val="31316A">
                <a:alpha val="75000"/>
              </a:srgbClr>
            </a:solidFill>
            <a:prstDash val="solid"/>
          </a:ln>
        </p:spPr>
      </p:sp>
      <p:sp>
        <p:nvSpPr>
          <p:cNvPr id="16" name="Text 13"/>
          <p:cNvSpPr/>
          <p:nvPr/>
        </p:nvSpPr>
        <p:spPr>
          <a:xfrm>
            <a:off x="795528" y="4828032"/>
            <a:ext cx="8229600" cy="320040"/>
          </a:xfrm>
          <a:prstGeom prst="rect">
            <a:avLst/>
          </a:prstGeom>
          <a:noFill/>
          <a:ln/>
        </p:spPr>
        <p:txBody>
          <a:bodyPr wrap="square" lIns="0" tIns="0" rIns="0" bIns="0" rtlCol="0" anchor="ctr"/>
          <a:lstStyle/>
          <a:p>
            <a:pPr indent="0" marL="0">
              <a:buNone/>
            </a:pPr>
            <a:r>
              <a:rPr lang="en-US" sz="1400" b="1" spc="100" kern="0" dirty="0">
                <a:solidFill>
                  <a:srgbClr val="7C6CFF"/>
                </a:solidFill>
                <a:latin typeface="Arial" pitchFamily="34" charset="0"/>
                <a:ea typeface="Arial" pitchFamily="34" charset="-122"/>
                <a:cs typeface="Arial" pitchFamily="34" charset="-120"/>
              </a:rPr>
              <a:t>YOUR DEDICATED ACCOUNT MANAGER</a:t>
            </a:r>
            <a:endParaRPr lang="en-US" sz="1400" dirty="0"/>
          </a:p>
        </p:txBody>
      </p:sp>
      <p:sp>
        <p:nvSpPr>
          <p:cNvPr id="17" name="Text 14"/>
          <p:cNvSpPr/>
          <p:nvPr/>
        </p:nvSpPr>
        <p:spPr>
          <a:xfrm>
            <a:off x="795528" y="5175504"/>
            <a:ext cx="10881360" cy="1051560"/>
          </a:xfrm>
          <a:prstGeom prst="rect">
            <a:avLst/>
          </a:prstGeom>
          <a:noFill/>
          <a:ln/>
        </p:spPr>
        <p:txBody>
          <a:bodyPr wrap="square" lIns="0" tIns="0" rIns="0" bIns="0" rtlCol="0" anchor="t"/>
          <a:lstStyle/>
          <a:p>
            <a:pPr indent="0" marL="0">
              <a:lnSpc>
                <a:spcPct val="120000"/>
              </a:lnSpc>
              <a:buNone/>
            </a:pPr>
            <a:r>
              <a:rPr lang="en-US" sz="1250" dirty="0">
                <a:solidFill>
                  <a:srgbClr val="FFFFFF"/>
                </a:solidFill>
                <a:latin typeface="Arial" pitchFamily="34" charset="0"/>
                <a:ea typeface="Arial" pitchFamily="34" charset="-122"/>
                <a:cs typeface="Arial" pitchFamily="34" charset="-120"/>
              </a:rPr>
              <a:t>Assigned at kickoff and introduced by Samantha in the first onboarding session. Runs the campaign day to day under Myra: audience building, scripts, inbox, qualification, call briefings and the weekly report. One person who knows your story, reachable on Slack or WhatsApp, not a ticket queue.</a:t>
            </a:r>
            <a:endParaRPr lang="en-US" sz="125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pic>
        <p:nvPicPr>
          <p:cNvPr id="2" name="Image 0" descr="/home/claude/brand/clean/logo_header.png">    </p:cNvPr>
          <p:cNvPicPr>
            <a:picLocks noChangeAspect="1"/>
          </p:cNvPicPr>
          <p:nvPr/>
        </p:nvPicPr>
        <p:blipFill>
          <a:blip r:embed="rId2"/>
          <a:stretch>
            <a:fillRect/>
          </a:stretch>
        </p:blipFill>
        <p:spPr>
          <a:xfrm>
            <a:off x="411480" y="164592"/>
            <a:ext cx="850392" cy="530352"/>
          </a:xfrm>
          <a:prstGeom prst="rect">
            <a:avLst/>
          </a:prstGeom>
        </p:spPr>
      </p:pic>
      <p:sp>
        <p:nvSpPr>
          <p:cNvPr id="3" name="Text 0"/>
          <p:cNvSpPr/>
          <p:nvPr/>
        </p:nvSpPr>
        <p:spPr>
          <a:xfrm>
            <a:off x="1417320" y="201168"/>
            <a:ext cx="4114800" cy="457200"/>
          </a:xfrm>
          <a:prstGeom prst="rect">
            <a:avLst/>
          </a:prstGeom>
          <a:noFill/>
          <a:ln/>
        </p:spPr>
        <p:txBody>
          <a:bodyPr wrap="square" lIns="0" tIns="0" rIns="0" bIns="0" rtlCol="0" anchor="ctr"/>
          <a:lstStyle/>
          <a:p>
            <a:pPr indent="0" marL="0">
              <a:buNone/>
            </a:pPr>
            <a:r>
              <a:rPr lang="en-US" sz="1300" spc="200" kern="0" dirty="0">
                <a:solidFill>
                  <a:srgbClr val="FFFFFF"/>
                </a:solidFill>
                <a:latin typeface="Arial" pitchFamily="34" charset="0"/>
                <a:ea typeface="Arial" pitchFamily="34" charset="-122"/>
                <a:cs typeface="Arial" pitchFamily="34" charset="-120"/>
              </a:rPr>
              <a:t>THINKFISH LLC 2026</a:t>
            </a:r>
            <a:endParaRPr lang="en-US" sz="1300" dirty="0"/>
          </a:p>
        </p:txBody>
      </p:sp>
      <p:sp>
        <p:nvSpPr>
          <p:cNvPr id="4" name="Text 1"/>
          <p:cNvSpPr/>
          <p:nvPr/>
        </p:nvSpPr>
        <p:spPr>
          <a:xfrm>
            <a:off x="566928" y="868680"/>
            <a:ext cx="11155680" cy="777240"/>
          </a:xfrm>
          <a:prstGeom prst="rect">
            <a:avLst/>
          </a:prstGeom>
          <a:noFill/>
          <a:ln/>
        </p:spPr>
        <p:txBody>
          <a:bodyPr wrap="square" lIns="0" tIns="0" rIns="0" bIns="0" rtlCol="0" anchor="ctr"/>
          <a:lstStyle/>
          <a:p>
            <a:pPr indent="0" marL="0">
              <a:buNone/>
            </a:pPr>
            <a:r>
              <a:rPr lang="en-US" sz="3800" b="1" dirty="0">
                <a:solidFill>
                  <a:srgbClr val="FFFFFF"/>
                </a:solidFill>
                <a:latin typeface="Arial" pitchFamily="34" charset="0"/>
                <a:ea typeface="Arial" pitchFamily="34" charset="-122"/>
                <a:cs typeface="Arial" pitchFamily="34" charset="-120"/>
              </a:rPr>
              <a:t>Next Steps</a:t>
            </a:r>
            <a:endParaRPr lang="en-US" sz="3800" dirty="0"/>
          </a:p>
        </p:txBody>
      </p:sp>
      <p:sp>
        <p:nvSpPr>
          <p:cNvPr id="5" name="Text 2"/>
          <p:cNvSpPr/>
          <p:nvPr/>
        </p:nvSpPr>
        <p:spPr>
          <a:xfrm>
            <a:off x="594360" y="1481328"/>
            <a:ext cx="11155680" cy="320040"/>
          </a:xfrm>
          <a:prstGeom prst="rect">
            <a:avLst/>
          </a:prstGeom>
          <a:noFill/>
          <a:ln/>
        </p:spPr>
        <p:txBody>
          <a:bodyPr wrap="square" lIns="0" tIns="0" rIns="0" bIns="0" rtlCol="0" anchor="ctr"/>
          <a:lstStyle/>
          <a:p>
            <a:pPr indent="0" marL="0">
              <a:buNone/>
            </a:pPr>
            <a:r>
              <a:rPr lang="en-US" sz="1400" b="1" spc="100" kern="0" dirty="0">
                <a:solidFill>
                  <a:srgbClr val="43D5FF"/>
                </a:solidFill>
                <a:latin typeface="Arial" pitchFamily="34" charset="0"/>
                <a:ea typeface="Arial" pitchFamily="34" charset="-122"/>
                <a:cs typeface="Arial" pitchFamily="34" charset="-120"/>
              </a:rPr>
              <a:t>HOW WE GET STARTED</a:t>
            </a:r>
            <a:endParaRPr lang="en-US" sz="1400" dirty="0"/>
          </a:p>
        </p:txBody>
      </p:sp>
      <p:sp>
        <p:nvSpPr>
          <p:cNvPr id="6" name="Shape 3"/>
          <p:cNvSpPr/>
          <p:nvPr/>
        </p:nvSpPr>
        <p:spPr>
          <a:xfrm>
            <a:off x="566928" y="2121408"/>
            <a:ext cx="3593592" cy="2331720"/>
          </a:xfrm>
          <a:prstGeom prst="roundRect">
            <a:avLst>
              <a:gd name="adj" fmla="val 3529"/>
            </a:avLst>
          </a:prstGeom>
          <a:solidFill>
            <a:srgbClr val="0D0D26">
              <a:alpha val="55000"/>
            </a:srgbClr>
          </a:solidFill>
          <a:ln w="9525">
            <a:solidFill>
              <a:srgbClr val="31316A">
                <a:alpha val="75000"/>
              </a:srgbClr>
            </a:solidFill>
            <a:prstDash val="solid"/>
          </a:ln>
        </p:spPr>
      </p:sp>
      <p:sp>
        <p:nvSpPr>
          <p:cNvPr id="7" name="Text 4"/>
          <p:cNvSpPr/>
          <p:nvPr/>
        </p:nvSpPr>
        <p:spPr>
          <a:xfrm>
            <a:off x="795528" y="2304288"/>
            <a:ext cx="3136392" cy="320040"/>
          </a:xfrm>
          <a:prstGeom prst="rect">
            <a:avLst/>
          </a:prstGeom>
          <a:noFill/>
          <a:ln/>
        </p:spPr>
        <p:txBody>
          <a:bodyPr wrap="square" lIns="0" tIns="0" rIns="0" bIns="0" rtlCol="0" anchor="ctr"/>
          <a:lstStyle/>
          <a:p>
            <a:pPr indent="0" marL="0">
              <a:buNone/>
            </a:pPr>
            <a:r>
              <a:rPr lang="en-US" sz="1400" b="1" spc="100" kern="0" dirty="0">
                <a:solidFill>
                  <a:srgbClr val="43D5FF"/>
                </a:solidFill>
                <a:latin typeface="Arial" pitchFamily="34" charset="0"/>
                <a:ea typeface="Arial" pitchFamily="34" charset="-122"/>
                <a:cs typeface="Arial" pitchFamily="34" charset="-120"/>
              </a:rPr>
              <a:t>1  ·  REVIEW</a:t>
            </a:r>
            <a:endParaRPr lang="en-US" sz="1400" dirty="0"/>
          </a:p>
        </p:txBody>
      </p:sp>
      <p:sp>
        <p:nvSpPr>
          <p:cNvPr id="8" name="Text 5"/>
          <p:cNvSpPr/>
          <p:nvPr/>
        </p:nvSpPr>
        <p:spPr>
          <a:xfrm>
            <a:off x="795528" y="2651760"/>
            <a:ext cx="3136392" cy="1600200"/>
          </a:xfrm>
          <a:prstGeom prst="rect">
            <a:avLst/>
          </a:prstGeom>
          <a:noFill/>
          <a:ln/>
        </p:spPr>
        <p:txBody>
          <a:bodyPr wrap="square" lIns="0" tIns="0" rIns="0" bIns="0" rtlCol="0" anchor="t"/>
          <a:lstStyle/>
          <a:p>
            <a:pPr indent="0" marL="0">
              <a:lnSpc>
                <a:spcPct val="115000"/>
              </a:lnSpc>
              <a:buNone/>
            </a:pPr>
            <a:r>
              <a:rPr lang="en-US" sz="1150" dirty="0">
                <a:solidFill>
                  <a:srgbClr val="FFFFFF"/>
                </a:solidFill>
                <a:latin typeface="Arial" pitchFamily="34" charset="0"/>
                <a:ea typeface="Arial" pitchFamily="34" charset="-122"/>
                <a:cs typeface="Arial" pitchFamily="34" charset="-120"/>
              </a:rPr>
              <a:t>Take this deck to the team. Ted, Jesse and Hector, send us the questions that come back, and we’ll work through them on our call Tuesday, October 27, at 9:30 Central. The services agreement and the process video come with this deck.</a:t>
            </a:r>
            <a:endParaRPr lang="en-US" sz="1150" dirty="0"/>
          </a:p>
        </p:txBody>
      </p:sp>
      <p:sp>
        <p:nvSpPr>
          <p:cNvPr id="9" name="Shape 6"/>
          <p:cNvSpPr/>
          <p:nvPr/>
        </p:nvSpPr>
        <p:spPr>
          <a:xfrm>
            <a:off x="4434840" y="2121408"/>
            <a:ext cx="3593592" cy="2331720"/>
          </a:xfrm>
          <a:prstGeom prst="roundRect">
            <a:avLst>
              <a:gd name="adj" fmla="val 3529"/>
            </a:avLst>
          </a:prstGeom>
          <a:solidFill>
            <a:srgbClr val="0D0D26">
              <a:alpha val="55000"/>
            </a:srgbClr>
          </a:solidFill>
          <a:ln w="9525">
            <a:solidFill>
              <a:srgbClr val="31316A">
                <a:alpha val="75000"/>
              </a:srgbClr>
            </a:solidFill>
            <a:prstDash val="solid"/>
          </a:ln>
        </p:spPr>
      </p:sp>
      <p:sp>
        <p:nvSpPr>
          <p:cNvPr id="10" name="Text 7"/>
          <p:cNvSpPr/>
          <p:nvPr/>
        </p:nvSpPr>
        <p:spPr>
          <a:xfrm>
            <a:off x="4663440" y="2304288"/>
            <a:ext cx="3136392" cy="320040"/>
          </a:xfrm>
          <a:prstGeom prst="rect">
            <a:avLst/>
          </a:prstGeom>
          <a:noFill/>
          <a:ln/>
        </p:spPr>
        <p:txBody>
          <a:bodyPr wrap="square" lIns="0" tIns="0" rIns="0" bIns="0" rtlCol="0" anchor="ctr"/>
          <a:lstStyle/>
          <a:p>
            <a:pPr indent="0" marL="0">
              <a:buNone/>
            </a:pPr>
            <a:r>
              <a:rPr lang="en-US" sz="1400" b="1" spc="100" kern="0" dirty="0">
                <a:solidFill>
                  <a:srgbClr val="43D5FF"/>
                </a:solidFill>
                <a:latin typeface="Arial" pitchFamily="34" charset="0"/>
                <a:ea typeface="Arial" pitchFamily="34" charset="-122"/>
                <a:cs typeface="Arial" pitchFamily="34" charset="-120"/>
              </a:rPr>
              <a:t>2  ·  SIGN &amp; KICK OFF</a:t>
            </a:r>
            <a:endParaRPr lang="en-US" sz="1400" dirty="0"/>
          </a:p>
        </p:txBody>
      </p:sp>
      <p:sp>
        <p:nvSpPr>
          <p:cNvPr id="11" name="Text 8"/>
          <p:cNvSpPr/>
          <p:nvPr/>
        </p:nvSpPr>
        <p:spPr>
          <a:xfrm>
            <a:off x="4663440" y="2651760"/>
            <a:ext cx="3136392" cy="1600200"/>
          </a:xfrm>
          <a:prstGeom prst="rect">
            <a:avLst/>
          </a:prstGeom>
          <a:noFill/>
          <a:ln/>
        </p:spPr>
        <p:txBody>
          <a:bodyPr wrap="square" lIns="0" tIns="0" rIns="0" bIns="0" rtlCol="0" anchor="t"/>
          <a:lstStyle/>
          <a:p>
            <a:pPr indent="0" marL="0">
              <a:lnSpc>
                <a:spcPct val="115000"/>
              </a:lnSpc>
              <a:buNone/>
            </a:pPr>
            <a:r>
              <a:rPr lang="en-US" sz="1150" dirty="0">
                <a:solidFill>
                  <a:srgbClr val="FFFFFF"/>
                </a:solidFill>
                <a:latin typeface="Arial" pitchFamily="34" charset="0"/>
                <a:ea typeface="Arial" pitchFamily="34" charset="-122"/>
                <a:cs typeface="Arial" pitchFamily="34" charset="-120"/>
              </a:rPr>
              <a:t>Sign by October 31 to lock in three profiles at $3,000. We book onboarding the same week: interviews with Ted, Jesse and Hector, all three LinkedIn profiles connected, Hector’s warm-up started.</a:t>
            </a:r>
            <a:endParaRPr lang="en-US" sz="1150" dirty="0"/>
          </a:p>
        </p:txBody>
      </p:sp>
      <p:sp>
        <p:nvSpPr>
          <p:cNvPr id="12" name="Shape 9"/>
          <p:cNvSpPr/>
          <p:nvPr/>
        </p:nvSpPr>
        <p:spPr>
          <a:xfrm>
            <a:off x="8302752" y="2121408"/>
            <a:ext cx="3593592" cy="2331720"/>
          </a:xfrm>
          <a:prstGeom prst="roundRect">
            <a:avLst>
              <a:gd name="adj" fmla="val 3529"/>
            </a:avLst>
          </a:prstGeom>
          <a:solidFill>
            <a:srgbClr val="0D0D26">
              <a:alpha val="55000"/>
            </a:srgbClr>
          </a:solidFill>
          <a:ln w="9525">
            <a:solidFill>
              <a:srgbClr val="31316A">
                <a:alpha val="75000"/>
              </a:srgbClr>
            </a:solidFill>
            <a:prstDash val="solid"/>
          </a:ln>
        </p:spPr>
      </p:sp>
      <p:sp>
        <p:nvSpPr>
          <p:cNvPr id="13" name="Text 10"/>
          <p:cNvSpPr/>
          <p:nvPr/>
        </p:nvSpPr>
        <p:spPr>
          <a:xfrm>
            <a:off x="8531352" y="2304288"/>
            <a:ext cx="3136392" cy="320040"/>
          </a:xfrm>
          <a:prstGeom prst="rect">
            <a:avLst/>
          </a:prstGeom>
          <a:noFill/>
          <a:ln/>
        </p:spPr>
        <p:txBody>
          <a:bodyPr wrap="square" lIns="0" tIns="0" rIns="0" bIns="0" rtlCol="0" anchor="ctr"/>
          <a:lstStyle/>
          <a:p>
            <a:pPr indent="0" marL="0">
              <a:buNone/>
            </a:pPr>
            <a:r>
              <a:rPr lang="en-US" sz="1400" b="1" spc="100" kern="0" dirty="0">
                <a:solidFill>
                  <a:srgbClr val="43D5FF"/>
                </a:solidFill>
                <a:latin typeface="Arial" pitchFamily="34" charset="0"/>
                <a:ea typeface="Arial" pitchFamily="34" charset="-122"/>
                <a:cs typeface="Arial" pitchFamily="34" charset="-120"/>
              </a:rPr>
              <a:t>3  ·  FIRST MEETINGS</a:t>
            </a:r>
            <a:endParaRPr lang="en-US" sz="1400" dirty="0"/>
          </a:p>
        </p:txBody>
      </p:sp>
      <p:sp>
        <p:nvSpPr>
          <p:cNvPr id="14" name="Text 11"/>
          <p:cNvSpPr/>
          <p:nvPr/>
        </p:nvSpPr>
        <p:spPr>
          <a:xfrm>
            <a:off x="8531352" y="2651760"/>
            <a:ext cx="3136392" cy="1600200"/>
          </a:xfrm>
          <a:prstGeom prst="rect">
            <a:avLst/>
          </a:prstGeom>
          <a:noFill/>
          <a:ln/>
        </p:spPr>
        <p:txBody>
          <a:bodyPr wrap="square" lIns="0" tIns="0" rIns="0" bIns="0" rtlCol="0" anchor="t"/>
          <a:lstStyle/>
          <a:p>
            <a:pPr indent="0" marL="0">
              <a:lnSpc>
                <a:spcPct val="115000"/>
              </a:lnSpc>
              <a:buNone/>
            </a:pPr>
            <a:r>
              <a:rPr lang="en-US" sz="1150" dirty="0">
                <a:solidFill>
                  <a:srgbClr val="FFFFFF"/>
                </a:solidFill>
                <a:latin typeface="Arial" pitchFamily="34" charset="0"/>
                <a:ea typeface="Arial" pitchFamily="34" charset="-122"/>
                <a:cs typeface="Arial" pitchFamily="34" charset="-120"/>
              </a:rPr>
              <a:t>Ted’s and Jesse’s profiles are live within two weeks of kickoff. The first qualified investor conversations land in weeks three and four, Hector joins in December, and the flow builds toward the four-month review.</a:t>
            </a:r>
            <a:endParaRPr lang="en-US" sz="1150" dirty="0"/>
          </a:p>
        </p:txBody>
      </p:sp>
      <p:sp>
        <p:nvSpPr>
          <p:cNvPr id="15" name="Shape 12"/>
          <p:cNvSpPr/>
          <p:nvPr/>
        </p:nvSpPr>
        <p:spPr>
          <a:xfrm>
            <a:off x="566928" y="4663440"/>
            <a:ext cx="11338560" cy="1691640"/>
          </a:xfrm>
          <a:prstGeom prst="roundRect">
            <a:avLst>
              <a:gd name="adj" fmla="val 4865"/>
            </a:avLst>
          </a:prstGeom>
          <a:solidFill>
            <a:srgbClr val="0D0D26">
              <a:alpha val="55000"/>
            </a:srgbClr>
          </a:solidFill>
          <a:ln w="9525">
            <a:solidFill>
              <a:srgbClr val="31316A">
                <a:alpha val="75000"/>
              </a:srgbClr>
            </a:solidFill>
            <a:prstDash val="solid"/>
          </a:ln>
        </p:spPr>
      </p:sp>
      <p:sp>
        <p:nvSpPr>
          <p:cNvPr id="16" name="Text 13"/>
          <p:cNvSpPr/>
          <p:nvPr/>
        </p:nvSpPr>
        <p:spPr>
          <a:xfrm>
            <a:off x="795528" y="4828032"/>
            <a:ext cx="8229600" cy="320040"/>
          </a:xfrm>
          <a:prstGeom prst="rect">
            <a:avLst/>
          </a:prstGeom>
          <a:noFill/>
          <a:ln/>
        </p:spPr>
        <p:txBody>
          <a:bodyPr wrap="square" lIns="0" tIns="0" rIns="0" bIns="0" rtlCol="0" anchor="ctr"/>
          <a:lstStyle/>
          <a:p>
            <a:pPr indent="0" marL="0">
              <a:buNone/>
            </a:pPr>
            <a:r>
              <a:rPr lang="en-US" sz="1400" b="1" spc="100" kern="0" dirty="0">
                <a:solidFill>
                  <a:srgbClr val="7C6CFF"/>
                </a:solidFill>
                <a:latin typeface="Arial" pitchFamily="34" charset="0"/>
                <a:ea typeface="Arial" pitchFamily="34" charset="-122"/>
                <a:cs typeface="Arial" pitchFamily="34" charset="-120"/>
              </a:rPr>
              <a:t>WHAT WE NEED FROM YOU</a:t>
            </a:r>
            <a:endParaRPr lang="en-US" sz="1400" dirty="0"/>
          </a:p>
        </p:txBody>
      </p:sp>
      <p:sp>
        <p:nvSpPr>
          <p:cNvPr id="17" name="Text 14"/>
          <p:cNvSpPr/>
          <p:nvPr/>
        </p:nvSpPr>
        <p:spPr>
          <a:xfrm>
            <a:off x="795528" y="5175504"/>
            <a:ext cx="10881360" cy="1051560"/>
          </a:xfrm>
          <a:prstGeom prst="rect">
            <a:avLst/>
          </a:prstGeom>
          <a:noFill/>
          <a:ln/>
        </p:spPr>
        <p:txBody>
          <a:bodyPr wrap="square" lIns="0" tIns="0" rIns="0" bIns="0" rtlCol="0" anchor="t"/>
          <a:lstStyle/>
          <a:p>
            <a:pPr indent="0" marL="0">
              <a:lnSpc>
                <a:spcPct val="120000"/>
              </a:lnSpc>
              <a:buNone/>
            </a:pPr>
            <a:r>
              <a:rPr lang="en-US" sz="1250" dirty="0">
                <a:solidFill>
                  <a:srgbClr val="FFFFFF"/>
                </a:solidFill>
                <a:latin typeface="Arial" pitchFamily="34" charset="0"/>
                <a:ea typeface="Arial" pitchFamily="34" charset="-122"/>
                <a:cs typeface="Arial" pitchFamily="34" charset="-120"/>
              </a:rPr>
              <a:t>Connect Ted’s, Jesse’s and Hector’s LinkedIn accounts to our system (no passwords required). Heather Properties at the top of Ted’s profile. Your investor deck, one-pager and data room as they come together. One 60-minute onboarding interview with the three of you. A Calendly link for each profile, and a do-not-contact list for anyone in your network we should leave alone. We handle the rest.</a:t>
            </a:r>
            <a:endParaRPr lang="en-US" sz="125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pic>
        <p:nvPicPr>
          <p:cNvPr id="2" name="Image 0" descr="/home/claude/brand/clean/logo_header.png">    </p:cNvPr>
          <p:cNvPicPr>
            <a:picLocks noChangeAspect="1"/>
          </p:cNvPicPr>
          <p:nvPr/>
        </p:nvPicPr>
        <p:blipFill>
          <a:blip r:embed="rId2"/>
          <a:stretch>
            <a:fillRect/>
          </a:stretch>
        </p:blipFill>
        <p:spPr>
          <a:xfrm>
            <a:off x="411480" y="164592"/>
            <a:ext cx="850392" cy="530352"/>
          </a:xfrm>
          <a:prstGeom prst="rect">
            <a:avLst/>
          </a:prstGeom>
        </p:spPr>
      </p:pic>
      <p:sp>
        <p:nvSpPr>
          <p:cNvPr id="3" name="Text 0"/>
          <p:cNvSpPr/>
          <p:nvPr/>
        </p:nvSpPr>
        <p:spPr>
          <a:xfrm>
            <a:off x="1417320" y="201168"/>
            <a:ext cx="4114800" cy="457200"/>
          </a:xfrm>
          <a:prstGeom prst="rect">
            <a:avLst/>
          </a:prstGeom>
          <a:noFill/>
          <a:ln/>
        </p:spPr>
        <p:txBody>
          <a:bodyPr wrap="square" lIns="0" tIns="0" rIns="0" bIns="0" rtlCol="0" anchor="ctr"/>
          <a:lstStyle/>
          <a:p>
            <a:pPr indent="0" marL="0">
              <a:buNone/>
            </a:pPr>
            <a:r>
              <a:rPr lang="en-US" sz="1300" spc="200" kern="0" dirty="0">
                <a:solidFill>
                  <a:srgbClr val="FFFFFF"/>
                </a:solidFill>
                <a:latin typeface="Arial" pitchFamily="34" charset="0"/>
                <a:ea typeface="Arial" pitchFamily="34" charset="-122"/>
                <a:cs typeface="Arial" pitchFamily="34" charset="-120"/>
              </a:rPr>
              <a:t>THINKFISH LLC 2026</a:t>
            </a:r>
            <a:endParaRPr lang="en-US" sz="1300" dirty="0"/>
          </a:p>
        </p:txBody>
      </p:sp>
      <p:sp>
        <p:nvSpPr>
          <p:cNvPr id="4" name="Text 1"/>
          <p:cNvSpPr/>
          <p:nvPr/>
        </p:nvSpPr>
        <p:spPr>
          <a:xfrm>
            <a:off x="566928" y="868680"/>
            <a:ext cx="11155680" cy="777240"/>
          </a:xfrm>
          <a:prstGeom prst="rect">
            <a:avLst/>
          </a:prstGeom>
          <a:noFill/>
          <a:ln/>
        </p:spPr>
        <p:txBody>
          <a:bodyPr wrap="square" lIns="0" tIns="0" rIns="0" bIns="0" rtlCol="0" anchor="ctr"/>
          <a:lstStyle/>
          <a:p>
            <a:pPr indent="0" marL="0">
              <a:buNone/>
            </a:pPr>
            <a:r>
              <a:rPr lang="en-US" sz="3800" b="1" dirty="0">
                <a:solidFill>
                  <a:srgbClr val="FFFFFF"/>
                </a:solidFill>
                <a:latin typeface="Arial" pitchFamily="34" charset="0"/>
                <a:ea typeface="Arial" pitchFamily="34" charset="-122"/>
                <a:cs typeface="Arial" pitchFamily="34" charset="-120"/>
              </a:rPr>
              <a:t>Deliverables</a:t>
            </a:r>
            <a:endParaRPr lang="en-US" sz="3800" dirty="0"/>
          </a:p>
        </p:txBody>
      </p:sp>
      <p:sp>
        <p:nvSpPr>
          <p:cNvPr id="5" name="Text 2"/>
          <p:cNvSpPr/>
          <p:nvPr/>
        </p:nvSpPr>
        <p:spPr>
          <a:xfrm>
            <a:off x="594360" y="1481328"/>
            <a:ext cx="11155680" cy="320040"/>
          </a:xfrm>
          <a:prstGeom prst="rect">
            <a:avLst/>
          </a:prstGeom>
          <a:noFill/>
          <a:ln/>
        </p:spPr>
        <p:txBody>
          <a:bodyPr wrap="square" lIns="0" tIns="0" rIns="0" bIns="0" rtlCol="0" anchor="ctr"/>
          <a:lstStyle/>
          <a:p>
            <a:pPr indent="0" marL="0">
              <a:buNone/>
            </a:pPr>
            <a:r>
              <a:rPr lang="en-US" sz="1400" b="1" spc="100" kern="0" dirty="0">
                <a:solidFill>
                  <a:srgbClr val="43D5FF"/>
                </a:solidFill>
                <a:latin typeface="Arial" pitchFamily="34" charset="0"/>
                <a:ea typeface="Arial" pitchFamily="34" charset="-122"/>
                <a:cs typeface="Arial" pitchFamily="34" charset="-120"/>
              </a:rPr>
              <a:t>APPENDIX  ·  THE ENGINE BEHIND THE MEETINGS</a:t>
            </a:r>
            <a:endParaRPr lang="en-US" sz="1400" dirty="0"/>
          </a:p>
        </p:txBody>
      </p:sp>
      <p:sp>
        <p:nvSpPr>
          <p:cNvPr id="6" name="Shape 3"/>
          <p:cNvSpPr/>
          <p:nvPr/>
        </p:nvSpPr>
        <p:spPr>
          <a:xfrm>
            <a:off x="566928" y="2103120"/>
            <a:ext cx="3593592" cy="2514600"/>
          </a:xfrm>
          <a:prstGeom prst="roundRect">
            <a:avLst>
              <a:gd name="adj" fmla="val 3273"/>
            </a:avLst>
          </a:prstGeom>
          <a:solidFill>
            <a:srgbClr val="0D0D26">
              <a:alpha val="55000"/>
            </a:srgbClr>
          </a:solidFill>
          <a:ln w="9525">
            <a:solidFill>
              <a:srgbClr val="31316A">
                <a:alpha val="75000"/>
              </a:srgbClr>
            </a:solidFill>
            <a:prstDash val="solid"/>
          </a:ln>
        </p:spPr>
      </p:sp>
      <p:sp>
        <p:nvSpPr>
          <p:cNvPr id="7" name="Text 4"/>
          <p:cNvSpPr/>
          <p:nvPr/>
        </p:nvSpPr>
        <p:spPr>
          <a:xfrm>
            <a:off x="795528" y="2286000"/>
            <a:ext cx="3136392" cy="292608"/>
          </a:xfrm>
          <a:prstGeom prst="rect">
            <a:avLst/>
          </a:prstGeom>
          <a:noFill/>
          <a:ln/>
        </p:spPr>
        <p:txBody>
          <a:bodyPr wrap="square" lIns="0" tIns="0" rIns="0" bIns="0" rtlCol="0" anchor="ctr"/>
          <a:lstStyle/>
          <a:p>
            <a:pPr indent="0" marL="0">
              <a:buNone/>
            </a:pPr>
            <a:r>
              <a:rPr lang="en-US" sz="1250" b="1" spc="100" kern="0" dirty="0">
                <a:solidFill>
                  <a:srgbClr val="43D5FF"/>
                </a:solidFill>
                <a:latin typeface="Arial" pitchFamily="34" charset="0"/>
                <a:ea typeface="Arial" pitchFamily="34" charset="-122"/>
                <a:cs typeface="Arial" pitchFamily="34" charset="-120"/>
              </a:rPr>
              <a:t>LINKEDIN OUTREACH</a:t>
            </a:r>
            <a:endParaRPr lang="en-US" sz="1250" dirty="0"/>
          </a:p>
        </p:txBody>
      </p:sp>
      <p:sp>
        <p:nvSpPr>
          <p:cNvPr id="8" name="Text 5"/>
          <p:cNvSpPr/>
          <p:nvPr/>
        </p:nvSpPr>
        <p:spPr>
          <a:xfrm>
            <a:off x="795528" y="2560320"/>
            <a:ext cx="3136392" cy="685800"/>
          </a:xfrm>
          <a:prstGeom prst="rect">
            <a:avLst/>
          </a:prstGeom>
          <a:noFill/>
          <a:ln/>
        </p:spPr>
        <p:txBody>
          <a:bodyPr wrap="square" lIns="0" tIns="0" rIns="0" bIns="0" rtlCol="0" anchor="ctr"/>
          <a:lstStyle/>
          <a:p>
            <a:pPr indent="0" marL="0">
              <a:buNone/>
            </a:pPr>
            <a:r>
              <a:rPr lang="en-US" sz="4400" b="1" dirty="0">
                <a:solidFill>
                  <a:srgbClr val="FFFFFF"/>
                </a:solidFill>
                <a:latin typeface="Arial" pitchFamily="34" charset="0"/>
                <a:ea typeface="Arial" pitchFamily="34" charset="-122"/>
                <a:cs typeface="Arial" pitchFamily="34" charset="-120"/>
              </a:rPr>
              <a:t>4,800</a:t>
            </a:r>
            <a:endParaRPr lang="en-US" sz="4400" dirty="0"/>
          </a:p>
        </p:txBody>
      </p:sp>
      <p:sp>
        <p:nvSpPr>
          <p:cNvPr id="9" name="Text 6"/>
          <p:cNvSpPr/>
          <p:nvPr/>
        </p:nvSpPr>
        <p:spPr>
          <a:xfrm>
            <a:off x="795528" y="3255264"/>
            <a:ext cx="3136392" cy="274320"/>
          </a:xfrm>
          <a:prstGeom prst="rect">
            <a:avLst/>
          </a:prstGeom>
          <a:noFill/>
          <a:ln/>
        </p:spPr>
        <p:txBody>
          <a:bodyPr wrap="square" lIns="0" tIns="0" rIns="0" bIns="0" rtlCol="0" anchor="ctr"/>
          <a:lstStyle/>
          <a:p>
            <a:pPr indent="0" marL="0">
              <a:buNone/>
            </a:pPr>
            <a:r>
              <a:rPr lang="en-US" sz="1100" dirty="0">
                <a:solidFill>
                  <a:srgbClr val="B9BEDC"/>
                </a:solidFill>
                <a:latin typeface="Arial" pitchFamily="34" charset="0"/>
                <a:ea typeface="Arial" pitchFamily="34" charset="-122"/>
                <a:cs typeface="Arial" pitchFamily="34" charset="-120"/>
              </a:rPr>
              <a:t>LinkedIn touches / month, three profiles</a:t>
            </a:r>
            <a:endParaRPr lang="en-US" sz="1100" dirty="0"/>
          </a:p>
        </p:txBody>
      </p:sp>
      <p:sp>
        <p:nvSpPr>
          <p:cNvPr id="10" name="Text 7"/>
          <p:cNvSpPr/>
          <p:nvPr/>
        </p:nvSpPr>
        <p:spPr>
          <a:xfrm>
            <a:off x="795528" y="3566160"/>
            <a:ext cx="3136392" cy="868680"/>
          </a:xfrm>
          <a:prstGeom prst="rect">
            <a:avLst/>
          </a:prstGeom>
          <a:noFill/>
          <a:ln/>
        </p:spPr>
        <p:txBody>
          <a:bodyPr wrap="square" lIns="0" tIns="0" rIns="0" bIns="0" rtlCol="0" anchor="t"/>
          <a:lstStyle/>
          <a:p>
            <a:pPr indent="0" marL="0">
              <a:lnSpc>
                <a:spcPct val="112000"/>
              </a:lnSpc>
              <a:buNone/>
            </a:pPr>
            <a:r>
              <a:rPr lang="en-US" sz="1050" dirty="0">
                <a:solidFill>
                  <a:srgbClr val="FFFFFF"/>
                </a:solidFill>
                <a:latin typeface="Arial" pitchFamily="34" charset="0"/>
                <a:ea typeface="Arial" pitchFamily="34" charset="-122"/>
                <a:cs typeface="Arial" pitchFamily="34" charset="-120"/>
              </a:rPr>
              <a:t>About 800 InMails and 800 connection invites per profile every month, from Ted’s, Jesse’s and Hector’s accounts, in your voice, once fully warmed up. Hector’s volume ramps in from month two.</a:t>
            </a:r>
            <a:endParaRPr lang="en-US" sz="1050" dirty="0"/>
          </a:p>
        </p:txBody>
      </p:sp>
      <p:sp>
        <p:nvSpPr>
          <p:cNvPr id="11" name="Shape 8"/>
          <p:cNvSpPr/>
          <p:nvPr/>
        </p:nvSpPr>
        <p:spPr>
          <a:xfrm>
            <a:off x="4434840" y="2103120"/>
            <a:ext cx="3593592" cy="2514600"/>
          </a:xfrm>
          <a:prstGeom prst="roundRect">
            <a:avLst>
              <a:gd name="adj" fmla="val 3273"/>
            </a:avLst>
          </a:prstGeom>
          <a:solidFill>
            <a:srgbClr val="0D0D26">
              <a:alpha val="55000"/>
            </a:srgbClr>
          </a:solidFill>
          <a:ln w="9525">
            <a:solidFill>
              <a:srgbClr val="31316A">
                <a:alpha val="75000"/>
              </a:srgbClr>
            </a:solidFill>
            <a:prstDash val="solid"/>
          </a:ln>
        </p:spPr>
      </p:sp>
      <p:sp>
        <p:nvSpPr>
          <p:cNvPr id="12" name="Text 9"/>
          <p:cNvSpPr/>
          <p:nvPr/>
        </p:nvSpPr>
        <p:spPr>
          <a:xfrm>
            <a:off x="4663440" y="2286000"/>
            <a:ext cx="3136392" cy="292608"/>
          </a:xfrm>
          <a:prstGeom prst="rect">
            <a:avLst/>
          </a:prstGeom>
          <a:noFill/>
          <a:ln/>
        </p:spPr>
        <p:txBody>
          <a:bodyPr wrap="square" lIns="0" tIns="0" rIns="0" bIns="0" rtlCol="0" anchor="ctr"/>
          <a:lstStyle/>
          <a:p>
            <a:pPr indent="0" marL="0">
              <a:buNone/>
            </a:pPr>
            <a:r>
              <a:rPr lang="en-US" sz="1250" b="1" spc="100" kern="0" dirty="0">
                <a:solidFill>
                  <a:srgbClr val="43D5FF"/>
                </a:solidFill>
                <a:latin typeface="Arial" pitchFamily="34" charset="0"/>
                <a:ea typeface="Arial" pitchFamily="34" charset="-122"/>
                <a:cs typeface="Arial" pitchFamily="34" charset="-120"/>
              </a:rPr>
              <a:t>THE REEF</a:t>
            </a:r>
            <a:endParaRPr lang="en-US" sz="1250" dirty="0"/>
          </a:p>
        </p:txBody>
      </p:sp>
      <p:sp>
        <p:nvSpPr>
          <p:cNvPr id="13" name="Text 10"/>
          <p:cNvSpPr/>
          <p:nvPr/>
        </p:nvSpPr>
        <p:spPr>
          <a:xfrm>
            <a:off x="4663440" y="2560320"/>
            <a:ext cx="3136392" cy="685800"/>
          </a:xfrm>
          <a:prstGeom prst="rect">
            <a:avLst/>
          </a:prstGeom>
          <a:noFill/>
          <a:ln/>
        </p:spPr>
        <p:txBody>
          <a:bodyPr wrap="square" lIns="0" tIns="0" rIns="0" bIns="0" rtlCol="0" anchor="ctr"/>
          <a:lstStyle/>
          <a:p>
            <a:pPr indent="0" marL="0">
              <a:buNone/>
            </a:pPr>
            <a:r>
              <a:rPr lang="en-US" sz="4400" b="1" dirty="0">
                <a:solidFill>
                  <a:srgbClr val="FFFFFF"/>
                </a:solidFill>
                <a:latin typeface="Arial" pitchFamily="34" charset="0"/>
                <a:ea typeface="Arial" pitchFamily="34" charset="-122"/>
                <a:cs typeface="Arial" pitchFamily="34" charset="-120"/>
              </a:rPr>
              <a:t>10k+</a:t>
            </a:r>
            <a:endParaRPr lang="en-US" sz="4400" dirty="0"/>
          </a:p>
        </p:txBody>
      </p:sp>
      <p:sp>
        <p:nvSpPr>
          <p:cNvPr id="14" name="Text 11"/>
          <p:cNvSpPr/>
          <p:nvPr/>
        </p:nvSpPr>
        <p:spPr>
          <a:xfrm>
            <a:off x="4663440" y="3255264"/>
            <a:ext cx="3136392" cy="274320"/>
          </a:xfrm>
          <a:prstGeom prst="rect">
            <a:avLst/>
          </a:prstGeom>
          <a:noFill/>
          <a:ln/>
        </p:spPr>
        <p:txBody>
          <a:bodyPr wrap="square" lIns="0" tIns="0" rIns="0" bIns="0" rtlCol="0" anchor="ctr"/>
          <a:lstStyle/>
          <a:p>
            <a:pPr indent="0" marL="0">
              <a:buNone/>
            </a:pPr>
            <a:r>
              <a:rPr lang="en-US" sz="1100" dirty="0">
                <a:solidFill>
                  <a:srgbClr val="B9BEDC"/>
                </a:solidFill>
                <a:latin typeface="Arial" pitchFamily="34" charset="0"/>
                <a:ea typeface="Arial" pitchFamily="34" charset="-122"/>
                <a:cs typeface="Arial" pitchFamily="34" charset="-120"/>
              </a:rPr>
              <a:t>curated investor network</a:t>
            </a:r>
            <a:endParaRPr lang="en-US" sz="1100" dirty="0"/>
          </a:p>
        </p:txBody>
      </p:sp>
      <p:sp>
        <p:nvSpPr>
          <p:cNvPr id="15" name="Text 12"/>
          <p:cNvSpPr/>
          <p:nvPr/>
        </p:nvSpPr>
        <p:spPr>
          <a:xfrm>
            <a:off x="4663440" y="3566160"/>
            <a:ext cx="3136392" cy="868680"/>
          </a:xfrm>
          <a:prstGeom prst="rect">
            <a:avLst/>
          </a:prstGeom>
          <a:noFill/>
          <a:ln/>
        </p:spPr>
        <p:txBody>
          <a:bodyPr wrap="square" lIns="0" tIns="0" rIns="0" bIns="0" rtlCol="0" anchor="t"/>
          <a:lstStyle/>
          <a:p>
            <a:pPr indent="0" marL="0">
              <a:lnSpc>
                <a:spcPct val="112000"/>
              </a:lnSpc>
              <a:buNone/>
            </a:pPr>
            <a:r>
              <a:rPr lang="en-US" sz="1050" dirty="0">
                <a:solidFill>
                  <a:srgbClr val="FFFFFF"/>
                </a:solidFill>
                <a:latin typeface="Arial" pitchFamily="34" charset="0"/>
                <a:ea typeface="Arial" pitchFamily="34" charset="-122"/>
                <a:cs typeface="Arial" pitchFamily="34" charset="-120"/>
              </a:rPr>
              <a:t>Our internal network of opt-in investors actively seeking deal flow, retargeted with your raise.</a:t>
            </a:r>
            <a:endParaRPr lang="en-US" sz="1050" dirty="0"/>
          </a:p>
        </p:txBody>
      </p:sp>
      <p:sp>
        <p:nvSpPr>
          <p:cNvPr id="16" name="Shape 13"/>
          <p:cNvSpPr/>
          <p:nvPr/>
        </p:nvSpPr>
        <p:spPr>
          <a:xfrm>
            <a:off x="8302752" y="2103120"/>
            <a:ext cx="3593592" cy="2514600"/>
          </a:xfrm>
          <a:prstGeom prst="roundRect">
            <a:avLst>
              <a:gd name="adj" fmla="val 3273"/>
            </a:avLst>
          </a:prstGeom>
          <a:solidFill>
            <a:srgbClr val="0D0D26">
              <a:alpha val="55000"/>
            </a:srgbClr>
          </a:solidFill>
          <a:ln w="9525">
            <a:solidFill>
              <a:srgbClr val="31316A">
                <a:alpha val="75000"/>
              </a:srgbClr>
            </a:solidFill>
            <a:prstDash val="solid"/>
          </a:ln>
        </p:spPr>
      </p:sp>
      <p:sp>
        <p:nvSpPr>
          <p:cNvPr id="17" name="Text 14"/>
          <p:cNvSpPr/>
          <p:nvPr/>
        </p:nvSpPr>
        <p:spPr>
          <a:xfrm>
            <a:off x="8531352" y="2286000"/>
            <a:ext cx="3136392" cy="292608"/>
          </a:xfrm>
          <a:prstGeom prst="rect">
            <a:avLst/>
          </a:prstGeom>
          <a:noFill/>
          <a:ln/>
        </p:spPr>
        <p:txBody>
          <a:bodyPr wrap="square" lIns="0" tIns="0" rIns="0" bIns="0" rtlCol="0" anchor="ctr"/>
          <a:lstStyle/>
          <a:p>
            <a:pPr indent="0" marL="0">
              <a:buNone/>
            </a:pPr>
            <a:r>
              <a:rPr lang="en-US" sz="1250" b="1" spc="100" kern="0" dirty="0">
                <a:solidFill>
                  <a:srgbClr val="43D5FF"/>
                </a:solidFill>
                <a:latin typeface="Arial" pitchFamily="34" charset="0"/>
                <a:ea typeface="Arial" pitchFamily="34" charset="-122"/>
                <a:cs typeface="Arial" pitchFamily="34" charset="-120"/>
              </a:rPr>
              <a:t>STARTUP DEAL DESK</a:t>
            </a:r>
            <a:endParaRPr lang="en-US" sz="1250" dirty="0"/>
          </a:p>
        </p:txBody>
      </p:sp>
      <p:sp>
        <p:nvSpPr>
          <p:cNvPr id="18" name="Text 15"/>
          <p:cNvSpPr/>
          <p:nvPr/>
        </p:nvSpPr>
        <p:spPr>
          <a:xfrm>
            <a:off x="8531352" y="2560320"/>
            <a:ext cx="3136392" cy="685800"/>
          </a:xfrm>
          <a:prstGeom prst="rect">
            <a:avLst/>
          </a:prstGeom>
          <a:noFill/>
          <a:ln/>
        </p:spPr>
        <p:txBody>
          <a:bodyPr wrap="square" lIns="0" tIns="0" rIns="0" bIns="0" rtlCol="0" anchor="ctr"/>
          <a:lstStyle/>
          <a:p>
            <a:pPr indent="0" marL="0">
              <a:buNone/>
            </a:pPr>
            <a:r>
              <a:rPr lang="en-US" sz="4400" b="1" dirty="0">
                <a:solidFill>
                  <a:srgbClr val="FFFFFF"/>
                </a:solidFill>
                <a:latin typeface="Arial" pitchFamily="34" charset="0"/>
                <a:ea typeface="Arial" pitchFamily="34" charset="-122"/>
                <a:cs typeface="Arial" pitchFamily="34" charset="-120"/>
              </a:rPr>
              <a:t>84k+</a:t>
            </a:r>
            <a:endParaRPr lang="en-US" sz="4400" dirty="0"/>
          </a:p>
        </p:txBody>
      </p:sp>
      <p:sp>
        <p:nvSpPr>
          <p:cNvPr id="19" name="Text 16"/>
          <p:cNvSpPr/>
          <p:nvPr/>
        </p:nvSpPr>
        <p:spPr>
          <a:xfrm>
            <a:off x="8531352" y="3255264"/>
            <a:ext cx="3136392" cy="274320"/>
          </a:xfrm>
          <a:prstGeom prst="rect">
            <a:avLst/>
          </a:prstGeom>
          <a:noFill/>
          <a:ln/>
        </p:spPr>
        <p:txBody>
          <a:bodyPr wrap="square" lIns="0" tIns="0" rIns="0" bIns="0" rtlCol="0" anchor="ctr"/>
          <a:lstStyle/>
          <a:p>
            <a:pPr indent="0" marL="0">
              <a:buNone/>
            </a:pPr>
            <a:r>
              <a:rPr lang="en-US" sz="1100" dirty="0">
                <a:solidFill>
                  <a:srgbClr val="B9BEDC"/>
                </a:solidFill>
                <a:latin typeface="Arial" pitchFamily="34" charset="0"/>
                <a:ea typeface="Arial" pitchFamily="34" charset="-122"/>
                <a:cs typeface="Arial" pitchFamily="34" charset="-120"/>
              </a:rPr>
              <a:t>investor subscribers</a:t>
            </a:r>
            <a:endParaRPr lang="en-US" sz="1100" dirty="0"/>
          </a:p>
        </p:txBody>
      </p:sp>
      <p:sp>
        <p:nvSpPr>
          <p:cNvPr id="20" name="Text 17"/>
          <p:cNvSpPr/>
          <p:nvPr/>
        </p:nvSpPr>
        <p:spPr>
          <a:xfrm>
            <a:off x="8531352" y="3566160"/>
            <a:ext cx="3136392" cy="868680"/>
          </a:xfrm>
          <a:prstGeom prst="rect">
            <a:avLst/>
          </a:prstGeom>
          <a:noFill/>
          <a:ln/>
        </p:spPr>
        <p:txBody>
          <a:bodyPr wrap="square" lIns="0" tIns="0" rIns="0" bIns="0" rtlCol="0" anchor="t"/>
          <a:lstStyle/>
          <a:p>
            <a:pPr indent="0" marL="0">
              <a:lnSpc>
                <a:spcPct val="112000"/>
              </a:lnSpc>
              <a:buNone/>
            </a:pPr>
            <a:r>
              <a:rPr lang="en-US" sz="1050" dirty="0">
                <a:solidFill>
                  <a:srgbClr val="FFFFFF"/>
                </a:solidFill>
                <a:latin typeface="Arial" pitchFamily="34" charset="0"/>
                <a:ea typeface="Arial" pitchFamily="34" charset="-122"/>
                <a:cs typeface="Arial" pitchFamily="34" charset="-120"/>
              </a:rPr>
              <a:t>Your company featured in our investor newsletter, putting your raise in front of capital allocators at scale.</a:t>
            </a:r>
            <a:endParaRPr lang="en-US" sz="1050" dirty="0"/>
          </a:p>
        </p:txBody>
      </p:sp>
      <p:sp>
        <p:nvSpPr>
          <p:cNvPr id="21" name="Shape 18"/>
          <p:cNvSpPr/>
          <p:nvPr/>
        </p:nvSpPr>
        <p:spPr>
          <a:xfrm>
            <a:off x="566928" y="4846320"/>
            <a:ext cx="11338560" cy="1463040"/>
          </a:xfrm>
          <a:prstGeom prst="roundRect">
            <a:avLst>
              <a:gd name="adj" fmla="val 5625"/>
            </a:avLst>
          </a:prstGeom>
          <a:solidFill>
            <a:srgbClr val="0D0D26">
              <a:alpha val="55000"/>
            </a:srgbClr>
          </a:solidFill>
          <a:ln w="9525">
            <a:solidFill>
              <a:srgbClr val="31316A">
                <a:alpha val="75000"/>
              </a:srgbClr>
            </a:solidFill>
            <a:prstDash val="solid"/>
          </a:ln>
        </p:spPr>
      </p:sp>
      <p:sp>
        <p:nvSpPr>
          <p:cNvPr id="22" name="Text 19"/>
          <p:cNvSpPr/>
          <p:nvPr/>
        </p:nvSpPr>
        <p:spPr>
          <a:xfrm>
            <a:off x="795528" y="5010912"/>
            <a:ext cx="4572000" cy="274320"/>
          </a:xfrm>
          <a:prstGeom prst="rect">
            <a:avLst/>
          </a:prstGeom>
          <a:noFill/>
          <a:ln/>
        </p:spPr>
        <p:txBody>
          <a:bodyPr wrap="square" lIns="0" tIns="0" rIns="0" bIns="0" rtlCol="0" anchor="ctr"/>
          <a:lstStyle/>
          <a:p>
            <a:pPr indent="0" marL="0">
              <a:buNone/>
            </a:pPr>
            <a:r>
              <a:rPr lang="en-US" sz="1200" b="1" spc="100" kern="0" dirty="0">
                <a:solidFill>
                  <a:srgbClr val="7C6CFF"/>
                </a:solidFill>
                <a:latin typeface="Arial" pitchFamily="34" charset="0"/>
                <a:ea typeface="Arial" pitchFamily="34" charset="-122"/>
                <a:cs typeface="Arial" pitchFamily="34" charset="-120"/>
              </a:rPr>
              <a:t>FULLY MANAGED, END TO END</a:t>
            </a:r>
            <a:endParaRPr lang="en-US" sz="1200" dirty="0"/>
          </a:p>
        </p:txBody>
      </p:sp>
      <p:sp>
        <p:nvSpPr>
          <p:cNvPr id="23" name="Text 20"/>
          <p:cNvSpPr/>
          <p:nvPr/>
        </p:nvSpPr>
        <p:spPr>
          <a:xfrm>
            <a:off x="795528" y="5321808"/>
            <a:ext cx="10881360" cy="868680"/>
          </a:xfrm>
          <a:prstGeom prst="rect">
            <a:avLst/>
          </a:prstGeom>
          <a:noFill/>
          <a:ln/>
        </p:spPr>
        <p:txBody>
          <a:bodyPr wrap="square" lIns="0" tIns="0" rIns="0" bIns="0" rtlCol="0" anchor="t"/>
          <a:lstStyle/>
          <a:p>
            <a:pPr indent="0" marL="0">
              <a:lnSpc>
                <a:spcPct val="125000"/>
              </a:lnSpc>
              <a:buNone/>
            </a:pPr>
            <a:r>
              <a:rPr lang="en-US" sz="1200" dirty="0">
                <a:solidFill>
                  <a:srgbClr val="FFFFFF"/>
                </a:solidFill>
                <a:latin typeface="Arial" pitchFamily="34" charset="0"/>
                <a:ea typeface="Arial" pitchFamily="34" charset="-122"/>
                <a:cs typeface="Arial" pitchFamily="34" charset="-120"/>
              </a:rPr>
              <a:t>Strategy &amp; onboarding  ·  LinkedIn profile optimization  ·  Investor targeting &amp; list building  ·  Outreach execution &amp; inbox management  ·  Lead qualification &amp; meeting scheduling  ·  Pitch positioning &amp; storytelling support  ·  CRM setup &amp; management  ·  Reporting &amp; continuous optimization</a:t>
            </a:r>
            <a:endParaRPr lang="en-US" sz="12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pic>
        <p:nvPicPr>
          <p:cNvPr id="2" name="Image 0" descr="/home/claude/brand/clean/logo_header.png">    </p:cNvPr>
          <p:cNvPicPr>
            <a:picLocks noChangeAspect="1"/>
          </p:cNvPicPr>
          <p:nvPr/>
        </p:nvPicPr>
        <p:blipFill>
          <a:blip r:embed="rId2"/>
          <a:stretch>
            <a:fillRect/>
          </a:stretch>
        </p:blipFill>
        <p:spPr>
          <a:xfrm>
            <a:off x="411480" y="164592"/>
            <a:ext cx="850392" cy="530352"/>
          </a:xfrm>
          <a:prstGeom prst="rect">
            <a:avLst/>
          </a:prstGeom>
        </p:spPr>
      </p:pic>
      <p:sp>
        <p:nvSpPr>
          <p:cNvPr id="3" name="Text 0"/>
          <p:cNvSpPr/>
          <p:nvPr/>
        </p:nvSpPr>
        <p:spPr>
          <a:xfrm>
            <a:off x="1417320" y="201168"/>
            <a:ext cx="4114800" cy="457200"/>
          </a:xfrm>
          <a:prstGeom prst="rect">
            <a:avLst/>
          </a:prstGeom>
          <a:noFill/>
          <a:ln/>
        </p:spPr>
        <p:txBody>
          <a:bodyPr wrap="square" lIns="0" tIns="0" rIns="0" bIns="0" rtlCol="0" anchor="ctr"/>
          <a:lstStyle/>
          <a:p>
            <a:pPr indent="0" marL="0">
              <a:buNone/>
            </a:pPr>
            <a:r>
              <a:rPr lang="en-US" sz="1300" spc="200" kern="0" dirty="0">
                <a:solidFill>
                  <a:srgbClr val="FFFFFF"/>
                </a:solidFill>
                <a:latin typeface="Arial" pitchFamily="34" charset="0"/>
                <a:ea typeface="Arial" pitchFamily="34" charset="-122"/>
                <a:cs typeface="Arial" pitchFamily="34" charset="-120"/>
              </a:rPr>
              <a:t>THINKFISH LLC 2026</a:t>
            </a:r>
            <a:endParaRPr lang="en-US" sz="1300" dirty="0"/>
          </a:p>
        </p:txBody>
      </p:sp>
      <p:sp>
        <p:nvSpPr>
          <p:cNvPr id="4" name="Text 1"/>
          <p:cNvSpPr/>
          <p:nvPr/>
        </p:nvSpPr>
        <p:spPr>
          <a:xfrm>
            <a:off x="566928" y="868680"/>
            <a:ext cx="11155680" cy="777240"/>
          </a:xfrm>
          <a:prstGeom prst="rect">
            <a:avLst/>
          </a:prstGeom>
          <a:noFill/>
          <a:ln/>
        </p:spPr>
        <p:txBody>
          <a:bodyPr wrap="square" lIns="0" tIns="0" rIns="0" bIns="0" rtlCol="0" anchor="ctr"/>
          <a:lstStyle/>
          <a:p>
            <a:pPr indent="0" marL="0">
              <a:buNone/>
            </a:pPr>
            <a:r>
              <a:rPr lang="en-US" sz="3800" b="1" dirty="0">
                <a:solidFill>
                  <a:srgbClr val="FFFFFF"/>
                </a:solidFill>
                <a:latin typeface="Arial" pitchFamily="34" charset="0"/>
                <a:ea typeface="Arial" pitchFamily="34" charset="-122"/>
                <a:cs typeface="Arial" pitchFamily="34" charset="-120"/>
              </a:rPr>
              <a:t>Founders Who’ve Run This Play</a:t>
            </a:r>
            <a:endParaRPr lang="en-US" sz="3800" dirty="0"/>
          </a:p>
        </p:txBody>
      </p:sp>
      <p:sp>
        <p:nvSpPr>
          <p:cNvPr id="5" name="Text 2"/>
          <p:cNvSpPr/>
          <p:nvPr/>
        </p:nvSpPr>
        <p:spPr>
          <a:xfrm>
            <a:off x="594360" y="1481328"/>
            <a:ext cx="11155680" cy="320040"/>
          </a:xfrm>
          <a:prstGeom prst="rect">
            <a:avLst/>
          </a:prstGeom>
          <a:noFill/>
          <a:ln/>
        </p:spPr>
        <p:txBody>
          <a:bodyPr wrap="square" lIns="0" tIns="0" rIns="0" bIns="0" rtlCol="0" anchor="ctr"/>
          <a:lstStyle/>
          <a:p>
            <a:pPr indent="0" marL="0">
              <a:buNone/>
            </a:pPr>
            <a:r>
              <a:rPr lang="en-US" sz="1400" b="1" spc="100" kern="0" dirty="0">
                <a:solidFill>
                  <a:srgbClr val="43D5FF"/>
                </a:solidFill>
                <a:latin typeface="Arial" pitchFamily="34" charset="0"/>
                <a:ea typeface="Arial" pitchFamily="34" charset="-122"/>
                <a:cs typeface="Arial" pitchFamily="34" charset="-120"/>
              </a:rPr>
              <a:t>APPENDIX  ·  RESULTS &amp; TESTIMONIALS</a:t>
            </a:r>
            <a:endParaRPr lang="en-US" sz="1400" dirty="0"/>
          </a:p>
        </p:txBody>
      </p:sp>
      <p:sp>
        <p:nvSpPr>
          <p:cNvPr id="6" name="Shape 3"/>
          <p:cNvSpPr/>
          <p:nvPr/>
        </p:nvSpPr>
        <p:spPr>
          <a:xfrm>
            <a:off x="566928" y="2057400"/>
            <a:ext cx="3593592" cy="868680"/>
          </a:xfrm>
          <a:prstGeom prst="roundRect">
            <a:avLst>
              <a:gd name="adj" fmla="val 8571"/>
            </a:avLst>
          </a:prstGeom>
          <a:solidFill>
            <a:srgbClr val="0D0D26">
              <a:alpha val="55000"/>
            </a:srgbClr>
          </a:solidFill>
          <a:ln w="9525">
            <a:solidFill>
              <a:srgbClr val="31316A">
                <a:alpha val="75000"/>
              </a:srgbClr>
            </a:solidFill>
            <a:prstDash val="solid"/>
          </a:ln>
        </p:spPr>
      </p:sp>
      <p:sp>
        <p:nvSpPr>
          <p:cNvPr id="7" name="Text 4"/>
          <p:cNvSpPr/>
          <p:nvPr/>
        </p:nvSpPr>
        <p:spPr>
          <a:xfrm>
            <a:off x="795528" y="2121408"/>
            <a:ext cx="1554480" cy="731520"/>
          </a:xfrm>
          <a:prstGeom prst="rect">
            <a:avLst/>
          </a:prstGeom>
          <a:noFill/>
          <a:ln/>
        </p:spPr>
        <p:txBody>
          <a:bodyPr wrap="square" lIns="0" tIns="0" rIns="0" bIns="0" rtlCol="0" anchor="ctr"/>
          <a:lstStyle/>
          <a:p>
            <a:pPr indent="0" marL="0">
              <a:buNone/>
            </a:pPr>
            <a:r>
              <a:rPr lang="en-US" sz="2400" b="1" dirty="0">
                <a:solidFill>
                  <a:srgbClr val="43D5FF"/>
                </a:solidFill>
                <a:latin typeface="Arial" pitchFamily="34" charset="0"/>
                <a:ea typeface="Arial" pitchFamily="34" charset="-122"/>
                <a:cs typeface="Arial" pitchFamily="34" charset="-120"/>
              </a:rPr>
              <a:t>$200M+</a:t>
            </a:r>
            <a:endParaRPr lang="en-US" sz="2400" dirty="0"/>
          </a:p>
        </p:txBody>
      </p:sp>
      <p:sp>
        <p:nvSpPr>
          <p:cNvPr id="8" name="Text 5"/>
          <p:cNvSpPr/>
          <p:nvPr/>
        </p:nvSpPr>
        <p:spPr>
          <a:xfrm>
            <a:off x="2350008" y="2121408"/>
            <a:ext cx="1581912" cy="731520"/>
          </a:xfrm>
          <a:prstGeom prst="rect">
            <a:avLst/>
          </a:prstGeom>
          <a:noFill/>
          <a:ln/>
        </p:spPr>
        <p:txBody>
          <a:bodyPr wrap="square" lIns="0" tIns="0" rIns="0" bIns="0" rtlCol="0" anchor="ctr"/>
          <a:lstStyle/>
          <a:p>
            <a:pPr indent="0" marL="0">
              <a:lnSpc>
                <a:spcPct val="110000"/>
              </a:lnSpc>
              <a:buNone/>
            </a:pPr>
            <a:r>
              <a:rPr lang="en-US" sz="1050" dirty="0">
                <a:solidFill>
                  <a:srgbClr val="FFFFFF"/>
                </a:solidFill>
                <a:latin typeface="Arial" pitchFamily="34" charset="0"/>
                <a:ea typeface="Arial" pitchFamily="34" charset="-122"/>
                <a:cs typeface="Arial" pitchFamily="34" charset="-120"/>
              </a:rPr>
              <a:t>client-reported capital raised</a:t>
            </a:r>
            <a:endParaRPr lang="en-US" sz="1050" dirty="0"/>
          </a:p>
        </p:txBody>
      </p:sp>
      <p:sp>
        <p:nvSpPr>
          <p:cNvPr id="9" name="Shape 6"/>
          <p:cNvSpPr/>
          <p:nvPr/>
        </p:nvSpPr>
        <p:spPr>
          <a:xfrm>
            <a:off x="4434840" y="2057400"/>
            <a:ext cx="3593592" cy="868680"/>
          </a:xfrm>
          <a:prstGeom prst="roundRect">
            <a:avLst>
              <a:gd name="adj" fmla="val 8571"/>
            </a:avLst>
          </a:prstGeom>
          <a:solidFill>
            <a:srgbClr val="0D0D26">
              <a:alpha val="55000"/>
            </a:srgbClr>
          </a:solidFill>
          <a:ln w="9525">
            <a:solidFill>
              <a:srgbClr val="31316A">
                <a:alpha val="75000"/>
              </a:srgbClr>
            </a:solidFill>
            <a:prstDash val="solid"/>
          </a:ln>
        </p:spPr>
      </p:sp>
      <p:sp>
        <p:nvSpPr>
          <p:cNvPr id="10" name="Text 7"/>
          <p:cNvSpPr/>
          <p:nvPr/>
        </p:nvSpPr>
        <p:spPr>
          <a:xfrm>
            <a:off x="4663440" y="2121408"/>
            <a:ext cx="1554480" cy="731520"/>
          </a:xfrm>
          <a:prstGeom prst="rect">
            <a:avLst/>
          </a:prstGeom>
          <a:noFill/>
          <a:ln/>
        </p:spPr>
        <p:txBody>
          <a:bodyPr wrap="square" lIns="0" tIns="0" rIns="0" bIns="0" rtlCol="0" anchor="ctr"/>
          <a:lstStyle/>
          <a:p>
            <a:pPr indent="0" marL="0">
              <a:buNone/>
            </a:pPr>
            <a:r>
              <a:rPr lang="en-US" sz="2400" b="1" dirty="0">
                <a:solidFill>
                  <a:srgbClr val="43D5FF"/>
                </a:solidFill>
                <a:latin typeface="Arial" pitchFamily="34" charset="0"/>
                <a:ea typeface="Arial" pitchFamily="34" charset="-122"/>
                <a:cs typeface="Arial" pitchFamily="34" charset="-120"/>
              </a:rPr>
              <a:t>10,000+</a:t>
            </a:r>
            <a:endParaRPr lang="en-US" sz="2400" dirty="0"/>
          </a:p>
        </p:txBody>
      </p:sp>
      <p:sp>
        <p:nvSpPr>
          <p:cNvPr id="11" name="Text 8"/>
          <p:cNvSpPr/>
          <p:nvPr/>
        </p:nvSpPr>
        <p:spPr>
          <a:xfrm>
            <a:off x="6217920" y="2121408"/>
            <a:ext cx="1581912" cy="731520"/>
          </a:xfrm>
          <a:prstGeom prst="rect">
            <a:avLst/>
          </a:prstGeom>
          <a:noFill/>
          <a:ln/>
        </p:spPr>
        <p:txBody>
          <a:bodyPr wrap="square" lIns="0" tIns="0" rIns="0" bIns="0" rtlCol="0" anchor="ctr"/>
          <a:lstStyle/>
          <a:p>
            <a:pPr indent="0" marL="0">
              <a:lnSpc>
                <a:spcPct val="110000"/>
              </a:lnSpc>
              <a:buNone/>
            </a:pPr>
            <a:r>
              <a:rPr lang="en-US" sz="1050" dirty="0">
                <a:solidFill>
                  <a:srgbClr val="FFFFFF"/>
                </a:solidFill>
                <a:latin typeface="Arial" pitchFamily="34" charset="0"/>
                <a:ea typeface="Arial" pitchFamily="34" charset="-122"/>
                <a:cs typeface="Arial" pitchFamily="34" charset="-120"/>
              </a:rPr>
              <a:t>qualified investor meetings booked</a:t>
            </a:r>
            <a:endParaRPr lang="en-US" sz="1050" dirty="0"/>
          </a:p>
        </p:txBody>
      </p:sp>
      <p:sp>
        <p:nvSpPr>
          <p:cNvPr id="12" name="Shape 9"/>
          <p:cNvSpPr/>
          <p:nvPr/>
        </p:nvSpPr>
        <p:spPr>
          <a:xfrm>
            <a:off x="8302752" y="2057400"/>
            <a:ext cx="3593592" cy="868680"/>
          </a:xfrm>
          <a:prstGeom prst="roundRect">
            <a:avLst>
              <a:gd name="adj" fmla="val 8571"/>
            </a:avLst>
          </a:prstGeom>
          <a:solidFill>
            <a:srgbClr val="0D0D26">
              <a:alpha val="55000"/>
            </a:srgbClr>
          </a:solidFill>
          <a:ln w="9525">
            <a:solidFill>
              <a:srgbClr val="31316A">
                <a:alpha val="75000"/>
              </a:srgbClr>
            </a:solidFill>
            <a:prstDash val="solid"/>
          </a:ln>
        </p:spPr>
      </p:sp>
      <p:sp>
        <p:nvSpPr>
          <p:cNvPr id="13" name="Text 10"/>
          <p:cNvSpPr/>
          <p:nvPr/>
        </p:nvSpPr>
        <p:spPr>
          <a:xfrm>
            <a:off x="8531352" y="2121408"/>
            <a:ext cx="1554480" cy="731520"/>
          </a:xfrm>
          <a:prstGeom prst="rect">
            <a:avLst/>
          </a:prstGeom>
          <a:noFill/>
          <a:ln/>
        </p:spPr>
        <p:txBody>
          <a:bodyPr wrap="square" lIns="0" tIns="0" rIns="0" bIns="0" rtlCol="0" anchor="ctr"/>
          <a:lstStyle/>
          <a:p>
            <a:pPr indent="0" marL="0">
              <a:buNone/>
            </a:pPr>
            <a:r>
              <a:rPr lang="en-US" sz="2400" b="1" dirty="0">
                <a:solidFill>
                  <a:srgbClr val="43D5FF"/>
                </a:solidFill>
                <a:latin typeface="Arial" pitchFamily="34" charset="0"/>
                <a:ea typeface="Arial" pitchFamily="34" charset="-122"/>
                <a:cs typeface="Arial" pitchFamily="34" charset="-120"/>
              </a:rPr>
              <a:t>500+</a:t>
            </a:r>
            <a:endParaRPr lang="en-US" sz="2400" dirty="0"/>
          </a:p>
        </p:txBody>
      </p:sp>
      <p:sp>
        <p:nvSpPr>
          <p:cNvPr id="14" name="Text 11"/>
          <p:cNvSpPr/>
          <p:nvPr/>
        </p:nvSpPr>
        <p:spPr>
          <a:xfrm>
            <a:off x="10085832" y="2121408"/>
            <a:ext cx="1581912" cy="731520"/>
          </a:xfrm>
          <a:prstGeom prst="rect">
            <a:avLst/>
          </a:prstGeom>
          <a:noFill/>
          <a:ln/>
        </p:spPr>
        <p:txBody>
          <a:bodyPr wrap="square" lIns="0" tIns="0" rIns="0" bIns="0" rtlCol="0" anchor="ctr"/>
          <a:lstStyle/>
          <a:p>
            <a:pPr indent="0" marL="0">
              <a:lnSpc>
                <a:spcPct val="110000"/>
              </a:lnSpc>
              <a:buNone/>
            </a:pPr>
            <a:r>
              <a:rPr lang="en-US" sz="1050" dirty="0">
                <a:solidFill>
                  <a:srgbClr val="FFFFFF"/>
                </a:solidFill>
                <a:latin typeface="Arial" pitchFamily="34" charset="0"/>
                <a:ea typeface="Arial" pitchFamily="34" charset="-122"/>
                <a:cs typeface="Arial" pitchFamily="34" charset="-120"/>
              </a:rPr>
              <a:t>clients served since 2020</a:t>
            </a:r>
            <a:endParaRPr lang="en-US" sz="1050" dirty="0"/>
          </a:p>
        </p:txBody>
      </p:sp>
      <p:sp>
        <p:nvSpPr>
          <p:cNvPr id="362" name="Shape 40"/>
          <p:cNvSpPr/>
          <p:nvPr/>
        </p:nvSpPr>
        <p:spPr>
          <a:xfrm>
            <a:off x="566928" y="3063240"/>
            <a:ext cx="3593592" cy="1920240"/>
          </a:xfrm>
          <a:prstGeom prst="roundRect">
            <a:avLst>
              <a:gd name="adj" fmla="val 4286"/>
            </a:avLst>
          </a:prstGeom>
          <a:solidFill>
            <a:srgbClr val="0D0D26">
              <a:alpha val="55000"/>
            </a:srgbClr>
          </a:solidFill>
          <a:ln w="9525">
            <a:solidFill>
              <a:srgbClr val="31316A">
                <a:alpha val="75000"/>
              </a:srgbClr>
            </a:solidFill>
            <a:prstDash val="solid"/>
          </a:ln>
        </p:spPr>
      </p:sp>
      <p:sp>
        <p:nvSpPr>
          <p:cNvPr id="363" name="Text 40a"/>
          <p:cNvSpPr/>
          <p:nvPr/>
        </p:nvSpPr>
        <p:spPr>
          <a:xfrm>
            <a:off x="795528" y="3145536"/>
            <a:ext cx="3136392" cy="256032"/>
          </a:xfrm>
          <a:prstGeom prst="rect">
            <a:avLst/>
          </a:prstGeom>
          <a:noFill/>
          <a:ln/>
        </p:spPr>
        <p:txBody>
          <a:bodyPr wrap="square" lIns="0" tIns="0" rIns="0" bIns="0" rtlCol="0" anchor="ctr"/>
          <a:lstStyle/>
          <a:p>
            <a:pPr indent="0" marL="0">
              <a:buNone/>
            </a:pPr>
            <a:r>
              <a:rPr lang="en-US" sz="1000" b="1" spc="100" kern="0" dirty="0">
                <a:solidFill>
                  <a:srgbClr val="7C6CFF"/>
                </a:solidFill>
                <a:latin typeface="Arial" pitchFamily="34" charset="0"/>
                <a:ea typeface="Arial" pitchFamily="34" charset="-122"/>
                <a:cs typeface="Arial" pitchFamily="34" charset="-120"/>
              </a:rPr>
              <a:t>ISSUANCE  ·  DARREN MARBLE, CEO</a:t>
            </a:r>
            <a:endParaRPr lang="en-US" sz="1000" dirty="0"/>
          </a:p>
        </p:txBody>
      </p:sp>
      <p:sp>
        <p:nvSpPr>
          <p:cNvPr id="364" name="Text 40b"/>
          <p:cNvSpPr/>
          <p:nvPr/>
        </p:nvSpPr>
        <p:spPr>
          <a:xfrm>
            <a:off x="795528" y="3419856"/>
            <a:ext cx="3136392" cy="1207008"/>
          </a:xfrm>
          <a:prstGeom prst="rect">
            <a:avLst/>
          </a:prstGeom>
          <a:noFill/>
          <a:ln/>
        </p:spPr>
        <p:txBody>
          <a:bodyPr wrap="square" lIns="0" tIns="0" rIns="0" bIns="0" rtlCol="0" anchor="t"/>
          <a:lstStyle/>
          <a:p>
            <a:pPr indent="0" marL="0">
              <a:lnSpc>
                <a:spcPct val="120000"/>
              </a:lnSpc>
              <a:buNone/>
            </a:pPr>
            <a:r>
              <a:rPr lang="en-US" sz="1050" i="1" dirty="0">
                <a:solidFill>
                  <a:srgbClr val="FFFFFF"/>
                </a:solidFill>
                <a:latin typeface="Arial" pitchFamily="34" charset="0"/>
                <a:ea typeface="Arial" pitchFamily="34" charset="-122"/>
                <a:cs typeface="Arial" pitchFamily="34" charset="-120"/>
              </a:rPr>
              <a:t>“…one of the most effective investor marketing firms I’ve ever worked with when it comes to raising capital for my companies. In the last 60 days alone, FISH has arranged 25 qualified investor meetings for me.”</a:t>
            </a:r>
            <a:endParaRPr lang="en-US" sz="1050" dirty="0"/>
          </a:p>
        </p:txBody>
      </p:sp>
      <p:sp>
        <p:nvSpPr>
          <p:cNvPr id="365" name="Text 40c"/>
          <p:cNvSpPr/>
          <p:nvPr/>
        </p:nvSpPr>
        <p:spPr>
          <a:xfrm>
            <a:off x="795528" y="4663440"/>
            <a:ext cx="3136392" cy="256032"/>
          </a:xfrm>
          <a:prstGeom prst="rect">
            <a:avLst/>
          </a:prstGeom>
          <a:noFill/>
          <a:ln/>
        </p:spPr>
        <p:txBody>
          <a:bodyPr wrap="square" lIns="0" tIns="0" rIns="0" bIns="0" rtlCol="0" anchor="ctr"/>
          <a:lstStyle/>
          <a:p>
            <a:pPr indent="0" marL="0">
              <a:buNone/>
            </a:pPr>
            <a:r>
              <a:rPr lang="en-US" sz="1000" b="1" dirty="0">
                <a:solidFill>
                  <a:srgbClr val="43D5FF"/>
                </a:solidFill>
                <a:latin typeface="Arial" pitchFamily="34" charset="0"/>
                <a:ea typeface="Arial" pitchFamily="34" charset="-122"/>
                <a:cs typeface="Arial" pitchFamily="34" charset="-120"/>
              </a:rPr>
              <a:t>25 QUALIFIED INVESTOR MEETINGS IN 60 DAYS</a:t>
            </a:r>
            <a:endParaRPr lang="en-US" sz="1000" dirty="0"/>
          </a:p>
        </p:txBody>
      </p:sp>
      <p:sp>
        <p:nvSpPr>
          <p:cNvPr id="366" name="Shape 41"/>
          <p:cNvSpPr/>
          <p:nvPr/>
        </p:nvSpPr>
        <p:spPr>
          <a:xfrm>
            <a:off x="4434840" y="3063240"/>
            <a:ext cx="3593592" cy="1920240"/>
          </a:xfrm>
          <a:prstGeom prst="roundRect">
            <a:avLst>
              <a:gd name="adj" fmla="val 4286"/>
            </a:avLst>
          </a:prstGeom>
          <a:solidFill>
            <a:srgbClr val="0D0D26">
              <a:alpha val="55000"/>
            </a:srgbClr>
          </a:solidFill>
          <a:ln w="9525">
            <a:solidFill>
              <a:srgbClr val="31316A">
                <a:alpha val="75000"/>
              </a:srgbClr>
            </a:solidFill>
            <a:prstDash val="solid"/>
          </a:ln>
        </p:spPr>
      </p:sp>
      <p:sp>
        <p:nvSpPr>
          <p:cNvPr id="367" name="Text 41a"/>
          <p:cNvSpPr/>
          <p:nvPr/>
        </p:nvSpPr>
        <p:spPr>
          <a:xfrm>
            <a:off x="4663440" y="3145536"/>
            <a:ext cx="3136392" cy="256032"/>
          </a:xfrm>
          <a:prstGeom prst="rect">
            <a:avLst/>
          </a:prstGeom>
          <a:noFill/>
          <a:ln/>
        </p:spPr>
        <p:txBody>
          <a:bodyPr wrap="square" lIns="0" tIns="0" rIns="0" bIns="0" rtlCol="0" anchor="ctr"/>
          <a:lstStyle/>
          <a:p>
            <a:pPr indent="0" marL="0">
              <a:buNone/>
            </a:pPr>
            <a:r>
              <a:rPr lang="en-US" sz="1000" b="1" spc="100" kern="0" dirty="0">
                <a:solidFill>
                  <a:srgbClr val="7C6CFF"/>
                </a:solidFill>
                <a:latin typeface="Arial" pitchFamily="34" charset="0"/>
                <a:ea typeface="Arial" pitchFamily="34" charset="-122"/>
                <a:cs typeface="Arial" pitchFamily="34" charset="-120"/>
              </a:rPr>
              <a:t>CARTHAGE CAPITAL  ·  STEPHEN WU</a:t>
            </a:r>
            <a:endParaRPr lang="en-US" sz="1000" dirty="0"/>
          </a:p>
        </p:txBody>
      </p:sp>
      <p:sp>
        <p:nvSpPr>
          <p:cNvPr id="368" name="Text 41b"/>
          <p:cNvSpPr/>
          <p:nvPr/>
        </p:nvSpPr>
        <p:spPr>
          <a:xfrm>
            <a:off x="4663440" y="3419856"/>
            <a:ext cx="3136392" cy="1207008"/>
          </a:xfrm>
          <a:prstGeom prst="rect">
            <a:avLst/>
          </a:prstGeom>
          <a:noFill/>
          <a:ln/>
        </p:spPr>
        <p:txBody>
          <a:bodyPr wrap="square" lIns="0" tIns="0" rIns="0" bIns="0" rtlCol="0" anchor="t"/>
          <a:lstStyle/>
          <a:p>
            <a:pPr indent="0" marL="0">
              <a:lnSpc>
                <a:spcPct val="120000"/>
              </a:lnSpc>
              <a:buNone/>
            </a:pPr>
            <a:r>
              <a:rPr lang="en-US" sz="1050" i="1" dirty="0">
                <a:solidFill>
                  <a:srgbClr val="FFFFFF"/>
                </a:solidFill>
                <a:latin typeface="Arial" pitchFamily="34" charset="0"/>
                <a:ea typeface="Arial" pitchFamily="34" charset="-122"/>
                <a:cs typeface="Arial" pitchFamily="34" charset="-120"/>
              </a:rPr>
              <a:t>“ThinkFISH helped me raise $2 to $3 million across around 20 different investors over the past nine months. Two to three meetings every week, consistently, and they’re already interested. You delivered way above my expectations.”</a:t>
            </a:r>
            <a:endParaRPr lang="en-US" sz="1050" dirty="0"/>
          </a:p>
        </p:txBody>
      </p:sp>
      <p:sp>
        <p:nvSpPr>
          <p:cNvPr id="369" name="Text 41c"/>
          <p:cNvSpPr/>
          <p:nvPr/>
        </p:nvSpPr>
        <p:spPr>
          <a:xfrm>
            <a:off x="4663440" y="4663440"/>
            <a:ext cx="3136392" cy="256032"/>
          </a:xfrm>
          <a:prstGeom prst="rect">
            <a:avLst/>
          </a:prstGeom>
          <a:noFill/>
          <a:ln/>
        </p:spPr>
        <p:txBody>
          <a:bodyPr wrap="square" lIns="0" tIns="0" rIns="0" bIns="0" rtlCol="0" anchor="ctr"/>
          <a:lstStyle/>
          <a:p>
            <a:pPr indent="0" marL="0">
              <a:buNone/>
            </a:pPr>
            <a:r>
              <a:rPr lang="en-US" sz="1000" b="1" dirty="0">
                <a:solidFill>
                  <a:srgbClr val="43D5FF"/>
                </a:solidFill>
                <a:latin typeface="Arial" pitchFamily="34" charset="0"/>
                <a:ea typeface="Arial" pitchFamily="34" charset="-122"/>
                <a:cs typeface="Arial" pitchFamily="34" charset="-120"/>
              </a:rPr>
              <a:t>$2–3M RAISED  ·  ~20 INVESTORS  ·  9 MONTHS</a:t>
            </a:r>
            <a:endParaRPr lang="en-US" sz="1000" dirty="0"/>
          </a:p>
        </p:txBody>
      </p:sp>
      <p:sp>
        <p:nvSpPr>
          <p:cNvPr id="370" name="Shape 42"/>
          <p:cNvSpPr/>
          <p:nvPr/>
        </p:nvSpPr>
        <p:spPr>
          <a:xfrm>
            <a:off x="8302752" y="3063240"/>
            <a:ext cx="3593592" cy="1920240"/>
          </a:xfrm>
          <a:prstGeom prst="roundRect">
            <a:avLst>
              <a:gd name="adj" fmla="val 4286"/>
            </a:avLst>
          </a:prstGeom>
          <a:solidFill>
            <a:srgbClr val="0D0D26">
              <a:alpha val="55000"/>
            </a:srgbClr>
          </a:solidFill>
          <a:ln w="9525">
            <a:solidFill>
              <a:srgbClr val="31316A">
                <a:alpha val="75000"/>
              </a:srgbClr>
            </a:solidFill>
            <a:prstDash val="solid"/>
          </a:ln>
        </p:spPr>
      </p:sp>
      <p:sp>
        <p:nvSpPr>
          <p:cNvPr id="371" name="Text 42a"/>
          <p:cNvSpPr/>
          <p:nvPr/>
        </p:nvSpPr>
        <p:spPr>
          <a:xfrm>
            <a:off x="8531352" y="3145536"/>
            <a:ext cx="3136392" cy="256032"/>
          </a:xfrm>
          <a:prstGeom prst="rect">
            <a:avLst/>
          </a:prstGeom>
          <a:noFill/>
          <a:ln/>
        </p:spPr>
        <p:txBody>
          <a:bodyPr wrap="square" lIns="0" tIns="0" rIns="0" bIns="0" rtlCol="0" anchor="ctr"/>
          <a:lstStyle/>
          <a:p>
            <a:pPr indent="0" marL="0">
              <a:buNone/>
            </a:pPr>
            <a:r>
              <a:rPr lang="en-US" sz="1000" b="1" spc="100" kern="0" dirty="0">
                <a:solidFill>
                  <a:srgbClr val="7C6CFF"/>
                </a:solidFill>
                <a:latin typeface="Arial" pitchFamily="34" charset="0"/>
                <a:ea typeface="Arial" pitchFamily="34" charset="-122"/>
                <a:cs typeface="Arial" pitchFamily="34" charset="-120"/>
              </a:rPr>
              <a:t>OPTIONSMD  ·  KYLE PIERCE, CEO</a:t>
            </a:r>
            <a:endParaRPr lang="en-US" sz="1000" dirty="0"/>
          </a:p>
        </p:txBody>
      </p:sp>
      <p:sp>
        <p:nvSpPr>
          <p:cNvPr id="372" name="Text 42b"/>
          <p:cNvSpPr/>
          <p:nvPr/>
        </p:nvSpPr>
        <p:spPr>
          <a:xfrm>
            <a:off x="8531352" y="3419856"/>
            <a:ext cx="3136392" cy="1207008"/>
          </a:xfrm>
          <a:prstGeom prst="rect">
            <a:avLst/>
          </a:prstGeom>
          <a:noFill/>
          <a:ln/>
        </p:spPr>
        <p:txBody>
          <a:bodyPr wrap="square" lIns="0" tIns="0" rIns="0" bIns="0" rtlCol="0" anchor="t"/>
          <a:lstStyle/>
          <a:p>
            <a:pPr indent="0" marL="0">
              <a:lnSpc>
                <a:spcPct val="120000"/>
              </a:lnSpc>
              <a:buNone/>
            </a:pPr>
            <a:r>
              <a:rPr lang="en-US" sz="1050" i="1" dirty="0">
                <a:solidFill>
                  <a:srgbClr val="FFFFFF"/>
                </a:solidFill>
                <a:latin typeface="Arial" pitchFamily="34" charset="0"/>
                <a:ea typeface="Arial" pitchFamily="34" charset="-122"/>
                <a:cs typeface="Arial" pitchFamily="34" charset="-120"/>
              </a:rPr>
              <a:t>“We’ve had a great experience with the team. The number and relevance of investor connections have grown quickly, and each meeting has proven valuable. We’ve been pleasantly surprised by the unexpected opportunities that have come from them.”</a:t>
            </a:r>
            <a:endParaRPr lang="en-US" sz="1050" dirty="0"/>
          </a:p>
        </p:txBody>
      </p:sp>
      <p:sp>
        <p:nvSpPr>
          <p:cNvPr id="373" name="Text 42c"/>
          <p:cNvSpPr/>
          <p:nvPr/>
        </p:nvSpPr>
        <p:spPr>
          <a:xfrm>
            <a:off x="8531352" y="4663440"/>
            <a:ext cx="3136392" cy="256032"/>
          </a:xfrm>
          <a:prstGeom prst="rect">
            <a:avLst/>
          </a:prstGeom>
          <a:noFill/>
          <a:ln/>
        </p:spPr>
        <p:txBody>
          <a:bodyPr wrap="square" lIns="0" tIns="0" rIns="0" bIns="0" rtlCol="0" anchor="ctr"/>
          <a:lstStyle/>
          <a:p>
            <a:pPr indent="0" marL="0">
              <a:buNone/>
            </a:pPr>
            <a:r>
              <a:rPr lang="en-US" sz="1000" b="1" dirty="0">
                <a:solidFill>
                  <a:srgbClr val="43D5FF"/>
                </a:solidFill>
                <a:latin typeface="Arial" pitchFamily="34" charset="0"/>
                <a:ea typeface="Arial" pitchFamily="34" charset="-122"/>
                <a:cs typeface="Arial" pitchFamily="34" charset="-120"/>
              </a:rPr>
              <a:t>90 MEETINGS IN 3 MONTHS  ·  LATER ACQUIRED</a:t>
            </a:r>
            <a:endParaRPr lang="en-US" sz="1000" dirty="0"/>
          </a:p>
        </p:txBody>
      </p:sp>
      <p:sp>
        <p:nvSpPr>
          <p:cNvPr id="374" name="Shape 50"/>
          <p:cNvSpPr/>
          <p:nvPr/>
        </p:nvSpPr>
        <p:spPr>
          <a:xfrm>
            <a:off x="566928" y="5120640"/>
            <a:ext cx="5532120" cy="777240"/>
          </a:xfrm>
          <a:prstGeom prst="roundRect">
            <a:avLst>
              <a:gd name="adj" fmla="val 4286"/>
            </a:avLst>
          </a:prstGeom>
          <a:solidFill>
            <a:srgbClr val="0D0D26">
              <a:alpha val="55000"/>
            </a:srgbClr>
          </a:solidFill>
          <a:ln w="9525">
            <a:solidFill>
              <a:srgbClr val="31316A">
                <a:alpha val="75000"/>
              </a:srgbClr>
            </a:solidFill>
            <a:prstDash val="solid"/>
          </a:ln>
        </p:spPr>
      </p:sp>
      <p:sp>
        <p:nvSpPr>
          <p:cNvPr id="375" name="Text 50b"/>
          <p:cNvSpPr/>
          <p:nvPr/>
        </p:nvSpPr>
        <p:spPr>
          <a:xfrm>
            <a:off x="795528" y="5175504"/>
            <a:ext cx="5074920" cy="502920"/>
          </a:xfrm>
          <a:prstGeom prst="rect">
            <a:avLst/>
          </a:prstGeom>
          <a:noFill/>
          <a:ln/>
        </p:spPr>
        <p:txBody>
          <a:bodyPr wrap="square" lIns="0" tIns="0" rIns="0" bIns="0" rtlCol="0" anchor="t"/>
          <a:lstStyle/>
          <a:p>
            <a:pPr indent="0" marL="0">
              <a:lnSpc>
                <a:spcPct val="112000"/>
              </a:lnSpc>
              <a:buNone/>
            </a:pPr>
            <a:r>
              <a:rPr lang="en-US" sz="1000" i="1" dirty="0">
                <a:solidFill>
                  <a:srgbClr val="FFFFFF"/>
                </a:solidFill>
                <a:latin typeface="Arial" pitchFamily="34" charset="0"/>
                <a:ea typeface="Arial" pitchFamily="34" charset="-122"/>
                <a:cs typeface="Arial" pitchFamily="34" charset="-120"/>
              </a:rPr>
              <a:t>“You guys truly exceeded my expectations. Honestly, I viewed it as a $20,000 gamble—like playing blackjack. But ironically, the very first lead you introduced was a solid single, and I was totally blown away.”</a:t>
            </a:r>
            <a:endParaRPr lang="en-US" sz="1000" dirty="0"/>
          </a:p>
        </p:txBody>
      </p:sp>
      <p:sp>
        <p:nvSpPr>
          <p:cNvPr id="376" name="Text 50c"/>
          <p:cNvSpPr/>
          <p:nvPr/>
        </p:nvSpPr>
        <p:spPr>
          <a:xfrm>
            <a:off x="795528" y="5678424"/>
            <a:ext cx="5074920" cy="201168"/>
          </a:xfrm>
          <a:prstGeom prst="rect">
            <a:avLst/>
          </a:prstGeom>
          <a:noFill/>
          <a:ln/>
        </p:spPr>
        <p:txBody>
          <a:bodyPr wrap="square" lIns="0" tIns="0" rIns="0" bIns="0" rtlCol="0" anchor="ctr"/>
          <a:lstStyle/>
          <a:p>
            <a:pPr indent="0" marL="0">
              <a:buNone/>
            </a:pPr>
            <a:r>
              <a:rPr lang="en-US" sz="950" b="1" dirty="0">
                <a:solidFill>
                  <a:srgbClr val="43D5FF"/>
                </a:solidFill>
                <a:latin typeface="Arial" pitchFamily="34" charset="0"/>
                <a:ea typeface="Arial" pitchFamily="34" charset="-122"/>
                <a:cs typeface="Arial" pitchFamily="34" charset="-120"/>
              </a:rPr>
              <a:t>TODD MCALLISTER, CEO, BIOAGE DATA</a:t>
            </a:r>
            <a:endParaRPr lang="en-US" sz="950" dirty="0"/>
          </a:p>
        </p:txBody>
      </p:sp>
      <p:sp>
        <p:nvSpPr>
          <p:cNvPr id="377" name="Shape 51"/>
          <p:cNvSpPr/>
          <p:nvPr/>
        </p:nvSpPr>
        <p:spPr>
          <a:xfrm>
            <a:off x="6373368" y="5120640"/>
            <a:ext cx="5532120" cy="777240"/>
          </a:xfrm>
          <a:prstGeom prst="roundRect">
            <a:avLst>
              <a:gd name="adj" fmla="val 4286"/>
            </a:avLst>
          </a:prstGeom>
          <a:solidFill>
            <a:srgbClr val="0D0D26">
              <a:alpha val="55000"/>
            </a:srgbClr>
          </a:solidFill>
          <a:ln w="9525">
            <a:solidFill>
              <a:srgbClr val="31316A">
                <a:alpha val="75000"/>
              </a:srgbClr>
            </a:solidFill>
            <a:prstDash val="solid"/>
          </a:ln>
        </p:spPr>
      </p:sp>
      <p:sp>
        <p:nvSpPr>
          <p:cNvPr id="378" name="Text 51b"/>
          <p:cNvSpPr/>
          <p:nvPr/>
        </p:nvSpPr>
        <p:spPr>
          <a:xfrm>
            <a:off x="6601968" y="5175504"/>
            <a:ext cx="5074920" cy="502920"/>
          </a:xfrm>
          <a:prstGeom prst="rect">
            <a:avLst/>
          </a:prstGeom>
          <a:noFill/>
          <a:ln/>
        </p:spPr>
        <p:txBody>
          <a:bodyPr wrap="square" lIns="0" tIns="0" rIns="0" bIns="0" rtlCol="0" anchor="t"/>
          <a:lstStyle/>
          <a:p>
            <a:pPr indent="0" marL="0">
              <a:lnSpc>
                <a:spcPct val="112000"/>
              </a:lnSpc>
              <a:buNone/>
            </a:pPr>
            <a:r>
              <a:rPr lang="en-US" sz="1000" i="1" dirty="0">
                <a:solidFill>
                  <a:srgbClr val="FFFFFF"/>
                </a:solidFill>
                <a:latin typeface="Arial" pitchFamily="34" charset="0"/>
                <a:ea typeface="Arial" pitchFamily="34" charset="-122"/>
                <a:cs typeface="Arial" pitchFamily="34" charset="-120"/>
              </a:rPr>
              <a:t>“ThinkFISH has consistently provided a steady stream of leads each week—over 20 so far! … Whenever a prospect doesn’t meet our criteria, they immediately remove them, which saves us valuable time.”</a:t>
            </a:r>
            <a:endParaRPr lang="en-US" sz="1000" dirty="0"/>
          </a:p>
        </p:txBody>
      </p:sp>
      <p:sp>
        <p:nvSpPr>
          <p:cNvPr id="379" name="Text 51c"/>
          <p:cNvSpPr/>
          <p:nvPr/>
        </p:nvSpPr>
        <p:spPr>
          <a:xfrm>
            <a:off x="6601968" y="5678424"/>
            <a:ext cx="5074920" cy="201168"/>
          </a:xfrm>
          <a:prstGeom prst="rect">
            <a:avLst/>
          </a:prstGeom>
          <a:noFill/>
          <a:ln/>
        </p:spPr>
        <p:txBody>
          <a:bodyPr wrap="square" lIns="0" tIns="0" rIns="0" bIns="0" rtlCol="0" anchor="ctr"/>
          <a:lstStyle/>
          <a:p>
            <a:pPr indent="0" marL="0">
              <a:buNone/>
            </a:pPr>
            <a:r>
              <a:rPr lang="en-US" sz="950" b="1" dirty="0">
                <a:solidFill>
                  <a:srgbClr val="43D5FF"/>
                </a:solidFill>
                <a:latin typeface="Arial" pitchFamily="34" charset="0"/>
                <a:ea typeface="Arial" pitchFamily="34" charset="-122"/>
                <a:cs typeface="Arial" pitchFamily="34" charset="-120"/>
              </a:rPr>
              <a:t>MATT SHIH, CO-FOUNDER &amp; CHIEF DESIGN OFFICER, PAINTBOX LABS</a:t>
            </a:r>
            <a:endParaRPr lang="en-US" sz="950" dirty="0"/>
          </a:p>
        </p:txBody>
      </p:sp>
      <p:sp>
        <p:nvSpPr>
          <p:cNvPr id="21" name="Shape 18"/>
          <p:cNvSpPr/>
          <p:nvPr/>
        </p:nvSpPr>
        <p:spPr>
          <a:xfrm>
            <a:off x="566928" y="6035040"/>
            <a:ext cx="11338560" cy="566928"/>
          </a:xfrm>
          <a:prstGeom prst="roundRect">
            <a:avLst>
              <a:gd name="adj" fmla="val 8182"/>
            </a:avLst>
          </a:prstGeom>
          <a:solidFill>
            <a:srgbClr val="0D0D26">
              <a:alpha val="55000"/>
            </a:srgbClr>
          </a:solidFill>
          <a:ln w="9525">
            <a:solidFill>
              <a:srgbClr val="31316A">
                <a:alpha val="75000"/>
              </a:srgbClr>
            </a:solidFill>
            <a:prstDash val="solid"/>
          </a:ln>
        </p:spPr>
      </p:sp>
      <p:sp>
        <p:nvSpPr>
          <p:cNvPr id="22" name="Text 19"/>
          <p:cNvSpPr/>
          <p:nvPr/>
        </p:nvSpPr>
        <p:spPr>
          <a:xfrm>
            <a:off x="795528" y="6089904"/>
            <a:ext cx="10881360" cy="457200"/>
          </a:xfrm>
          <a:prstGeom prst="rect">
            <a:avLst/>
          </a:prstGeom>
          <a:noFill/>
          <a:ln/>
        </p:spPr>
        <p:txBody>
          <a:bodyPr wrap="square" lIns="0" tIns="0" rIns="0" bIns="0" rtlCol="0" anchor="ctr"/>
          <a:lstStyle/>
          <a:p>
            <a:pPr indent="0" marL="0">
              <a:spcAft>
                <a:spcPts val="600"/>
              </a:spcAft>
              <a:buNone/>
            </a:pPr>
            <a:r>
              <a:rPr lang="en-US" sz="1200" b="1" spc="100" kern="0" dirty="0">
                <a:solidFill>
                  <a:srgbClr val="7C6CFF"/>
                </a:solidFill>
                <a:latin typeface="Arial" pitchFamily="34" charset="0"/>
                <a:ea typeface="Arial" pitchFamily="34" charset="-122"/>
                <a:cs typeface="Arial" pitchFamily="34" charset="-120"/>
              </a:rPr>
              <a:t xml:space="preserve">VIDEO TESTIMONIALS   </a:t>
            </a:r>
            <a:r>
              <a:rPr lang="en-US" sz="1300" dirty="0">
                <a:solidFill>
                  <a:srgbClr val="FFFFFF"/>
                </a:solidFill>
                <a:latin typeface="Arial" pitchFamily="34" charset="0"/>
                <a:ea typeface="Arial" pitchFamily="34" charset="-122"/>
                <a:cs typeface="Arial" pitchFamily="34" charset="-120"/>
              </a:rPr>
              <a:t xml:space="preserve">youtube.com/@thinkFISHLLC/videos</a:t>
            </a:r>
            <a:endParaRPr lang="en-US" sz="1200" dirty="0"/>
          </a:p>
          <a:p>
            <a:pPr indent="0" marL="0">
              <a:buNone/>
            </a:pPr>
            <a:r>
              <a:rPr lang="en-US" sz="1200" b="1" spc="100" kern="0" dirty="0">
                <a:solidFill>
                  <a:srgbClr val="7C6CFF"/>
                </a:solidFill>
                <a:latin typeface="Arial" pitchFamily="34" charset="0"/>
                <a:ea typeface="Arial" pitchFamily="34" charset="-122"/>
                <a:cs typeface="Arial" pitchFamily="34" charset="-120"/>
              </a:rPr>
              <a:t xml:space="preserve">HOW WE DO IT   </a:t>
            </a:r>
            <a:r>
              <a:rPr lang="en-US" sz="1300" dirty="0">
                <a:solidFill>
                  <a:srgbClr val="FFFFFF"/>
                </a:solidFill>
                <a:latin typeface="Arial" pitchFamily="34" charset="0"/>
                <a:ea typeface="Arial" pitchFamily="34" charset="-122"/>
                <a:cs typeface="Arial" pitchFamily="34" charset="-120"/>
              </a:rPr>
              <a:t xml:space="preserve">bit.ly/thinkfish_method</a:t>
            </a:r>
            <a:r>
              <a:rPr lang="en-US" sz="1200" b="1" spc="100" kern="0" dirty="0">
                <a:solidFill>
                  <a:srgbClr val="7C6CFF"/>
                </a:solidFill>
                <a:latin typeface="Arial" pitchFamily="34" charset="0"/>
                <a:ea typeface="Arial" pitchFamily="34" charset="-122"/>
                <a:cs typeface="Arial" pitchFamily="34" charset="-120"/>
              </a:rPr>
              <a:t xml:space="preserve">        WHO WE ARE   </a:t>
            </a:r>
            <a:r>
              <a:rPr lang="en-US" sz="1300" dirty="0">
                <a:solidFill>
                  <a:srgbClr val="FFFFFF"/>
                </a:solidFill>
                <a:latin typeface="Arial" pitchFamily="34" charset="0"/>
                <a:ea typeface="Arial" pitchFamily="34" charset="-122"/>
                <a:cs typeface="Arial" pitchFamily="34" charset="-120"/>
              </a:rPr>
              <a:t xml:space="preserve">bit.ly/thinkfish_VSL</a:t>
            </a:r>
            <a:endParaRPr lang="en-US" sz="12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14</Slides>
  <Notes>14</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14</vt:i4>
      </vt:variant>
    </vt:vector>
  </HeadingPairs>
  <TitlesOfParts>
    <vt:vector size="17"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2026-07-20T20:56:15Z</dcterms:created>
  <dcterms:modified xsi:type="dcterms:W3CDTF">2026-07-20T20:56:15Z</dcterms:modified>
</cp:coreProperties>
</file>