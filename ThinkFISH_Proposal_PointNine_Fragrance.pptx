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101"/>
    <p:sldId id="258" r:id="rId102"/>
    <p:sldId id="259" r:id="rId103"/>
    <p:sldId id="260" r:id="rId104"/>
    <p:sldId id="261" r:id="rId105"/>
    <p:sldId id="262" r:id="rId106"/>
    <p:sldId id="263" r:id="rId107"/>
    <p:sldId id="264" r:id="rId108"/>
    <p:sldId id="265" r:id="rId109"/>
    <p:sldId id="266" r:id="rId110"/>
    <p:sldId id="267" r:id="rId111"/>
    <p:sldId id="268" r:id="rId112"/>
    <p:sldId id="269" r:id="rId113"/>
    <p:sldId id="270" r:id="rId114"/>
    <p:sldId id="271" r:id="rId115"/>
    <p:sldId id="272" r:id="rId116"/>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101" Type="http://schemas.openxmlformats.org/officeDocument/2006/relationships/slide" Target="slides/slide1.xml"/><Relationship Id="rId102" Type="http://schemas.openxmlformats.org/officeDocument/2006/relationships/slide" Target="slides/slide2.xml"/><Relationship Id="rId103" Type="http://schemas.openxmlformats.org/officeDocument/2006/relationships/slide" Target="slides/slide3.xml"/><Relationship Id="rId104" Type="http://schemas.openxmlformats.org/officeDocument/2006/relationships/slide" Target="slides/slide4.xml"/><Relationship Id="rId105" Type="http://schemas.openxmlformats.org/officeDocument/2006/relationships/slide" Target="slides/slide5.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8.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2" Type="http://schemas.openxmlformats.org/officeDocument/2006/relationships/slide" Target="slides/slide12.xml"/><Relationship Id="rId113" Type="http://schemas.openxmlformats.org/officeDocument/2006/relationships/slide" Target="slides/slide13.xml"/><Relationship Id="rId114" Type="http://schemas.openxmlformats.org/officeDocument/2006/relationships/slide" Target="slides/slide14.xml"/><Relationship Id="rId115" Type="http://schemas.openxmlformats.org/officeDocument/2006/relationships/slide" Target="slides/slide15.xml"/><Relationship Id="rId116" Type="http://schemas.openxmlformats.org/officeDocument/2006/relationships/slide" Target="slides/slide16.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20" Type="http://schemas.openxmlformats.org/officeDocument/2006/relationships/image" Target="../media/cover_gradient.jpeg"/><Relationship Id="rId21" Type="http://schemas.openxmlformats.org/officeDocument/2006/relationships/image" Target="../media/cover_ribbon.png"/><Relationship Id="rId22" Type="http://schemas.openxmlformats.org/officeDocument/2006/relationships/image" Target="../media/cover_glow.png"/></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pic>
        <p:nvPicPr>
          <p:cNvPr id="300" name="Pic ribbon"/>
          <p:cNvPicPr>
            <a:picLocks noChangeAspect="1"/>
          </p:cNvPicPr>
          <p:nvPr/>
        </p:nvPicPr>
        <p:blipFill>
          <a:blip r:embed="rId21"/>
          <a:srcRect b="17691" l="21282"/>
          <a:stretch>
            <a:fillRect/>
          </a:stretch>
        </p:blipFill>
        <p:spPr>
          <a:xfrm>
            <a:off x="0" y="859536"/>
            <a:ext cx="4937760" cy="5998464"/>
          </a:xfrm>
          <a:prstGeom prst="rect">
            <a:avLst/>
          </a:prstGeom>
        </p:spPr>
      </p:pic>
      <p:pic>
        <p:nvPicPr>
          <p:cNvPr id="301" name="Pic gradient"/>
          <p:cNvPicPr>
            <a:picLocks noChangeAspect="1"/>
          </p:cNvPicPr>
          <p:nvPr/>
        </p:nvPicPr>
        <p:blipFill>
          <a:blip r:embed="rId20">
            <a:alphaModFix amt="37000"/>
          </a:blip>
          <a:srcRect l="4900" r="5000"/>
          <a:stretch>
            <a:fillRect/>
          </a:stretch>
        </p:blipFill>
        <p:spPr>
          <a:xfrm>
            <a:off x="4096512" y="841248"/>
            <a:ext cx="8095183" cy="6016752"/>
          </a:xfrm>
          <a:prstGeom prst="rect">
            <a:avLst/>
          </a:prstGeom>
        </p:spPr>
      </p:pic>
      <p:pic>
        <p:nvPicPr>
          <p:cNvPr id="302" name="Pic glow"/>
          <p:cNvPicPr>
            <a:picLocks noChangeAspect="1"/>
          </p:cNvPicPr>
          <p:nvPr/>
        </p:nvPicPr>
        <p:blipFill>
          <a:blip r:embed="rId22"/>
          <a:srcRect b="21079" l="72900" r="0"/>
          <a:stretch>
            <a:fillRect/>
          </a:stretch>
        </p:blipFill>
        <p:spPr>
          <a:xfrm>
            <a:off x="4096512" y="1106424"/>
            <a:ext cx="1700784" cy="5751576"/>
          </a:xfrm>
          <a:prstGeom prst="rect">
            <a:avLst/>
          </a:prstGeom>
        </p:spPr>
      </p:pic>
      <p:pic>
        <p:nvPicPr>
          <p:cNvPr id="2" name="Image 0" descr="/home/claude/brand/clean/logo_large.png">    </p:cNvPr>
          <p:cNvPicPr>
            <a:picLocks noChangeAspect="1"/>
          </p:cNvPicPr>
          <p:nvPr/>
        </p:nvPicPr>
        <p:blipFill>
          <a:blip r:embed="rId2"/>
          <a:stretch>
            <a:fillRect/>
          </a:stretch>
        </p:blipFill>
        <p:spPr>
          <a:xfrm>
            <a:off x="6818224" y="1280160"/>
            <a:ext cx="2651760" cy="1664208"/>
          </a:xfrm>
          <a:prstGeom prst="rect">
            <a:avLst/>
          </a:prstGeom>
        </p:spPr>
      </p:pic>
      <p:sp>
        <p:nvSpPr>
          <p:cNvPr id="3" name="Text 0"/>
          <p:cNvSpPr/>
          <p:nvPr/>
        </p:nvSpPr>
        <p:spPr>
          <a:xfrm>
            <a:off x="4370832" y="3108960"/>
            <a:ext cx="7546543" cy="86868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ThinkFISH</a:t>
            </a:r>
            <a:endParaRPr lang="en-US" sz="5400" dirty="0"/>
          </a:p>
        </p:txBody>
      </p:sp>
      <p:sp>
        <p:nvSpPr>
          <p:cNvPr id="4" name="Text 1"/>
          <p:cNvSpPr/>
          <p:nvPr/>
        </p:nvSpPr>
        <p:spPr>
          <a:xfrm>
            <a:off x="4370832" y="3977640"/>
            <a:ext cx="7546543" cy="320040"/>
          </a:xfrm>
          <a:prstGeom prst="rect">
            <a:avLst/>
          </a:prstGeom>
          <a:noFill/>
          <a:ln/>
        </p:spPr>
        <p:txBody>
          <a:bodyPr wrap="square" lIns="0" tIns="0" rIns="0" bIns="0" rtlCol="0" anchor="ctr"/>
          <a:lstStyle/>
          <a:p>
            <a:pPr algn="ctr" indent="0" marL="0">
              <a:buNone/>
            </a:pPr>
            <a:r>
              <a:rPr lang="en-US" sz="1800" b="1" spc="300" kern="0" dirty="0">
                <a:solidFill>
                  <a:srgbClr val="FFFFFF"/>
                </a:solidFill>
                <a:latin typeface="Arial" pitchFamily="34" charset="0"/>
                <a:ea typeface="Arial" pitchFamily="34" charset="-122"/>
                <a:cs typeface="Arial" pitchFamily="34" charset="-120"/>
              </a:rPr>
              <a:t>&lt;&gt;&lt;</a:t>
            </a:r>
            <a:endParaRPr lang="en-US" sz="1800" dirty="0"/>
          </a:p>
        </p:txBody>
      </p:sp>
      <p:sp>
        <p:nvSpPr>
          <p:cNvPr id="5" name="Text 2"/>
          <p:cNvSpPr/>
          <p:nvPr/>
        </p:nvSpPr>
        <p:spPr>
          <a:xfrm>
            <a:off x="4370832" y="4407408"/>
            <a:ext cx="7546543" cy="502920"/>
          </a:xfrm>
          <a:prstGeom prst="rect">
            <a:avLst/>
          </a:prstGeom>
          <a:noFill/>
          <a:ln/>
        </p:spPr>
        <p:txBody>
          <a:bodyPr wrap="square" lIns="0" tIns="0" rIns="0" bIns="0" rtlCol="0" anchor="ctr"/>
          <a:lstStyle/>
          <a:p>
            <a:pPr algn="ctr" indent="0" marL="0">
              <a:buNone/>
            </a:pPr>
            <a:r>
              <a:rPr lang="en-US" sz="2800" dirty="0">
                <a:solidFill>
                  <a:srgbClr val="FFFFFF"/>
                </a:solidFill>
                <a:latin typeface="Arial" pitchFamily="34" charset="0"/>
                <a:ea typeface="Arial" pitchFamily="34" charset="-122"/>
                <a:cs typeface="Arial" pitchFamily="34" charset="-120"/>
              </a:rPr>
              <a:t>PointNine Fragrance, Inc.</a:t>
            </a:r>
            <a:endParaRPr lang="en-US" sz="2800" dirty="0"/>
          </a:p>
        </p:txBody>
      </p:sp>
      <p:sp>
        <p:nvSpPr>
          <p:cNvPr id="6" name="Text 3"/>
          <p:cNvSpPr/>
          <p:nvPr/>
        </p:nvSpPr>
        <p:spPr>
          <a:xfrm>
            <a:off x="4370832" y="5074920"/>
            <a:ext cx="7546543" cy="640080"/>
          </a:xfrm>
          <a:prstGeom prst="rect">
            <a:avLst/>
          </a:prstGeom>
          <a:noFill/>
          <a:ln/>
        </p:spPr>
        <p:txBody>
          <a:bodyPr wrap="square" lIns="0" tIns="0" rIns="0" bIns="0" rtlCol="0" anchor="ctr"/>
          <a:lstStyle/>
          <a:p>
            <a:pPr algn="ctr" indent="0" marL="0">
              <a:buNone/>
            </a:pPr>
            <a:r>
              <a:rPr lang="en-US" sz="1300" dirty="0">
                <a:solidFill>
                  <a:srgbClr val="B9BEDC"/>
                </a:solidFill>
                <a:latin typeface="Arial" pitchFamily="34" charset="0"/>
                <a:ea typeface="Arial" pitchFamily="34" charset="-122"/>
                <a:cs typeface="Arial" pitchFamily="34" charset="-120"/>
              </a:rPr>
              <a:t>Investor Outreach Proposal  ·  October 2026</a:t>
            </a:r>
            <a:endParaRPr lang="en-US" sz="1300" dirty="0"/>
          </a:p>
          <a:p>
            <a:pPr algn="ctr" indent="0" marL="0">
              <a:buNone/>
            </a:pPr>
            <a:r>
              <a:rPr lang="en-US" sz="1300" dirty="0">
                <a:solidFill>
                  <a:srgbClr val="B9BEDC"/>
                </a:solidFill>
                <a:latin typeface="Arial" pitchFamily="34" charset="0"/>
                <a:ea typeface="Arial" pitchFamily="34" charset="-122"/>
                <a:cs typeface="Arial" pitchFamily="34" charset="-120"/>
              </a:rPr>
              <a:t>Prepared for Brian Fox Krawczyk &amp; Maria Ashe</a:t>
            </a:r>
            <a:endParaRPr lang="en-US" sz="1300" dirty="0"/>
          </a:p>
        </p:txBody>
      </p:sp>
      <p:sp>
        <p:nvSpPr>
          <p:cNvPr id="303" name="Text hdr"/>
          <p:cNvSpPr/>
          <p:nvPr/>
        </p:nvSpPr>
        <p:spPr>
          <a:xfrm>
            <a:off x="329184" y="365760"/>
            <a:ext cx="5486400" cy="365760"/>
          </a:xfrm>
          <a:prstGeom prst="rect">
            <a:avLst/>
          </a:prstGeom>
          <a:noFill/>
          <a:ln/>
        </p:spPr>
        <p:txBody>
          <a:bodyPr wrap="square" lIns="0" tIns="0" rIns="0" bIns="0" rtlCol="0" anchor="ctr"/>
          <a:lstStyle/>
          <a:p>
            <a:pPr indent="0" marL="0">
              <a:buNone/>
            </a:pPr>
            <a:r>
              <a:rPr lang="en-US" sz="1500" spc="200" kern="0" dirty="0">
                <a:solidFill>
                  <a:srgbClr val="FFFFFF"/>
                </a:solidFill>
                <a:latin typeface="Arial" pitchFamily="34" charset="0"/>
                <a:ea typeface="Arial" pitchFamily="34" charset="-122"/>
                <a:cs typeface="Arial" pitchFamily="34" charset="-120"/>
              </a:rPr>
              <a:t>THINKFISH LLC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Executive Summary</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ASK, THE PLAN, THE INVESTMENT, WHAT TO EXPECT</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ASK</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$600K–$850K to take PointNine to its Q1 launch: the first production run of six fragrances in 9.5 mL and 50 mL, packaging, launch marketing and trade shows. Your year-one cash flow at $700K never goes negative. Minimum check $250K, so two or three investors, ideally led by a strategic who knows fragrance or luxury. Capital can land in two halves: inventory first, the balance at ship.</a:t>
            </a:r>
            <a:endParaRPr lang="en-US" sz="105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PLAN</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Three LinkedIn profiles (Brian’s, Maria’s and Rain Hannah’s), run end to end by ThinkFISH in your voice. Targeting investors who already understand prestige fragrance: beauty and luxury operator-angels, consumer-focused family offices, and sustainability-minded investors with recent exits. Every meeting screened against your $250K minimum and approved by you.</a:t>
            </a:r>
            <a:endParaRPr lang="en-US" sz="105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INVESTMENT</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$3,500 per month, flat, covering all three profiles. Four-month term, matched to the raise window we discussed. No setup fee, no success fee, no commission, no transaction involvement.</a:t>
            </a:r>
            <a:endParaRPr lang="en-US" sz="105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WHAT TO EXPECT</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00" dirty="0">
                <a:solidFill>
                  <a:srgbClr val="FFFFFF"/>
                </a:solidFill>
                <a:latin typeface="Arial" pitchFamily="34" charset="0"/>
                <a:ea typeface="Arial" pitchFamily="34" charset="-122"/>
                <a:cs typeface="Arial" pitchFamily="34" charset="-120"/>
              </a:rPr>
              <a:t>Outreach live within two weeks of kickoff. First qualified investor conversations in weeks three and four, building to a steady 3–6 qualified meetings per week across the three profiles from December, with weekly reporting throughout. One honest note: a first tranche in 30–45 days is unlikely from investors meeting you for the first time, and pre-revenue raises historically take 6–12 months from first outreach to capital in the bank. We can fill your calendars with right-sized investors ahead of the Q1 launch; when checks land depends on your process and their diligence, and we’d rather you hear that from us now.</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Why ThinkFISH</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TRACK RECORD, BEFORE THE PROCESS</a:t>
            </a:r>
            <a:endParaRPr lang="en-US" sz="1400" dirty="0"/>
          </a:p>
        </p:txBody>
      </p:sp>
      <p:sp>
        <p:nvSpPr>
          <p:cNvPr id="6" name="Shape 3"/>
          <p:cNvSpPr/>
          <p:nvPr/>
        </p:nvSpPr>
        <p:spPr>
          <a:xfrm>
            <a:off x="566928"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7" name="Text 4"/>
          <p:cNvSpPr/>
          <p:nvPr/>
        </p:nvSpPr>
        <p:spPr>
          <a:xfrm>
            <a:off x="795528"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$200M+</a:t>
            </a:r>
            <a:endParaRPr lang="en-US" sz="2400" dirty="0"/>
          </a:p>
        </p:txBody>
      </p:sp>
      <p:sp>
        <p:nvSpPr>
          <p:cNvPr id="8" name="Text 5"/>
          <p:cNvSpPr/>
          <p:nvPr/>
        </p:nvSpPr>
        <p:spPr>
          <a:xfrm>
            <a:off x="2350008"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client-reported capital raised</a:t>
            </a:r>
            <a:endParaRPr lang="en-US" sz="1050" dirty="0"/>
          </a:p>
        </p:txBody>
      </p:sp>
      <p:sp>
        <p:nvSpPr>
          <p:cNvPr id="9" name="Shape 6"/>
          <p:cNvSpPr/>
          <p:nvPr/>
        </p:nvSpPr>
        <p:spPr>
          <a:xfrm>
            <a:off x="4434840"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10" name="Text 7"/>
          <p:cNvSpPr/>
          <p:nvPr/>
        </p:nvSpPr>
        <p:spPr>
          <a:xfrm>
            <a:off x="4663440"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10,000+</a:t>
            </a:r>
            <a:endParaRPr lang="en-US" sz="2400" dirty="0"/>
          </a:p>
        </p:txBody>
      </p:sp>
      <p:sp>
        <p:nvSpPr>
          <p:cNvPr id="11" name="Text 8"/>
          <p:cNvSpPr/>
          <p:nvPr/>
        </p:nvSpPr>
        <p:spPr>
          <a:xfrm>
            <a:off x="6217920"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qualified investor meetings booked</a:t>
            </a:r>
            <a:endParaRPr lang="en-US" sz="1050" dirty="0"/>
          </a:p>
        </p:txBody>
      </p:sp>
      <p:sp>
        <p:nvSpPr>
          <p:cNvPr id="12" name="Shape 9"/>
          <p:cNvSpPr/>
          <p:nvPr/>
        </p:nvSpPr>
        <p:spPr>
          <a:xfrm>
            <a:off x="8302752"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500+</a:t>
            </a:r>
            <a:endParaRPr lang="en-US" sz="2400" dirty="0"/>
          </a:p>
        </p:txBody>
      </p:sp>
      <p:sp>
        <p:nvSpPr>
          <p:cNvPr id="14" name="Text 11"/>
          <p:cNvSpPr/>
          <p:nvPr/>
        </p:nvSpPr>
        <p:spPr>
          <a:xfrm>
            <a:off x="10085832"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clients served since 2020</a:t>
            </a:r>
            <a:endParaRPr lang="en-US" sz="1050" dirty="0"/>
          </a:p>
        </p:txBody>
      </p:sp>
      <p:sp>
        <p:nvSpPr>
          <p:cNvPr id="15" name="Shape 12"/>
          <p:cNvSpPr/>
          <p:nvPr/>
        </p:nvSpPr>
        <p:spPr>
          <a:xfrm>
            <a:off x="566928" y="3291840"/>
            <a:ext cx="5532120"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18" name="Shape 15"/>
          <p:cNvSpPr/>
          <p:nvPr/>
        </p:nvSpPr>
        <p:spPr>
          <a:xfrm>
            <a:off x="6373368" y="3291840"/>
            <a:ext cx="5532120"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21" name="Shape 18"/>
          <p:cNvSpPr/>
          <p:nvPr/>
        </p:nvSpPr>
        <p:spPr>
          <a:xfrm>
            <a:off x="566928" y="5440680"/>
            <a:ext cx="11338560" cy="1005840"/>
          </a:xfrm>
          <a:prstGeom prst="roundRect">
            <a:avLst>
              <a:gd name="adj" fmla="val 8182"/>
            </a:avLst>
          </a:prstGeom>
          <a:solidFill>
            <a:srgbClr val="0D0D26">
              <a:alpha val="55000"/>
            </a:srgbClr>
          </a:solidFill>
          <a:ln w="9525">
            <a:solidFill>
              <a:srgbClr val="31316A">
                <a:alpha val="75000"/>
              </a:srgbClr>
            </a:solidFill>
            <a:prstDash val="solid"/>
          </a:ln>
        </p:spPr>
      </p:sp>
      <p:sp>
        <p:nvSpPr>
          <p:cNvPr id="304" name="Text w0"/>
          <p:cNvSpPr/>
          <p:nvPr/>
        </p:nvSpPr>
        <p:spPr>
          <a:xfrm>
            <a:off x="822960" y="3419856"/>
            <a:ext cx="5029200" cy="256032"/>
          </a:xfrm>
          <a:prstGeom prst="rect">
            <a:avLst/>
          </a:prstGeom>
          <a:noFill/>
          <a:ln/>
        </p:spPr>
        <p:txBody>
          <a:bodyPr wrap="square" lIns="0" tIns="0" rIns="0" bIns="0" rtlCol="0" anchor="ctr"/>
          <a:lstStyle/>
          <a:p>
            <a:pPr indent="0" marL="0">
              <a:buNone/>
            </a:pPr>
            <a:r>
              <a:rPr lang="en-US" sz="1100" b="1" spc="100" kern="0" dirty="0">
                <a:solidFill>
                  <a:srgbClr val="7C6CFF"/>
                </a:solidFill>
                <a:latin typeface="Arial" pitchFamily="34" charset="0"/>
                <a:ea typeface="Arial" pitchFamily="34" charset="-122"/>
                <a:cs typeface="Arial" pitchFamily="34" charset="-120"/>
              </a:rPr>
              <a:t>ISSUANCE  ·  DARREN MARBLE, CEO</a:t>
            </a:r>
            <a:endParaRPr lang="en-US" sz="1100" dirty="0"/>
          </a:p>
        </p:txBody>
      </p:sp>
      <p:sp>
        <p:nvSpPr>
          <p:cNvPr id="305" name="Text q0"/>
          <p:cNvSpPr/>
          <p:nvPr/>
        </p:nvSpPr>
        <p:spPr>
          <a:xfrm>
            <a:off x="822960" y="3712464"/>
            <a:ext cx="5029200" cy="1143000"/>
          </a:xfrm>
          <a:prstGeom prst="rect">
            <a:avLst/>
          </a:prstGeom>
          <a:noFill/>
          <a:ln/>
        </p:spPr>
        <p:txBody>
          <a:bodyPr wrap="square" lIns="0" tIns="0" rIns="0" bIns="0" rtlCol="0" anchor="t"/>
          <a:lstStyle/>
          <a:p>
            <a:pPr indent="0" marL="0">
              <a:lnSpc>
                <a:spcPct val="120000"/>
              </a:lnSpc>
              <a:buNone/>
            </a:pPr>
            <a:r>
              <a:rPr lang="en-US" sz="1200" i="1" dirty="0">
                <a:solidFill>
                  <a:srgbClr val="FFFFFF"/>
                </a:solidFill>
                <a:latin typeface="Arial" pitchFamily="34" charset="0"/>
                <a:ea typeface="Arial" pitchFamily="34" charset="-122"/>
                <a:cs typeface="Arial" pitchFamily="34" charset="-120"/>
              </a:rPr>
              <a:t>“…one of the most effective investor marketing firms I’ve ever worked with when it comes to raising capital for my companies. In the last 60 days alone, FISH has arranged 25 qualified investor meetings for me.”</a:t>
            </a:r>
            <a:endParaRPr lang="en-US" sz="1200" dirty="0"/>
          </a:p>
        </p:txBody>
      </p:sp>
      <p:sp>
        <p:nvSpPr>
          <p:cNvPr id="306" name="Text r0"/>
          <p:cNvSpPr/>
          <p:nvPr/>
        </p:nvSpPr>
        <p:spPr>
          <a:xfrm>
            <a:off x="822960" y="4864608"/>
            <a:ext cx="5029200" cy="256032"/>
          </a:xfrm>
          <a:prstGeom prst="rect">
            <a:avLst/>
          </a:prstGeom>
          <a:noFill/>
          <a:ln/>
        </p:spPr>
        <p:txBody>
          <a:bodyPr wrap="square" lIns="0" tIns="0" rIns="0" bIns="0" rtlCol="0" anchor="ctr"/>
          <a:lstStyle/>
          <a:p>
            <a:pPr indent="0" marL="0">
              <a:buNone/>
            </a:pPr>
            <a:r>
              <a:rPr lang="en-US" sz="1050" b="1" dirty="0">
                <a:solidFill>
                  <a:srgbClr val="43D5FF"/>
                </a:solidFill>
                <a:latin typeface="Arial" pitchFamily="34" charset="0"/>
                <a:ea typeface="Arial" pitchFamily="34" charset="-122"/>
                <a:cs typeface="Arial" pitchFamily="34" charset="-120"/>
              </a:rPr>
              <a:t>25 QUALIFIED INVESTOR MEETINGS IN 60 DAYS</a:t>
            </a:r>
            <a:endParaRPr lang="en-US" sz="1050" dirty="0"/>
          </a:p>
        </p:txBody>
      </p:sp>
      <p:sp>
        <p:nvSpPr>
          <p:cNvPr id="307" name="Text w1"/>
          <p:cNvSpPr/>
          <p:nvPr/>
        </p:nvSpPr>
        <p:spPr>
          <a:xfrm>
            <a:off x="6629400" y="3419856"/>
            <a:ext cx="5029200" cy="256032"/>
          </a:xfrm>
          <a:prstGeom prst="rect">
            <a:avLst/>
          </a:prstGeom>
          <a:noFill/>
          <a:ln/>
        </p:spPr>
        <p:txBody>
          <a:bodyPr wrap="square" lIns="0" tIns="0" rIns="0" bIns="0" rtlCol="0" anchor="ctr"/>
          <a:lstStyle/>
          <a:p>
            <a:pPr indent="0" marL="0">
              <a:buNone/>
            </a:pPr>
            <a:r>
              <a:rPr lang="en-US" sz="1100" b="1" spc="100" kern="0" dirty="0">
                <a:solidFill>
                  <a:srgbClr val="7C6CFF"/>
                </a:solidFill>
                <a:latin typeface="Arial" pitchFamily="34" charset="0"/>
                <a:ea typeface="Arial" pitchFamily="34" charset="-122"/>
                <a:cs typeface="Arial" pitchFamily="34" charset="-120"/>
              </a:rPr>
              <a:t>CARTHAGE CAPITAL  ·  STEPHEN WU</a:t>
            </a:r>
            <a:endParaRPr lang="en-US" sz="1100" dirty="0"/>
          </a:p>
        </p:txBody>
      </p:sp>
      <p:sp>
        <p:nvSpPr>
          <p:cNvPr id="308" name="Text q1"/>
          <p:cNvSpPr/>
          <p:nvPr/>
        </p:nvSpPr>
        <p:spPr>
          <a:xfrm>
            <a:off x="6629400" y="3712464"/>
            <a:ext cx="5029200" cy="1143000"/>
          </a:xfrm>
          <a:prstGeom prst="rect">
            <a:avLst/>
          </a:prstGeom>
          <a:noFill/>
          <a:ln/>
        </p:spPr>
        <p:txBody>
          <a:bodyPr wrap="square" lIns="0" tIns="0" rIns="0" bIns="0" rtlCol="0" anchor="t"/>
          <a:lstStyle/>
          <a:p>
            <a:pPr indent="0" marL="0">
              <a:lnSpc>
                <a:spcPct val="120000"/>
              </a:lnSpc>
              <a:buNone/>
            </a:pPr>
            <a:r>
              <a:rPr lang="en-US" sz="1200" i="1" dirty="0">
                <a:solidFill>
                  <a:srgbClr val="FFFFFF"/>
                </a:solidFill>
                <a:latin typeface="Arial" pitchFamily="34" charset="0"/>
                <a:ea typeface="Arial" pitchFamily="34" charset="-122"/>
                <a:cs typeface="Arial" pitchFamily="34" charset="-120"/>
              </a:rPr>
              <a:t>“ThinkFISH helped me raise $2 to $3 million across around 20 different investors over the past nine months. I basically got two to three meetings every week, consistently, and they’re already interested. I was going to cancel after a quarter if you didn’t deliver. You delivered way above my expectations.”</a:t>
            </a:r>
            <a:endParaRPr lang="en-US" sz="1200" dirty="0"/>
          </a:p>
        </p:txBody>
      </p:sp>
      <p:sp>
        <p:nvSpPr>
          <p:cNvPr id="309" name="Text r1"/>
          <p:cNvSpPr/>
          <p:nvPr/>
        </p:nvSpPr>
        <p:spPr>
          <a:xfrm>
            <a:off x="6629400" y="4864608"/>
            <a:ext cx="5029200" cy="256032"/>
          </a:xfrm>
          <a:prstGeom prst="rect">
            <a:avLst/>
          </a:prstGeom>
          <a:noFill/>
          <a:ln/>
        </p:spPr>
        <p:txBody>
          <a:bodyPr wrap="square" lIns="0" tIns="0" rIns="0" bIns="0" rtlCol="0" anchor="ctr"/>
          <a:lstStyle/>
          <a:p>
            <a:pPr indent="0" marL="0">
              <a:buNone/>
            </a:pPr>
            <a:r>
              <a:rPr lang="en-US" sz="1050" b="1" dirty="0">
                <a:solidFill>
                  <a:srgbClr val="43D5FF"/>
                </a:solidFill>
                <a:latin typeface="Arial" pitchFamily="34" charset="0"/>
                <a:ea typeface="Arial" pitchFamily="34" charset="-122"/>
                <a:cs typeface="Arial" pitchFamily="34" charset="-120"/>
              </a:rPr>
              <a:t>$2–3M RAISED ACROSS ~20 INVESTORS IN 9 MONTHS</a:t>
            </a:r>
            <a:endParaRPr lang="en-US" sz="1050" dirty="0"/>
          </a:p>
        </p:txBody>
      </p:sp>
      <p:sp>
        <p:nvSpPr>
          <p:cNvPr id="310" name="Text bl"/>
          <p:cNvSpPr/>
          <p:nvPr/>
        </p:nvSpPr>
        <p:spPr>
          <a:xfrm>
            <a:off x="795528" y="5559552"/>
            <a:ext cx="548640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FUNDABLE COMPANIES GET FUNDED</a:t>
            </a:r>
            <a:endParaRPr lang="en-US" sz="1200" dirty="0"/>
          </a:p>
        </p:txBody>
      </p:sp>
      <p:sp>
        <p:nvSpPr>
          <p:cNvPr id="311" name="Text bp"/>
          <p:cNvSpPr/>
          <p:nvPr/>
        </p:nvSpPr>
        <p:spPr>
          <a:xfrm>
            <a:off x="795528" y="5852160"/>
            <a:ext cx="10881360" cy="548640"/>
          </a:xfrm>
          <a:prstGeom prst="rect">
            <a:avLst/>
          </a:prstGeom>
          <a:noFill/>
          <a:ln/>
        </p:spPr>
        <p:txBody>
          <a:bodyPr wrap="square" lIns="0" tIns="0" rIns="0" bIns="0" rtlCol="0" anchor="t"/>
          <a:lstStyle/>
          <a:p>
            <a:pPr indent="0" marL="0">
              <a:lnSpc>
                <a:spcPct val="120000"/>
              </a:lnSpc>
              <a:buNone/>
            </a:pPr>
            <a:r>
              <a:rPr lang="en-US" sz="1150" dirty="0">
                <a:solidFill>
                  <a:srgbClr val="FFFFFF"/>
                </a:solidFill>
                <a:latin typeface="Arial" pitchFamily="34" charset="0"/>
                <a:ea typeface="Arial" pitchFamily="34" charset="-122"/>
                <a:cs typeface="Arial" pitchFamily="34" charset="-120"/>
              </a:rPr>
              <a:t>Every client we’ve worked with who was fundable (real product, real traction, a team that can run a process) has received checks from meetings we set. We’re not in the room for those meetings, so we only report what clients report back. Full testimonials and video links are in the appendix.</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What’s Standing Between You and the Close</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GAP WE’RE SOLVING</a:t>
            </a:r>
            <a:endParaRPr lang="en-US" sz="1400" dirty="0"/>
          </a:p>
        </p:txBody>
      </p:sp>
      <p:sp>
        <p:nvSpPr>
          <p:cNvPr id="6" name="Text 3"/>
          <p:cNvSpPr/>
          <p:nvPr/>
        </p:nvSpPr>
        <p:spPr>
          <a:xfrm>
            <a:off x="566928" y="2148840"/>
            <a:ext cx="4297680" cy="2651760"/>
          </a:xfrm>
          <a:prstGeom prst="rect">
            <a:avLst/>
          </a:prstGeom>
          <a:noFill/>
          <a:ln/>
        </p:spPr>
        <p:txBody>
          <a:bodyPr wrap="square" lIns="0" tIns="0" rIns="0" bIns="0" rtlCol="0" anchor="t"/>
          <a:lstStyle/>
          <a:p>
            <a:pPr indent="0" marL="0">
              <a:lnSpc>
                <a:spcPct val="125000"/>
              </a:lnSpc>
              <a:buNone/>
            </a:pPr>
            <a:r>
              <a:rPr lang="en-US" sz="1300" dirty="0">
                <a:solidFill>
                  <a:srgbClr val="FFFFFF"/>
                </a:solidFill>
                <a:latin typeface="Arial" pitchFamily="34" charset="0"/>
                <a:ea typeface="Arial" pitchFamily="34" charset="-122"/>
                <a:cs typeface="Arial" pitchFamily="34" charset="-120"/>
              </a:rPr>
              <a:t>You’ve done what most pre-launch brands haven’t: the formula is locked with Mane, packaging and CADs are finished, a filler is in place, Saujet has signed on as launch partner, a full leadership bench including a CFO is in place, and every boutique you’ve walked into has said yes. What’s missing is capital, and the reason is structural: your network runs deep in retail, product and celebrity, not in investors writing $250K checks, and cold investors won’t wire in 30–45 days.</a:t>
            </a:r>
            <a:endParaRPr lang="en-US" sz="1300" dirty="0"/>
          </a:p>
        </p:txBody>
      </p:sp>
      <p:sp>
        <p:nvSpPr>
          <p:cNvPr id="7" name="Text 4"/>
          <p:cNvSpPr/>
          <p:nvPr/>
        </p:nvSpPr>
        <p:spPr>
          <a:xfrm>
            <a:off x="566928" y="4800600"/>
            <a:ext cx="4297680" cy="1554480"/>
          </a:xfrm>
          <a:prstGeom prst="rect">
            <a:avLst/>
          </a:prstGeom>
          <a:noFill/>
          <a:ln/>
        </p:spPr>
        <p:txBody>
          <a:bodyPr wrap="square" lIns="0" tIns="0" rIns="0" bIns="0" rtlCol="0" anchor="t"/>
          <a:lstStyle/>
          <a:p>
            <a:pPr indent="0" marL="0">
              <a:lnSpc>
                <a:spcPct val="125000"/>
              </a:lnSpc>
              <a:buNone/>
            </a:pPr>
            <a:r>
              <a:rPr lang="en-US" sz="1300" i="1" dirty="0">
                <a:solidFill>
                  <a:srgbClr val="B9BEDC"/>
                </a:solidFill>
                <a:latin typeface="Arial" pitchFamily="34" charset="0"/>
                <a:ea typeface="Arial" pitchFamily="34" charset="-122"/>
                <a:cs typeface="Arial" pitchFamily="34" charset="-120"/>
              </a:rPr>
              <a:t>Your round is modest and the story is strong. The variable you control is how many right-sized investors, people who write $250K checks and already understand prestige fragrance margins, land on your calendars every week.</a:t>
            </a:r>
            <a:endParaRPr lang="en-US" sz="1300" dirty="0"/>
          </a:p>
        </p:txBody>
      </p:sp>
      <p:sp>
        <p:nvSpPr>
          <p:cNvPr id="8" name="Shape 5"/>
          <p:cNvSpPr/>
          <p:nvPr/>
        </p:nvSpPr>
        <p:spPr>
          <a:xfrm>
            <a:off x="5257800" y="214884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9" name="Text 6"/>
          <p:cNvSpPr/>
          <p:nvPr/>
        </p:nvSpPr>
        <p:spPr>
          <a:xfrm>
            <a:off x="5486400" y="225856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SURFACE PROBLEM</a:t>
            </a:r>
            <a:endParaRPr lang="en-US" sz="1250" dirty="0"/>
          </a:p>
        </p:txBody>
      </p:sp>
      <p:sp>
        <p:nvSpPr>
          <p:cNvPr id="10" name="Text 7"/>
          <p:cNvSpPr/>
          <p:nvPr/>
        </p:nvSpPr>
        <p:spPr>
          <a:xfrm>
            <a:off x="7498080" y="224028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The brand is ready and retailers are saying yes, but the round has no committed investor yet, and the one industry investor in view is waiting on a house sale.</a:t>
            </a:r>
            <a:endParaRPr lang="en-US" sz="1100" dirty="0"/>
          </a:p>
        </p:txBody>
      </p:sp>
      <p:sp>
        <p:nvSpPr>
          <p:cNvPr id="11" name="Shape 8"/>
          <p:cNvSpPr/>
          <p:nvPr/>
        </p:nvSpPr>
        <p:spPr>
          <a:xfrm>
            <a:off x="5257800" y="324612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2" name="Text 9"/>
          <p:cNvSpPr/>
          <p:nvPr/>
        </p:nvSpPr>
        <p:spPr>
          <a:xfrm>
            <a:off x="5486400" y="335584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BUSINESS IMPACT</a:t>
            </a:r>
            <a:endParaRPr lang="en-US" sz="1250" dirty="0"/>
          </a:p>
        </p:txBody>
      </p:sp>
      <p:sp>
        <p:nvSpPr>
          <p:cNvPr id="13" name="Text 10"/>
          <p:cNvSpPr/>
          <p:nvPr/>
        </p:nvSpPr>
        <p:spPr>
          <a:xfrm>
            <a:off x="7498080" y="333756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The first production run, the move to 50 mL and 9.5 mL across six fragrances, and the Q1 launch with Saujet all wait on the same $600K–$850K.</a:t>
            </a:r>
            <a:endParaRPr lang="en-US" sz="1100" dirty="0"/>
          </a:p>
        </p:txBody>
      </p:sp>
      <p:sp>
        <p:nvSpPr>
          <p:cNvPr id="14" name="Shape 11"/>
          <p:cNvSpPr/>
          <p:nvPr/>
        </p:nvSpPr>
        <p:spPr>
          <a:xfrm>
            <a:off x="5257800" y="434340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5" name="Text 12"/>
          <p:cNvSpPr/>
          <p:nvPr/>
        </p:nvSpPr>
        <p:spPr>
          <a:xfrm>
            <a:off x="5486400" y="445312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PERSONAL IMPACT</a:t>
            </a:r>
            <a:endParaRPr lang="en-US" sz="1250" dirty="0"/>
          </a:p>
        </p:txBody>
      </p:sp>
      <p:sp>
        <p:nvSpPr>
          <p:cNvPr id="16" name="Text 13"/>
          <p:cNvSpPr/>
          <p:nvPr/>
        </p:nvSpPr>
        <p:spPr>
          <a:xfrm>
            <a:off x="7498080" y="443484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Two founders, two years in and over $300K of their own money committed, spending launch-critical weeks sourcing investors instead of selling in.</a:t>
            </a:r>
            <a:endParaRPr lang="en-US" sz="1100" dirty="0"/>
          </a:p>
        </p:txBody>
      </p:sp>
      <p:sp>
        <p:nvSpPr>
          <p:cNvPr id="17" name="Shape 14"/>
          <p:cNvSpPr/>
          <p:nvPr/>
        </p:nvSpPr>
        <p:spPr>
          <a:xfrm>
            <a:off x="5257800" y="544068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8" name="Text 15"/>
          <p:cNvSpPr/>
          <p:nvPr/>
        </p:nvSpPr>
        <p:spPr>
          <a:xfrm>
            <a:off x="5486400" y="555040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COST OF INACTION</a:t>
            </a:r>
            <a:endParaRPr lang="en-US" sz="1250" dirty="0"/>
          </a:p>
        </p:txBody>
      </p:sp>
      <p:sp>
        <p:nvSpPr>
          <p:cNvPr id="19" name="Text 16"/>
          <p:cNvSpPr/>
          <p:nvPr/>
        </p:nvSpPr>
        <p:spPr>
          <a:xfrm>
            <a:off x="7498080" y="553212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Every week without a pipeline compresses the raise into the launch window and raises the pressure to take whoever moves first, not the partner you want.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Investor ICP</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TARGET SEGMENTS, IN PRIORITY ORDER</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5096" cy="914400"/>
        </p:xfrm>
        <a:graphic>
          <a:graphicData uri="http://schemas.openxmlformats.org/drawingml/2006/table">
            <a:tbl>
              <a:tblPr/>
              <a:tblGrid>
                <a:gridCol w="3291840"/>
                <a:gridCol w="7763256"/>
              </a:tblGrid>
              <a:tr h="457200">
                <a:tc>
                  <a:txBody>
                    <a:bodyPr/>
                    <a:lstStyle/>
                    <a:p>
                      <a:pPr algn="l" indent="0" marL="0">
                        <a:buNone/>
                      </a:pPr>
                      <a:r>
                        <a:rPr lang="en-US" sz="1200" b="1" dirty="0">
                          <a:solidFill>
                            <a:srgbClr val="43D5FF"/>
                          </a:solidFill>
                          <a:latin typeface="Arial" pitchFamily="34" charset="0"/>
                          <a:ea typeface="Arial" pitchFamily="34" charset="-122"/>
                          <a:cs typeface="Arial" pitchFamily="34" charset="-120"/>
                        </a:rPr>
                        <a:t>SEGMENT</a:t>
                      </a:r>
                      <a:endParaRPr lang="en-US" sz="12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1B1B45">
                        <a:alpha val="75000"/>
                      </a:srgbClr>
                    </a:solidFill>
                  </a:tcPr>
                </a:tc>
                <a:tc>
                  <a:txBody>
                    <a:bodyPr/>
                    <a:lstStyle/>
                    <a:p>
                      <a:pPr algn="l" indent="0" marL="0">
                        <a:buNone/>
                      </a:pPr>
                      <a:r>
                        <a:rPr lang="en-US" sz="1200" b="1" dirty="0">
                          <a:solidFill>
                            <a:srgbClr val="43D5FF"/>
                          </a:solidFill>
                          <a:latin typeface="Arial" pitchFamily="34" charset="0"/>
                          <a:ea typeface="Arial" pitchFamily="34" charset="-122"/>
                          <a:cs typeface="Arial" pitchFamily="34" charset="-120"/>
                        </a:rPr>
                        <a:t>WHO THEY ARE AND WHY THEY FIT</a:t>
                      </a:r>
                      <a:endParaRPr lang="en-US" sz="12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1B1B45">
                        <a:alpha val="75000"/>
                      </a:srgbClr>
                    </a:solidFill>
                  </a:tcPr>
                </a:tc>
              </a:tr>
              <a:tr h="841248">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1.  Beauty &amp; Fragrance Operator-Angels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Exited founders and executives from prestige beauty, fragrance and luxury. They read a $17 cost on a $350 bottle and need no education on the category.</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841248">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2.  Luxury &amp; Consumer Family Offices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Family offices with consumer, luxury or retail holdings that can lead a $250K+ check and open doors to the department stores on your list.</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841248">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3.  Clean Beauty &amp; Sustainability Investors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Impact and ESG-minded angels drawn to alcohol-free Aquafine, headspace oils, upcycled packaging, refills, and 1% of profits to Harboring Hearts and All Out.</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841248">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4.  Consumer-Brand Angels with Recent Exits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Investors who recently exited a DTC or CPG brand, understand multi-channel launches, and are actively looking for the next one.</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bl>
          </a:graphicData>
        </a:graphic>
      </p:graphicFrame>
      <p:sp>
        <p:nvSpPr>
          <p:cNvPr id="312" name="Text 30"/>
          <p:cNvSpPr/>
          <p:nvPr/>
        </p:nvSpPr>
        <p:spPr>
          <a:xfrm>
            <a:off x="566928" y="6199632"/>
            <a:ext cx="11155680" cy="411480"/>
          </a:xfrm>
          <a:prstGeom prst="rect">
            <a:avLst/>
          </a:prstGeom>
          <a:noFill/>
          <a:ln/>
        </p:spPr>
        <p:txBody>
          <a:bodyPr wrap="square" lIns="0" tIns="0" rIns="0" bIns="0" rtlCol="0" anchor="t"/>
          <a:lstStyle/>
          <a:p>
            <a:pPr indent="0" marL="0">
              <a:lnSpc>
                <a:spcPct val="125000"/>
              </a:lnSpc>
              <a:buNone/>
            </a:pPr>
            <a:r>
              <a:rPr lang="en-US" sz="1150" i="1" dirty="0">
                <a:solidFill>
                  <a:srgbClr val="B9BEDC"/>
                </a:solidFill>
                <a:latin typeface="Arial" pitchFamily="34" charset="0"/>
                <a:ea typeface="Arial" pitchFamily="34" charset="-122"/>
                <a:cs typeface="Arial" pitchFamily="34" charset="-120"/>
              </a:rPr>
              <a:t>These segments are our starting point. A fuller outline of investor targets, including check sizes, geographies and exclusions, will be planned with you during onboarding.</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Three Voices, One Raise</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HOW THREE PROFILES COVER ONE ROUND</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BRIAN  ·  TRACK RECORD</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Brian’s profile leads with the track record: at Mana Products he grew the contract division from $17M to $122M in five years; he built Genealogy Beauty into a $17M-a-year lab; and he has created formulas for MAC, NARS, Chanel and Dior. The message for beauty operator-angels and family offices who back a founder’s record.</a:t>
            </a:r>
            <a:endParaRPr lang="en-US" sz="110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MARIA  ·  TRACTION</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Maria’s profile, as President, carries the commercial story: 25+ years building prestige beauty brands, Saujet (who brought Creed and Santa Maria Novella to the US) signed as launch partner, boutiques in New York and Amsterdam ready to stock, and two pre-mortems behind the plan. The message for investors who want demand first.</a:t>
            </a:r>
            <a:endParaRPr lang="en-US" sz="110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RAIN  ·  BRAND &amp; REACH</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Rain Hannah, PointNine’s Chief Brand Ambassador, reaches investors the founders’ profiles won’t: lifestyle, entertainment and consumer capital from her circle across film, music, sports and business. We build up her profile in onboarding so it carries the brand as credibly as the other two.</a:t>
            </a:r>
            <a:endParaRPr lang="en-US" sz="110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WHY ONE RETAINER COVERS ALL THREE</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One dedicated account manager, one CRM, one weekly report split by profile. Three senders with different backgrounds widen the range of investors who respond, by geography, age and network, without tripling the work on your side. We’ll also add company pages for past ventures so investors who click through find the track record. The profile-to-message mapping above is our starting assumption; we confirm it with you in onboarding.</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How We Fill Your Calendar</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SIX STEPS, ONE PAGE</a:t>
            </a:r>
            <a:endParaRPr lang="en-US" sz="1400" dirty="0"/>
          </a:p>
        </p:txBody>
      </p:sp>
      <p:sp>
        <p:nvSpPr>
          <p:cNvPr id="313" name="Shape s0"/>
          <p:cNvSpPr/>
          <p:nvPr/>
        </p:nvSpPr>
        <p:spPr>
          <a:xfrm>
            <a:off x="566928"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14" name="Text s0l"/>
          <p:cNvSpPr/>
          <p:nvPr/>
        </p:nvSpPr>
        <p:spPr>
          <a:xfrm>
            <a:off x="795528"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1  ·  MULTI-SOURCE DATA</a:t>
            </a:r>
            <a:endParaRPr lang="en-US" sz="1300" dirty="0"/>
          </a:p>
        </p:txBody>
      </p:sp>
      <p:sp>
        <p:nvSpPr>
          <p:cNvPr id="315" name="Text s0p"/>
          <p:cNvSpPr/>
          <p:nvPr/>
        </p:nvSpPr>
        <p:spPr>
          <a:xfrm>
            <a:off x="795528"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Sales Navigator, your own lists and past conversations, our 10k+ investor database, the 84k-subscriber Startup Deal Desk newsletter, and the events your targets attend.</a:t>
            </a:r>
            <a:endParaRPr lang="en-US" sz="1050" dirty="0"/>
          </a:p>
        </p:txBody>
      </p:sp>
      <p:sp>
        <p:nvSpPr>
          <p:cNvPr id="316" name="Shape s1"/>
          <p:cNvSpPr/>
          <p:nvPr/>
        </p:nvSpPr>
        <p:spPr>
          <a:xfrm>
            <a:off x="4434840"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17" name="Text s1l"/>
          <p:cNvSpPr/>
          <p:nvPr/>
        </p:nvSpPr>
        <p:spPr>
          <a:xfrm>
            <a:off x="4663440"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2  ·  SIGNAL FILTERING</a:t>
            </a:r>
            <a:endParaRPr lang="en-US" sz="1300" dirty="0"/>
          </a:p>
        </p:txBody>
      </p:sp>
      <p:sp>
        <p:nvSpPr>
          <p:cNvPr id="318" name="Text s1p"/>
          <p:cNvSpPr/>
          <p:nvPr/>
        </p:nvSpPr>
        <p:spPr>
          <a:xfrm>
            <a:off x="4663440"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Deal history and live engagement outweigh job titles. Brokers, funding agents, advisor-only contacts and “investors” who are selling services are filtered out.</a:t>
            </a:r>
            <a:endParaRPr lang="en-US" sz="1050" dirty="0"/>
          </a:p>
        </p:txBody>
      </p:sp>
      <p:sp>
        <p:nvSpPr>
          <p:cNvPr id="319" name="Shape s2"/>
          <p:cNvSpPr/>
          <p:nvPr/>
        </p:nvSpPr>
        <p:spPr>
          <a:xfrm>
            <a:off x="8302752"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0" name="Text s2l"/>
          <p:cNvSpPr/>
          <p:nvPr/>
        </p:nvSpPr>
        <p:spPr>
          <a:xfrm>
            <a:off x="8531352"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3  ·  ICP SCORING</a:t>
            </a:r>
            <a:endParaRPr lang="en-US" sz="1300" dirty="0"/>
          </a:p>
        </p:txBody>
      </p:sp>
      <p:sp>
        <p:nvSpPr>
          <p:cNvPr id="321" name="Text s2p"/>
          <p:cNvSpPr/>
          <p:nvPr/>
        </p:nvSpPr>
        <p:spPr>
          <a:xfrm>
            <a:off x="8531352"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Every contact scored high, medium or low fit against a scorecard built with you. High fit goes first. Scripts A/B tested against real replies.</a:t>
            </a:r>
            <a:endParaRPr lang="en-US" sz="1050" dirty="0"/>
          </a:p>
        </p:txBody>
      </p:sp>
      <p:sp>
        <p:nvSpPr>
          <p:cNvPr id="322" name="Shape s3"/>
          <p:cNvSpPr/>
          <p:nvPr/>
        </p:nvSpPr>
        <p:spPr>
          <a:xfrm>
            <a:off x="566928"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3" name="Text s3l"/>
          <p:cNvSpPr/>
          <p:nvPr/>
        </p:nvSpPr>
        <p:spPr>
          <a:xfrm>
            <a:off x="795528"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4  ·  MANUAL REVIEW</a:t>
            </a:r>
            <a:endParaRPr lang="en-US" sz="1300" dirty="0"/>
          </a:p>
        </p:txBody>
      </p:sp>
      <p:sp>
        <p:nvSpPr>
          <p:cNvPr id="324" name="Text s3p"/>
          <p:cNvSpPr/>
          <p:nvPr/>
        </p:nvSpPr>
        <p:spPr>
          <a:xfrm>
            <a:off x="795528"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A dedicated account manager hand-checks every high-fit profile before a message goes out, and learns your story well enough to tell it in your voice.</a:t>
            </a:r>
            <a:endParaRPr lang="en-US" sz="1050" dirty="0"/>
          </a:p>
        </p:txBody>
      </p:sp>
      <p:sp>
        <p:nvSpPr>
          <p:cNvPr id="325" name="Shape s4"/>
          <p:cNvSpPr/>
          <p:nvPr/>
        </p:nvSpPr>
        <p:spPr>
          <a:xfrm>
            <a:off x="4434840"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6" name="Text s4l"/>
          <p:cNvSpPr/>
          <p:nvPr/>
        </p:nvSpPr>
        <p:spPr>
          <a:xfrm>
            <a:off x="4663440"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5  ·  PRE-CALL QUALIFICATION</a:t>
            </a:r>
            <a:endParaRPr lang="en-US" sz="1300" dirty="0"/>
          </a:p>
        </p:txBody>
      </p:sp>
      <p:sp>
        <p:nvSpPr>
          <p:cNvPr id="327" name="Text s4p"/>
          <p:cNvSpPr/>
          <p:nvPr/>
        </p:nvSpPr>
        <p:spPr>
          <a:xfrm>
            <a:off x="4663440"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Every booking routes through a short form: accreditation, check size, timeline, sectors. A briefing before every call; soft letdowns for the wrong fit.</a:t>
            </a:r>
            <a:endParaRPr lang="en-US" sz="1050" dirty="0"/>
          </a:p>
        </p:txBody>
      </p:sp>
      <p:sp>
        <p:nvSpPr>
          <p:cNvPr id="328" name="Shape s5"/>
          <p:cNvSpPr/>
          <p:nvPr/>
        </p:nvSpPr>
        <p:spPr>
          <a:xfrm>
            <a:off x="8302752"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9" name="Text s5l"/>
          <p:cNvSpPr/>
          <p:nvPr/>
        </p:nvSpPr>
        <p:spPr>
          <a:xfrm>
            <a:off x="8531352"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6  ·  YOUR FINAL APPROVAL</a:t>
            </a:r>
            <a:endParaRPr lang="en-US" sz="1300" dirty="0"/>
          </a:p>
        </p:txBody>
      </p:sp>
      <p:sp>
        <p:nvSpPr>
          <p:cNvPr id="330" name="Text s5p"/>
          <p:cNvSpPr/>
          <p:nvPr/>
        </p:nvSpPr>
        <p:spPr>
          <a:xfrm>
            <a:off x="8531352"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Accept, vet further or decline every meeting. Shared CRM from day one, weekly reporting, monthly strategy calls. If something isn’t working, you hear it from us first.</a:t>
            </a:r>
            <a:endParaRPr lang="en-US" sz="1050" dirty="0"/>
          </a:p>
        </p:txBody>
      </p:sp>
      <p:sp>
        <p:nvSpPr>
          <p:cNvPr id="15" name="Shape 12"/>
          <p:cNvSpPr/>
          <p:nvPr/>
        </p:nvSpPr>
        <p:spPr>
          <a:xfrm>
            <a:off x="566928" y="5212080"/>
            <a:ext cx="11338560" cy="114300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5340096"/>
            <a:ext cx="2743200" cy="27432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THE FLOW</a:t>
            </a:r>
            <a:endParaRPr lang="en-US" sz="1400" dirty="0"/>
          </a:p>
        </p:txBody>
      </p:sp>
      <p:sp>
        <p:nvSpPr>
          <p:cNvPr id="17" name="Text 14"/>
          <p:cNvSpPr/>
          <p:nvPr/>
        </p:nvSpPr>
        <p:spPr>
          <a:xfrm>
            <a:off x="795528" y="5632704"/>
            <a:ext cx="10881360" cy="640080"/>
          </a:xfrm>
          <a:prstGeom prst="rect">
            <a:avLst/>
          </a:prstGeom>
          <a:noFill/>
          <a:ln/>
        </p:spPr>
        <p:txBody>
          <a:bodyPr wrap="square" lIns="0" tIns="0" rIns="0" bIns="0" rtlCol="0" anchor="t"/>
          <a:lstStyle/>
          <a:p>
            <a:pPr indent="0" marL="0">
              <a:lnSpc>
                <a:spcPct val="120000"/>
              </a:lnSpc>
              <a:buNone/>
            </a:pPr>
            <a:r>
              <a:rPr lang="en-US" sz="1200" dirty="0">
                <a:solidFill>
                  <a:srgbClr val="FFFFFF"/>
                </a:solidFill>
                <a:latin typeface="Arial" pitchFamily="34" charset="0"/>
                <a:ea typeface="Arial" pitchFamily="34" charset="-122"/>
                <a:cs typeface="Arial" pitchFamily="34" charset="-120"/>
              </a:rPr>
              <a:t>Multi-source data → signal filters → ICP scoring → manual review → pre-call qualification → your approval. Outreach only happens after the first four steps; a meeting only lands after all six. The briefing you receive before every call is on the next page.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The Call Briefing</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LANDS IN YOUR INBOX BEFORE EVERY MEETING  ·  A REAL ONE, NAMES WITHHELD</a:t>
            </a:r>
            <a:endParaRPr lang="en-US" sz="1400" dirty="0"/>
          </a:p>
        </p:txBody>
      </p:sp>
      <p:sp>
        <p:nvSpPr>
          <p:cNvPr id="331" name="Shape email"/>
          <p:cNvSpPr/>
          <p:nvPr/>
        </p:nvSpPr>
        <p:spPr>
          <a:xfrm>
            <a:off x="566928" y="1965960"/>
            <a:ext cx="7452360" cy="4617720"/>
          </a:xfrm>
          <a:prstGeom prst="roundRect">
            <a:avLst>
              <a:gd name="adj" fmla="val 2500"/>
            </a:avLst>
          </a:prstGeom>
          <a:solidFill>
            <a:srgbClr val="FFFFFF"/>
          </a:solidFill>
          <a:ln>
            <a:noFill/>
          </a:ln>
        </p:spPr>
      </p:sp>
      <p:sp>
        <p:nvSpPr>
          <p:cNvPr id="332" name="Text e-subj"/>
          <p:cNvSpPr txBox="1"/>
          <p:nvPr/>
        </p:nvSpPr>
        <p:spPr>
          <a:xfrm>
            <a:off x="822960" y="2103120"/>
            <a:ext cx="6940296" cy="256032"/>
          </a:xfrm>
          <a:prstGeom prst="rect">
            <a:avLst/>
          </a:prstGeom>
          <a:noFill/>
        </p:spPr>
        <p:txBody>
          <a:bodyPr wrap="square" lIns="0" tIns="0" rIns="0" bIns="0" rtlCol="0" anchor="t"/>
          <a:lstStyle/>
          <a:p>
            <a:pPr indent="0" marL="0">
              <a:lnSpc>
                <a:spcPct val="112000"/>
              </a:lnSpc>
              <a:spcAft>
                <a:spcPts val="300"/>
              </a:spcAft>
              <a:buNone/>
            </a:pPr>
            <a:r>
              <a:rPr lang="en-US" sz="1150" b="1" dirty="0">
                <a:solidFill>
                  <a:srgbClr val="1A1A2E"/>
                </a:solidFill>
                <a:latin typeface="Arial" pitchFamily="34" charset="0"/>
                <a:ea typeface="Arial" pitchFamily="34" charset="-122"/>
                <a:cs typeface="Arial" pitchFamily="34" charset="-120"/>
              </a:rPr>
              <a:t xml:space="preserve">CONFIRMED MEETING: New Scheduled Call – [Prospect]</a:t>
            </a:r>
            <a:endParaRPr lang="en-US" sz="1150" dirty="0"/>
          </a:p>
        </p:txBody>
      </p:sp>
      <p:sp>
        <p:nvSpPr>
          <p:cNvPr id="333" name="Text e-from"/>
          <p:cNvSpPr txBox="1"/>
          <p:nvPr/>
        </p:nvSpPr>
        <p:spPr>
          <a:xfrm>
            <a:off x="822960" y="2359152"/>
            <a:ext cx="6940296" cy="182880"/>
          </a:xfrm>
          <a:prstGeom prst="rect">
            <a:avLst/>
          </a:prstGeom>
          <a:noFill/>
        </p:spPr>
        <p:txBody>
          <a:bodyPr wrap="square" lIns="0" tIns="0" rIns="0" bIns="0" rtlCol="0" anchor="t"/>
          <a:lstStyle/>
          <a:p>
            <a:pPr indent="0" marL="0">
              <a:lnSpc>
                <a:spcPct val="112000"/>
              </a:lnSpc>
              <a:spcAft>
                <a:spcPts val="300"/>
              </a:spcAft>
              <a:buNone/>
            </a:pPr>
            <a:r>
              <a:rPr lang="en-US" sz="800" dirty="0">
                <a:solidFill>
                  <a:srgbClr val="5F6368"/>
                </a:solidFill>
                <a:latin typeface="Arial" pitchFamily="34" charset="0"/>
                <a:ea typeface="Arial" pitchFamily="34" charset="-122"/>
                <a:cs typeface="Arial" pitchFamily="34" charset="-120"/>
              </a:rPr>
              <a:t xml:space="preserve">From: your ThinkFISH account manager   ·   To: you   ·   Cc: Myra Grama, Freizle Abarrientos   ·   Thu, Sep 17, 2026, 6:26 PM</a:t>
            </a:r>
            <a:endParaRPr lang="en-US" sz="800" dirty="0"/>
          </a:p>
        </p:txBody>
      </p:sp>
      <p:sp>
        <p:nvSpPr>
          <p:cNvPr id="334" name="Shape e-rule"/>
          <p:cNvSpPr/>
          <p:nvPr/>
        </p:nvSpPr>
        <p:spPr>
          <a:xfrm>
            <a:off x="822960" y="2596896"/>
            <a:ext cx="6940296" cy="13716"/>
          </a:xfrm>
          <a:prstGeom prst="rect">
            <a:avLst/>
          </a:prstGeom>
          <a:solidFill>
            <a:srgbClr val="DADCE0"/>
          </a:solidFill>
          <a:ln>
            <a:noFill/>
          </a:ln>
        </p:spPr>
      </p:sp>
      <p:sp>
        <p:nvSpPr>
          <p:cNvPr id="335" name="Text e-2.94"/>
          <p:cNvSpPr txBox="1"/>
          <p:nvPr/>
        </p:nvSpPr>
        <p:spPr>
          <a:xfrm>
            <a:off x="822960" y="2688336"/>
            <a:ext cx="6940296" cy="640080"/>
          </a:xfrm>
          <a:prstGeom prst="rect">
            <a:avLst/>
          </a:prstGeom>
          <a:noFill/>
        </p:spPr>
        <p:txBody>
          <a:bodyPr wrap="square" lIns="0" tIns="0" rIns="0" bIns="0" rtlCol="0" anchor="t"/>
          <a:lstStyle/>
          <a:p>
            <a:pPr indent="0" marL="0">
              <a:lnSpc>
                <a:spcPct val="110000"/>
              </a:lnSpc>
              <a:spcAft>
                <a:spcPts val="150"/>
              </a:spcAft>
              <a:buNone/>
            </a:pPr>
            <a:r>
              <a:rPr lang="en-US" sz="850" dirty="0">
                <a:solidFill>
                  <a:srgbClr val="333333"/>
                </a:solidFill>
                <a:latin typeface="Arial" pitchFamily="34" charset="0"/>
                <a:ea typeface="Arial" pitchFamily="34" charset="-122"/>
                <a:cs typeface="Arial" pitchFamily="34" charset="-120"/>
              </a:rPr>
              <a:t xml:space="preserve">Here is the booking summary for your upcoming call with [Prospect] on Tuesday, September 22, at 5:30pm ET. This meeting came through outbound LinkedIn outreach, and is categorized under </a:t>
            </a:r>
            <a:r>
              <a:rPr lang="en-US" sz="850" b="1" dirty="0">
                <a:solidFill>
                  <a:srgbClr val="333333"/>
                </a:solidFill>
                <a:latin typeface="Arial" pitchFamily="34" charset="0"/>
                <a:ea typeface="Arial" pitchFamily="34" charset="-122"/>
                <a:cs typeface="Arial" pitchFamily="34" charset="-120"/>
              </a:rPr>
              <a:t xml:space="preserve">Segment A (Hospitality-Connected Investors)</a:t>
            </a:r>
            <a:r>
              <a:rPr lang="en-US" sz="850" dirty="0">
                <a:solidFill>
                  <a:srgbClr val="333333"/>
                </a:solidFill>
                <a:latin typeface="Arial" pitchFamily="34" charset="0"/>
                <a:ea typeface="Arial" pitchFamily="34" charset="-122"/>
                <a:cs typeface="Arial" pitchFamily="34" charset="-120"/>
              </a:rPr>
              <a:t xml:space="preserve">, with secondary alignment to </a:t>
            </a:r>
            <a:r>
              <a:rPr lang="en-US" sz="850" b="1" dirty="0">
                <a:solidFill>
                  <a:srgbClr val="333333"/>
                </a:solidFill>
                <a:latin typeface="Arial" pitchFamily="34" charset="0"/>
                <a:ea typeface="Arial" pitchFamily="34" charset="-122"/>
                <a:cs typeface="Arial" pitchFamily="34" charset="-120"/>
              </a:rPr>
              <a:t xml:space="preserve">Segment C (Operator-Turned-Investor / High-Income Professional)</a:t>
            </a:r>
            <a:r>
              <a:rPr lang="en-US" sz="850" dirty="0">
                <a:solidFill>
                  <a:srgbClr val="333333"/>
                </a:solidFill>
                <a:latin typeface="Arial" pitchFamily="34" charset="0"/>
                <a:ea typeface="Arial" pitchFamily="34" charset="-122"/>
                <a:cs typeface="Arial" pitchFamily="34" charset="-120"/>
              </a:rPr>
              <a:t xml:space="preserve">. He initially pushed back hard on the original pitch, questioning whether luggage storage footprint would move a hotel’s P&amp;L, then re-engaged and booked once the conversation was reframed around the raise and his advisory perspective rather than a property-pilot pitch.</a:t>
            </a:r>
            <a:endParaRPr lang="en-US" sz="850" dirty="0"/>
          </a:p>
        </p:txBody>
      </p:sp>
      <p:sp>
        <p:nvSpPr>
          <p:cNvPr id="336" name="Text e-3.78"/>
          <p:cNvSpPr txBox="1"/>
          <p:nvPr/>
        </p:nvSpPr>
        <p:spPr>
          <a:xfrm>
            <a:off x="822960" y="3456432"/>
            <a:ext cx="6940296" cy="86868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Summary of why he’s a good fit:</a:t>
            </a:r>
            <a:endParaRPr lang="en-US" sz="850" dirty="0"/>
          </a:p>
          <a:p>
            <a:pPr indent="0" marL="0">
              <a:lnSpc>
                <a:spcPct val="110000"/>
              </a:lnSpc>
              <a:spcAft>
                <a:spcPts val="150"/>
              </a:spcAft>
              <a:buNone/>
            </a:pPr>
            <a:r>
              <a:rPr lang="en-US" sz="850" dirty="0">
                <a:solidFill>
                  <a:srgbClr val="333333"/>
                </a:solidFill>
                <a:latin typeface="Arial" pitchFamily="34" charset="0"/>
                <a:ea typeface="Arial" pitchFamily="34" charset="-122"/>
                <a:cs typeface="Arial" pitchFamily="34" charset="-120"/>
              </a:rPr>
              <a:t xml:space="preserve">15+ years of senior hospitality brand leadership: Global Brand Director for Westin Hotels &amp; Resorts and Global Brand lead across Marriott’s premium and lifestyle portfolio, Director of Brand F&amp;B Development (Americas) at Hilton, and a stint at a VC-backed hospitality-tech startup. He now advises private clients across the hospitality sector. </a:t>
            </a:r>
            <a:r>
              <a:rPr lang="en-US" sz="850" b="1" dirty="0">
                <a:solidFill>
                  <a:srgbClr val="333333"/>
                </a:solidFill>
                <a:latin typeface="Arial" pitchFamily="34" charset="0"/>
                <a:ea typeface="Arial" pitchFamily="34" charset="-122"/>
                <a:cs typeface="Arial" pitchFamily="34" charset="-120"/>
              </a:rPr>
              <a:t xml:space="preserve">His own qualifying answers reflect that: he marked himself as not accredited but also selected a $25K–$50K check size, direct investment, and a 30–90 day timeline</a:t>
            </a:r>
            <a:r>
              <a:rPr lang="en-US" sz="850" dirty="0">
                <a:solidFill>
                  <a:srgbClr val="333333"/>
                </a:solidFill>
                <a:latin typeface="Arial" pitchFamily="34" charset="0"/>
                <a:ea typeface="Arial" pitchFamily="34" charset="-122"/>
                <a:cs typeface="Arial" pitchFamily="34" charset="-120"/>
              </a:rPr>
              <a:t xml:space="preserve">, an inconsistency worth being aware of going in. He also selected Advisor/Consultant as his partnership interest, so the call may land better framed as an operator/advisory conversation.</a:t>
            </a:r>
            <a:endParaRPr lang="en-US" sz="850" dirty="0"/>
          </a:p>
        </p:txBody>
      </p:sp>
      <p:sp>
        <p:nvSpPr>
          <p:cNvPr id="337" name="Text e-4.92"/>
          <p:cNvSpPr txBox="1"/>
          <p:nvPr/>
        </p:nvSpPr>
        <p:spPr>
          <a:xfrm>
            <a:off x="822960" y="4498848"/>
            <a:ext cx="6940296" cy="27432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Mutual Connections: </a:t>
            </a:r>
            <a:r>
              <a:rPr lang="en-US" sz="850" dirty="0">
                <a:solidFill>
                  <a:srgbClr val="333333"/>
                </a:solidFill>
                <a:latin typeface="Arial" pitchFamily="34" charset="0"/>
                <a:ea typeface="Arial" pitchFamily="34" charset="-122"/>
                <a:cs typeface="Arial" pitchFamily="34" charset="-120"/>
              </a:rPr>
              <a:t xml:space="preserve">Matthew and Cherryh.   </a:t>
            </a:r>
            <a:r>
              <a:rPr lang="en-US" sz="850" b="1" dirty="0">
                <a:solidFill>
                  <a:srgbClr val="1A1A2E"/>
                </a:solidFill>
                <a:latin typeface="Arial" pitchFamily="34" charset="0"/>
                <a:ea typeface="Arial" pitchFamily="34" charset="-122"/>
                <a:cs typeface="Arial" pitchFamily="34" charset="-120"/>
              </a:rPr>
              <a:t xml:space="preserve">Network Highlights: </a:t>
            </a:r>
            <a:r>
              <a:rPr lang="en-US" sz="850" dirty="0">
                <a:solidFill>
                  <a:srgbClr val="333333"/>
                </a:solidFill>
                <a:latin typeface="Arial" pitchFamily="34" charset="0"/>
                <a:ea typeface="Arial" pitchFamily="34" charset="-122"/>
                <a:cs typeface="Arial" pitchFamily="34" charset="-120"/>
              </a:rPr>
              <a:t xml:space="preserve">4,251 followers, active on LinkedIn engaging with colleagues’ career milestones; Cornell-affiliated.</a:t>
            </a:r>
            <a:endParaRPr lang="en-US" sz="850" dirty="0"/>
          </a:p>
        </p:txBody>
      </p:sp>
      <p:sp>
        <p:nvSpPr>
          <p:cNvPr id="338" name="Text e-5.3"/>
          <p:cNvSpPr txBox="1"/>
          <p:nvPr/>
        </p:nvSpPr>
        <p:spPr>
          <a:xfrm>
            <a:off x="822960" y="4846320"/>
            <a:ext cx="6940296" cy="512064"/>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Affiliations &amp; notable initiatives: </a:t>
            </a:r>
            <a:r>
              <a:rPr lang="en-US" sz="850" dirty="0">
                <a:solidFill>
                  <a:srgbClr val="333333"/>
                </a:solidFill>
                <a:latin typeface="Arial" pitchFamily="34" charset="0"/>
                <a:ea typeface="Arial" pitchFamily="34" charset="-122"/>
                <a:cs typeface="Arial" pitchFamily="34" charset="-120"/>
              </a:rPr>
              <a:t xml:space="preserve">VP, Strategy at a hospitality brand consultancy  ·  Former Global Brand Director, Westin Hotels &amp; Resorts (Marriott International)  ·  Former Director, Brand F&amp;B Development (Americas), Hilton  ·  Led global brand strategy across Westin, Sheraton, Autograph Collection, Le Méridien, Renaissance and Delta  ·  Part of a team that drove a 5x revenue increase with 40% margin expansion across 9 markets and 200,000+ hotel guest rooms.</a:t>
            </a:r>
            <a:endParaRPr lang="en-US" sz="850" dirty="0"/>
          </a:p>
        </p:txBody>
      </p:sp>
      <p:sp>
        <p:nvSpPr>
          <p:cNvPr id="339" name="Text e-5.96"/>
          <p:cNvSpPr txBox="1"/>
          <p:nvPr/>
        </p:nvSpPr>
        <p:spPr>
          <a:xfrm>
            <a:off x="822960" y="5449824"/>
            <a:ext cx="6940296" cy="713232"/>
          </a:xfrm>
          <a:prstGeom prst="rect">
            <a:avLst/>
          </a:prstGeom>
          <a:noFill/>
        </p:spPr>
        <p:txBody>
          <a:bodyPr wrap="square" lIns="0" tIns="0" rIns="0" bIns="0" rtlCol="0" anchor="t"/>
          <a:lstStyle/>
          <a:p>
            <a:pPr indent="0" marL="0">
              <a:lnSpc>
                <a:spcPct val="108000"/>
              </a:lnSpc>
              <a:spcAft>
                <a:spcPts val="100"/>
              </a:spcAft>
              <a:buNone/>
            </a:pPr>
            <a:r>
              <a:rPr lang="en-US" sz="800" b="1" dirty="0">
                <a:solidFill>
                  <a:srgbClr val="1A1A2E"/>
                </a:solidFill>
                <a:latin typeface="Arial" pitchFamily="34" charset="0"/>
                <a:ea typeface="Arial" pitchFamily="34" charset="-122"/>
                <a:cs typeface="Arial" pitchFamily="34" charset="-120"/>
              </a:rPr>
              <a:t xml:space="preserve">Conversation Thread:</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Prospect: </a:t>
            </a:r>
            <a:r>
              <a:rPr lang="en-US" sz="800" i="1" dirty="0">
                <a:solidFill>
                  <a:srgbClr val="333333"/>
                </a:solidFill>
                <a:latin typeface="Arial" pitchFamily="34" charset="0"/>
                <a:ea typeface="Arial" pitchFamily="34" charset="-122"/>
                <a:cs typeface="Arial" pitchFamily="34" charset="-120"/>
              </a:rPr>
              <a:t xml:space="preserve">“…Not sure the additional 50 sq meters a luggage storage room would change the hotel P&amp;L much if any. I’m no longer your target audience… Let me know if helpful to chat.”</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Founder: </a:t>
            </a:r>
            <a:r>
              <a:rPr lang="en-US" sz="800" i="1" dirty="0">
                <a:solidFill>
                  <a:srgbClr val="333333"/>
                </a:solidFill>
                <a:latin typeface="Arial" pitchFamily="34" charset="0"/>
                <a:ea typeface="Arial" pitchFamily="34" charset="-122"/>
                <a:cs typeface="Arial" pitchFamily="34" charset="-120"/>
              </a:rPr>
              <a:t xml:space="preserve">“…To be upfront, this outreach is part of a raise we’re running, not a property-pilot pitch… Given your background, I’d genuinely value your take on it from that angle.”</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Prospect: </a:t>
            </a:r>
            <a:r>
              <a:rPr lang="en-US" sz="800" i="1" dirty="0">
                <a:solidFill>
                  <a:srgbClr val="333333"/>
                </a:solidFill>
                <a:latin typeface="Arial" pitchFamily="34" charset="0"/>
                <a:ea typeface="Arial" pitchFamily="34" charset="-122"/>
                <a:cs typeface="Arial" pitchFamily="34" charset="-120"/>
              </a:rPr>
              <a:t xml:space="preserve">“Love it. Let’s connect.”  …  “Perfect. Sent. Looking forward.”</a:t>
            </a:r>
            <a:endParaRPr lang="en-US" sz="800" dirty="0"/>
          </a:p>
        </p:txBody>
      </p:sp>
      <p:sp>
        <p:nvSpPr>
          <p:cNvPr id="340" name="Text e-6.86"/>
          <p:cNvSpPr txBox="1"/>
          <p:nvPr/>
        </p:nvSpPr>
        <p:spPr>
          <a:xfrm>
            <a:off x="822960" y="6272784"/>
            <a:ext cx="6940296" cy="18288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LinkedIn Profile: </a:t>
            </a:r>
            <a:r>
              <a:rPr lang="en-US" sz="850" dirty="0">
                <a:solidFill>
                  <a:srgbClr val="1A73E8"/>
                </a:solidFill>
                <a:latin typeface="Arial" pitchFamily="34" charset="0"/>
                <a:ea typeface="Arial" pitchFamily="34" charset="-122"/>
                <a:cs typeface="Arial" pitchFamily="34" charset="-120"/>
              </a:rPr>
              <a:t xml:space="preserve">full profile attached below</a:t>
            </a:r>
            <a:r>
              <a:rPr lang="en-US" sz="850" b="1" dirty="0">
                <a:solidFill>
                  <a:srgbClr val="1A1A2E"/>
                </a:solidFill>
                <a:latin typeface="Arial" pitchFamily="34" charset="0"/>
                <a:ea typeface="Arial" pitchFamily="34" charset="-122"/>
                <a:cs typeface="Arial" pitchFamily="34" charset="-120"/>
              </a:rPr>
              <a:t xml:space="preserve">     Calendly booking: </a:t>
            </a:r>
            <a:r>
              <a:rPr lang="en-US" sz="850" dirty="0">
                <a:solidFill>
                  <a:srgbClr val="1A73E8"/>
                </a:solidFill>
                <a:latin typeface="Arial" pitchFamily="34" charset="0"/>
                <a:ea typeface="Arial" pitchFamily="34" charset="-122"/>
                <a:cs typeface="Arial" pitchFamily="34" charset="-120"/>
              </a:rPr>
              <a:t xml:space="preserve">confirmed for Tue, Sep 22, 5:30pm ET</a:t>
            </a:r>
            <a:endParaRPr lang="en-US" sz="850" dirty="0"/>
          </a:p>
        </p:txBody>
      </p:sp>
      <p:sp>
        <p:nvSpPr>
          <p:cNvPr id="341" name="Shape arrow 2.94"/>
          <p:cNvSpPr/>
          <p:nvPr/>
        </p:nvSpPr>
        <p:spPr>
          <a:xfrm>
            <a:off x="8083296" y="2706624"/>
            <a:ext cx="329184" cy="182880"/>
          </a:xfrm>
          <a:prstGeom prst="leftArrow">
            <a:avLst/>
          </a:prstGeom>
          <a:solidFill>
            <a:srgbClr val="43D5FF"/>
          </a:solidFill>
          <a:ln>
            <a:noFill/>
          </a:ln>
        </p:spPr>
      </p:sp>
      <p:sp>
        <p:nvSpPr>
          <p:cNvPr id="342" name="Text co-l 2.94"/>
          <p:cNvSpPr txBox="1"/>
          <p:nvPr/>
        </p:nvSpPr>
        <p:spPr>
          <a:xfrm>
            <a:off x="8522208" y="2670048"/>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SEGMENT FIT, STATED</a:t>
            </a:r>
            <a:endParaRPr lang="en-US" sz="1050" dirty="0"/>
          </a:p>
        </p:txBody>
      </p:sp>
      <p:sp>
        <p:nvSpPr>
          <p:cNvPr id="343" name="Text co-t 2.94"/>
          <p:cNvSpPr txBox="1"/>
          <p:nvPr/>
        </p:nvSpPr>
        <p:spPr>
          <a:xfrm>
            <a:off x="8522208" y="2907792"/>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Which of your ICP segments they matched and how the conversation got to a booking, so nothing is a surprise on the call.</a:t>
            </a:r>
            <a:endParaRPr lang="en-US" sz="950" dirty="0"/>
          </a:p>
        </p:txBody>
      </p:sp>
      <p:sp>
        <p:nvSpPr>
          <p:cNvPr id="344" name="Shape arrow 4"/>
          <p:cNvSpPr/>
          <p:nvPr/>
        </p:nvSpPr>
        <p:spPr>
          <a:xfrm>
            <a:off x="8083296" y="3675888"/>
            <a:ext cx="329184" cy="182880"/>
          </a:xfrm>
          <a:prstGeom prst="leftArrow">
            <a:avLst/>
          </a:prstGeom>
          <a:solidFill>
            <a:srgbClr val="43D5FF"/>
          </a:solidFill>
          <a:ln>
            <a:noFill/>
          </a:ln>
        </p:spPr>
      </p:sp>
      <p:sp>
        <p:nvSpPr>
          <p:cNvPr id="345" name="Text co-l 4"/>
          <p:cNvSpPr txBox="1"/>
          <p:nvPr/>
        </p:nvSpPr>
        <p:spPr>
          <a:xfrm>
            <a:off x="8522208" y="3639312"/>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WHY THEY’RE WORTH YOUR TIME</a:t>
            </a:r>
            <a:endParaRPr lang="en-US" sz="1050" dirty="0"/>
          </a:p>
        </p:txBody>
      </p:sp>
      <p:sp>
        <p:nvSpPr>
          <p:cNvPr id="346" name="Text co-t 4"/>
          <p:cNvSpPr txBox="1"/>
          <p:nvPr/>
        </p:nvSpPr>
        <p:spPr>
          <a:xfrm>
            <a:off x="8522208" y="3877056"/>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Background, their own qualifying answers and an honest read on how to frame the call, inconsistencies included.</a:t>
            </a:r>
            <a:endParaRPr lang="en-US" sz="950" dirty="0"/>
          </a:p>
        </p:txBody>
      </p:sp>
      <p:sp>
        <p:nvSpPr>
          <p:cNvPr id="347" name="Shape arrow 5.14"/>
          <p:cNvSpPr/>
          <p:nvPr/>
        </p:nvSpPr>
        <p:spPr>
          <a:xfrm>
            <a:off x="8083296" y="4718304"/>
            <a:ext cx="329184" cy="182880"/>
          </a:xfrm>
          <a:prstGeom prst="leftArrow">
            <a:avLst/>
          </a:prstGeom>
          <a:solidFill>
            <a:srgbClr val="43D5FF"/>
          </a:solidFill>
          <a:ln>
            <a:noFill/>
          </a:ln>
        </p:spPr>
      </p:sp>
      <p:sp>
        <p:nvSpPr>
          <p:cNvPr id="348" name="Text co-l 5.14"/>
          <p:cNvSpPr txBox="1"/>
          <p:nvPr/>
        </p:nvSpPr>
        <p:spPr>
          <a:xfrm>
            <a:off x="8522208" y="4681728"/>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WARM PATHS IN + TRACK RECORD</a:t>
            </a:r>
            <a:endParaRPr lang="en-US" sz="1050" dirty="0"/>
          </a:p>
        </p:txBody>
      </p:sp>
      <p:sp>
        <p:nvSpPr>
          <p:cNvPr id="349" name="Text co-t 5.14"/>
          <p:cNvSpPr txBox="1"/>
          <p:nvPr/>
        </p:nvSpPr>
        <p:spPr>
          <a:xfrm>
            <a:off x="8522208" y="4919472"/>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Mutual connections, shared schools, roles, affiliations and initiatives that matter to you, each checked by a person.</a:t>
            </a:r>
            <a:endParaRPr lang="en-US" sz="950" dirty="0"/>
          </a:p>
        </p:txBody>
      </p:sp>
      <p:sp>
        <p:nvSpPr>
          <p:cNvPr id="350" name="Shape arrow 6.12"/>
          <p:cNvSpPr/>
          <p:nvPr/>
        </p:nvSpPr>
        <p:spPr>
          <a:xfrm>
            <a:off x="8083296" y="5614416"/>
            <a:ext cx="329184" cy="182880"/>
          </a:xfrm>
          <a:prstGeom prst="leftArrow">
            <a:avLst/>
          </a:prstGeom>
          <a:solidFill>
            <a:srgbClr val="43D5FF"/>
          </a:solidFill>
          <a:ln>
            <a:noFill/>
          </a:ln>
        </p:spPr>
      </p:sp>
      <p:sp>
        <p:nvSpPr>
          <p:cNvPr id="351" name="Text co-l 6.12"/>
          <p:cNvSpPr txBox="1"/>
          <p:nvPr/>
        </p:nvSpPr>
        <p:spPr>
          <a:xfrm>
            <a:off x="8522208" y="5577840"/>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THE WHOLE CONVERSATION</a:t>
            </a:r>
            <a:endParaRPr lang="en-US" sz="1050" dirty="0"/>
          </a:p>
        </p:txBody>
      </p:sp>
      <p:sp>
        <p:nvSpPr>
          <p:cNvPr id="352" name="Text co-t 6.12"/>
          <p:cNvSpPr txBox="1"/>
          <p:nvPr/>
        </p:nvSpPr>
        <p:spPr>
          <a:xfrm>
            <a:off x="8522208" y="5815584"/>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Every message exchanged, so you walk in knowing exactly what was said and promised.</a:t>
            </a:r>
            <a:endParaRPr lang="en-US" sz="950" dirty="0"/>
          </a:p>
        </p:txBody>
      </p:sp>
      <p:sp>
        <p:nvSpPr>
          <p:cNvPr id="353" name="Shape arrow 6.88"/>
          <p:cNvSpPr/>
          <p:nvPr/>
        </p:nvSpPr>
        <p:spPr>
          <a:xfrm>
            <a:off x="8083296" y="6309360"/>
            <a:ext cx="329184" cy="182880"/>
          </a:xfrm>
          <a:prstGeom prst="leftArrow">
            <a:avLst/>
          </a:prstGeom>
          <a:solidFill>
            <a:srgbClr val="43D5FF"/>
          </a:solidFill>
          <a:ln>
            <a:noFill/>
          </a:ln>
        </p:spPr>
      </p:sp>
      <p:sp>
        <p:nvSpPr>
          <p:cNvPr id="354" name="Text co-l 6.88"/>
          <p:cNvSpPr txBox="1"/>
          <p:nvPr/>
        </p:nvSpPr>
        <p:spPr>
          <a:xfrm>
            <a:off x="8522208" y="6272784"/>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PROFILE + BOOKING</a:t>
            </a:r>
            <a:endParaRPr lang="en-US" sz="1050" dirty="0"/>
          </a:p>
        </p:txBody>
      </p:sp>
      <p:sp>
        <p:nvSpPr>
          <p:cNvPr id="355" name="Text co-t 6.88"/>
          <p:cNvSpPr txBox="1"/>
          <p:nvPr/>
        </p:nvSpPr>
        <p:spPr>
          <a:xfrm>
            <a:off x="8522208" y="6510528"/>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Full profile attached; the slot is already on your calendar.</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 To Expect</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VOLUME, MEETINGS, TIMING</a:t>
            </a:r>
            <a:endParaRPr lang="en-US" sz="1400" dirty="0"/>
          </a:p>
        </p:txBody>
      </p:sp>
      <p:sp>
        <p:nvSpPr>
          <p:cNvPr id="6" name="Shape 3"/>
          <p:cNvSpPr/>
          <p:nvPr/>
        </p:nvSpPr>
        <p:spPr>
          <a:xfrm>
            <a:off x="566928"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7" name="Text 4"/>
          <p:cNvSpPr/>
          <p:nvPr/>
        </p:nvSpPr>
        <p:spPr>
          <a:xfrm>
            <a:off x="795528"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OUTREACH VOLUME</a:t>
            </a:r>
            <a:endParaRPr lang="en-US" sz="1250" dirty="0"/>
          </a:p>
        </p:txBody>
      </p:sp>
      <p:sp>
        <p:nvSpPr>
          <p:cNvPr id="8" name="Text 5"/>
          <p:cNvSpPr/>
          <p:nvPr/>
        </p:nvSpPr>
        <p:spPr>
          <a:xfrm>
            <a:off x="795528"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3,600+</a:t>
            </a:r>
            <a:endParaRPr lang="en-US" sz="4400" dirty="0"/>
          </a:p>
        </p:txBody>
      </p:sp>
      <p:sp>
        <p:nvSpPr>
          <p:cNvPr id="9" name="Text 6"/>
          <p:cNvSpPr/>
          <p:nvPr/>
        </p:nvSpPr>
        <p:spPr>
          <a:xfrm>
            <a:off x="795528"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LinkedIn touches / month, three profiles</a:t>
            </a:r>
            <a:endParaRPr lang="en-US" sz="1100" dirty="0"/>
          </a:p>
        </p:txBody>
      </p:sp>
      <p:sp>
        <p:nvSpPr>
          <p:cNvPr id="10" name="Text 7"/>
          <p:cNvSpPr/>
          <p:nvPr/>
        </p:nvSpPr>
        <p:spPr>
          <a:xfrm>
            <a:off x="795528"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We aim to send 600–800 InMails and 600–800 connection invites per profile every month from Brian’s, Maria’s and Rain’s accounts, once warmed up. Every touch scored and hand-reviewed first.</a:t>
            </a:r>
            <a:endParaRPr lang="en-US" sz="1050" dirty="0"/>
          </a:p>
        </p:txBody>
      </p:sp>
      <p:sp>
        <p:nvSpPr>
          <p:cNvPr id="11" name="Shape 8"/>
          <p:cNvSpPr/>
          <p:nvPr/>
        </p:nvSpPr>
        <p:spPr>
          <a:xfrm>
            <a:off x="4434840"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2" name="Text 9"/>
          <p:cNvSpPr/>
          <p:nvPr/>
        </p:nvSpPr>
        <p:spPr>
          <a:xfrm>
            <a:off x="4663440"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QUALIFIED MEETINGS</a:t>
            </a:r>
            <a:endParaRPr lang="en-US" sz="1250" dirty="0"/>
          </a:p>
        </p:txBody>
      </p:sp>
      <p:sp>
        <p:nvSpPr>
          <p:cNvPr id="13" name="Text 10"/>
          <p:cNvSpPr/>
          <p:nvPr/>
        </p:nvSpPr>
        <p:spPr>
          <a:xfrm>
            <a:off x="4663440"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3–6</a:t>
            </a:r>
            <a:endParaRPr lang="en-US" sz="4400" dirty="0"/>
          </a:p>
        </p:txBody>
      </p:sp>
      <p:sp>
        <p:nvSpPr>
          <p:cNvPr id="14" name="Text 11"/>
          <p:cNvSpPr/>
          <p:nvPr/>
        </p:nvSpPr>
        <p:spPr>
          <a:xfrm>
            <a:off x="4663440"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per week at steady state (month 2 onward)</a:t>
            </a:r>
            <a:endParaRPr lang="en-US" sz="1100" dirty="0"/>
          </a:p>
        </p:txBody>
      </p:sp>
      <p:sp>
        <p:nvSpPr>
          <p:cNvPr id="15" name="Text 12"/>
          <p:cNvSpPr/>
          <p:nvPr/>
        </p:nvSpPr>
        <p:spPr>
          <a:xfrm>
            <a:off x="4663440"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Conservatively 1–2 per profile per week once calibrated, screened against your $250K minimum. Not a guarantee, but the range we deliver consistently.</a:t>
            </a:r>
            <a:endParaRPr lang="en-US" sz="1050" dirty="0"/>
          </a:p>
        </p:txBody>
      </p:sp>
      <p:sp>
        <p:nvSpPr>
          <p:cNvPr id="16" name="Shape 13"/>
          <p:cNvSpPr/>
          <p:nvPr/>
        </p:nvSpPr>
        <p:spPr>
          <a:xfrm>
            <a:off x="8302752"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7" name="Text 14"/>
          <p:cNvSpPr/>
          <p:nvPr/>
        </p:nvSpPr>
        <p:spPr>
          <a:xfrm>
            <a:off x="8531352"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TIME TO FIRST MEETINGS</a:t>
            </a:r>
            <a:endParaRPr lang="en-US" sz="1250" dirty="0"/>
          </a:p>
        </p:txBody>
      </p:sp>
      <p:sp>
        <p:nvSpPr>
          <p:cNvPr id="18" name="Text 15"/>
          <p:cNvSpPr/>
          <p:nvPr/>
        </p:nvSpPr>
        <p:spPr>
          <a:xfrm>
            <a:off x="8531352"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3–4</a:t>
            </a:r>
            <a:endParaRPr lang="en-US" sz="4400" dirty="0"/>
          </a:p>
        </p:txBody>
      </p:sp>
      <p:sp>
        <p:nvSpPr>
          <p:cNvPr id="19" name="Text 16"/>
          <p:cNvSpPr/>
          <p:nvPr/>
        </p:nvSpPr>
        <p:spPr>
          <a:xfrm>
            <a:off x="8531352"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weeks from kickoff to first booked calls</a:t>
            </a:r>
            <a:endParaRPr lang="en-US" sz="1100" dirty="0"/>
          </a:p>
        </p:txBody>
      </p:sp>
      <p:sp>
        <p:nvSpPr>
          <p:cNvPr id="20" name="Text 17"/>
          <p:cNvSpPr/>
          <p:nvPr/>
        </p:nvSpPr>
        <p:spPr>
          <a:xfrm>
            <a:off x="8531352"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Weeks one and two are setup: ICP, audiences, scripts, profile warm-up. Live outreach starts in week three, and the first replies and bookings follow within days.</a:t>
            </a:r>
            <a:endParaRPr lang="en-US" sz="1050" dirty="0"/>
          </a:p>
        </p:txBody>
      </p:sp>
      <p:sp>
        <p:nvSpPr>
          <p:cNvPr id="21" name="Shape 18"/>
          <p:cNvSpPr/>
          <p:nvPr/>
        </p:nvSpPr>
        <p:spPr>
          <a:xfrm>
            <a:off x="566928" y="4846320"/>
            <a:ext cx="11338560" cy="1463040"/>
          </a:xfrm>
          <a:prstGeom prst="roundRect">
            <a:avLst>
              <a:gd name="adj" fmla="val 5625"/>
            </a:avLst>
          </a:prstGeom>
          <a:solidFill>
            <a:srgbClr val="0D0D26">
              <a:alpha val="55000"/>
            </a:srgbClr>
          </a:solidFill>
          <a:ln w="9525">
            <a:solidFill>
              <a:srgbClr val="31316A">
                <a:alpha val="75000"/>
              </a:srgbClr>
            </a:solidFill>
            <a:prstDash val="solid"/>
          </a:ln>
        </p:spPr>
      </p:sp>
      <p:sp>
        <p:nvSpPr>
          <p:cNvPr id="22" name="Text 19"/>
          <p:cNvSpPr/>
          <p:nvPr/>
        </p:nvSpPr>
        <p:spPr>
          <a:xfrm>
            <a:off x="795528" y="5010912"/>
            <a:ext cx="1088136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WHAT “QUALIFIED” MEANS, AND THE HONEST TIMELINE</a:t>
            </a:r>
            <a:endParaRPr lang="en-US" sz="1200" dirty="0"/>
          </a:p>
        </p:txBody>
      </p:sp>
      <p:sp>
        <p:nvSpPr>
          <p:cNvPr id="23" name="Text 20"/>
          <p:cNvSpPr/>
          <p:nvPr/>
        </p:nvSpPr>
        <p:spPr>
          <a:xfrm>
            <a:off x="795528" y="5321808"/>
            <a:ext cx="10881360" cy="868680"/>
          </a:xfrm>
          <a:prstGeom prst="rect">
            <a:avLst/>
          </a:prstGeom>
          <a:noFill/>
          <a:ln/>
        </p:spPr>
        <p:txBody>
          <a:bodyPr wrap="square" lIns="0" tIns="0" rIns="0" bIns="0" rtlCol="0" anchor="t"/>
          <a:lstStyle/>
          <a:p>
            <a:pPr indent="0" marL="0">
              <a:lnSpc>
                <a:spcPct val="125000"/>
              </a:lnSpc>
              <a:buNone/>
            </a:pPr>
            <a:r>
              <a:rPr lang="en-US" sz="1150" dirty="0">
                <a:solidFill>
                  <a:srgbClr val="FFFFFF"/>
                </a:solidFill>
                <a:latin typeface="Arial" pitchFamily="34" charset="0"/>
                <a:ea typeface="Arial" pitchFamily="34" charset="-122"/>
                <a:cs typeface="Arial" pitchFamily="34" charset="-120"/>
              </a:rPr>
              <a:t>A qualified meeting is a high-net-worth individual, fund or family office with a verified history of similar investments, who passed scoring and human review, completed the self-qualification form on booking, and whose briefing you approved. Pre-revenue raises historically take 6–12 months from first outreach to capital in the bank. We’ll have the right investors on your calendars quickly; the close depends on your process and their diligence, and we’d rather you hear that from us now.</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First 90 Days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HAPPENS, AND WHEN</a:t>
            </a:r>
            <a:endParaRPr lang="en-US" sz="1400" dirty="0"/>
          </a:p>
        </p:txBody>
      </p:sp>
      <p:sp>
        <p:nvSpPr>
          <p:cNvPr id="6" name="Shape 3"/>
          <p:cNvSpPr/>
          <p:nvPr/>
        </p:nvSpPr>
        <p:spPr>
          <a:xfrm>
            <a:off x="56692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7" name="Text 4"/>
          <p:cNvSpPr/>
          <p:nvPr/>
        </p:nvSpPr>
        <p:spPr>
          <a:xfrm>
            <a:off x="76809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WEEKS 1-2  ·  LATE OCT</a:t>
            </a:r>
            <a:endParaRPr lang="en-US" sz="1200" dirty="0"/>
          </a:p>
        </p:txBody>
      </p:sp>
      <p:sp>
        <p:nvSpPr>
          <p:cNvPr id="8" name="Text 5"/>
          <p:cNvSpPr/>
          <p:nvPr/>
        </p:nvSpPr>
        <p:spPr>
          <a:xfrm>
            <a:off x="76809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Setup &amp; Calibration</a:t>
            </a:r>
            <a:endParaRPr lang="en-US" sz="1600" dirty="0"/>
          </a:p>
        </p:txBody>
      </p:sp>
      <p:sp>
        <p:nvSpPr>
          <p:cNvPr id="9" name="Text 6"/>
          <p:cNvSpPr/>
          <p:nvPr/>
        </p:nvSpPr>
        <p:spPr>
          <a:xfrm>
            <a:off x="76809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Interviews: Brian, Maria, Rain</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ICP built around $250K+ checks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Rain’s profile built up and warmed</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Scripts approved in your voice</a:t>
            </a:r>
            <a:endParaRPr lang="en-US" sz="1150" dirty="0"/>
          </a:p>
        </p:txBody>
      </p:sp>
      <p:sp>
        <p:nvSpPr>
          <p:cNvPr id="10" name="Shape 7"/>
          <p:cNvSpPr/>
          <p:nvPr/>
        </p:nvSpPr>
        <p:spPr>
          <a:xfrm>
            <a:off x="344728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1" name="Text 8"/>
          <p:cNvSpPr/>
          <p:nvPr/>
        </p:nvSpPr>
        <p:spPr>
          <a:xfrm>
            <a:off x="364845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WEEKS 3-4  ·  MID NOV</a:t>
            </a:r>
            <a:endParaRPr lang="en-US" sz="1200" dirty="0"/>
          </a:p>
        </p:txBody>
      </p:sp>
      <p:sp>
        <p:nvSpPr>
          <p:cNvPr id="12" name="Text 9"/>
          <p:cNvSpPr/>
          <p:nvPr/>
        </p:nvSpPr>
        <p:spPr>
          <a:xfrm>
            <a:off x="364845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First Live Outreach</a:t>
            </a:r>
            <a:endParaRPr lang="en-US" sz="1600" dirty="0"/>
          </a:p>
        </p:txBody>
      </p:sp>
      <p:sp>
        <p:nvSpPr>
          <p:cNvPr id="13" name="Text 10"/>
          <p:cNvSpPr/>
          <p:nvPr/>
        </p:nvSpPr>
        <p:spPr>
          <a:xfrm>
            <a:off x="364845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Live on all three profiles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First replies, first booked meetings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A/B tests on openers per profile</a:t>
            </a:r>
            <a:endParaRPr lang="en-US" sz="1150" dirty="0"/>
          </a:p>
        </p:txBody>
      </p:sp>
      <p:sp>
        <p:nvSpPr>
          <p:cNvPr id="14" name="Shape 11"/>
          <p:cNvSpPr/>
          <p:nvPr/>
        </p:nvSpPr>
        <p:spPr>
          <a:xfrm>
            <a:off x="632764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5" name="Text 12"/>
          <p:cNvSpPr/>
          <p:nvPr/>
        </p:nvSpPr>
        <p:spPr>
          <a:xfrm>
            <a:off x="652881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MONTH 2  ·  DECEMBER</a:t>
            </a:r>
            <a:endParaRPr lang="en-US" sz="1200" dirty="0"/>
          </a:p>
        </p:txBody>
      </p:sp>
      <p:sp>
        <p:nvSpPr>
          <p:cNvPr id="16" name="Text 13"/>
          <p:cNvSpPr/>
          <p:nvPr/>
        </p:nvSpPr>
        <p:spPr>
          <a:xfrm>
            <a:off x="652881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Steady Flow</a:t>
            </a:r>
            <a:endParaRPr lang="en-US" sz="1600" dirty="0"/>
          </a:p>
        </p:txBody>
      </p:sp>
      <p:sp>
        <p:nvSpPr>
          <p:cNvPr id="17" name="Text 14"/>
          <p:cNvSpPr/>
          <p:nvPr/>
        </p:nvSpPr>
        <p:spPr>
          <a:xfrm>
            <a:off x="652881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Steady weekly flow of $250K+ investors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Targeting tightened on real replies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Segment reporting: what converts</a:t>
            </a:r>
            <a:endParaRPr lang="en-US" sz="1150" dirty="0"/>
          </a:p>
        </p:txBody>
      </p:sp>
      <p:sp>
        <p:nvSpPr>
          <p:cNvPr id="18" name="Shape 15"/>
          <p:cNvSpPr/>
          <p:nvPr/>
        </p:nvSpPr>
        <p:spPr>
          <a:xfrm>
            <a:off x="920800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9" name="Text 16"/>
          <p:cNvSpPr/>
          <p:nvPr/>
        </p:nvSpPr>
        <p:spPr>
          <a:xfrm>
            <a:off x="940917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MONTH 3  ·  JANUARY</a:t>
            </a:r>
            <a:endParaRPr lang="en-US" sz="1200" dirty="0"/>
          </a:p>
        </p:txBody>
      </p:sp>
      <p:sp>
        <p:nvSpPr>
          <p:cNvPr id="20" name="Text 17"/>
          <p:cNvSpPr/>
          <p:nvPr/>
        </p:nvSpPr>
        <p:spPr>
          <a:xfrm>
            <a:off x="940917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Prove-Out</a:t>
            </a:r>
            <a:endParaRPr lang="en-US" sz="1600" dirty="0"/>
          </a:p>
        </p:txBody>
      </p:sp>
      <p:sp>
        <p:nvSpPr>
          <p:cNvPr id="21" name="Text 18"/>
          <p:cNvSpPr/>
          <p:nvPr/>
        </p:nvSpPr>
        <p:spPr>
          <a:xfrm>
            <a:off x="940917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Three months of data reviewed</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Volume weighted to best segments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Month four planned around launch</a:t>
            </a:r>
            <a:endParaRPr lang="en-US" sz="1150" dirty="0"/>
          </a:p>
        </p:txBody>
      </p:sp>
      <p:sp>
        <p:nvSpPr>
          <p:cNvPr id="356" name="Shape 20"/>
          <p:cNvSpPr/>
          <p:nvPr/>
        </p:nvSpPr>
        <p:spPr>
          <a:xfrm>
            <a:off x="566928" y="5029200"/>
            <a:ext cx="11338560" cy="1325880"/>
          </a:xfrm>
          <a:prstGeom prst="roundRect">
            <a:avLst>
              <a:gd name="adj" fmla="val 4865"/>
            </a:avLst>
          </a:prstGeom>
          <a:solidFill>
            <a:srgbClr val="0D0D26">
              <a:alpha val="55000"/>
            </a:srgbClr>
          </a:solidFill>
          <a:ln w="9525">
            <a:solidFill>
              <a:srgbClr val="31316A">
                <a:alpha val="75000"/>
              </a:srgbClr>
            </a:solidFill>
            <a:prstDash val="solid"/>
          </a:ln>
        </p:spPr>
      </p:sp>
      <p:sp>
        <p:nvSpPr>
          <p:cNvPr id="357" name="Text 21"/>
          <p:cNvSpPr/>
          <p:nvPr/>
        </p:nvSpPr>
        <p:spPr>
          <a:xfrm>
            <a:off x="795528" y="5175504"/>
            <a:ext cx="54864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MONTH FOUR  ·  FEBRUARY</a:t>
            </a:r>
            <a:endParaRPr lang="en-US" sz="1400" dirty="0"/>
          </a:p>
        </p:txBody>
      </p:sp>
      <p:sp>
        <p:nvSpPr>
          <p:cNvPr id="358" name="Text 22"/>
          <p:cNvSpPr/>
          <p:nvPr/>
        </p:nvSpPr>
        <p:spPr>
          <a:xfrm>
            <a:off x="795528" y="5504688"/>
            <a:ext cx="10881360" cy="77724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The term runs four months, matched to the raise window we discussed. By the end of January you’ll have three months of real numbers on which segments and which profiles convert, and month four puts full volume behind them as the Q1 launch approaches. At the end of February we review together and decide, on data, whether to extend into the next round or the next brand.</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Pricing</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FLAT RETAINER. NO SETUP FEES, NO SUCCESS FEES, NO SURPRISES.</a:t>
            </a:r>
            <a:endParaRPr lang="en-US" sz="1400" dirty="0"/>
          </a:p>
        </p:txBody>
      </p:sp>
      <p:sp>
        <p:nvSpPr>
          <p:cNvPr id="6" name="Shape 3"/>
          <p:cNvSpPr/>
          <p:nvPr/>
        </p:nvSpPr>
        <p:spPr>
          <a:xfrm>
            <a:off x="566928" y="2148840"/>
            <a:ext cx="5532120" cy="4114800"/>
          </a:xfrm>
          <a:prstGeom prst="roundRect">
            <a:avLst>
              <a:gd name="adj" fmla="val 2000"/>
            </a:avLst>
          </a:prstGeom>
          <a:solidFill>
            <a:srgbClr val="0D0D26">
              <a:alpha val="55000"/>
            </a:srgbClr>
          </a:solidFill>
          <a:ln w="9525">
            <a:solidFill>
              <a:srgbClr val="31316A">
                <a:alpha val="75000"/>
              </a:srgbClr>
            </a:solidFill>
            <a:prstDash val="solid"/>
          </a:ln>
        </p:spPr>
      </p:sp>
      <p:sp>
        <p:nvSpPr>
          <p:cNvPr id="7" name="Text 4"/>
          <p:cNvSpPr/>
          <p:nvPr/>
        </p:nvSpPr>
        <p:spPr>
          <a:xfrm>
            <a:off x="886968" y="2423160"/>
            <a:ext cx="4892040" cy="292608"/>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THINKFISH FUNDRAISING  ·  DONE-FOR-YOU</a:t>
            </a:r>
            <a:endParaRPr lang="en-US" sz="1300" dirty="0"/>
          </a:p>
        </p:txBody>
      </p:sp>
      <p:sp>
        <p:nvSpPr>
          <p:cNvPr id="8" name="Text 5"/>
          <p:cNvSpPr/>
          <p:nvPr/>
        </p:nvSpPr>
        <p:spPr>
          <a:xfrm>
            <a:off x="886968" y="2770632"/>
            <a:ext cx="4892040" cy="73152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$3,500</a:t>
            </a:r>
            <a:r>
              <a:rPr lang="en-US" sz="1400" dirty="0">
                <a:solidFill>
                  <a:srgbClr val="B9BEDC"/>
                </a:solidFill>
                <a:latin typeface="Arial" pitchFamily="34" charset="0"/>
                <a:ea typeface="Arial" pitchFamily="34" charset="-122"/>
                <a:cs typeface="Arial" pitchFamily="34" charset="-120"/>
              </a:rPr>
              <a:t xml:space="preserve">  / month</a:t>
            </a:r>
          </a:p>
        </p:txBody>
      </p:sp>
      <p:sp>
        <p:nvSpPr>
          <p:cNvPr id="9" name="Text 6"/>
          <p:cNvSpPr/>
          <p:nvPr/>
        </p:nvSpPr>
        <p:spPr>
          <a:xfrm>
            <a:off x="886968" y="3520440"/>
            <a:ext cx="4892040" cy="320040"/>
          </a:xfrm>
          <a:prstGeom prst="rect">
            <a:avLst/>
          </a:prstGeom>
          <a:noFill/>
          <a:ln/>
        </p:spPr>
        <p:txBody>
          <a:bodyPr wrap="square" lIns="0" tIns="0" rIns="0" bIns="0" rtlCol="0" anchor="ctr"/>
          <a:lstStyle/>
          <a:p>
            <a:pPr indent="0" marL="0">
              <a:buNone/>
            </a:pPr>
            <a:r>
              <a:rPr lang="en-US" sz="1200" i="1" dirty="0">
                <a:solidFill>
                  <a:srgbClr val="B9BEDC"/>
                </a:solidFill>
                <a:latin typeface="Arial" pitchFamily="34" charset="0"/>
                <a:ea typeface="Arial" pitchFamily="34" charset="-122"/>
                <a:cs typeface="Arial" pitchFamily="34" charset="-120"/>
              </a:rPr>
              <a:t>4-month term  ·  Three profiles  ·  Flat fee, nothing else</a:t>
            </a:r>
            <a:endParaRPr lang="en-US" sz="1200" dirty="0"/>
          </a:p>
        </p:txBody>
      </p:sp>
      <p:sp>
        <p:nvSpPr>
          <p:cNvPr id="10" name="Text 7"/>
          <p:cNvSpPr/>
          <p:nvPr/>
        </p:nvSpPr>
        <p:spPr>
          <a:xfrm>
            <a:off x="886968" y="3977640"/>
            <a:ext cx="4892040" cy="2057400"/>
          </a:xfrm>
          <a:prstGeom prst="rect">
            <a:avLst/>
          </a:prstGeom>
          <a:noFill/>
          <a:ln/>
        </p:spPr>
        <p:txBody>
          <a:bodyPr wrap="square" lIns="0" tIns="0" rIns="0" bIns="0" rtlCol="0" anchor="t"/>
          <a:lstStyle/>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Three LinkedIn profiles (Brian, Maria, Rain), fully managed</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Full investor campaign execution, end to end</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Outreach, inbox management &amp; follow-ups</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Lead qualification, pre-call briefings &amp; scheduling</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The Reef retargeting &amp; Startup Deal Desk feature</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Profile optimization, including building up Rain’s</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CRM, weekly reporting, A/B testing &amp; optimization</a:t>
            </a:r>
            <a:endParaRPr lang="en-US" sz="1250" dirty="0"/>
          </a:p>
        </p:txBody>
      </p:sp>
      <p:sp>
        <p:nvSpPr>
          <p:cNvPr id="359" name="Shape 30"/>
          <p:cNvSpPr/>
          <p:nvPr/>
        </p:nvSpPr>
        <p:spPr>
          <a:xfrm>
            <a:off x="6373368" y="2148840"/>
            <a:ext cx="5532120" cy="4114800"/>
          </a:xfrm>
          <a:prstGeom prst="roundRect">
            <a:avLst>
              <a:gd name="adj" fmla="val 2000"/>
            </a:avLst>
          </a:prstGeom>
          <a:solidFill>
            <a:srgbClr val="0D0D26">
              <a:alpha val="55000"/>
            </a:srgbClr>
          </a:solidFill>
          <a:ln w="9525">
            <a:solidFill>
              <a:srgbClr val="31316A">
                <a:alpha val="75000"/>
              </a:srgbClr>
            </a:solidFill>
            <a:prstDash val="solid"/>
          </a:ln>
        </p:spPr>
      </p:sp>
      <p:sp>
        <p:nvSpPr>
          <p:cNvPr id="360" name="Text 31"/>
          <p:cNvSpPr/>
          <p:nvPr/>
        </p:nvSpPr>
        <p:spPr>
          <a:xfrm>
            <a:off x="6693408" y="2423160"/>
            <a:ext cx="4892040" cy="292608"/>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WHAT THAT BUYS</a:t>
            </a:r>
            <a:endParaRPr lang="en-US" sz="1300" dirty="0"/>
          </a:p>
        </p:txBody>
      </p:sp>
      <p:sp>
        <p:nvSpPr>
          <p:cNvPr id="361" name="Text 32"/>
          <p:cNvSpPr/>
          <p:nvPr/>
        </p:nvSpPr>
        <p:spPr>
          <a:xfrm>
            <a:off x="6693408" y="2834640"/>
            <a:ext cx="4892040" cy="3291840"/>
          </a:xfrm>
          <a:prstGeom prst="rect">
            <a:avLst/>
          </a:prstGeom>
          <a:noFill/>
          <a:ln/>
        </p:spPr>
        <p:txBody>
          <a:bodyPr wrap="square" lIns="0" tIns="0" rIns="0" bIns="0" rtlCol="0" anchor="t"/>
          <a:lstStyle/>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Three senders on one retainer: three audiences, three scorecards, one team and one weekly report</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Compare: investment bankers decline sub-$10M mandates; crowdfunding platforms cost 20–30% of the raise in marketing spend</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Investors screened against your $250K minimum before they reach your calendar, so your weeks go to selling in, not sourcing</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Relationships that carry forward: an investor who passes on this round may be right for the mid-tier and mass lines in your platform plan</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 We Are, and What We’re Not</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COMPLIANCE QUESTION, ANSWERED UP FRONT</a:t>
            </a:r>
            <a:endParaRPr lang="en-US" sz="1400" dirty="0"/>
          </a:p>
        </p:txBody>
      </p:sp>
      <p:sp>
        <p:nvSpPr>
          <p:cNvPr id="6" name="Shape 3"/>
          <p:cNvSpPr/>
          <p:nvPr/>
        </p:nvSpPr>
        <p:spPr>
          <a:xfrm>
            <a:off x="566928"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WE ARE</a:t>
            </a:r>
            <a:endParaRPr lang="en-US" sz="1400" dirty="0"/>
          </a:p>
        </p:txBody>
      </p:sp>
      <p:sp>
        <p:nvSpPr>
          <p:cNvPr id="8" name="Text 5"/>
          <p:cNvSpPr/>
          <p:nvPr/>
        </p:nvSpPr>
        <p:spPr>
          <a:xfrm>
            <a:off x="795528"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A digital media and investor-relations firm. We build and run LinkedIn outreach in your name, qualify the responses, and put pre-vetted investor conversations on your calendar. Flat monthly fee, nothing else.</a:t>
            </a:r>
            <a:endParaRPr lang="en-US" sz="1200" dirty="0"/>
          </a:p>
        </p:txBody>
      </p:sp>
      <p:sp>
        <p:nvSpPr>
          <p:cNvPr id="9" name="Shape 6"/>
          <p:cNvSpPr/>
          <p:nvPr/>
        </p:nvSpPr>
        <p:spPr>
          <a:xfrm>
            <a:off x="4434840"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WE ARE NOT</a:t>
            </a:r>
            <a:endParaRPr lang="en-US" sz="1400" dirty="0"/>
          </a:p>
        </p:txBody>
      </p:sp>
      <p:sp>
        <p:nvSpPr>
          <p:cNvPr id="11" name="Text 8"/>
          <p:cNvSpPr/>
          <p:nvPr/>
        </p:nvSpPr>
        <p:spPr>
          <a:xfrm>
            <a:off x="4663440"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Not a broker-dealer, placement agent or finder. We don’t negotiate terms, don’t take a success fee or commission, don’t touch the transaction, and don’t raise the capital. You run the conversation and you close.</a:t>
            </a:r>
            <a:endParaRPr lang="en-US" sz="1200" dirty="0"/>
          </a:p>
        </p:txBody>
      </p:sp>
      <p:sp>
        <p:nvSpPr>
          <p:cNvPr id="12" name="Shape 9"/>
          <p:cNvSpPr/>
          <p:nvPr/>
        </p:nvSpPr>
        <p:spPr>
          <a:xfrm>
            <a:off x="8302752"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STAYING COMPLIANT</a:t>
            </a:r>
            <a:endParaRPr lang="en-US" sz="1400" dirty="0"/>
          </a:p>
        </p:txBody>
      </p:sp>
      <p:sp>
        <p:nvSpPr>
          <p:cNvPr id="14" name="Text 11"/>
          <p:cNvSpPr/>
          <p:nvPr/>
        </p:nvSpPr>
        <p:spPr>
          <a:xfrm>
            <a:off x="8531352"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Early messages are relationship-first and high-level: no deal terms, no structure, no forecasts. Collateral only once interest is real, and you are the first to share a full deck. Every script is approved by you before it goes out.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Team</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WHO YOU WILL ACTUALLY BE WORKING WITH</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FREIZLE ABARRIENTOS</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Chief Operating Officer. Two decades across operations, business development, investor relations and client services; oversees ThinkFISH’s daily operations. Leads strategy and the ICP design, and joins your monthly strategy calls.</a:t>
            </a:r>
            <a:endParaRPr lang="en-US" sz="110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SAMANTHA COWPER</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Onboarding Manager. Runs your first two weeks: the onboarding interviews with Brian and Maria, profile optimization, the ICP and audiences, and script approval, so the campaign launches on time and in your voice.</a:t>
            </a:r>
            <a:endParaRPr lang="en-US" sz="110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MYRA GRAMA</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Account Director. Owns the relationship from launch onward: campaign performance, the weekly report, the monthly strategy call, and the escalation point if anything needs a pivot.</a:t>
            </a:r>
            <a:endParaRPr lang="en-US" sz="110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YOUR DEDICATED ACCOUNT MANAGER</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Assigned at kickoff and introduced by Samantha in the first onboarding session. Runs the campaign day to day under Myra: audience building, scripts, inbox, qualification, call briefings and the weekly report. One person who knows your story, reachable on Slack or WhatsApp, not a ticket queue.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Next Steps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HOW WE GET STARTED</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1  ·  REVIEW</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We’ll walk through this together on Wednesday, October 21 at 3pm ET. Afterwards, take it to the rest of the team and send us the questions that come back. If it helps, Matt or Freizle will join a short call with anyone else who needs to sign off.</a:t>
            </a:r>
            <a:endParaRPr lang="en-US" sz="115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2  ·  SIGN &amp; KICK OFF</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We send the services agreement the same day you say yes. Onboarding interviews with Brian, Maria and Rain start the following week, alongside profile work on all three accounts and an investor ICP built around your $250K minimum.</a:t>
            </a:r>
            <a:endParaRPr lang="en-US" sz="115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3  ·  FIRST MEETINGS</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All three profiles are live within two weeks of kickoff. The first qualified investor conversations land on your calendars in mid-November, then build to a steady weekly rhythm through December and January, ahead of the Q1 launch.</a:t>
            </a:r>
            <a:endParaRPr lang="en-US" sz="115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WHAT WE NEED FROM YOU</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Connect Brian’s, Maria’s and Rain’s LinkedIn accounts to our system (no passwords or login credentials required). Share the P&amp;L, cash flow and deck you walked us through, plus any investor names or past conversations, including the industry investor already in view so we don’t contact him. One 60-minute onboarding interview, a Calendly link for each of you, and a do-not-contact list. That’s it. We handle the rest.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Deliverables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APPENDIX  ·  THE ENGINE BEHIND THE MEETINGS</a:t>
            </a:r>
            <a:endParaRPr lang="en-US" sz="1400" dirty="0"/>
          </a:p>
        </p:txBody>
      </p:sp>
      <p:sp>
        <p:nvSpPr>
          <p:cNvPr id="6" name="Shape 3"/>
          <p:cNvSpPr/>
          <p:nvPr/>
        </p:nvSpPr>
        <p:spPr>
          <a:xfrm>
            <a:off x="566928"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7" name="Text 4"/>
          <p:cNvSpPr/>
          <p:nvPr/>
        </p:nvSpPr>
        <p:spPr>
          <a:xfrm>
            <a:off x="795528"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LINKEDIN OUTREACH</a:t>
            </a:r>
            <a:endParaRPr lang="en-US" sz="1250" dirty="0"/>
          </a:p>
        </p:txBody>
      </p:sp>
      <p:sp>
        <p:nvSpPr>
          <p:cNvPr id="8" name="Text 5"/>
          <p:cNvSpPr/>
          <p:nvPr/>
        </p:nvSpPr>
        <p:spPr>
          <a:xfrm>
            <a:off x="795528"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3,600+</a:t>
            </a:r>
            <a:endParaRPr lang="en-US" sz="4400" dirty="0"/>
          </a:p>
        </p:txBody>
      </p:sp>
      <p:sp>
        <p:nvSpPr>
          <p:cNvPr id="9" name="Text 6"/>
          <p:cNvSpPr/>
          <p:nvPr/>
        </p:nvSpPr>
        <p:spPr>
          <a:xfrm>
            <a:off x="795528"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LinkedIn touches / month, three profiles</a:t>
            </a:r>
            <a:endParaRPr lang="en-US" sz="1100" dirty="0"/>
          </a:p>
        </p:txBody>
      </p:sp>
      <p:sp>
        <p:nvSpPr>
          <p:cNvPr id="10" name="Text 7"/>
          <p:cNvSpPr/>
          <p:nvPr/>
        </p:nvSpPr>
        <p:spPr>
          <a:xfrm>
            <a:off x="795528"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600–800 InMails and 600–800 connection invites per profile every month, from Brian’s, Maria’s and Rain’s accounts, in your voice, once fully warmed up. Every InMail credit in your Sales Navigator plans gets used.</a:t>
            </a:r>
            <a:endParaRPr lang="en-US" sz="1050" dirty="0"/>
          </a:p>
        </p:txBody>
      </p:sp>
      <p:sp>
        <p:nvSpPr>
          <p:cNvPr id="11" name="Shape 8"/>
          <p:cNvSpPr/>
          <p:nvPr/>
        </p:nvSpPr>
        <p:spPr>
          <a:xfrm>
            <a:off x="4434840"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2" name="Text 9"/>
          <p:cNvSpPr/>
          <p:nvPr/>
        </p:nvSpPr>
        <p:spPr>
          <a:xfrm>
            <a:off x="4663440"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THE REEF</a:t>
            </a:r>
            <a:endParaRPr lang="en-US" sz="1250" dirty="0"/>
          </a:p>
        </p:txBody>
      </p:sp>
      <p:sp>
        <p:nvSpPr>
          <p:cNvPr id="13" name="Text 10"/>
          <p:cNvSpPr/>
          <p:nvPr/>
        </p:nvSpPr>
        <p:spPr>
          <a:xfrm>
            <a:off x="4663440"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10k+</a:t>
            </a:r>
            <a:endParaRPr lang="en-US" sz="4400" dirty="0"/>
          </a:p>
        </p:txBody>
      </p:sp>
      <p:sp>
        <p:nvSpPr>
          <p:cNvPr id="14" name="Text 11"/>
          <p:cNvSpPr/>
          <p:nvPr/>
        </p:nvSpPr>
        <p:spPr>
          <a:xfrm>
            <a:off x="4663440"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curated investor network</a:t>
            </a:r>
            <a:endParaRPr lang="en-US" sz="1100" dirty="0"/>
          </a:p>
        </p:txBody>
      </p:sp>
      <p:sp>
        <p:nvSpPr>
          <p:cNvPr id="15" name="Text 12"/>
          <p:cNvSpPr/>
          <p:nvPr/>
        </p:nvSpPr>
        <p:spPr>
          <a:xfrm>
            <a:off x="4663440"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Our internal network of opt-in investors actively seeking deal flow, retargeted with your raise.</a:t>
            </a:r>
            <a:endParaRPr lang="en-US" sz="1050" dirty="0"/>
          </a:p>
        </p:txBody>
      </p:sp>
      <p:sp>
        <p:nvSpPr>
          <p:cNvPr id="16" name="Shape 13"/>
          <p:cNvSpPr/>
          <p:nvPr/>
        </p:nvSpPr>
        <p:spPr>
          <a:xfrm>
            <a:off x="8302752"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7" name="Text 14"/>
          <p:cNvSpPr/>
          <p:nvPr/>
        </p:nvSpPr>
        <p:spPr>
          <a:xfrm>
            <a:off x="8531352"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STARTUP DEAL DESK</a:t>
            </a:r>
            <a:endParaRPr lang="en-US" sz="1250" dirty="0"/>
          </a:p>
        </p:txBody>
      </p:sp>
      <p:sp>
        <p:nvSpPr>
          <p:cNvPr id="18" name="Text 15"/>
          <p:cNvSpPr/>
          <p:nvPr/>
        </p:nvSpPr>
        <p:spPr>
          <a:xfrm>
            <a:off x="8531352"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84k+</a:t>
            </a:r>
            <a:endParaRPr lang="en-US" sz="4400" dirty="0"/>
          </a:p>
        </p:txBody>
      </p:sp>
      <p:sp>
        <p:nvSpPr>
          <p:cNvPr id="19" name="Text 16"/>
          <p:cNvSpPr/>
          <p:nvPr/>
        </p:nvSpPr>
        <p:spPr>
          <a:xfrm>
            <a:off x="8531352"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investor subscribers</a:t>
            </a:r>
            <a:endParaRPr lang="en-US" sz="1100" dirty="0"/>
          </a:p>
        </p:txBody>
      </p:sp>
      <p:sp>
        <p:nvSpPr>
          <p:cNvPr id="20" name="Text 17"/>
          <p:cNvSpPr/>
          <p:nvPr/>
        </p:nvSpPr>
        <p:spPr>
          <a:xfrm>
            <a:off x="8531352"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Your company featured in our investor newsletter, putting your raise in front of capital allocators at scale.</a:t>
            </a:r>
            <a:endParaRPr lang="en-US" sz="1050" dirty="0"/>
          </a:p>
        </p:txBody>
      </p:sp>
      <p:sp>
        <p:nvSpPr>
          <p:cNvPr id="21" name="Shape 18"/>
          <p:cNvSpPr/>
          <p:nvPr/>
        </p:nvSpPr>
        <p:spPr>
          <a:xfrm>
            <a:off x="566928" y="4846320"/>
            <a:ext cx="11338560" cy="1463040"/>
          </a:xfrm>
          <a:prstGeom prst="roundRect">
            <a:avLst>
              <a:gd name="adj" fmla="val 5625"/>
            </a:avLst>
          </a:prstGeom>
          <a:solidFill>
            <a:srgbClr val="0D0D26">
              <a:alpha val="55000"/>
            </a:srgbClr>
          </a:solidFill>
          <a:ln w="9525">
            <a:solidFill>
              <a:srgbClr val="31316A">
                <a:alpha val="75000"/>
              </a:srgbClr>
            </a:solidFill>
            <a:prstDash val="solid"/>
          </a:ln>
        </p:spPr>
      </p:sp>
      <p:sp>
        <p:nvSpPr>
          <p:cNvPr id="22" name="Text 19"/>
          <p:cNvSpPr/>
          <p:nvPr/>
        </p:nvSpPr>
        <p:spPr>
          <a:xfrm>
            <a:off x="795528" y="5010912"/>
            <a:ext cx="457200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FULLY MANAGED, END TO END</a:t>
            </a:r>
            <a:endParaRPr lang="en-US" sz="1200" dirty="0"/>
          </a:p>
        </p:txBody>
      </p:sp>
      <p:sp>
        <p:nvSpPr>
          <p:cNvPr id="23" name="Text 20"/>
          <p:cNvSpPr/>
          <p:nvPr/>
        </p:nvSpPr>
        <p:spPr>
          <a:xfrm>
            <a:off x="795528" y="5321808"/>
            <a:ext cx="10881360" cy="868680"/>
          </a:xfrm>
          <a:prstGeom prst="rect">
            <a:avLst/>
          </a:prstGeom>
          <a:noFill/>
          <a:ln/>
        </p:spPr>
        <p:txBody>
          <a:bodyPr wrap="square" lIns="0" tIns="0" rIns="0" bIns="0" rtlCol="0" anchor="t"/>
          <a:lstStyle/>
          <a:p>
            <a:pPr indent="0" marL="0">
              <a:lnSpc>
                <a:spcPct val="125000"/>
              </a:lnSpc>
              <a:buNone/>
            </a:pPr>
            <a:r>
              <a:rPr lang="en-US" sz="1200" dirty="0">
                <a:solidFill>
                  <a:srgbClr val="FFFFFF"/>
                </a:solidFill>
                <a:latin typeface="Arial" pitchFamily="34" charset="0"/>
                <a:ea typeface="Arial" pitchFamily="34" charset="-122"/>
                <a:cs typeface="Arial" pitchFamily="34" charset="-120"/>
              </a:rPr>
              <a:t>Strategy &amp; onboarding  ·  LinkedIn profile optimization  ·  Investor targeting &amp; list building  ·  Outreach execution &amp; inbox management  ·  Lead qualification &amp; meeting scheduling  ·  Pitch positioning &amp; storytelling support  ·  CRM setup &amp; management  ·  Reporting &amp; continuous optimization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Founders Who’ve Run This Play</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APPENDIX  ·  RESULTS &amp; TESTIMONIALS</a:t>
            </a:r>
            <a:endParaRPr lang="en-US" sz="1400" dirty="0"/>
          </a:p>
        </p:txBody>
      </p:sp>
      <p:sp>
        <p:nvSpPr>
          <p:cNvPr id="6" name="Shape 3"/>
          <p:cNvSpPr/>
          <p:nvPr/>
        </p:nvSpPr>
        <p:spPr>
          <a:xfrm>
            <a:off x="566928"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7" name="Text 4"/>
          <p:cNvSpPr/>
          <p:nvPr/>
        </p:nvSpPr>
        <p:spPr>
          <a:xfrm>
            <a:off x="795528"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$200M+</a:t>
            </a:r>
            <a:endParaRPr lang="en-US" sz="2400" dirty="0"/>
          </a:p>
        </p:txBody>
      </p:sp>
      <p:sp>
        <p:nvSpPr>
          <p:cNvPr id="8" name="Text 5"/>
          <p:cNvSpPr/>
          <p:nvPr/>
        </p:nvSpPr>
        <p:spPr>
          <a:xfrm>
            <a:off x="2350008"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client-reported capital raised</a:t>
            </a:r>
            <a:endParaRPr lang="en-US" sz="1050" dirty="0"/>
          </a:p>
        </p:txBody>
      </p:sp>
      <p:sp>
        <p:nvSpPr>
          <p:cNvPr id="9" name="Shape 6"/>
          <p:cNvSpPr/>
          <p:nvPr/>
        </p:nvSpPr>
        <p:spPr>
          <a:xfrm>
            <a:off x="4434840"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10" name="Text 7"/>
          <p:cNvSpPr/>
          <p:nvPr/>
        </p:nvSpPr>
        <p:spPr>
          <a:xfrm>
            <a:off x="4663440"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10,000+</a:t>
            </a:r>
            <a:endParaRPr lang="en-US" sz="2400" dirty="0"/>
          </a:p>
        </p:txBody>
      </p:sp>
      <p:sp>
        <p:nvSpPr>
          <p:cNvPr id="11" name="Text 8"/>
          <p:cNvSpPr/>
          <p:nvPr/>
        </p:nvSpPr>
        <p:spPr>
          <a:xfrm>
            <a:off x="6217920"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qualified investor meetings booked</a:t>
            </a:r>
            <a:endParaRPr lang="en-US" sz="1050" dirty="0"/>
          </a:p>
        </p:txBody>
      </p:sp>
      <p:sp>
        <p:nvSpPr>
          <p:cNvPr id="12" name="Shape 9"/>
          <p:cNvSpPr/>
          <p:nvPr/>
        </p:nvSpPr>
        <p:spPr>
          <a:xfrm>
            <a:off x="8302752"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500+</a:t>
            </a:r>
            <a:endParaRPr lang="en-US" sz="2400" dirty="0"/>
          </a:p>
        </p:txBody>
      </p:sp>
      <p:sp>
        <p:nvSpPr>
          <p:cNvPr id="14" name="Text 11"/>
          <p:cNvSpPr/>
          <p:nvPr/>
        </p:nvSpPr>
        <p:spPr>
          <a:xfrm>
            <a:off x="10085832"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clients served since 2020</a:t>
            </a:r>
            <a:endParaRPr lang="en-US" sz="1050" dirty="0"/>
          </a:p>
        </p:txBody>
      </p:sp>
      <p:sp>
        <p:nvSpPr>
          <p:cNvPr id="362" name="Shape 40"/>
          <p:cNvSpPr/>
          <p:nvPr/>
        </p:nvSpPr>
        <p:spPr>
          <a:xfrm>
            <a:off x="566928"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63" name="Text 40a"/>
          <p:cNvSpPr/>
          <p:nvPr/>
        </p:nvSpPr>
        <p:spPr>
          <a:xfrm>
            <a:off x="795528"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ISSUANCE  ·  DARREN MARBLE, CEO</a:t>
            </a:r>
            <a:endParaRPr lang="en-US" sz="1000" dirty="0"/>
          </a:p>
        </p:txBody>
      </p:sp>
      <p:sp>
        <p:nvSpPr>
          <p:cNvPr id="364" name="Text 40b"/>
          <p:cNvSpPr/>
          <p:nvPr/>
        </p:nvSpPr>
        <p:spPr>
          <a:xfrm>
            <a:off x="795528"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“…one of the most effective investor marketing firms I’ve ever worked with when it comes to raising capital for my companies. In the last 60 days alone, FISH has arranged 25 qualified investor meetings for me.”</a:t>
            </a:r>
            <a:endParaRPr lang="en-US" sz="1050" dirty="0"/>
          </a:p>
        </p:txBody>
      </p:sp>
      <p:sp>
        <p:nvSpPr>
          <p:cNvPr id="365" name="Text 40c"/>
          <p:cNvSpPr/>
          <p:nvPr/>
        </p:nvSpPr>
        <p:spPr>
          <a:xfrm>
            <a:off x="795528"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25 QUALIFIED INVESTOR MEETINGS IN 60 DAYS</a:t>
            </a:r>
            <a:endParaRPr lang="en-US" sz="1000" dirty="0"/>
          </a:p>
        </p:txBody>
      </p:sp>
      <p:sp>
        <p:nvSpPr>
          <p:cNvPr id="366" name="Shape 41"/>
          <p:cNvSpPr/>
          <p:nvPr/>
        </p:nvSpPr>
        <p:spPr>
          <a:xfrm>
            <a:off x="4434840"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67" name="Text 41a"/>
          <p:cNvSpPr/>
          <p:nvPr/>
        </p:nvSpPr>
        <p:spPr>
          <a:xfrm>
            <a:off x="4663440"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CARTHAGE CAPITAL  ·  STEPHEN WU</a:t>
            </a:r>
            <a:endParaRPr lang="en-US" sz="1000" dirty="0"/>
          </a:p>
        </p:txBody>
      </p:sp>
      <p:sp>
        <p:nvSpPr>
          <p:cNvPr id="368" name="Text 41b"/>
          <p:cNvSpPr/>
          <p:nvPr/>
        </p:nvSpPr>
        <p:spPr>
          <a:xfrm>
            <a:off x="4663440"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“ThinkFISH helped me raise $2 to $3 million across around 20 different investors over the past nine months. Two to three meetings every week, consistently, and they’re already interested. You delivered way above my expectations.”</a:t>
            </a:r>
            <a:endParaRPr lang="en-US" sz="1050" dirty="0"/>
          </a:p>
        </p:txBody>
      </p:sp>
      <p:sp>
        <p:nvSpPr>
          <p:cNvPr id="369" name="Text 41c"/>
          <p:cNvSpPr/>
          <p:nvPr/>
        </p:nvSpPr>
        <p:spPr>
          <a:xfrm>
            <a:off x="4663440"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$2–3M RAISED  ·  ~20 INVESTORS  ·  9 MONTHS</a:t>
            </a:r>
            <a:endParaRPr lang="en-US" sz="1000" dirty="0"/>
          </a:p>
        </p:txBody>
      </p:sp>
      <p:sp>
        <p:nvSpPr>
          <p:cNvPr id="370" name="Shape 42"/>
          <p:cNvSpPr/>
          <p:nvPr/>
        </p:nvSpPr>
        <p:spPr>
          <a:xfrm>
            <a:off x="8302752"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1" name="Text 42a"/>
          <p:cNvSpPr/>
          <p:nvPr/>
        </p:nvSpPr>
        <p:spPr>
          <a:xfrm>
            <a:off x="8531352"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OPTIONSMD  ·  KYLE PIERCE, CEO</a:t>
            </a:r>
            <a:endParaRPr lang="en-US" sz="1000" dirty="0"/>
          </a:p>
        </p:txBody>
      </p:sp>
      <p:sp>
        <p:nvSpPr>
          <p:cNvPr id="372" name="Text 42b"/>
          <p:cNvSpPr/>
          <p:nvPr/>
        </p:nvSpPr>
        <p:spPr>
          <a:xfrm>
            <a:off x="8531352"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“We’ve had a great experience with the team. The number and relevance of investor connections have grown quickly, and each meeting has proven valuable. We’ve been pleasantly surprised by the unexpected opportunities that have come from them.”</a:t>
            </a:r>
            <a:endParaRPr lang="en-US" sz="1050" dirty="0"/>
          </a:p>
        </p:txBody>
      </p:sp>
      <p:sp>
        <p:nvSpPr>
          <p:cNvPr id="373" name="Text 42c"/>
          <p:cNvSpPr/>
          <p:nvPr/>
        </p:nvSpPr>
        <p:spPr>
          <a:xfrm>
            <a:off x="8531352"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90 MEETINGS IN 3 MONTHS  ·  LATER ACQUIRED</a:t>
            </a:r>
            <a:endParaRPr lang="en-US" sz="1000" dirty="0"/>
          </a:p>
        </p:txBody>
      </p:sp>
      <p:sp>
        <p:nvSpPr>
          <p:cNvPr id="374" name="Shape 50"/>
          <p:cNvSpPr/>
          <p:nvPr/>
        </p:nvSpPr>
        <p:spPr>
          <a:xfrm>
            <a:off x="566928" y="5120640"/>
            <a:ext cx="5532120" cy="777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5" name="Text 50b"/>
          <p:cNvSpPr/>
          <p:nvPr/>
        </p:nvSpPr>
        <p:spPr>
          <a:xfrm>
            <a:off x="795528" y="5175504"/>
            <a:ext cx="5074920" cy="502920"/>
          </a:xfrm>
          <a:prstGeom prst="rect">
            <a:avLst/>
          </a:prstGeom>
          <a:noFill/>
          <a:ln/>
        </p:spPr>
        <p:txBody>
          <a:bodyPr wrap="square" lIns="0" tIns="0" rIns="0" bIns="0" rtlCol="0" anchor="t"/>
          <a:lstStyle/>
          <a:p>
            <a:pPr indent="0" marL="0">
              <a:lnSpc>
                <a:spcPct val="112000"/>
              </a:lnSpc>
              <a:buNone/>
            </a:pPr>
            <a:r>
              <a:rPr lang="en-US" sz="1000" i="1" dirty="0">
                <a:solidFill>
                  <a:srgbClr val="FFFFFF"/>
                </a:solidFill>
                <a:latin typeface="Arial" pitchFamily="34" charset="0"/>
                <a:ea typeface="Arial" pitchFamily="34" charset="-122"/>
                <a:cs typeface="Arial" pitchFamily="34" charset="-120"/>
              </a:rPr>
              <a:t>“You guys truly exceeded my expectations. Honestly, I viewed it as a $20,000 gamble—like playing blackjack. But ironically, the very first lead you introduced was a solid single, and I was totally blown away.”</a:t>
            </a:r>
            <a:endParaRPr lang="en-US" sz="1000" dirty="0"/>
          </a:p>
        </p:txBody>
      </p:sp>
      <p:sp>
        <p:nvSpPr>
          <p:cNvPr id="376" name="Text 50c"/>
          <p:cNvSpPr/>
          <p:nvPr/>
        </p:nvSpPr>
        <p:spPr>
          <a:xfrm>
            <a:off x="795528" y="5678424"/>
            <a:ext cx="5074920" cy="201168"/>
          </a:xfrm>
          <a:prstGeom prst="rect">
            <a:avLst/>
          </a:prstGeom>
          <a:noFill/>
          <a:ln/>
        </p:spPr>
        <p:txBody>
          <a:bodyPr wrap="square" lIns="0" tIns="0" rIns="0" bIns="0" rtlCol="0" anchor="ctr"/>
          <a:lstStyle/>
          <a:p>
            <a:pPr indent="0" marL="0">
              <a:buNone/>
            </a:pPr>
            <a:r>
              <a:rPr lang="en-US" sz="950" b="1" dirty="0">
                <a:solidFill>
                  <a:srgbClr val="43D5FF"/>
                </a:solidFill>
                <a:latin typeface="Arial" pitchFamily="34" charset="0"/>
                <a:ea typeface="Arial" pitchFamily="34" charset="-122"/>
                <a:cs typeface="Arial" pitchFamily="34" charset="-120"/>
              </a:rPr>
              <a:t>TODD MCALLISTER, CEO, BIOAGE DATA</a:t>
            </a:r>
            <a:endParaRPr lang="en-US" sz="950" dirty="0"/>
          </a:p>
        </p:txBody>
      </p:sp>
      <p:sp>
        <p:nvSpPr>
          <p:cNvPr id="377" name="Shape 51"/>
          <p:cNvSpPr/>
          <p:nvPr/>
        </p:nvSpPr>
        <p:spPr>
          <a:xfrm>
            <a:off x="6373368" y="5120640"/>
            <a:ext cx="5532120" cy="777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8" name="Text 51b"/>
          <p:cNvSpPr/>
          <p:nvPr/>
        </p:nvSpPr>
        <p:spPr>
          <a:xfrm>
            <a:off x="6601968" y="5175504"/>
            <a:ext cx="5074920" cy="502920"/>
          </a:xfrm>
          <a:prstGeom prst="rect">
            <a:avLst/>
          </a:prstGeom>
          <a:noFill/>
          <a:ln/>
        </p:spPr>
        <p:txBody>
          <a:bodyPr wrap="square" lIns="0" tIns="0" rIns="0" bIns="0" rtlCol="0" anchor="t"/>
          <a:lstStyle/>
          <a:p>
            <a:pPr indent="0" marL="0">
              <a:lnSpc>
                <a:spcPct val="112000"/>
              </a:lnSpc>
              <a:buNone/>
            </a:pPr>
            <a:r>
              <a:rPr lang="en-US" sz="1000" i="1" dirty="0">
                <a:solidFill>
                  <a:srgbClr val="FFFFFF"/>
                </a:solidFill>
                <a:latin typeface="Arial" pitchFamily="34" charset="0"/>
                <a:ea typeface="Arial" pitchFamily="34" charset="-122"/>
                <a:cs typeface="Arial" pitchFamily="34" charset="-120"/>
              </a:rPr>
              <a:t>“ThinkFISH has consistently provided a steady stream of leads each week—over 20 so far! … Whenever a prospect doesn’t meet our criteria, they immediately remove them, which saves us valuable time.”</a:t>
            </a:r>
            <a:endParaRPr lang="en-US" sz="1000" dirty="0"/>
          </a:p>
        </p:txBody>
      </p:sp>
      <p:sp>
        <p:nvSpPr>
          <p:cNvPr id="379" name="Text 51c"/>
          <p:cNvSpPr/>
          <p:nvPr/>
        </p:nvSpPr>
        <p:spPr>
          <a:xfrm>
            <a:off x="6601968" y="5678424"/>
            <a:ext cx="5074920" cy="201168"/>
          </a:xfrm>
          <a:prstGeom prst="rect">
            <a:avLst/>
          </a:prstGeom>
          <a:noFill/>
          <a:ln/>
        </p:spPr>
        <p:txBody>
          <a:bodyPr wrap="square" lIns="0" tIns="0" rIns="0" bIns="0" rtlCol="0" anchor="ctr"/>
          <a:lstStyle/>
          <a:p>
            <a:pPr indent="0" marL="0">
              <a:buNone/>
            </a:pPr>
            <a:r>
              <a:rPr lang="en-US" sz="950" b="1" dirty="0">
                <a:solidFill>
                  <a:srgbClr val="43D5FF"/>
                </a:solidFill>
                <a:latin typeface="Arial" pitchFamily="34" charset="0"/>
                <a:ea typeface="Arial" pitchFamily="34" charset="-122"/>
                <a:cs typeface="Arial" pitchFamily="34" charset="-120"/>
              </a:rPr>
              <a:t>MATT SHIH, CO-FOUNDER &amp; CHIEF DESIGN OFFICER, PAINTBOX LABS</a:t>
            </a:r>
            <a:endParaRPr lang="en-US" sz="950" dirty="0"/>
          </a:p>
        </p:txBody>
      </p:sp>
      <p:sp>
        <p:nvSpPr>
          <p:cNvPr id="21" name="Shape 18"/>
          <p:cNvSpPr/>
          <p:nvPr/>
        </p:nvSpPr>
        <p:spPr>
          <a:xfrm>
            <a:off x="566928" y="6035040"/>
            <a:ext cx="11338560" cy="566928"/>
          </a:xfrm>
          <a:prstGeom prst="roundRect">
            <a:avLst>
              <a:gd name="adj" fmla="val 8182"/>
            </a:avLst>
          </a:prstGeom>
          <a:solidFill>
            <a:srgbClr val="0D0D26">
              <a:alpha val="55000"/>
            </a:srgbClr>
          </a:solidFill>
          <a:ln w="9525">
            <a:solidFill>
              <a:srgbClr val="31316A">
                <a:alpha val="75000"/>
              </a:srgbClr>
            </a:solidFill>
            <a:prstDash val="solid"/>
          </a:ln>
        </p:spPr>
      </p:sp>
      <p:sp>
        <p:nvSpPr>
          <p:cNvPr id="22" name="Text 19"/>
          <p:cNvSpPr/>
          <p:nvPr/>
        </p:nvSpPr>
        <p:spPr>
          <a:xfrm>
            <a:off x="795528" y="6089904"/>
            <a:ext cx="10881360" cy="457200"/>
          </a:xfrm>
          <a:prstGeom prst="rect">
            <a:avLst/>
          </a:prstGeom>
          <a:noFill/>
          <a:ln/>
        </p:spPr>
        <p:txBody>
          <a:bodyPr wrap="square" lIns="0" tIns="0" rIns="0" bIns="0" rtlCol="0" anchor="ctr"/>
          <a:lstStyle/>
          <a:p>
            <a:pPr indent="0" marL="0">
              <a:spcAft>
                <a:spcPts val="600"/>
              </a:spcAft>
              <a:buNone/>
            </a:pPr>
            <a:r>
              <a:rPr lang="en-US" sz="1200" b="1" spc="100" kern="0" dirty="0">
                <a:solidFill>
                  <a:srgbClr val="7C6CFF"/>
                </a:solidFill>
                <a:latin typeface="Arial" pitchFamily="34" charset="0"/>
                <a:ea typeface="Arial" pitchFamily="34" charset="-122"/>
                <a:cs typeface="Arial" pitchFamily="34" charset="-120"/>
              </a:rPr>
              <a:t xml:space="preserve">VIDEO TESTIMONIALS   </a:t>
            </a:r>
            <a:r>
              <a:rPr lang="en-US" sz="1300" dirty="0">
                <a:solidFill>
                  <a:srgbClr val="FFFFFF"/>
                </a:solidFill>
                <a:latin typeface="Arial" pitchFamily="34" charset="0"/>
                <a:ea typeface="Arial" pitchFamily="34" charset="-122"/>
                <a:cs typeface="Arial" pitchFamily="34" charset="-120"/>
              </a:rPr>
              <a:t xml:space="preserve">youtube.com/@thinkFISHLLC/videos</a:t>
            </a:r>
            <a:endParaRPr lang="en-US" sz="1200" dirty="0"/>
          </a:p>
          <a:p>
            <a:pPr indent="0" marL="0">
              <a:buNone/>
            </a:pPr>
            <a:r>
              <a:rPr lang="en-US" sz="1200" b="1" spc="100" kern="0" dirty="0">
                <a:solidFill>
                  <a:srgbClr val="7C6CFF"/>
                </a:solidFill>
                <a:latin typeface="Arial" pitchFamily="34" charset="0"/>
                <a:ea typeface="Arial" pitchFamily="34" charset="-122"/>
                <a:cs typeface="Arial" pitchFamily="34" charset="-120"/>
              </a:rPr>
              <a:t xml:space="preserve">HOW WE DO IT   </a:t>
            </a:r>
            <a:r>
              <a:rPr lang="en-US" sz="1300" dirty="0">
                <a:solidFill>
                  <a:srgbClr val="FFFFFF"/>
                </a:solidFill>
                <a:latin typeface="Arial" pitchFamily="34" charset="0"/>
                <a:ea typeface="Arial" pitchFamily="34" charset="-122"/>
                <a:cs typeface="Arial" pitchFamily="34" charset="-120"/>
              </a:rPr>
              <a:t xml:space="preserve">bit.ly/thinkfish_method</a:t>
            </a:r>
            <a:r>
              <a:rPr lang="en-US" sz="1200" b="1" spc="100" kern="0" dirty="0">
                <a:solidFill>
                  <a:srgbClr val="7C6CFF"/>
                </a:solidFill>
                <a:latin typeface="Arial" pitchFamily="34" charset="0"/>
                <a:ea typeface="Arial" pitchFamily="34" charset="-122"/>
                <a:cs typeface="Arial" pitchFamily="34" charset="-120"/>
              </a:rPr>
              <a:t xml:space="preserve">        WHO WE ARE   </a:t>
            </a:r>
            <a:r>
              <a:rPr lang="en-US" sz="1300" dirty="0">
                <a:solidFill>
                  <a:srgbClr val="FFFFFF"/>
                </a:solidFill>
                <a:latin typeface="Arial" pitchFamily="34" charset="0"/>
                <a:ea typeface="Arial" pitchFamily="34" charset="-122"/>
                <a:cs typeface="Arial" pitchFamily="34" charset="-120"/>
              </a:rPr>
              <a:t xml:space="preserve">bit.ly/thinkfish_VSL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2026-07-20T20:56:15Z</dcterms:created>
  <dcterms:modified xsi:type="dcterms:W3CDTF">2026-07-20T20:56:15Z</dcterms:modified>
</cp:coreProperties>
</file>