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101"/>
    <p:sldId id="258" r:id="rId102"/>
    <p:sldId id="259" r:id="rId103"/>
    <p:sldId id="260" r:id="rId104"/>
    <p:sldId id="261" r:id="rId105"/>
    <p:sldId id="262" r:id="rId106"/>
    <p:sldId id="263" r:id="rId107"/>
    <p:sldId id="264" r:id="rId108"/>
    <p:sldId id="265" r:id="rId109"/>
    <p:sldId id="266" r:id="rId110"/>
    <p:sldId id="267" r:id="rId111"/>
    <p:sldId id="268" r:id="rId112"/>
    <p:sldId id="269" r:id="rId113"/>
    <p:sldId id="270" r:id="rId114"/>
    <p:sldId id="271" r:id="rId115"/>
    <p:sldId id="272" r:id="rId116"/>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101" Type="http://schemas.openxmlformats.org/officeDocument/2006/relationships/slide" Target="slides/slide1.xml"/><Relationship Id="rId102" Type="http://schemas.openxmlformats.org/officeDocument/2006/relationships/slide" Target="slides/slide2.xml"/><Relationship Id="rId103" Type="http://schemas.openxmlformats.org/officeDocument/2006/relationships/slide" Target="slides/slide3.xml"/><Relationship Id="rId104" Type="http://schemas.openxmlformats.org/officeDocument/2006/relationships/slide" Target="slides/slide4.xml"/><Relationship Id="rId105" Type="http://schemas.openxmlformats.org/officeDocument/2006/relationships/slide" Target="slides/slide5.xml"/><Relationship Id="rId106" Type="http://schemas.openxmlformats.org/officeDocument/2006/relationships/slide" Target="slides/slide6.xml"/><Relationship Id="rId107" Type="http://schemas.openxmlformats.org/officeDocument/2006/relationships/slide" Target="slides/slide7.xml"/><Relationship Id="rId108" Type="http://schemas.openxmlformats.org/officeDocument/2006/relationships/slide" Target="slides/slide8.xml"/><Relationship Id="rId109" Type="http://schemas.openxmlformats.org/officeDocument/2006/relationships/slide" Target="slides/slide9.xml"/><Relationship Id="rId110" Type="http://schemas.openxmlformats.org/officeDocument/2006/relationships/slide" Target="slides/slide10.xml"/><Relationship Id="rId111" Type="http://schemas.openxmlformats.org/officeDocument/2006/relationships/slide" Target="slides/slide11.xml"/><Relationship Id="rId112" Type="http://schemas.openxmlformats.org/officeDocument/2006/relationships/slide" Target="slides/slide12.xml"/><Relationship Id="rId113" Type="http://schemas.openxmlformats.org/officeDocument/2006/relationships/slide" Target="slides/slide13.xml"/><Relationship Id="rId114" Type="http://schemas.openxmlformats.org/officeDocument/2006/relationships/slide" Target="slides/slide14.xml"/><Relationship Id="rId115" Type="http://schemas.openxmlformats.org/officeDocument/2006/relationships/slide" Target="slides/slide15.xml"/><Relationship Id="rId116" Type="http://schemas.openxmlformats.org/officeDocument/2006/relationships/slide" Target="slides/slide16.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slideLayout" Target="../slideLayouts/slideLayout1.xml"/><Relationship Id="rId20" Type="http://schemas.openxmlformats.org/officeDocument/2006/relationships/image" Target="../media/cover_gradient.jpeg"/><Relationship Id="rId21" Type="http://schemas.openxmlformats.org/officeDocument/2006/relationships/image" Target="../media/cover_ribbon.png"/><Relationship Id="rId22" Type="http://schemas.openxmlformats.org/officeDocument/2006/relationships/image" Target="../media/cover_glow.png"/></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pic>
        <p:nvPicPr>
          <p:cNvPr id="300" name="Pic ribbon"/>
          <p:cNvPicPr>
            <a:picLocks noChangeAspect="1"/>
          </p:cNvPicPr>
          <p:nvPr/>
        </p:nvPicPr>
        <p:blipFill>
          <a:blip r:embed="rId21"/>
          <a:srcRect b="17691" l="21282"/>
          <a:stretch>
            <a:fillRect/>
          </a:stretch>
        </p:blipFill>
        <p:spPr>
          <a:xfrm>
            <a:off x="0" y="859536"/>
            <a:ext cx="4937760" cy="5998464"/>
          </a:xfrm>
          <a:prstGeom prst="rect">
            <a:avLst/>
          </a:prstGeom>
        </p:spPr>
      </p:pic>
      <p:pic>
        <p:nvPicPr>
          <p:cNvPr id="301" name="Pic gradient"/>
          <p:cNvPicPr>
            <a:picLocks noChangeAspect="1"/>
          </p:cNvPicPr>
          <p:nvPr/>
        </p:nvPicPr>
        <p:blipFill>
          <a:blip r:embed="rId20">
            <a:alphaModFix amt="37000"/>
          </a:blip>
          <a:srcRect l="4900" r="5000"/>
          <a:stretch>
            <a:fillRect/>
          </a:stretch>
        </p:blipFill>
        <p:spPr>
          <a:xfrm>
            <a:off x="4096512" y="841248"/>
            <a:ext cx="8095183" cy="6016752"/>
          </a:xfrm>
          <a:prstGeom prst="rect">
            <a:avLst/>
          </a:prstGeom>
        </p:spPr>
      </p:pic>
      <p:pic>
        <p:nvPicPr>
          <p:cNvPr id="302" name="Pic glow"/>
          <p:cNvPicPr>
            <a:picLocks noChangeAspect="1"/>
          </p:cNvPicPr>
          <p:nvPr/>
        </p:nvPicPr>
        <p:blipFill>
          <a:blip r:embed="rId22"/>
          <a:srcRect b="21079" l="72900" r="0"/>
          <a:stretch>
            <a:fillRect/>
          </a:stretch>
        </p:blipFill>
        <p:spPr>
          <a:xfrm>
            <a:off x="4096512" y="1106424"/>
            <a:ext cx="1700784" cy="5751576"/>
          </a:xfrm>
          <a:prstGeom prst="rect">
            <a:avLst/>
          </a:prstGeom>
        </p:spPr>
      </p:pic>
      <p:pic>
        <p:nvPicPr>
          <p:cNvPr id="2" name="Image 0" descr="/home/claude/brand/clean/logo_large.png">    </p:cNvPr>
          <p:cNvPicPr>
            <a:picLocks noChangeAspect="1"/>
          </p:cNvPicPr>
          <p:nvPr/>
        </p:nvPicPr>
        <p:blipFill>
          <a:blip r:embed="rId2"/>
          <a:stretch>
            <a:fillRect/>
          </a:stretch>
        </p:blipFill>
        <p:spPr>
          <a:xfrm>
            <a:off x="6818224" y="1280160"/>
            <a:ext cx="2651760" cy="1664208"/>
          </a:xfrm>
          <a:prstGeom prst="rect">
            <a:avLst/>
          </a:prstGeom>
        </p:spPr>
      </p:pic>
      <p:sp>
        <p:nvSpPr>
          <p:cNvPr id="3" name="Text 0"/>
          <p:cNvSpPr/>
          <p:nvPr/>
        </p:nvSpPr>
        <p:spPr>
          <a:xfrm>
            <a:off x="4370832" y="3108960"/>
            <a:ext cx="7546543" cy="868680"/>
          </a:xfrm>
          <a:prstGeom prst="rect">
            <a:avLst/>
          </a:prstGeom>
          <a:noFill/>
          <a:ln/>
        </p:spPr>
        <p:txBody>
          <a:bodyPr wrap="square" lIns="0" tIns="0" rIns="0" bIns="0" rtlCol="0" anchor="ctr"/>
          <a:lstStyle/>
          <a:p>
            <a:pPr algn="ctr" indent="0" marL="0">
              <a:buNone/>
            </a:pPr>
            <a:r>
              <a:rPr lang="en-US" sz="5400" b="1" dirty="0">
                <a:solidFill>
                  <a:srgbClr val="FFFFFF"/>
                </a:solidFill>
                <a:latin typeface="Arial" pitchFamily="34" charset="0"/>
                <a:ea typeface="Arial" pitchFamily="34" charset="-122"/>
                <a:cs typeface="Arial" pitchFamily="34" charset="-120"/>
              </a:rPr>
              <a:t>ThinkFISH</a:t>
            </a:r>
            <a:endParaRPr lang="en-US" sz="5400" dirty="0"/>
          </a:p>
        </p:txBody>
      </p:sp>
      <p:sp>
        <p:nvSpPr>
          <p:cNvPr id="4" name="Text 1"/>
          <p:cNvSpPr/>
          <p:nvPr/>
        </p:nvSpPr>
        <p:spPr>
          <a:xfrm>
            <a:off x="4370832" y="3977640"/>
            <a:ext cx="7546543" cy="320040"/>
          </a:xfrm>
          <a:prstGeom prst="rect">
            <a:avLst/>
          </a:prstGeom>
          <a:noFill/>
          <a:ln/>
        </p:spPr>
        <p:txBody>
          <a:bodyPr wrap="square" lIns="0" tIns="0" rIns="0" bIns="0" rtlCol="0" anchor="ctr"/>
          <a:lstStyle/>
          <a:p>
            <a:pPr algn="ctr" indent="0" marL="0">
              <a:buNone/>
            </a:pPr>
            <a:r>
              <a:rPr lang="en-US" sz="1800" b="1" spc="300" kern="0" dirty="0">
                <a:solidFill>
                  <a:srgbClr val="FFFFFF"/>
                </a:solidFill>
                <a:latin typeface="Arial" pitchFamily="34" charset="0"/>
                <a:ea typeface="Arial" pitchFamily="34" charset="-122"/>
                <a:cs typeface="Arial" pitchFamily="34" charset="-120"/>
              </a:rPr>
              <a:t>&lt;&gt;&lt;</a:t>
            </a:r>
            <a:endParaRPr lang="en-US" sz="1800" dirty="0"/>
          </a:p>
        </p:txBody>
      </p:sp>
      <p:sp>
        <p:nvSpPr>
          <p:cNvPr id="5" name="Text 2"/>
          <p:cNvSpPr/>
          <p:nvPr/>
        </p:nvSpPr>
        <p:spPr>
          <a:xfrm>
            <a:off x="4370832" y="4407408"/>
            <a:ext cx="7546543" cy="502920"/>
          </a:xfrm>
          <a:prstGeom prst="rect">
            <a:avLst/>
          </a:prstGeom>
          <a:noFill/>
          <a:ln/>
        </p:spPr>
        <p:txBody>
          <a:bodyPr wrap="square" lIns="0" tIns="0" rIns="0" bIns="0" rtlCol="0" anchor="ctr"/>
          <a:lstStyle/>
          <a:p>
            <a:pPr algn="ctr" indent="0" marL="0">
              <a:buNone/>
            </a:pPr>
            <a:r>
              <a:rPr lang="en-US" sz="2800" dirty="0">
                <a:solidFill>
                  <a:srgbClr val="FFFFFF"/>
                </a:solidFill>
                <a:latin typeface="Arial" pitchFamily="34" charset="0"/>
                <a:ea typeface="Arial" pitchFamily="34" charset="-122"/>
                <a:cs typeface="Arial" pitchFamily="34" charset="-120"/>
              </a:rPr>
              <a:t>HSR Capital</a:t>
            </a:r>
            <a:endParaRPr lang="en-US" sz="2800" dirty="0"/>
          </a:p>
        </p:txBody>
      </p:sp>
      <p:sp>
        <p:nvSpPr>
          <p:cNvPr id="6" name="Text 3"/>
          <p:cNvSpPr/>
          <p:nvPr/>
        </p:nvSpPr>
        <p:spPr>
          <a:xfrm>
            <a:off x="4370832" y="5074920"/>
            <a:ext cx="7546543" cy="640080"/>
          </a:xfrm>
          <a:prstGeom prst="rect">
            <a:avLst/>
          </a:prstGeom>
          <a:noFill/>
          <a:ln/>
        </p:spPr>
        <p:txBody>
          <a:bodyPr wrap="square" lIns="0" tIns="0" rIns="0" bIns="0" rtlCol="0" anchor="ctr"/>
          <a:lstStyle/>
          <a:p>
            <a:pPr algn="ctr" indent="0" marL="0">
              <a:buNone/>
            </a:pPr>
            <a:r>
              <a:rPr lang="en-US" sz="1300" dirty="0">
                <a:solidFill>
                  <a:srgbClr val="B9BEDC"/>
                </a:solidFill>
                <a:latin typeface="Arial" pitchFamily="34" charset="0"/>
                <a:ea typeface="Arial" pitchFamily="34" charset="-122"/>
                <a:cs typeface="Arial" pitchFamily="34" charset="-120"/>
              </a:rPr>
              <a:t>Investor Outreach Proposal  ·  October 2026</a:t>
            </a:r>
            <a:endParaRPr lang="en-US" sz="1300" dirty="0"/>
          </a:p>
          <a:p>
            <a:pPr algn="ctr" indent="0" marL="0">
              <a:buNone/>
            </a:pPr>
            <a:r>
              <a:rPr lang="en-US" sz="1300" dirty="0">
                <a:solidFill>
                  <a:srgbClr val="B9BEDC"/>
                </a:solidFill>
                <a:latin typeface="Arial" pitchFamily="34" charset="0"/>
                <a:ea typeface="Arial" pitchFamily="34" charset="-122"/>
                <a:cs typeface="Arial" pitchFamily="34" charset="-120"/>
              </a:rPr>
              <a:t>Prepared for Karson Jones</a:t>
            </a:r>
            <a:endParaRPr lang="en-US" sz="1300" dirty="0"/>
          </a:p>
        </p:txBody>
      </p:sp>
      <p:sp>
        <p:nvSpPr>
          <p:cNvPr id="303" name="Text hdr"/>
          <p:cNvSpPr/>
          <p:nvPr/>
        </p:nvSpPr>
        <p:spPr>
          <a:xfrm>
            <a:off x="329184" y="365760"/>
            <a:ext cx="5486400" cy="365760"/>
          </a:xfrm>
          <a:prstGeom prst="rect">
            <a:avLst/>
          </a:prstGeom>
          <a:noFill/>
          <a:ln/>
        </p:spPr>
        <p:txBody>
          <a:bodyPr wrap="square" lIns="0" tIns="0" rIns="0" bIns="0" rtlCol="0" anchor="ctr"/>
          <a:lstStyle/>
          <a:p>
            <a:pPr indent="0" marL="0">
              <a:buNone/>
            </a:pPr>
            <a:r>
              <a:rPr lang="en-US" sz="1500" spc="200" kern="0" dirty="0">
                <a:solidFill>
                  <a:srgbClr val="FFFFFF"/>
                </a:solidFill>
                <a:latin typeface="Arial" pitchFamily="34" charset="0"/>
                <a:ea typeface="Arial" pitchFamily="34" charset="-122"/>
                <a:cs typeface="Arial" pitchFamily="34" charset="-120"/>
              </a:rPr>
              <a:t>THINKFISH LLC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Executive Summary</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ASK, THE PLAN, THE INVESTMENT, WHAT TO EXPECT</a:t>
            </a:r>
            <a:endParaRPr lang="en-US" sz="1400" dirty="0"/>
          </a:p>
        </p:txBody>
      </p:sp>
      <p:sp>
        <p:nvSpPr>
          <p:cNvPr id="6" name="Shape 3"/>
          <p:cNvSpPr/>
          <p:nvPr/>
        </p:nvSpPr>
        <p:spPr>
          <a:xfrm>
            <a:off x="566928"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GOAL</a:t>
            </a:r>
            <a:endParaRPr lang="en-US" sz="1400" dirty="0"/>
          </a:p>
        </p:txBody>
      </p:sp>
      <p:sp>
        <p:nvSpPr>
          <p:cNvPr id="8" name="Text 5"/>
          <p:cNvSpPr/>
          <p:nvPr/>
        </p:nvSpPr>
        <p:spPr>
          <a:xfrm>
            <a:off x="795528" y="2651760"/>
            <a:ext cx="3136392" cy="16002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Grow HSR’s investor base beyond one person’s network ahead of a $50M+ raise year: the Washington pipeline plus $15–20M for Generation Homes’ Idaho expansion, with capital needed by the end of Q2 2027. New relationships take time, so they need to start in Q1. Minimum check $200K; most land between $200K and $700K.</a:t>
            </a:r>
            <a:endParaRPr lang="en-US" sz="1050" dirty="0"/>
          </a:p>
        </p:txBody>
      </p:sp>
      <p:sp>
        <p:nvSpPr>
          <p:cNvPr id="9" name="Shape 6"/>
          <p:cNvSpPr/>
          <p:nvPr/>
        </p:nvSpPr>
        <p:spPr>
          <a:xfrm>
            <a:off x="4434840"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PLAN</a:t>
            </a:r>
            <a:endParaRPr lang="en-US" sz="1400" dirty="0"/>
          </a:p>
        </p:txBody>
      </p:sp>
      <p:sp>
        <p:nvSpPr>
          <p:cNvPr id="11" name="Text 8"/>
          <p:cNvSpPr/>
          <p:nvPr/>
        </p:nvSpPr>
        <p:spPr>
          <a:xfrm>
            <a:off x="4663440" y="2651760"/>
            <a:ext cx="3136392" cy="16002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Karson’s LinkedIn profile, run end to end by ThinkFISH in his voice, building new relationships with accredited real estate investors in the Pacific Northwest, Idaho and the coastal markets looking for growth-market exposure. Relationship-first, never a solicitation of the offering. Every meeting pre-qualified and approved by you.</a:t>
            </a:r>
            <a:endParaRPr lang="en-US" sz="1050" dirty="0"/>
          </a:p>
        </p:txBody>
      </p:sp>
      <p:sp>
        <p:nvSpPr>
          <p:cNvPr id="12" name="Shape 9"/>
          <p:cNvSpPr/>
          <p:nvPr/>
        </p:nvSpPr>
        <p:spPr>
          <a:xfrm>
            <a:off x="8302752"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INVESTMENT</a:t>
            </a:r>
            <a:endParaRPr lang="en-US" sz="1400" dirty="0"/>
          </a:p>
        </p:txBody>
      </p:sp>
      <p:sp>
        <p:nvSpPr>
          <p:cNvPr id="14" name="Text 11"/>
          <p:cNvSpPr/>
          <p:nvPr/>
        </p:nvSpPr>
        <p:spPr>
          <a:xfrm>
            <a:off x="8531352" y="2651760"/>
            <a:ext cx="3136392" cy="16002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$3,000 per month for Karson’s profile, or $3,500 with Dustin’s profile added. Flat, on a four-month term. No setup fee, no success fee, no commission, no points on capital raised, no transaction involvement. A team behind your capital raiser instead of a second hire.</a:t>
            </a:r>
            <a:endParaRPr lang="en-US" sz="1050" dirty="0"/>
          </a:p>
        </p:txBody>
      </p:sp>
      <p:sp>
        <p:nvSpPr>
          <p:cNvPr id="15" name="Shape 12"/>
          <p:cNvSpPr/>
          <p:nvPr/>
        </p:nvSpPr>
        <p:spPr>
          <a:xfrm>
            <a:off x="566928" y="4663440"/>
            <a:ext cx="11338560" cy="169164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4828032"/>
            <a:ext cx="82296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WHAT TO EXPECT</a:t>
            </a:r>
            <a:endParaRPr lang="en-US" sz="1400" dirty="0"/>
          </a:p>
        </p:txBody>
      </p:sp>
      <p:sp>
        <p:nvSpPr>
          <p:cNvPr id="17" name="Text 14"/>
          <p:cNvSpPr/>
          <p:nvPr/>
        </p:nvSpPr>
        <p:spPr>
          <a:xfrm>
            <a:off x="795528" y="5175504"/>
            <a:ext cx="10881360" cy="1051560"/>
          </a:xfrm>
          <a:prstGeom prst="rect">
            <a:avLst/>
          </a:prstGeom>
          <a:noFill/>
          <a:ln/>
        </p:spPr>
        <p:txBody>
          <a:bodyPr wrap="square" lIns="0" tIns="0" rIns="0" bIns="0" rtlCol="0" anchor="t"/>
          <a:lstStyle/>
          <a:p>
            <a:pPr indent="0" marL="0">
              <a:lnSpc>
                <a:spcPct val="120000"/>
              </a:lnSpc>
              <a:buNone/>
            </a:pPr>
            <a:r>
              <a:rPr lang="en-US" sz="1200" dirty="0">
                <a:solidFill>
                  <a:srgbClr val="FFFFFF"/>
                </a:solidFill>
                <a:latin typeface="Arial" pitchFamily="34" charset="0"/>
                <a:ea typeface="Arial" pitchFamily="34" charset="-122"/>
                <a:cs typeface="Arial" pitchFamily="34" charset="-120"/>
              </a:rPr>
              <a:t>Outreach live within two weeks of kickoff. First qualified investor conversations in weeks three and four, building to a steady 1–2 qualified meetings per week from Karson’s profile from month two, more once a second profile is added. Weekly reporting throughout. One honest note for the partners: these are new relationships, not friends and family, so first meeting to signed note takes longer than your warm network does. Plan on months, not weeks. That is why we’d start in January for a Q2 close, and we’d rather you hear it from us now.</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Why ThinkFISH</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TRACK RECORD, BEFORE THE PROCESS</a:t>
            </a:r>
            <a:endParaRPr lang="en-US" sz="1400" dirty="0"/>
          </a:p>
        </p:txBody>
      </p:sp>
      <p:sp>
        <p:nvSpPr>
          <p:cNvPr id="6" name="Shape 3"/>
          <p:cNvSpPr/>
          <p:nvPr/>
        </p:nvSpPr>
        <p:spPr>
          <a:xfrm>
            <a:off x="566928" y="2103120"/>
            <a:ext cx="3593592" cy="960120"/>
          </a:xfrm>
          <a:prstGeom prst="roundRect">
            <a:avLst>
              <a:gd name="adj" fmla="val 8571"/>
            </a:avLst>
          </a:prstGeom>
          <a:solidFill>
            <a:srgbClr val="0D0D26">
              <a:alpha val="55000"/>
            </a:srgbClr>
          </a:solidFill>
          <a:ln w="9525">
            <a:solidFill>
              <a:srgbClr val="31316A">
                <a:alpha val="75000"/>
              </a:srgbClr>
            </a:solidFill>
            <a:prstDash val="solid"/>
          </a:ln>
        </p:spPr>
      </p:sp>
      <p:sp>
        <p:nvSpPr>
          <p:cNvPr id="7" name="Text 4"/>
          <p:cNvSpPr/>
          <p:nvPr/>
        </p:nvSpPr>
        <p:spPr>
          <a:xfrm>
            <a:off x="795528" y="221284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$200M+</a:t>
            </a:r>
            <a:endParaRPr lang="en-US" sz="2400" dirty="0"/>
          </a:p>
        </p:txBody>
      </p:sp>
      <p:sp>
        <p:nvSpPr>
          <p:cNvPr id="8" name="Text 5"/>
          <p:cNvSpPr/>
          <p:nvPr/>
        </p:nvSpPr>
        <p:spPr>
          <a:xfrm>
            <a:off x="2350008" y="221284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client-reported capital raised</a:t>
            </a:r>
            <a:endParaRPr lang="en-US" sz="1050" dirty="0"/>
          </a:p>
        </p:txBody>
      </p:sp>
      <p:sp>
        <p:nvSpPr>
          <p:cNvPr id="9" name="Shape 6"/>
          <p:cNvSpPr/>
          <p:nvPr/>
        </p:nvSpPr>
        <p:spPr>
          <a:xfrm>
            <a:off x="4434840" y="2103120"/>
            <a:ext cx="3593592" cy="960120"/>
          </a:xfrm>
          <a:prstGeom prst="roundRect">
            <a:avLst>
              <a:gd name="adj" fmla="val 8571"/>
            </a:avLst>
          </a:prstGeom>
          <a:solidFill>
            <a:srgbClr val="0D0D26">
              <a:alpha val="55000"/>
            </a:srgbClr>
          </a:solidFill>
          <a:ln w="9525">
            <a:solidFill>
              <a:srgbClr val="31316A">
                <a:alpha val="75000"/>
              </a:srgbClr>
            </a:solidFill>
            <a:prstDash val="solid"/>
          </a:ln>
        </p:spPr>
      </p:sp>
      <p:sp>
        <p:nvSpPr>
          <p:cNvPr id="10" name="Text 7"/>
          <p:cNvSpPr/>
          <p:nvPr/>
        </p:nvSpPr>
        <p:spPr>
          <a:xfrm>
            <a:off x="4663440" y="221284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10,000+</a:t>
            </a:r>
            <a:endParaRPr lang="en-US" sz="2400" dirty="0"/>
          </a:p>
        </p:txBody>
      </p:sp>
      <p:sp>
        <p:nvSpPr>
          <p:cNvPr id="11" name="Text 8"/>
          <p:cNvSpPr/>
          <p:nvPr/>
        </p:nvSpPr>
        <p:spPr>
          <a:xfrm>
            <a:off x="6217920" y="221284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qualified investor meetings booked</a:t>
            </a:r>
            <a:endParaRPr lang="en-US" sz="1050" dirty="0"/>
          </a:p>
        </p:txBody>
      </p:sp>
      <p:sp>
        <p:nvSpPr>
          <p:cNvPr id="12" name="Shape 9"/>
          <p:cNvSpPr/>
          <p:nvPr/>
        </p:nvSpPr>
        <p:spPr>
          <a:xfrm>
            <a:off x="8302752" y="2103120"/>
            <a:ext cx="3593592" cy="960120"/>
          </a:xfrm>
          <a:prstGeom prst="roundRect">
            <a:avLst>
              <a:gd name="adj" fmla="val 8571"/>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21284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500+</a:t>
            </a:r>
            <a:endParaRPr lang="en-US" sz="2400" dirty="0"/>
          </a:p>
        </p:txBody>
      </p:sp>
      <p:sp>
        <p:nvSpPr>
          <p:cNvPr id="14" name="Text 11"/>
          <p:cNvSpPr/>
          <p:nvPr/>
        </p:nvSpPr>
        <p:spPr>
          <a:xfrm>
            <a:off x="10085832" y="221284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clients served since 2020</a:t>
            </a:r>
            <a:endParaRPr lang="en-US" sz="1050" dirty="0"/>
          </a:p>
        </p:txBody>
      </p:sp>
      <p:sp>
        <p:nvSpPr>
          <p:cNvPr id="15" name="Shape 12"/>
          <p:cNvSpPr/>
          <p:nvPr/>
        </p:nvSpPr>
        <p:spPr>
          <a:xfrm>
            <a:off x="566928" y="3291840"/>
            <a:ext cx="5532120"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18" name="Shape 15"/>
          <p:cNvSpPr/>
          <p:nvPr/>
        </p:nvSpPr>
        <p:spPr>
          <a:xfrm>
            <a:off x="6373368" y="3291840"/>
            <a:ext cx="5532120"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21" name="Shape 18"/>
          <p:cNvSpPr/>
          <p:nvPr/>
        </p:nvSpPr>
        <p:spPr>
          <a:xfrm>
            <a:off x="566928" y="5440680"/>
            <a:ext cx="11338560" cy="1005840"/>
          </a:xfrm>
          <a:prstGeom prst="roundRect">
            <a:avLst>
              <a:gd name="adj" fmla="val 8182"/>
            </a:avLst>
          </a:prstGeom>
          <a:solidFill>
            <a:srgbClr val="0D0D26">
              <a:alpha val="55000"/>
            </a:srgbClr>
          </a:solidFill>
          <a:ln w="9525">
            <a:solidFill>
              <a:srgbClr val="31316A">
                <a:alpha val="75000"/>
              </a:srgbClr>
            </a:solidFill>
            <a:prstDash val="solid"/>
          </a:ln>
        </p:spPr>
      </p:sp>
      <p:sp>
        <p:nvSpPr>
          <p:cNvPr id="304" name="Text w0"/>
          <p:cNvSpPr/>
          <p:nvPr/>
        </p:nvSpPr>
        <p:spPr>
          <a:xfrm>
            <a:off x="822960" y="3419856"/>
            <a:ext cx="5029200" cy="256032"/>
          </a:xfrm>
          <a:prstGeom prst="rect">
            <a:avLst/>
          </a:prstGeom>
          <a:noFill/>
          <a:ln/>
        </p:spPr>
        <p:txBody>
          <a:bodyPr wrap="square" lIns="0" tIns="0" rIns="0" bIns="0" rtlCol="0" anchor="ctr"/>
          <a:lstStyle/>
          <a:p>
            <a:pPr indent="0" marL="0">
              <a:buNone/>
            </a:pPr>
            <a:r>
              <a:rPr lang="en-US" sz="1100" b="1" spc="100" kern="0" dirty="0">
                <a:solidFill>
                  <a:srgbClr val="7C6CFF"/>
                </a:solidFill>
                <a:latin typeface="Arial" pitchFamily="34" charset="0"/>
                <a:ea typeface="Arial" pitchFamily="34" charset="-122"/>
                <a:cs typeface="Arial" pitchFamily="34" charset="-120"/>
              </a:rPr>
              <a:t>ISSUANCE  ·  DARREN MARBLE, CEO</a:t>
            </a:r>
            <a:endParaRPr lang="en-US" sz="1100" dirty="0"/>
          </a:p>
        </p:txBody>
      </p:sp>
      <p:sp>
        <p:nvSpPr>
          <p:cNvPr id="305" name="Text q0"/>
          <p:cNvSpPr/>
          <p:nvPr/>
        </p:nvSpPr>
        <p:spPr>
          <a:xfrm>
            <a:off x="822960" y="3712464"/>
            <a:ext cx="5029200" cy="1143000"/>
          </a:xfrm>
          <a:prstGeom prst="rect">
            <a:avLst/>
          </a:prstGeom>
          <a:noFill/>
          <a:ln/>
        </p:spPr>
        <p:txBody>
          <a:bodyPr wrap="square" lIns="0" tIns="0" rIns="0" bIns="0" rtlCol="0" anchor="t"/>
          <a:lstStyle/>
          <a:p>
            <a:pPr indent="0" marL="0">
              <a:lnSpc>
                <a:spcPct val="120000"/>
              </a:lnSpc>
              <a:buNone/>
            </a:pPr>
            <a:r>
              <a:rPr lang="en-US" sz="1200" i="1" dirty="0">
                <a:solidFill>
                  <a:srgbClr val="FFFFFF"/>
                </a:solidFill>
                <a:latin typeface="Arial" pitchFamily="34" charset="0"/>
                <a:ea typeface="Arial" pitchFamily="34" charset="-122"/>
                <a:cs typeface="Arial" pitchFamily="34" charset="-120"/>
              </a:rPr>
              <a:t>“…one of the most effective investor marketing firms I’ve ever worked with when it comes to raising capital for my companies. In the last 60 days alone, FISH has arranged 25 qualified investor meetings for me.”</a:t>
            </a:r>
            <a:endParaRPr lang="en-US" sz="1200" dirty="0"/>
          </a:p>
        </p:txBody>
      </p:sp>
      <p:sp>
        <p:nvSpPr>
          <p:cNvPr id="306" name="Text r0"/>
          <p:cNvSpPr/>
          <p:nvPr/>
        </p:nvSpPr>
        <p:spPr>
          <a:xfrm>
            <a:off x="822960" y="4864608"/>
            <a:ext cx="5029200" cy="256032"/>
          </a:xfrm>
          <a:prstGeom prst="rect">
            <a:avLst/>
          </a:prstGeom>
          <a:noFill/>
          <a:ln/>
        </p:spPr>
        <p:txBody>
          <a:bodyPr wrap="square" lIns="0" tIns="0" rIns="0" bIns="0" rtlCol="0" anchor="ctr"/>
          <a:lstStyle/>
          <a:p>
            <a:pPr indent="0" marL="0">
              <a:buNone/>
            </a:pPr>
            <a:r>
              <a:rPr lang="en-US" sz="1050" b="1" dirty="0">
                <a:solidFill>
                  <a:srgbClr val="43D5FF"/>
                </a:solidFill>
                <a:latin typeface="Arial" pitchFamily="34" charset="0"/>
                <a:ea typeface="Arial" pitchFamily="34" charset="-122"/>
                <a:cs typeface="Arial" pitchFamily="34" charset="-120"/>
              </a:rPr>
              <a:t>25 QUALIFIED INVESTOR MEETINGS IN 60 DAYS</a:t>
            </a:r>
            <a:endParaRPr lang="en-US" sz="1050" dirty="0"/>
          </a:p>
        </p:txBody>
      </p:sp>
      <p:sp>
        <p:nvSpPr>
          <p:cNvPr id="307" name="Text w1"/>
          <p:cNvSpPr/>
          <p:nvPr/>
        </p:nvSpPr>
        <p:spPr>
          <a:xfrm>
            <a:off x="6629400" y="3419856"/>
            <a:ext cx="5029200" cy="256032"/>
          </a:xfrm>
          <a:prstGeom prst="rect">
            <a:avLst/>
          </a:prstGeom>
          <a:noFill/>
          <a:ln/>
        </p:spPr>
        <p:txBody>
          <a:bodyPr wrap="square" lIns="0" tIns="0" rIns="0" bIns="0" rtlCol="0" anchor="ctr"/>
          <a:lstStyle/>
          <a:p>
            <a:pPr indent="0" marL="0">
              <a:buNone/>
            </a:pPr>
            <a:r>
              <a:rPr lang="en-US" sz="1100" b="1" spc="100" kern="0" dirty="0">
                <a:solidFill>
                  <a:srgbClr val="7C6CFF"/>
                </a:solidFill>
                <a:latin typeface="Arial" pitchFamily="34" charset="0"/>
                <a:ea typeface="Arial" pitchFamily="34" charset="-122"/>
                <a:cs typeface="Arial" pitchFamily="34" charset="-120"/>
              </a:rPr>
              <a:t>CARTHAGE CAPITAL  ·  STEPHEN WU</a:t>
            </a:r>
            <a:endParaRPr lang="en-US" sz="1100" dirty="0"/>
          </a:p>
        </p:txBody>
      </p:sp>
      <p:sp>
        <p:nvSpPr>
          <p:cNvPr id="308" name="Text q1"/>
          <p:cNvSpPr/>
          <p:nvPr/>
        </p:nvSpPr>
        <p:spPr>
          <a:xfrm>
            <a:off x="6629400" y="3712464"/>
            <a:ext cx="5029200" cy="1143000"/>
          </a:xfrm>
          <a:prstGeom prst="rect">
            <a:avLst/>
          </a:prstGeom>
          <a:noFill/>
          <a:ln/>
        </p:spPr>
        <p:txBody>
          <a:bodyPr wrap="square" lIns="0" tIns="0" rIns="0" bIns="0" rtlCol="0" anchor="t"/>
          <a:lstStyle/>
          <a:p>
            <a:pPr indent="0" marL="0">
              <a:lnSpc>
                <a:spcPct val="120000"/>
              </a:lnSpc>
              <a:buNone/>
            </a:pPr>
            <a:r>
              <a:rPr lang="en-US" sz="1200" i="1" dirty="0">
                <a:solidFill>
                  <a:srgbClr val="FFFFFF"/>
                </a:solidFill>
                <a:latin typeface="Arial" pitchFamily="34" charset="0"/>
                <a:ea typeface="Arial" pitchFamily="34" charset="-122"/>
                <a:cs typeface="Arial" pitchFamily="34" charset="-120"/>
              </a:rPr>
              <a:t>“ThinkFISH helped me raise $2 to $3 million across around 20 different investors over the past nine months. I basically got two to three meetings every week, consistently, and they’re already interested. I was going to cancel after a quarter if you didn’t deliver. You delivered way above my expectations.”</a:t>
            </a:r>
            <a:endParaRPr lang="en-US" sz="1200" dirty="0"/>
          </a:p>
        </p:txBody>
      </p:sp>
      <p:sp>
        <p:nvSpPr>
          <p:cNvPr id="309" name="Text r1"/>
          <p:cNvSpPr/>
          <p:nvPr/>
        </p:nvSpPr>
        <p:spPr>
          <a:xfrm>
            <a:off x="6629400" y="4864608"/>
            <a:ext cx="5029200" cy="256032"/>
          </a:xfrm>
          <a:prstGeom prst="rect">
            <a:avLst/>
          </a:prstGeom>
          <a:noFill/>
          <a:ln/>
        </p:spPr>
        <p:txBody>
          <a:bodyPr wrap="square" lIns="0" tIns="0" rIns="0" bIns="0" rtlCol="0" anchor="ctr"/>
          <a:lstStyle/>
          <a:p>
            <a:pPr indent="0" marL="0">
              <a:buNone/>
            </a:pPr>
            <a:r>
              <a:rPr lang="en-US" sz="1050" b="1" dirty="0">
                <a:solidFill>
                  <a:srgbClr val="43D5FF"/>
                </a:solidFill>
                <a:latin typeface="Arial" pitchFamily="34" charset="0"/>
                <a:ea typeface="Arial" pitchFamily="34" charset="-122"/>
                <a:cs typeface="Arial" pitchFamily="34" charset="-120"/>
              </a:rPr>
              <a:t>$2–3M RAISED ACROSS ~20 INVESTORS IN 9 MONTHS</a:t>
            </a:r>
            <a:endParaRPr lang="en-US" sz="1050" dirty="0"/>
          </a:p>
        </p:txBody>
      </p:sp>
      <p:sp>
        <p:nvSpPr>
          <p:cNvPr id="310" name="Text bl"/>
          <p:cNvSpPr/>
          <p:nvPr/>
        </p:nvSpPr>
        <p:spPr>
          <a:xfrm>
            <a:off x="795528" y="5559552"/>
            <a:ext cx="5486400" cy="274320"/>
          </a:xfrm>
          <a:prstGeom prst="rect">
            <a:avLst/>
          </a:prstGeom>
          <a:noFill/>
          <a:ln/>
        </p:spPr>
        <p:txBody>
          <a:bodyPr wrap="square" lIns="0" tIns="0" rIns="0" bIns="0" rtlCol="0" anchor="ctr"/>
          <a:lstStyle/>
          <a:p>
            <a:pPr indent="0" marL="0">
              <a:buNone/>
            </a:pPr>
            <a:r>
              <a:rPr lang="en-US" sz="1200" b="1" spc="100" kern="0" dirty="0">
                <a:solidFill>
                  <a:srgbClr val="7C6CFF"/>
                </a:solidFill>
                <a:latin typeface="Arial" pitchFamily="34" charset="0"/>
                <a:ea typeface="Arial" pitchFamily="34" charset="-122"/>
                <a:cs typeface="Arial" pitchFamily="34" charset="-120"/>
              </a:rPr>
              <a:t>FUNDABLE COMPANIES GET FUNDED</a:t>
            </a:r>
            <a:endParaRPr lang="en-US" sz="1200" dirty="0"/>
          </a:p>
        </p:txBody>
      </p:sp>
      <p:sp>
        <p:nvSpPr>
          <p:cNvPr id="311" name="Text bp"/>
          <p:cNvSpPr/>
          <p:nvPr/>
        </p:nvSpPr>
        <p:spPr>
          <a:xfrm>
            <a:off x="795528" y="5852160"/>
            <a:ext cx="10881360" cy="548640"/>
          </a:xfrm>
          <a:prstGeom prst="rect">
            <a:avLst/>
          </a:prstGeom>
          <a:noFill/>
          <a:ln/>
        </p:spPr>
        <p:txBody>
          <a:bodyPr wrap="square" lIns="0" tIns="0" rIns="0" bIns="0" rtlCol="0" anchor="t"/>
          <a:lstStyle/>
          <a:p>
            <a:pPr indent="0" marL="0">
              <a:lnSpc>
                <a:spcPct val="120000"/>
              </a:lnSpc>
              <a:buNone/>
            </a:pPr>
            <a:r>
              <a:rPr lang="en-US" sz="1150" dirty="0">
                <a:solidFill>
                  <a:srgbClr val="FFFFFF"/>
                </a:solidFill>
                <a:latin typeface="Arial" pitchFamily="34" charset="0"/>
                <a:ea typeface="Arial" pitchFamily="34" charset="-122"/>
                <a:cs typeface="Arial" pitchFamily="34" charset="-120"/>
              </a:rPr>
              <a:t>Every client we’ve worked with who was fundable (real product, real traction, a team that can run a process) has received checks from meetings we set. We’re not in the room for those meetings, so we only report what clients report back. Full testimonials and video links are in the appendix.</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What’s Standing Between You and the Close</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GAP WE’RE SOLVING</a:t>
            </a:r>
            <a:endParaRPr lang="en-US" sz="1400" dirty="0"/>
          </a:p>
        </p:txBody>
      </p:sp>
      <p:sp>
        <p:nvSpPr>
          <p:cNvPr id="6" name="Text 3"/>
          <p:cNvSpPr/>
          <p:nvPr/>
        </p:nvSpPr>
        <p:spPr>
          <a:xfrm>
            <a:off x="566928" y="2148840"/>
            <a:ext cx="4297680" cy="2651760"/>
          </a:xfrm>
          <a:prstGeom prst="rect">
            <a:avLst/>
          </a:prstGeom>
          <a:noFill/>
          <a:ln/>
        </p:spPr>
        <p:txBody>
          <a:bodyPr wrap="square" lIns="0" tIns="0" rIns="0" bIns="0" rtlCol="0" anchor="t"/>
          <a:lstStyle/>
          <a:p>
            <a:pPr indent="0" marL="0">
              <a:lnSpc>
                <a:spcPct val="125000"/>
              </a:lnSpc>
              <a:buNone/>
            </a:pPr>
            <a:r>
              <a:rPr lang="en-US" sz="1300" dirty="0">
                <a:solidFill>
                  <a:srgbClr val="FFFFFF"/>
                </a:solidFill>
                <a:latin typeface="Arial" pitchFamily="34" charset="0"/>
                <a:ea typeface="Arial" pitchFamily="34" charset="-122"/>
                <a:cs typeface="Arial" pitchFamily="34" charset="-120"/>
              </a:rPr>
              <a:t>HSR has done the hard part: $40M of investor capital, an investor who started with $1M in 2020 and is now at $5M, notes that roll like season tickets, and $25M of this year’s $30M raised by one person. The constraint is structural, not the offering. Because the notes can’t be generally solicited, every investor has to come through a relationship, and one person’s 3,500 connections, mutuals and tee times have a ceiling. Next year needs around $50M.</a:t>
            </a:r>
            <a:endParaRPr lang="en-US" sz="1300" dirty="0"/>
          </a:p>
        </p:txBody>
      </p:sp>
      <p:sp>
        <p:nvSpPr>
          <p:cNvPr id="7" name="Text 4"/>
          <p:cNvSpPr/>
          <p:nvPr/>
        </p:nvSpPr>
        <p:spPr>
          <a:xfrm>
            <a:off x="566928" y="4800600"/>
            <a:ext cx="4297680" cy="1554480"/>
          </a:xfrm>
          <a:prstGeom prst="rect">
            <a:avLst/>
          </a:prstGeom>
          <a:noFill/>
          <a:ln/>
        </p:spPr>
        <p:txBody>
          <a:bodyPr wrap="square" lIns="0" tIns="0" rIns="0" bIns="0" rtlCol="0" anchor="t"/>
          <a:lstStyle/>
          <a:p>
            <a:pPr indent="0" marL="0">
              <a:lnSpc>
                <a:spcPct val="125000"/>
              </a:lnSpc>
              <a:buNone/>
            </a:pPr>
            <a:r>
              <a:rPr lang="en-US" sz="1300" i="1" dirty="0">
                <a:solidFill>
                  <a:srgbClr val="B9BEDC"/>
                </a:solidFill>
                <a:latin typeface="Arial" pitchFamily="34" charset="0"/>
                <a:ea typeface="Arial" pitchFamily="34" charset="-122"/>
                <a:cs typeface="Arial" pitchFamily="34" charset="-120"/>
              </a:rPr>
              <a:t>Private capital is a relationship game at volume. Inside 506 rules, the variable you control is how many new, qualified relationships with accredited real estate investors start every week, long before the next note needs to be filled.</a:t>
            </a:r>
            <a:endParaRPr lang="en-US" sz="1300" dirty="0"/>
          </a:p>
        </p:txBody>
      </p:sp>
      <p:sp>
        <p:nvSpPr>
          <p:cNvPr id="8" name="Shape 5"/>
          <p:cNvSpPr/>
          <p:nvPr/>
        </p:nvSpPr>
        <p:spPr>
          <a:xfrm>
            <a:off x="5257800" y="2148840"/>
            <a:ext cx="6400800" cy="932688"/>
          </a:xfrm>
          <a:prstGeom prst="roundRect">
            <a:avLst>
              <a:gd name="adj" fmla="val 8824"/>
            </a:avLst>
          </a:prstGeom>
          <a:solidFill>
            <a:srgbClr val="0D0D26">
              <a:alpha val="55000"/>
            </a:srgbClr>
          </a:solidFill>
          <a:ln w="9525">
            <a:solidFill>
              <a:srgbClr val="31316A">
                <a:alpha val="75000"/>
              </a:srgbClr>
            </a:solidFill>
            <a:prstDash val="solid"/>
          </a:ln>
        </p:spPr>
      </p:sp>
      <p:sp>
        <p:nvSpPr>
          <p:cNvPr id="9" name="Text 6"/>
          <p:cNvSpPr/>
          <p:nvPr/>
        </p:nvSpPr>
        <p:spPr>
          <a:xfrm>
            <a:off x="5486400" y="2258568"/>
            <a:ext cx="1965960" cy="731520"/>
          </a:xfrm>
          <a:prstGeom prst="rect">
            <a:avLst/>
          </a:prstGeom>
          <a:noFill/>
          <a:ln/>
        </p:spPr>
        <p:txBody>
          <a:bodyPr wrap="square" lIns="0" tIns="0" rIns="0" bIns="0" rtlCol="0" anchor="ctr"/>
          <a:lstStyle/>
          <a:p>
            <a:pPr indent="0" marL="0">
              <a:buNone/>
            </a:pPr>
            <a:r>
              <a:rPr lang="en-US" sz="1250" b="1" dirty="0">
                <a:solidFill>
                  <a:srgbClr val="43D5FF"/>
                </a:solidFill>
                <a:latin typeface="Arial" pitchFamily="34" charset="0"/>
                <a:ea typeface="Arial" pitchFamily="34" charset="-122"/>
                <a:cs typeface="Arial" pitchFamily="34" charset="-120"/>
              </a:rPr>
              <a:t>SURFACE PROBLEM</a:t>
            </a:r>
            <a:endParaRPr lang="en-US" sz="1250" dirty="0"/>
          </a:p>
        </p:txBody>
      </p:sp>
      <p:sp>
        <p:nvSpPr>
          <p:cNvPr id="10" name="Text 7"/>
          <p:cNvSpPr/>
          <p:nvPr/>
        </p:nvSpPr>
        <p:spPr>
          <a:xfrm>
            <a:off x="7498080" y="2240280"/>
            <a:ext cx="3931920" cy="749808"/>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Arial" pitchFamily="34" charset="0"/>
                <a:ea typeface="Arial" pitchFamily="34" charset="-122"/>
                <a:cs typeface="Arial" pitchFamily="34" charset="-120"/>
              </a:rPr>
              <a:t>One capital raiser working a warm network that’s close to tapped: LinkedIn mutuals, referrals and country-club tee times, with a month-or-two slump between hot streaks.</a:t>
            </a:r>
            <a:endParaRPr lang="en-US" sz="1100" dirty="0"/>
          </a:p>
        </p:txBody>
      </p:sp>
      <p:sp>
        <p:nvSpPr>
          <p:cNvPr id="11" name="Shape 8"/>
          <p:cNvSpPr/>
          <p:nvPr/>
        </p:nvSpPr>
        <p:spPr>
          <a:xfrm>
            <a:off x="5257800" y="3246120"/>
            <a:ext cx="6400800" cy="932688"/>
          </a:xfrm>
          <a:prstGeom prst="roundRect">
            <a:avLst>
              <a:gd name="adj" fmla="val 8824"/>
            </a:avLst>
          </a:prstGeom>
          <a:solidFill>
            <a:srgbClr val="0D0D26">
              <a:alpha val="55000"/>
            </a:srgbClr>
          </a:solidFill>
          <a:ln w="9525">
            <a:solidFill>
              <a:srgbClr val="31316A">
                <a:alpha val="75000"/>
              </a:srgbClr>
            </a:solidFill>
            <a:prstDash val="solid"/>
          </a:ln>
        </p:spPr>
      </p:sp>
      <p:sp>
        <p:nvSpPr>
          <p:cNvPr id="12" name="Text 9"/>
          <p:cNvSpPr/>
          <p:nvPr/>
        </p:nvSpPr>
        <p:spPr>
          <a:xfrm>
            <a:off x="5486400" y="3355848"/>
            <a:ext cx="1965960" cy="731520"/>
          </a:xfrm>
          <a:prstGeom prst="rect">
            <a:avLst/>
          </a:prstGeom>
          <a:noFill/>
          <a:ln/>
        </p:spPr>
        <p:txBody>
          <a:bodyPr wrap="square" lIns="0" tIns="0" rIns="0" bIns="0" rtlCol="0" anchor="ctr"/>
          <a:lstStyle/>
          <a:p>
            <a:pPr indent="0" marL="0">
              <a:buNone/>
            </a:pPr>
            <a:r>
              <a:rPr lang="en-US" sz="1250" b="1" dirty="0">
                <a:solidFill>
                  <a:srgbClr val="43D5FF"/>
                </a:solidFill>
                <a:latin typeface="Arial" pitchFamily="34" charset="0"/>
                <a:ea typeface="Arial" pitchFamily="34" charset="-122"/>
                <a:cs typeface="Arial" pitchFamily="34" charset="-120"/>
              </a:rPr>
              <a:t>BUSINESS IMPACT</a:t>
            </a:r>
            <a:endParaRPr lang="en-US" sz="1250" dirty="0"/>
          </a:p>
        </p:txBody>
      </p:sp>
      <p:sp>
        <p:nvSpPr>
          <p:cNvPr id="13" name="Text 10"/>
          <p:cNvSpPr/>
          <p:nvPr/>
        </p:nvSpPr>
        <p:spPr>
          <a:xfrm>
            <a:off x="7498080" y="3337560"/>
            <a:ext cx="3931920" cy="749808"/>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Arial" pitchFamily="34" charset="0"/>
                <a:ea typeface="Arial" pitchFamily="34" charset="-122"/>
                <a:cs typeface="Arial" pitchFamily="34" charset="-120"/>
              </a:rPr>
              <a:t>Washington plus $15–20M for Idaho puts next year at around $50M, all raised by one person. Idaho is a new market, and HSR has no investor network there yet.</a:t>
            </a:r>
            <a:endParaRPr lang="en-US" sz="1100" dirty="0"/>
          </a:p>
        </p:txBody>
      </p:sp>
      <p:sp>
        <p:nvSpPr>
          <p:cNvPr id="14" name="Shape 11"/>
          <p:cNvSpPr/>
          <p:nvPr/>
        </p:nvSpPr>
        <p:spPr>
          <a:xfrm>
            <a:off x="5257800" y="4343400"/>
            <a:ext cx="6400800" cy="932688"/>
          </a:xfrm>
          <a:prstGeom prst="roundRect">
            <a:avLst>
              <a:gd name="adj" fmla="val 8824"/>
            </a:avLst>
          </a:prstGeom>
          <a:solidFill>
            <a:srgbClr val="0D0D26">
              <a:alpha val="55000"/>
            </a:srgbClr>
          </a:solidFill>
          <a:ln w="9525">
            <a:solidFill>
              <a:srgbClr val="31316A">
                <a:alpha val="75000"/>
              </a:srgbClr>
            </a:solidFill>
            <a:prstDash val="solid"/>
          </a:ln>
        </p:spPr>
      </p:sp>
      <p:sp>
        <p:nvSpPr>
          <p:cNvPr id="15" name="Text 12"/>
          <p:cNvSpPr/>
          <p:nvPr/>
        </p:nvSpPr>
        <p:spPr>
          <a:xfrm>
            <a:off x="5486400" y="4453128"/>
            <a:ext cx="1965960" cy="731520"/>
          </a:xfrm>
          <a:prstGeom prst="rect">
            <a:avLst/>
          </a:prstGeom>
          <a:noFill/>
          <a:ln/>
        </p:spPr>
        <p:txBody>
          <a:bodyPr wrap="square" lIns="0" tIns="0" rIns="0" bIns="0" rtlCol="0" anchor="ctr"/>
          <a:lstStyle/>
          <a:p>
            <a:pPr indent="0" marL="0">
              <a:buNone/>
            </a:pPr>
            <a:r>
              <a:rPr lang="en-US" sz="1250" b="1" dirty="0">
                <a:solidFill>
                  <a:srgbClr val="43D5FF"/>
                </a:solidFill>
                <a:latin typeface="Arial" pitchFamily="34" charset="0"/>
                <a:ea typeface="Arial" pitchFamily="34" charset="-122"/>
                <a:cs typeface="Arial" pitchFamily="34" charset="-120"/>
              </a:rPr>
              <a:t>PERSONAL IMPACT</a:t>
            </a:r>
            <a:endParaRPr lang="en-US" sz="1250" dirty="0"/>
          </a:p>
        </p:txBody>
      </p:sp>
      <p:sp>
        <p:nvSpPr>
          <p:cNvPr id="16" name="Text 13"/>
          <p:cNvSpPr/>
          <p:nvPr/>
        </p:nvSpPr>
        <p:spPr>
          <a:xfrm>
            <a:off x="7498080" y="4434840"/>
            <a:ext cx="3931920" cy="749808"/>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Arial" pitchFamily="34" charset="0"/>
                <a:ea typeface="Arial" pitchFamily="34" charset="-122"/>
                <a:cs typeface="Arial" pitchFamily="34" charset="-120"/>
              </a:rPr>
              <a:t>Karson carries every raise alone, and the fallback on the table is relocating to Boise for three or four months to build an Idaho network one country club at a time.</a:t>
            </a:r>
            <a:endParaRPr lang="en-US" sz="1100" dirty="0"/>
          </a:p>
        </p:txBody>
      </p:sp>
      <p:sp>
        <p:nvSpPr>
          <p:cNvPr id="17" name="Shape 14"/>
          <p:cNvSpPr/>
          <p:nvPr/>
        </p:nvSpPr>
        <p:spPr>
          <a:xfrm>
            <a:off x="5257800" y="5440680"/>
            <a:ext cx="6400800" cy="932688"/>
          </a:xfrm>
          <a:prstGeom prst="roundRect">
            <a:avLst>
              <a:gd name="adj" fmla="val 8824"/>
            </a:avLst>
          </a:prstGeom>
          <a:solidFill>
            <a:srgbClr val="0D0D26">
              <a:alpha val="55000"/>
            </a:srgbClr>
          </a:solidFill>
          <a:ln w="9525">
            <a:solidFill>
              <a:srgbClr val="31316A">
                <a:alpha val="75000"/>
              </a:srgbClr>
            </a:solidFill>
            <a:prstDash val="solid"/>
          </a:ln>
        </p:spPr>
      </p:sp>
      <p:sp>
        <p:nvSpPr>
          <p:cNvPr id="18" name="Text 15"/>
          <p:cNvSpPr/>
          <p:nvPr/>
        </p:nvSpPr>
        <p:spPr>
          <a:xfrm>
            <a:off x="5486400" y="5550408"/>
            <a:ext cx="1965960" cy="731520"/>
          </a:xfrm>
          <a:prstGeom prst="rect">
            <a:avLst/>
          </a:prstGeom>
          <a:noFill/>
          <a:ln/>
        </p:spPr>
        <p:txBody>
          <a:bodyPr wrap="square" lIns="0" tIns="0" rIns="0" bIns="0" rtlCol="0" anchor="ctr"/>
          <a:lstStyle/>
          <a:p>
            <a:pPr indent="0" marL="0">
              <a:buNone/>
            </a:pPr>
            <a:r>
              <a:rPr lang="en-US" sz="1250" b="1" dirty="0">
                <a:solidFill>
                  <a:srgbClr val="43D5FF"/>
                </a:solidFill>
                <a:latin typeface="Arial" pitchFamily="34" charset="0"/>
                <a:ea typeface="Arial" pitchFamily="34" charset="-122"/>
                <a:cs typeface="Arial" pitchFamily="34" charset="-120"/>
              </a:rPr>
              <a:t>COST OF INACTION</a:t>
            </a:r>
            <a:endParaRPr lang="en-US" sz="1250" dirty="0"/>
          </a:p>
        </p:txBody>
      </p:sp>
      <p:sp>
        <p:nvSpPr>
          <p:cNvPr id="19" name="Text 16"/>
          <p:cNvSpPr/>
          <p:nvPr/>
        </p:nvSpPr>
        <p:spPr>
          <a:xfrm>
            <a:off x="7498080" y="5532120"/>
            <a:ext cx="3931920" cy="749808"/>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Arial" pitchFamily="34" charset="0"/>
                <a:ea typeface="Arial" pitchFamily="34" charset="-122"/>
                <a:cs typeface="Arial" pitchFamily="34" charset="-120"/>
              </a:rPr>
              <a:t>About $15M rolls off mid-to-late Q1. It may all recycle, or 10–20% may not. By the time the gap is known, it’s too late to start the new relationships needed to fill it.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Your Investor ICP</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TARGET SEGMENTS, IN PRIORITY ORDER</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5096" cy="914400"/>
        </p:xfrm>
        <a:graphic>
          <a:graphicData uri="http://schemas.openxmlformats.org/drawingml/2006/table">
            <a:tbl>
              <a:tblPr/>
              <a:tblGrid>
                <a:gridCol w="3291840"/>
                <a:gridCol w="7763256"/>
              </a:tblGrid>
              <a:tr h="457200">
                <a:tc>
                  <a:txBody>
                    <a:bodyPr/>
                    <a:lstStyle/>
                    <a:p>
                      <a:pPr algn="l" indent="0" marL="0">
                        <a:buNone/>
                      </a:pPr>
                      <a:r>
                        <a:rPr lang="en-US" sz="1200" b="1" dirty="0">
                          <a:solidFill>
                            <a:srgbClr val="43D5FF"/>
                          </a:solidFill>
                          <a:latin typeface="Arial" pitchFamily="34" charset="0"/>
                          <a:ea typeface="Arial" pitchFamily="34" charset="-122"/>
                          <a:cs typeface="Arial" pitchFamily="34" charset="-120"/>
                        </a:rPr>
                        <a:t>SEGMENT</a:t>
                      </a:r>
                      <a:endParaRPr lang="en-US" sz="12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1B1B45">
                        <a:alpha val="75000"/>
                      </a:srgbClr>
                    </a:solidFill>
                  </a:tcPr>
                </a:tc>
                <a:tc>
                  <a:txBody>
                    <a:bodyPr/>
                    <a:lstStyle/>
                    <a:p>
                      <a:pPr algn="l" indent="0" marL="0">
                        <a:buNone/>
                      </a:pPr>
                      <a:r>
                        <a:rPr lang="en-US" sz="1200" b="1" dirty="0">
                          <a:solidFill>
                            <a:srgbClr val="43D5FF"/>
                          </a:solidFill>
                          <a:latin typeface="Arial" pitchFamily="34" charset="0"/>
                          <a:ea typeface="Arial" pitchFamily="34" charset="-122"/>
                          <a:cs typeface="Arial" pitchFamily="34" charset="-120"/>
                        </a:rPr>
                        <a:t>WHO THEY ARE AND WHY THEY FIT</a:t>
                      </a:r>
                      <a:endParaRPr lang="en-US" sz="12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1B1B45">
                        <a:alpha val="75000"/>
                      </a:srgbClr>
                    </a:solidFill>
                  </a:tcPr>
                </a:tc>
              </a:tr>
              <a:tr h="713232">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1.  PNW Real Estate &amp; Land Investors</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Accredited individuals and family offices in Portland, Vancouver and Seattle with private real estate or land history. Close enough to walk the sites, and to golf.</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r h="713232">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2.  IDAHO  ·  Treasure Valley Capital</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Boise-area investors, operators and family offices local to Generation Homes’ expansion. Built remotely so Karson flies in for meetings instead of moving there.</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r h="713232">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3.  Coastal Capital Seeking Growth Markets</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California, New York and Florida investors priced out of their home markets and allocating to growth regions where entry-level housing is undersupplied.</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r h="713232">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4.  Private Credit &amp; Income Allocators</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Investors who prefer fixed-income, debt-style real estate positions to equity, write $200K–$1M checks and roll capital from deal to deal.</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r h="713232">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5.  Builders, Lenders &amp; RE Operators</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Retired homebuilders, lenders and real estate executives who already understand entitlement, horizontal and vertical risk, and need little diligence.</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bl>
          </a:graphicData>
        </a:graphic>
      </p:graphicFrame>
      <p:sp>
        <p:nvSpPr>
          <p:cNvPr id="312" name="Text 30"/>
          <p:cNvSpPr/>
          <p:nvPr/>
        </p:nvSpPr>
        <p:spPr>
          <a:xfrm>
            <a:off x="566928" y="6400800"/>
            <a:ext cx="11155680" cy="411480"/>
          </a:xfrm>
          <a:prstGeom prst="rect">
            <a:avLst/>
          </a:prstGeom>
          <a:noFill/>
          <a:ln/>
        </p:spPr>
        <p:txBody>
          <a:bodyPr wrap="square" lIns="0" tIns="0" rIns="0" bIns="0" rtlCol="0" anchor="t"/>
          <a:lstStyle/>
          <a:p>
            <a:pPr indent="0" marL="0">
              <a:lnSpc>
                <a:spcPct val="125000"/>
              </a:lnSpc>
              <a:buNone/>
            </a:pPr>
            <a:r>
              <a:rPr lang="en-US" sz="1150" i="1" dirty="0">
                <a:solidFill>
                  <a:srgbClr val="B9BEDC"/>
                </a:solidFill>
                <a:latin typeface="Arial" pitchFamily="34" charset="0"/>
                <a:ea typeface="Arial" pitchFamily="34" charset="-122"/>
                <a:cs typeface="Arial" pitchFamily="34" charset="-120"/>
              </a:rPr>
              <a:t>These segments are our starting point. A more complete outline of investor targets, including check sizes, geographies and exclusions, will be planned with you during onboarding.</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One Raiser Today, Two Profiles to Scale</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HOW THE CAMPAIGN GROWS WITH THE RAISE</a:t>
            </a:r>
            <a:endParaRPr lang="en-US" sz="1400" dirty="0"/>
          </a:p>
        </p:txBody>
      </p:sp>
      <p:sp>
        <p:nvSpPr>
          <p:cNvPr id="6" name="Shape 3"/>
          <p:cNvSpPr/>
          <p:nvPr/>
        </p:nvSpPr>
        <p:spPr>
          <a:xfrm>
            <a:off x="566928" y="2121408"/>
            <a:ext cx="5532120"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304288"/>
            <a:ext cx="507492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KARSON  ·  CORE CAMPAIGN</a:t>
            </a:r>
            <a:endParaRPr lang="en-US" sz="1400" dirty="0"/>
          </a:p>
        </p:txBody>
      </p:sp>
      <p:sp>
        <p:nvSpPr>
          <p:cNvPr id="8" name="Text 5"/>
          <p:cNvSpPr/>
          <p:nvPr/>
        </p:nvSpPr>
        <p:spPr>
          <a:xfrm>
            <a:off x="795528" y="2651760"/>
            <a:ext cx="5074920"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Karson’s profile carries the core campaign: Pacific Northwest real estate investors for the Washington pipeline, plus the first Idaho and coastal segments. 3,500 connections and an investment background give relationship-first outreach credibility. Every meeting lands on his calendar, already briefed.</a:t>
            </a:r>
            <a:endParaRPr lang="en-US" sz="1100" dirty="0"/>
          </a:p>
        </p:txBody>
      </p:sp>
      <p:sp>
        <p:nvSpPr>
          <p:cNvPr id="9" name="Shape 6"/>
          <p:cNvSpPr/>
          <p:nvPr/>
        </p:nvSpPr>
        <p:spPr>
          <a:xfrm>
            <a:off x="6373368" y="2121408"/>
            <a:ext cx="5532120"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6601968" y="2304288"/>
            <a:ext cx="507492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DUSTIN  ·  WHEN YOU SCALE</a:t>
            </a:r>
            <a:endParaRPr lang="en-US" sz="1400" dirty="0"/>
          </a:p>
        </p:txBody>
      </p:sp>
      <p:sp>
        <p:nvSpPr>
          <p:cNvPr id="11" name="Text 8"/>
          <p:cNvSpPr/>
          <p:nvPr/>
        </p:nvSpPr>
        <p:spPr>
          <a:xfrm>
            <a:off x="6601968" y="2651760"/>
            <a:ext cx="5074920"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Adding Dustin’s profile, with roughly 9,000 connections, is the fastest way to add volume, for $500 more a month, for example by pointing it at Idaho and Treasure Valley capital for the Generation Homes expansion. Its own audience, scripts and scorecard. Meetings can still route to Karson, so the partners’ time isn’t spent prospecting.</a:t>
            </a:r>
            <a:endParaRPr lang="en-US" sz="1100" dirty="0"/>
          </a:p>
        </p:txBody>
      </p:sp>
      <p:sp>
        <p:nvSpPr>
          <p:cNvPr id="15" name="Shape 12"/>
          <p:cNvSpPr/>
          <p:nvPr/>
        </p:nvSpPr>
        <p:spPr>
          <a:xfrm>
            <a:off x="566928" y="4663440"/>
            <a:ext cx="11338560" cy="169164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4828032"/>
            <a:ext cx="82296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WHY START WITH ONE</a:t>
            </a:r>
            <a:endParaRPr lang="en-US" sz="1400" dirty="0"/>
          </a:p>
        </p:txBody>
      </p:sp>
      <p:sp>
        <p:nvSpPr>
          <p:cNvPr id="17" name="Text 14"/>
          <p:cNvSpPr/>
          <p:nvPr/>
        </p:nvSpPr>
        <p:spPr>
          <a:xfrm>
            <a:off x="795528" y="5175504"/>
            <a:ext cx="10881360" cy="1051560"/>
          </a:xfrm>
          <a:prstGeom prst="rect">
            <a:avLst/>
          </a:prstGeom>
          <a:noFill/>
          <a:ln/>
        </p:spPr>
        <p:txBody>
          <a:bodyPr wrap="square" lIns="0" tIns="0" rIns="0" bIns="0" rtlCol="0" anchor="t"/>
          <a:lstStyle/>
          <a:p>
            <a:pPr indent="0" marL="0">
              <a:lnSpc>
                <a:spcPct val="120000"/>
              </a:lnSpc>
              <a:buNone/>
            </a:pPr>
            <a:r>
              <a:rPr lang="en-US" sz="1250" dirty="0">
                <a:solidFill>
                  <a:srgbClr val="FFFFFF"/>
                </a:solidFill>
                <a:latin typeface="Arial" pitchFamily="34" charset="0"/>
                <a:ea typeface="Arial" pitchFamily="34" charset="-122"/>
                <a:cs typeface="Arial" pitchFamily="34" charset="-120"/>
              </a:rPr>
              <a:t>Starting on Karson’s profile proves the targeting and the meeting quality on real numbers before the partners commit a second account. The engine is shared either way: one account manager, one CRM, one weekly report. The profile-to-market mapping above is our starting assumption from the call; we’ll confirm it with you in onboarding.</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How We Fill Your Calendar</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SIX STEPS, ONE PAGE</a:t>
            </a:r>
            <a:endParaRPr lang="en-US" sz="1400" dirty="0"/>
          </a:p>
        </p:txBody>
      </p:sp>
      <p:sp>
        <p:nvSpPr>
          <p:cNvPr id="313" name="Shape s0"/>
          <p:cNvSpPr/>
          <p:nvPr/>
        </p:nvSpPr>
        <p:spPr>
          <a:xfrm>
            <a:off x="566928" y="205740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14" name="Text s0l"/>
          <p:cNvSpPr/>
          <p:nvPr/>
        </p:nvSpPr>
        <p:spPr>
          <a:xfrm>
            <a:off x="795528" y="218541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1  ·  MULTI-SOURCE DATA</a:t>
            </a:r>
            <a:endParaRPr lang="en-US" sz="1300" dirty="0"/>
          </a:p>
        </p:txBody>
      </p:sp>
      <p:sp>
        <p:nvSpPr>
          <p:cNvPr id="315" name="Text s0p"/>
          <p:cNvSpPr/>
          <p:nvPr/>
        </p:nvSpPr>
        <p:spPr>
          <a:xfrm>
            <a:off x="795528" y="249631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Sales Navigator, your own lists and past conversations, our 10k+ investor database, the 84k-subscriber Startup Deal Desk newsletter, and the events your targets attend.</a:t>
            </a:r>
            <a:endParaRPr lang="en-US" sz="1050" dirty="0"/>
          </a:p>
        </p:txBody>
      </p:sp>
      <p:sp>
        <p:nvSpPr>
          <p:cNvPr id="316" name="Shape s1"/>
          <p:cNvSpPr/>
          <p:nvPr/>
        </p:nvSpPr>
        <p:spPr>
          <a:xfrm>
            <a:off x="4434840" y="205740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17" name="Text s1l"/>
          <p:cNvSpPr/>
          <p:nvPr/>
        </p:nvSpPr>
        <p:spPr>
          <a:xfrm>
            <a:off x="4663440" y="218541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2  ·  SIGNAL FILTERING</a:t>
            </a:r>
            <a:endParaRPr lang="en-US" sz="1300" dirty="0"/>
          </a:p>
        </p:txBody>
      </p:sp>
      <p:sp>
        <p:nvSpPr>
          <p:cNvPr id="318" name="Text s1p"/>
          <p:cNvSpPr/>
          <p:nvPr/>
        </p:nvSpPr>
        <p:spPr>
          <a:xfrm>
            <a:off x="4663440" y="249631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Deal history and live engagement outweigh job titles. Brokers, funding agents, advisor-only contacts and “investors” who are selling services are filtered out.</a:t>
            </a:r>
            <a:endParaRPr lang="en-US" sz="1050" dirty="0"/>
          </a:p>
        </p:txBody>
      </p:sp>
      <p:sp>
        <p:nvSpPr>
          <p:cNvPr id="319" name="Shape s2"/>
          <p:cNvSpPr/>
          <p:nvPr/>
        </p:nvSpPr>
        <p:spPr>
          <a:xfrm>
            <a:off x="8302752" y="205740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20" name="Text s2l"/>
          <p:cNvSpPr/>
          <p:nvPr/>
        </p:nvSpPr>
        <p:spPr>
          <a:xfrm>
            <a:off x="8531352" y="218541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3  ·  ICP SCORING</a:t>
            </a:r>
            <a:endParaRPr lang="en-US" sz="1300" dirty="0"/>
          </a:p>
        </p:txBody>
      </p:sp>
      <p:sp>
        <p:nvSpPr>
          <p:cNvPr id="321" name="Text s2p"/>
          <p:cNvSpPr/>
          <p:nvPr/>
        </p:nvSpPr>
        <p:spPr>
          <a:xfrm>
            <a:off x="8531352" y="249631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Every contact scored high, medium or low fit against a scorecard built with you. High fit goes first. Scripts A/B tested against real replies.</a:t>
            </a:r>
            <a:endParaRPr lang="en-US" sz="1050" dirty="0"/>
          </a:p>
        </p:txBody>
      </p:sp>
      <p:sp>
        <p:nvSpPr>
          <p:cNvPr id="322" name="Shape s3"/>
          <p:cNvSpPr/>
          <p:nvPr/>
        </p:nvSpPr>
        <p:spPr>
          <a:xfrm>
            <a:off x="566928" y="361188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23" name="Text s3l"/>
          <p:cNvSpPr/>
          <p:nvPr/>
        </p:nvSpPr>
        <p:spPr>
          <a:xfrm>
            <a:off x="795528" y="373989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4  ·  MANUAL REVIEW</a:t>
            </a:r>
            <a:endParaRPr lang="en-US" sz="1300" dirty="0"/>
          </a:p>
        </p:txBody>
      </p:sp>
      <p:sp>
        <p:nvSpPr>
          <p:cNvPr id="324" name="Text s3p"/>
          <p:cNvSpPr/>
          <p:nvPr/>
        </p:nvSpPr>
        <p:spPr>
          <a:xfrm>
            <a:off x="795528" y="405079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A dedicated account manager hand-checks every high-fit profile before a message goes out, and learns your story well enough to tell it in your voice.</a:t>
            </a:r>
            <a:endParaRPr lang="en-US" sz="1050" dirty="0"/>
          </a:p>
        </p:txBody>
      </p:sp>
      <p:sp>
        <p:nvSpPr>
          <p:cNvPr id="325" name="Shape s4"/>
          <p:cNvSpPr/>
          <p:nvPr/>
        </p:nvSpPr>
        <p:spPr>
          <a:xfrm>
            <a:off x="4434840" y="361188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26" name="Text s4l"/>
          <p:cNvSpPr/>
          <p:nvPr/>
        </p:nvSpPr>
        <p:spPr>
          <a:xfrm>
            <a:off x="4663440" y="373989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5  ·  PRE-CALL QUALIFICATION</a:t>
            </a:r>
            <a:endParaRPr lang="en-US" sz="1300" dirty="0"/>
          </a:p>
        </p:txBody>
      </p:sp>
      <p:sp>
        <p:nvSpPr>
          <p:cNvPr id="327" name="Text s4p"/>
          <p:cNvSpPr/>
          <p:nvPr/>
        </p:nvSpPr>
        <p:spPr>
          <a:xfrm>
            <a:off x="4663440" y="405079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Every booking routes through a short form: accreditation, check size, timeline, sectors. A briefing before every call; soft letdowns for the wrong fit.</a:t>
            </a:r>
            <a:endParaRPr lang="en-US" sz="1050" dirty="0"/>
          </a:p>
        </p:txBody>
      </p:sp>
      <p:sp>
        <p:nvSpPr>
          <p:cNvPr id="328" name="Shape s5"/>
          <p:cNvSpPr/>
          <p:nvPr/>
        </p:nvSpPr>
        <p:spPr>
          <a:xfrm>
            <a:off x="8302752" y="361188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29" name="Text s5l"/>
          <p:cNvSpPr/>
          <p:nvPr/>
        </p:nvSpPr>
        <p:spPr>
          <a:xfrm>
            <a:off x="8531352" y="373989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6  ·  YOUR FINAL APPROVAL</a:t>
            </a:r>
            <a:endParaRPr lang="en-US" sz="1300" dirty="0"/>
          </a:p>
        </p:txBody>
      </p:sp>
      <p:sp>
        <p:nvSpPr>
          <p:cNvPr id="330" name="Text s5p"/>
          <p:cNvSpPr/>
          <p:nvPr/>
        </p:nvSpPr>
        <p:spPr>
          <a:xfrm>
            <a:off x="8531352" y="405079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Accept, vet further or decline every meeting. Shared CRM from day one, weekly reporting, monthly strategy calls. If something isn’t working, you hear it from us first.</a:t>
            </a:r>
            <a:endParaRPr lang="en-US" sz="1050" dirty="0"/>
          </a:p>
        </p:txBody>
      </p:sp>
      <p:sp>
        <p:nvSpPr>
          <p:cNvPr id="15" name="Shape 12"/>
          <p:cNvSpPr/>
          <p:nvPr/>
        </p:nvSpPr>
        <p:spPr>
          <a:xfrm>
            <a:off x="566928" y="5212080"/>
            <a:ext cx="11338560" cy="114300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5340096"/>
            <a:ext cx="2743200" cy="27432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THE FLOW</a:t>
            </a:r>
            <a:endParaRPr lang="en-US" sz="1400" dirty="0"/>
          </a:p>
        </p:txBody>
      </p:sp>
      <p:sp>
        <p:nvSpPr>
          <p:cNvPr id="17" name="Text 14"/>
          <p:cNvSpPr/>
          <p:nvPr/>
        </p:nvSpPr>
        <p:spPr>
          <a:xfrm>
            <a:off x="795528" y="5632704"/>
            <a:ext cx="10881360" cy="640080"/>
          </a:xfrm>
          <a:prstGeom prst="rect">
            <a:avLst/>
          </a:prstGeom>
          <a:noFill/>
          <a:ln/>
        </p:spPr>
        <p:txBody>
          <a:bodyPr wrap="square" lIns="0" tIns="0" rIns="0" bIns="0" rtlCol="0" anchor="t"/>
          <a:lstStyle/>
          <a:p>
            <a:pPr indent="0" marL="0">
              <a:lnSpc>
                <a:spcPct val="120000"/>
              </a:lnSpc>
              <a:buNone/>
            </a:pPr>
            <a:r>
              <a:rPr lang="en-US" sz="1200" dirty="0">
                <a:solidFill>
                  <a:srgbClr val="FFFFFF"/>
                </a:solidFill>
                <a:latin typeface="Arial" pitchFamily="34" charset="0"/>
                <a:ea typeface="Arial" pitchFamily="34" charset="-122"/>
                <a:cs typeface="Arial" pitchFamily="34" charset="-120"/>
              </a:rPr>
              <a:t>Multi-source data → signal filters → ICP scoring → manual review → pre-call qualification → your approval. Outreach only happens after the first four steps; a meeting only lands after all six. The briefing you receive before every call is on the next page.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The Call Briefing</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WHAT LANDS IN YOUR INBOX BEFORE EVERY MEETING  ·  A REAL ONE, NAMES WITHHELD</a:t>
            </a:r>
            <a:endParaRPr lang="en-US" sz="1400" dirty="0"/>
          </a:p>
        </p:txBody>
      </p:sp>
      <p:sp>
        <p:nvSpPr>
          <p:cNvPr id="331" name="Shape email"/>
          <p:cNvSpPr/>
          <p:nvPr/>
        </p:nvSpPr>
        <p:spPr>
          <a:xfrm>
            <a:off x="566928" y="1965960"/>
            <a:ext cx="7452360" cy="4617720"/>
          </a:xfrm>
          <a:prstGeom prst="roundRect">
            <a:avLst>
              <a:gd name="adj" fmla="val 2500"/>
            </a:avLst>
          </a:prstGeom>
          <a:solidFill>
            <a:srgbClr val="FFFFFF"/>
          </a:solidFill>
          <a:ln>
            <a:noFill/>
          </a:ln>
        </p:spPr>
      </p:sp>
      <p:sp>
        <p:nvSpPr>
          <p:cNvPr id="332" name="Text e-subj"/>
          <p:cNvSpPr txBox="1"/>
          <p:nvPr/>
        </p:nvSpPr>
        <p:spPr>
          <a:xfrm>
            <a:off x="822960" y="2103120"/>
            <a:ext cx="6940296" cy="256032"/>
          </a:xfrm>
          <a:prstGeom prst="rect">
            <a:avLst/>
          </a:prstGeom>
          <a:noFill/>
        </p:spPr>
        <p:txBody>
          <a:bodyPr wrap="square" lIns="0" tIns="0" rIns="0" bIns="0" rtlCol="0" anchor="t"/>
          <a:lstStyle/>
          <a:p>
            <a:pPr indent="0" marL="0">
              <a:lnSpc>
                <a:spcPct val="112000"/>
              </a:lnSpc>
              <a:spcAft>
                <a:spcPts val="300"/>
              </a:spcAft>
              <a:buNone/>
            </a:pPr>
            <a:r>
              <a:rPr lang="en-US" sz="1150" b="1" dirty="0">
                <a:solidFill>
                  <a:srgbClr val="1A1A2E"/>
                </a:solidFill>
                <a:latin typeface="Arial" pitchFamily="34" charset="0"/>
                <a:ea typeface="Arial" pitchFamily="34" charset="-122"/>
                <a:cs typeface="Arial" pitchFamily="34" charset="-120"/>
              </a:rPr>
              <a:t xml:space="preserve">CONFIRMED MEETING: New Scheduled Call – [Prospect]</a:t>
            </a:r>
            <a:endParaRPr lang="en-US" sz="1150" dirty="0"/>
          </a:p>
        </p:txBody>
      </p:sp>
      <p:sp>
        <p:nvSpPr>
          <p:cNvPr id="333" name="Text e-from"/>
          <p:cNvSpPr txBox="1"/>
          <p:nvPr/>
        </p:nvSpPr>
        <p:spPr>
          <a:xfrm>
            <a:off x="822960" y="2359152"/>
            <a:ext cx="6940296" cy="182880"/>
          </a:xfrm>
          <a:prstGeom prst="rect">
            <a:avLst/>
          </a:prstGeom>
          <a:noFill/>
        </p:spPr>
        <p:txBody>
          <a:bodyPr wrap="square" lIns="0" tIns="0" rIns="0" bIns="0" rtlCol="0" anchor="t"/>
          <a:lstStyle/>
          <a:p>
            <a:pPr indent="0" marL="0">
              <a:lnSpc>
                <a:spcPct val="112000"/>
              </a:lnSpc>
              <a:spcAft>
                <a:spcPts val="300"/>
              </a:spcAft>
              <a:buNone/>
            </a:pPr>
            <a:r>
              <a:rPr lang="en-US" sz="800" dirty="0">
                <a:solidFill>
                  <a:srgbClr val="5F6368"/>
                </a:solidFill>
                <a:latin typeface="Arial" pitchFamily="34" charset="0"/>
                <a:ea typeface="Arial" pitchFamily="34" charset="-122"/>
                <a:cs typeface="Arial" pitchFamily="34" charset="-120"/>
              </a:rPr>
              <a:t xml:space="preserve">From: your ThinkFISH account manager   ·   To: you   ·   Cc: Myra Grama, Freizle Abarrientos   ·   Thu, Sep 17, 2026, 6:26 PM</a:t>
            </a:r>
            <a:endParaRPr lang="en-US" sz="800" dirty="0"/>
          </a:p>
        </p:txBody>
      </p:sp>
      <p:sp>
        <p:nvSpPr>
          <p:cNvPr id="334" name="Shape e-rule"/>
          <p:cNvSpPr/>
          <p:nvPr/>
        </p:nvSpPr>
        <p:spPr>
          <a:xfrm>
            <a:off x="822960" y="2596896"/>
            <a:ext cx="6940296" cy="13716"/>
          </a:xfrm>
          <a:prstGeom prst="rect">
            <a:avLst/>
          </a:prstGeom>
          <a:solidFill>
            <a:srgbClr val="DADCE0"/>
          </a:solidFill>
          <a:ln>
            <a:noFill/>
          </a:ln>
        </p:spPr>
      </p:sp>
      <p:sp>
        <p:nvSpPr>
          <p:cNvPr id="335" name="Text e-2.94"/>
          <p:cNvSpPr txBox="1"/>
          <p:nvPr/>
        </p:nvSpPr>
        <p:spPr>
          <a:xfrm>
            <a:off x="822960" y="2688336"/>
            <a:ext cx="6940296" cy="640080"/>
          </a:xfrm>
          <a:prstGeom prst="rect">
            <a:avLst/>
          </a:prstGeom>
          <a:noFill/>
        </p:spPr>
        <p:txBody>
          <a:bodyPr wrap="square" lIns="0" tIns="0" rIns="0" bIns="0" rtlCol="0" anchor="t"/>
          <a:lstStyle/>
          <a:p>
            <a:pPr indent="0" marL="0">
              <a:lnSpc>
                <a:spcPct val="110000"/>
              </a:lnSpc>
              <a:spcAft>
                <a:spcPts val="150"/>
              </a:spcAft>
              <a:buNone/>
            </a:pPr>
            <a:r>
              <a:rPr lang="en-US" sz="850" dirty="0">
                <a:solidFill>
                  <a:srgbClr val="333333"/>
                </a:solidFill>
                <a:latin typeface="Arial" pitchFamily="34" charset="0"/>
                <a:ea typeface="Arial" pitchFamily="34" charset="-122"/>
                <a:cs typeface="Arial" pitchFamily="34" charset="-120"/>
              </a:rPr>
              <a:t xml:space="preserve">Here is the booking summary for your upcoming call with [Prospect] on Tuesday, September 22, at 5:30pm ET. This meeting came through outbound LinkedIn outreach, and is categorized under </a:t>
            </a:r>
            <a:r>
              <a:rPr lang="en-US" sz="850" b="1" dirty="0">
                <a:solidFill>
                  <a:srgbClr val="333333"/>
                </a:solidFill>
                <a:latin typeface="Arial" pitchFamily="34" charset="0"/>
                <a:ea typeface="Arial" pitchFamily="34" charset="-122"/>
                <a:cs typeface="Arial" pitchFamily="34" charset="-120"/>
              </a:rPr>
              <a:t xml:space="preserve">Segment A (Hospitality-Connected Investors)</a:t>
            </a:r>
            <a:r>
              <a:rPr lang="en-US" sz="850" dirty="0">
                <a:solidFill>
                  <a:srgbClr val="333333"/>
                </a:solidFill>
                <a:latin typeface="Arial" pitchFamily="34" charset="0"/>
                <a:ea typeface="Arial" pitchFamily="34" charset="-122"/>
                <a:cs typeface="Arial" pitchFamily="34" charset="-120"/>
              </a:rPr>
              <a:t xml:space="preserve">, with secondary alignment to </a:t>
            </a:r>
            <a:r>
              <a:rPr lang="en-US" sz="850" b="1" dirty="0">
                <a:solidFill>
                  <a:srgbClr val="333333"/>
                </a:solidFill>
                <a:latin typeface="Arial" pitchFamily="34" charset="0"/>
                <a:ea typeface="Arial" pitchFamily="34" charset="-122"/>
                <a:cs typeface="Arial" pitchFamily="34" charset="-120"/>
              </a:rPr>
              <a:t xml:space="preserve">Segment C (Operator-Turned-Investor / High-Income Professional)</a:t>
            </a:r>
            <a:r>
              <a:rPr lang="en-US" sz="850" dirty="0">
                <a:solidFill>
                  <a:srgbClr val="333333"/>
                </a:solidFill>
                <a:latin typeface="Arial" pitchFamily="34" charset="0"/>
                <a:ea typeface="Arial" pitchFamily="34" charset="-122"/>
                <a:cs typeface="Arial" pitchFamily="34" charset="-120"/>
              </a:rPr>
              <a:t xml:space="preserve">. He initially pushed back hard on the original pitch, questioning whether luggage storage footprint would move a hotel’s P&amp;L, then re-engaged and booked once the conversation was reframed around the raise and his advisory perspective rather than a property-pilot pitch.</a:t>
            </a:r>
            <a:endParaRPr lang="en-US" sz="850" dirty="0"/>
          </a:p>
        </p:txBody>
      </p:sp>
      <p:sp>
        <p:nvSpPr>
          <p:cNvPr id="336" name="Text e-3.78"/>
          <p:cNvSpPr txBox="1"/>
          <p:nvPr/>
        </p:nvSpPr>
        <p:spPr>
          <a:xfrm>
            <a:off x="822960" y="3456432"/>
            <a:ext cx="6940296" cy="868680"/>
          </a:xfrm>
          <a:prstGeom prst="rect">
            <a:avLst/>
          </a:prstGeom>
          <a:noFill/>
        </p:spPr>
        <p:txBody>
          <a:bodyPr wrap="square" lIns="0" tIns="0" rIns="0" bIns="0" rtlCol="0" anchor="t"/>
          <a:lstStyle/>
          <a:p>
            <a:pPr indent="0" marL="0">
              <a:lnSpc>
                <a:spcPct val="110000"/>
              </a:lnSpc>
              <a:spcAft>
                <a:spcPts val="150"/>
              </a:spcAft>
              <a:buNone/>
            </a:pPr>
            <a:r>
              <a:rPr lang="en-US" sz="850" b="1" dirty="0">
                <a:solidFill>
                  <a:srgbClr val="1A1A2E"/>
                </a:solidFill>
                <a:latin typeface="Arial" pitchFamily="34" charset="0"/>
                <a:ea typeface="Arial" pitchFamily="34" charset="-122"/>
                <a:cs typeface="Arial" pitchFamily="34" charset="-120"/>
              </a:rPr>
              <a:t xml:space="preserve">Summary of why he’s a good fit:</a:t>
            </a:r>
            <a:endParaRPr lang="en-US" sz="850" dirty="0"/>
          </a:p>
          <a:p>
            <a:pPr indent="0" marL="0">
              <a:lnSpc>
                <a:spcPct val="110000"/>
              </a:lnSpc>
              <a:spcAft>
                <a:spcPts val="150"/>
              </a:spcAft>
              <a:buNone/>
            </a:pPr>
            <a:r>
              <a:rPr lang="en-US" sz="850" dirty="0">
                <a:solidFill>
                  <a:srgbClr val="333333"/>
                </a:solidFill>
                <a:latin typeface="Arial" pitchFamily="34" charset="0"/>
                <a:ea typeface="Arial" pitchFamily="34" charset="-122"/>
                <a:cs typeface="Arial" pitchFamily="34" charset="-120"/>
              </a:rPr>
              <a:t xml:space="preserve">15+ years of senior hospitality brand leadership: Global Brand Director for Westin Hotels &amp; Resorts and Global Brand lead across Marriott’s premium and lifestyle portfolio, Director of Brand F&amp;B Development (Americas) at Hilton, and a stint at a VC-backed hospitality-tech startup. He now advises private clients across the hospitality sector. </a:t>
            </a:r>
            <a:r>
              <a:rPr lang="en-US" sz="850" b="1" dirty="0">
                <a:solidFill>
                  <a:srgbClr val="333333"/>
                </a:solidFill>
                <a:latin typeface="Arial" pitchFamily="34" charset="0"/>
                <a:ea typeface="Arial" pitchFamily="34" charset="-122"/>
                <a:cs typeface="Arial" pitchFamily="34" charset="-120"/>
              </a:rPr>
              <a:t xml:space="preserve">His own qualifying answers reflect that: he marked himself as not accredited but also selected a $25K–$50K check size, direct investment, and a 30–90 day timeline</a:t>
            </a:r>
            <a:r>
              <a:rPr lang="en-US" sz="850" dirty="0">
                <a:solidFill>
                  <a:srgbClr val="333333"/>
                </a:solidFill>
                <a:latin typeface="Arial" pitchFamily="34" charset="0"/>
                <a:ea typeface="Arial" pitchFamily="34" charset="-122"/>
                <a:cs typeface="Arial" pitchFamily="34" charset="-120"/>
              </a:rPr>
              <a:t xml:space="preserve">, an inconsistency worth being aware of going in. He also selected Advisor/Consultant as his partnership interest, so the call may land better framed as an operator/advisory conversation.</a:t>
            </a:r>
            <a:endParaRPr lang="en-US" sz="850" dirty="0"/>
          </a:p>
        </p:txBody>
      </p:sp>
      <p:sp>
        <p:nvSpPr>
          <p:cNvPr id="337" name="Text e-4.92"/>
          <p:cNvSpPr txBox="1"/>
          <p:nvPr/>
        </p:nvSpPr>
        <p:spPr>
          <a:xfrm>
            <a:off x="822960" y="4498848"/>
            <a:ext cx="6940296" cy="274320"/>
          </a:xfrm>
          <a:prstGeom prst="rect">
            <a:avLst/>
          </a:prstGeom>
          <a:noFill/>
        </p:spPr>
        <p:txBody>
          <a:bodyPr wrap="square" lIns="0" tIns="0" rIns="0" bIns="0" rtlCol="0" anchor="t"/>
          <a:lstStyle/>
          <a:p>
            <a:pPr indent="0" marL="0">
              <a:lnSpc>
                <a:spcPct val="110000"/>
              </a:lnSpc>
              <a:spcAft>
                <a:spcPts val="150"/>
              </a:spcAft>
              <a:buNone/>
            </a:pPr>
            <a:r>
              <a:rPr lang="en-US" sz="850" b="1" dirty="0">
                <a:solidFill>
                  <a:srgbClr val="1A1A2E"/>
                </a:solidFill>
                <a:latin typeface="Arial" pitchFamily="34" charset="0"/>
                <a:ea typeface="Arial" pitchFamily="34" charset="-122"/>
                <a:cs typeface="Arial" pitchFamily="34" charset="-120"/>
              </a:rPr>
              <a:t xml:space="preserve">Mutual Connections: </a:t>
            </a:r>
            <a:r>
              <a:rPr lang="en-US" sz="850" dirty="0">
                <a:solidFill>
                  <a:srgbClr val="333333"/>
                </a:solidFill>
                <a:latin typeface="Arial" pitchFamily="34" charset="0"/>
                <a:ea typeface="Arial" pitchFamily="34" charset="-122"/>
                <a:cs typeface="Arial" pitchFamily="34" charset="-120"/>
              </a:rPr>
              <a:t xml:space="preserve">Matthew and Cherryh.   </a:t>
            </a:r>
            <a:r>
              <a:rPr lang="en-US" sz="850" b="1" dirty="0">
                <a:solidFill>
                  <a:srgbClr val="1A1A2E"/>
                </a:solidFill>
                <a:latin typeface="Arial" pitchFamily="34" charset="0"/>
                <a:ea typeface="Arial" pitchFamily="34" charset="-122"/>
                <a:cs typeface="Arial" pitchFamily="34" charset="-120"/>
              </a:rPr>
              <a:t xml:space="preserve">Network Highlights: </a:t>
            </a:r>
            <a:r>
              <a:rPr lang="en-US" sz="850" dirty="0">
                <a:solidFill>
                  <a:srgbClr val="333333"/>
                </a:solidFill>
                <a:latin typeface="Arial" pitchFamily="34" charset="0"/>
                <a:ea typeface="Arial" pitchFamily="34" charset="-122"/>
                <a:cs typeface="Arial" pitchFamily="34" charset="-120"/>
              </a:rPr>
              <a:t xml:space="preserve">4,251 followers, active on LinkedIn engaging with colleagues’ career milestones; Cornell-affiliated.</a:t>
            </a:r>
            <a:endParaRPr lang="en-US" sz="850" dirty="0"/>
          </a:p>
        </p:txBody>
      </p:sp>
      <p:sp>
        <p:nvSpPr>
          <p:cNvPr id="338" name="Text e-5.3"/>
          <p:cNvSpPr txBox="1"/>
          <p:nvPr/>
        </p:nvSpPr>
        <p:spPr>
          <a:xfrm>
            <a:off x="822960" y="4846320"/>
            <a:ext cx="6940296" cy="512064"/>
          </a:xfrm>
          <a:prstGeom prst="rect">
            <a:avLst/>
          </a:prstGeom>
          <a:noFill/>
        </p:spPr>
        <p:txBody>
          <a:bodyPr wrap="square" lIns="0" tIns="0" rIns="0" bIns="0" rtlCol="0" anchor="t"/>
          <a:lstStyle/>
          <a:p>
            <a:pPr indent="0" marL="0">
              <a:lnSpc>
                <a:spcPct val="110000"/>
              </a:lnSpc>
              <a:spcAft>
                <a:spcPts val="150"/>
              </a:spcAft>
              <a:buNone/>
            </a:pPr>
            <a:r>
              <a:rPr lang="en-US" sz="850" b="1" dirty="0">
                <a:solidFill>
                  <a:srgbClr val="1A1A2E"/>
                </a:solidFill>
                <a:latin typeface="Arial" pitchFamily="34" charset="0"/>
                <a:ea typeface="Arial" pitchFamily="34" charset="-122"/>
                <a:cs typeface="Arial" pitchFamily="34" charset="-120"/>
              </a:rPr>
              <a:t xml:space="preserve">Affiliations &amp; notable initiatives: </a:t>
            </a:r>
            <a:r>
              <a:rPr lang="en-US" sz="850" dirty="0">
                <a:solidFill>
                  <a:srgbClr val="333333"/>
                </a:solidFill>
                <a:latin typeface="Arial" pitchFamily="34" charset="0"/>
                <a:ea typeface="Arial" pitchFamily="34" charset="-122"/>
                <a:cs typeface="Arial" pitchFamily="34" charset="-120"/>
              </a:rPr>
              <a:t xml:space="preserve">VP, Strategy at a hospitality brand consultancy  ·  Former Global Brand Director, Westin Hotels &amp; Resorts (Marriott International)  ·  Former Director, Brand F&amp;B Development (Americas), Hilton  ·  Led global brand strategy across Westin, Sheraton, Autograph Collection, Le Méridien, Renaissance and Delta  ·  Part of a team that drove a 5x revenue increase with 40% margin expansion across 9 markets and 200,000+ hotel guest rooms.</a:t>
            </a:r>
            <a:endParaRPr lang="en-US" sz="850" dirty="0"/>
          </a:p>
        </p:txBody>
      </p:sp>
      <p:sp>
        <p:nvSpPr>
          <p:cNvPr id="339" name="Text e-5.96"/>
          <p:cNvSpPr txBox="1"/>
          <p:nvPr/>
        </p:nvSpPr>
        <p:spPr>
          <a:xfrm>
            <a:off x="822960" y="5449824"/>
            <a:ext cx="6940296" cy="713232"/>
          </a:xfrm>
          <a:prstGeom prst="rect">
            <a:avLst/>
          </a:prstGeom>
          <a:noFill/>
        </p:spPr>
        <p:txBody>
          <a:bodyPr wrap="square" lIns="0" tIns="0" rIns="0" bIns="0" rtlCol="0" anchor="t"/>
          <a:lstStyle/>
          <a:p>
            <a:pPr indent="0" marL="0">
              <a:lnSpc>
                <a:spcPct val="108000"/>
              </a:lnSpc>
              <a:spcAft>
                <a:spcPts val="100"/>
              </a:spcAft>
              <a:buNone/>
            </a:pPr>
            <a:r>
              <a:rPr lang="en-US" sz="800" b="1" dirty="0">
                <a:solidFill>
                  <a:srgbClr val="1A1A2E"/>
                </a:solidFill>
                <a:latin typeface="Arial" pitchFamily="34" charset="0"/>
                <a:ea typeface="Arial" pitchFamily="34" charset="-122"/>
                <a:cs typeface="Arial" pitchFamily="34" charset="-120"/>
              </a:rPr>
              <a:t xml:space="preserve">Conversation Thread:</a:t>
            </a:r>
            <a:endParaRPr lang="en-US" sz="800" dirty="0"/>
          </a:p>
          <a:p>
            <a:pPr indent="0" marL="0">
              <a:lnSpc>
                <a:spcPct val="108000"/>
              </a:lnSpc>
              <a:spcAft>
                <a:spcPts val="100"/>
              </a:spcAft>
              <a:buNone/>
            </a:pPr>
            <a:r>
              <a:rPr lang="en-US" sz="800" b="1" i="1" dirty="0">
                <a:solidFill>
                  <a:srgbClr val="333333"/>
                </a:solidFill>
                <a:latin typeface="Arial" pitchFamily="34" charset="0"/>
                <a:ea typeface="Arial" pitchFamily="34" charset="-122"/>
                <a:cs typeface="Arial" pitchFamily="34" charset="-120"/>
              </a:rPr>
              <a:t xml:space="preserve">Prospect: </a:t>
            </a:r>
            <a:r>
              <a:rPr lang="en-US" sz="800" i="1" dirty="0">
                <a:solidFill>
                  <a:srgbClr val="333333"/>
                </a:solidFill>
                <a:latin typeface="Arial" pitchFamily="34" charset="0"/>
                <a:ea typeface="Arial" pitchFamily="34" charset="-122"/>
                <a:cs typeface="Arial" pitchFamily="34" charset="-120"/>
              </a:rPr>
              <a:t xml:space="preserve">“…Not sure the additional 50 sq meters a luggage storage room would change the hotel P&amp;L much if any. I’m no longer your target audience… Let me know if helpful to chat.”</a:t>
            </a:r>
            <a:endParaRPr lang="en-US" sz="800" dirty="0"/>
          </a:p>
          <a:p>
            <a:pPr indent="0" marL="0">
              <a:lnSpc>
                <a:spcPct val="108000"/>
              </a:lnSpc>
              <a:spcAft>
                <a:spcPts val="100"/>
              </a:spcAft>
              <a:buNone/>
            </a:pPr>
            <a:r>
              <a:rPr lang="en-US" sz="800" b="1" i="1" dirty="0">
                <a:solidFill>
                  <a:srgbClr val="333333"/>
                </a:solidFill>
                <a:latin typeface="Arial" pitchFamily="34" charset="0"/>
                <a:ea typeface="Arial" pitchFamily="34" charset="-122"/>
                <a:cs typeface="Arial" pitchFamily="34" charset="-120"/>
              </a:rPr>
              <a:t xml:space="preserve">Founder: </a:t>
            </a:r>
            <a:r>
              <a:rPr lang="en-US" sz="800" i="1" dirty="0">
                <a:solidFill>
                  <a:srgbClr val="333333"/>
                </a:solidFill>
                <a:latin typeface="Arial" pitchFamily="34" charset="0"/>
                <a:ea typeface="Arial" pitchFamily="34" charset="-122"/>
                <a:cs typeface="Arial" pitchFamily="34" charset="-120"/>
              </a:rPr>
              <a:t xml:space="preserve">“…To be upfront, this outreach is part of a raise we’re running, not a property-pilot pitch… Given your background, I’d genuinely value your take on it from that angle.”</a:t>
            </a:r>
            <a:endParaRPr lang="en-US" sz="800" dirty="0"/>
          </a:p>
          <a:p>
            <a:pPr indent="0" marL="0">
              <a:lnSpc>
                <a:spcPct val="108000"/>
              </a:lnSpc>
              <a:spcAft>
                <a:spcPts val="100"/>
              </a:spcAft>
              <a:buNone/>
            </a:pPr>
            <a:r>
              <a:rPr lang="en-US" sz="800" b="1" i="1" dirty="0">
                <a:solidFill>
                  <a:srgbClr val="333333"/>
                </a:solidFill>
                <a:latin typeface="Arial" pitchFamily="34" charset="0"/>
                <a:ea typeface="Arial" pitchFamily="34" charset="-122"/>
                <a:cs typeface="Arial" pitchFamily="34" charset="-120"/>
              </a:rPr>
              <a:t xml:space="preserve">Prospect: </a:t>
            </a:r>
            <a:r>
              <a:rPr lang="en-US" sz="800" i="1" dirty="0">
                <a:solidFill>
                  <a:srgbClr val="333333"/>
                </a:solidFill>
                <a:latin typeface="Arial" pitchFamily="34" charset="0"/>
                <a:ea typeface="Arial" pitchFamily="34" charset="-122"/>
                <a:cs typeface="Arial" pitchFamily="34" charset="-120"/>
              </a:rPr>
              <a:t xml:space="preserve">“Love it. Let’s connect.”  …  “Perfect. Sent. Looking forward.”</a:t>
            </a:r>
            <a:endParaRPr lang="en-US" sz="800" dirty="0"/>
          </a:p>
        </p:txBody>
      </p:sp>
      <p:sp>
        <p:nvSpPr>
          <p:cNvPr id="340" name="Text e-6.86"/>
          <p:cNvSpPr txBox="1"/>
          <p:nvPr/>
        </p:nvSpPr>
        <p:spPr>
          <a:xfrm>
            <a:off x="822960" y="6272784"/>
            <a:ext cx="6940296" cy="182880"/>
          </a:xfrm>
          <a:prstGeom prst="rect">
            <a:avLst/>
          </a:prstGeom>
          <a:noFill/>
        </p:spPr>
        <p:txBody>
          <a:bodyPr wrap="square" lIns="0" tIns="0" rIns="0" bIns="0" rtlCol="0" anchor="t"/>
          <a:lstStyle/>
          <a:p>
            <a:pPr indent="0" marL="0">
              <a:lnSpc>
                <a:spcPct val="110000"/>
              </a:lnSpc>
              <a:spcAft>
                <a:spcPts val="150"/>
              </a:spcAft>
              <a:buNone/>
            </a:pPr>
            <a:r>
              <a:rPr lang="en-US" sz="850" b="1" dirty="0">
                <a:solidFill>
                  <a:srgbClr val="1A1A2E"/>
                </a:solidFill>
                <a:latin typeface="Arial" pitchFamily="34" charset="0"/>
                <a:ea typeface="Arial" pitchFamily="34" charset="-122"/>
                <a:cs typeface="Arial" pitchFamily="34" charset="-120"/>
              </a:rPr>
              <a:t xml:space="preserve">LinkedIn Profile: </a:t>
            </a:r>
            <a:r>
              <a:rPr lang="en-US" sz="850" dirty="0">
                <a:solidFill>
                  <a:srgbClr val="1A73E8"/>
                </a:solidFill>
                <a:latin typeface="Arial" pitchFamily="34" charset="0"/>
                <a:ea typeface="Arial" pitchFamily="34" charset="-122"/>
                <a:cs typeface="Arial" pitchFamily="34" charset="-120"/>
              </a:rPr>
              <a:t xml:space="preserve">full profile attached below</a:t>
            </a:r>
            <a:r>
              <a:rPr lang="en-US" sz="850" b="1" dirty="0">
                <a:solidFill>
                  <a:srgbClr val="1A1A2E"/>
                </a:solidFill>
                <a:latin typeface="Arial" pitchFamily="34" charset="0"/>
                <a:ea typeface="Arial" pitchFamily="34" charset="-122"/>
                <a:cs typeface="Arial" pitchFamily="34" charset="-120"/>
              </a:rPr>
              <a:t xml:space="preserve">     Calendly booking: </a:t>
            </a:r>
            <a:r>
              <a:rPr lang="en-US" sz="850" dirty="0">
                <a:solidFill>
                  <a:srgbClr val="1A73E8"/>
                </a:solidFill>
                <a:latin typeface="Arial" pitchFamily="34" charset="0"/>
                <a:ea typeface="Arial" pitchFamily="34" charset="-122"/>
                <a:cs typeface="Arial" pitchFamily="34" charset="-120"/>
              </a:rPr>
              <a:t xml:space="preserve">confirmed for Tue, Sep 22, 5:30pm ET</a:t>
            </a:r>
            <a:endParaRPr lang="en-US" sz="850" dirty="0"/>
          </a:p>
        </p:txBody>
      </p:sp>
      <p:sp>
        <p:nvSpPr>
          <p:cNvPr id="341" name="Shape arrow 2.94"/>
          <p:cNvSpPr/>
          <p:nvPr/>
        </p:nvSpPr>
        <p:spPr>
          <a:xfrm>
            <a:off x="8083296" y="2706624"/>
            <a:ext cx="329184" cy="182880"/>
          </a:xfrm>
          <a:prstGeom prst="leftArrow">
            <a:avLst/>
          </a:prstGeom>
          <a:solidFill>
            <a:srgbClr val="43D5FF"/>
          </a:solidFill>
          <a:ln>
            <a:noFill/>
          </a:ln>
        </p:spPr>
      </p:sp>
      <p:sp>
        <p:nvSpPr>
          <p:cNvPr id="342" name="Text co-l 2.94"/>
          <p:cNvSpPr txBox="1"/>
          <p:nvPr/>
        </p:nvSpPr>
        <p:spPr>
          <a:xfrm>
            <a:off x="8522208" y="2670048"/>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SEGMENT FIT, STATED</a:t>
            </a:r>
            <a:endParaRPr lang="en-US" sz="1050" dirty="0"/>
          </a:p>
        </p:txBody>
      </p:sp>
      <p:sp>
        <p:nvSpPr>
          <p:cNvPr id="343" name="Text co-t 2.94"/>
          <p:cNvSpPr txBox="1"/>
          <p:nvPr/>
        </p:nvSpPr>
        <p:spPr>
          <a:xfrm>
            <a:off x="8522208" y="2907792"/>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Which of your ICP segments they matched and how the conversation got to a booking, so nothing is a surprise on the call.</a:t>
            </a:r>
            <a:endParaRPr lang="en-US" sz="950" dirty="0"/>
          </a:p>
        </p:txBody>
      </p:sp>
      <p:sp>
        <p:nvSpPr>
          <p:cNvPr id="344" name="Shape arrow 4"/>
          <p:cNvSpPr/>
          <p:nvPr/>
        </p:nvSpPr>
        <p:spPr>
          <a:xfrm>
            <a:off x="8083296" y="3675888"/>
            <a:ext cx="329184" cy="182880"/>
          </a:xfrm>
          <a:prstGeom prst="leftArrow">
            <a:avLst/>
          </a:prstGeom>
          <a:solidFill>
            <a:srgbClr val="43D5FF"/>
          </a:solidFill>
          <a:ln>
            <a:noFill/>
          </a:ln>
        </p:spPr>
      </p:sp>
      <p:sp>
        <p:nvSpPr>
          <p:cNvPr id="345" name="Text co-l 4"/>
          <p:cNvSpPr txBox="1"/>
          <p:nvPr/>
        </p:nvSpPr>
        <p:spPr>
          <a:xfrm>
            <a:off x="8522208" y="3639312"/>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WHY THEY’RE WORTH YOUR TIME</a:t>
            </a:r>
            <a:endParaRPr lang="en-US" sz="1050" dirty="0"/>
          </a:p>
        </p:txBody>
      </p:sp>
      <p:sp>
        <p:nvSpPr>
          <p:cNvPr id="346" name="Text co-t 4"/>
          <p:cNvSpPr txBox="1"/>
          <p:nvPr/>
        </p:nvSpPr>
        <p:spPr>
          <a:xfrm>
            <a:off x="8522208" y="3877056"/>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Background, their own qualifying answers and an honest read on how to frame the call, inconsistencies included.</a:t>
            </a:r>
            <a:endParaRPr lang="en-US" sz="950" dirty="0"/>
          </a:p>
        </p:txBody>
      </p:sp>
      <p:sp>
        <p:nvSpPr>
          <p:cNvPr id="347" name="Shape arrow 5.14"/>
          <p:cNvSpPr/>
          <p:nvPr/>
        </p:nvSpPr>
        <p:spPr>
          <a:xfrm>
            <a:off x="8083296" y="4718304"/>
            <a:ext cx="329184" cy="182880"/>
          </a:xfrm>
          <a:prstGeom prst="leftArrow">
            <a:avLst/>
          </a:prstGeom>
          <a:solidFill>
            <a:srgbClr val="43D5FF"/>
          </a:solidFill>
          <a:ln>
            <a:noFill/>
          </a:ln>
        </p:spPr>
      </p:sp>
      <p:sp>
        <p:nvSpPr>
          <p:cNvPr id="348" name="Text co-l 5.14"/>
          <p:cNvSpPr txBox="1"/>
          <p:nvPr/>
        </p:nvSpPr>
        <p:spPr>
          <a:xfrm>
            <a:off x="8522208" y="4681728"/>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WARM PATHS IN + TRACK RECORD</a:t>
            </a:r>
            <a:endParaRPr lang="en-US" sz="1050" dirty="0"/>
          </a:p>
        </p:txBody>
      </p:sp>
      <p:sp>
        <p:nvSpPr>
          <p:cNvPr id="349" name="Text co-t 5.14"/>
          <p:cNvSpPr txBox="1"/>
          <p:nvPr/>
        </p:nvSpPr>
        <p:spPr>
          <a:xfrm>
            <a:off x="8522208" y="4919472"/>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Mutual connections, shared schools, roles, affiliations and initiatives that matter to you, each checked by a person.</a:t>
            </a:r>
            <a:endParaRPr lang="en-US" sz="950" dirty="0"/>
          </a:p>
        </p:txBody>
      </p:sp>
      <p:sp>
        <p:nvSpPr>
          <p:cNvPr id="350" name="Shape arrow 6.12"/>
          <p:cNvSpPr/>
          <p:nvPr/>
        </p:nvSpPr>
        <p:spPr>
          <a:xfrm>
            <a:off x="8083296" y="5614416"/>
            <a:ext cx="329184" cy="182880"/>
          </a:xfrm>
          <a:prstGeom prst="leftArrow">
            <a:avLst/>
          </a:prstGeom>
          <a:solidFill>
            <a:srgbClr val="43D5FF"/>
          </a:solidFill>
          <a:ln>
            <a:noFill/>
          </a:ln>
        </p:spPr>
      </p:sp>
      <p:sp>
        <p:nvSpPr>
          <p:cNvPr id="351" name="Text co-l 6.12"/>
          <p:cNvSpPr txBox="1"/>
          <p:nvPr/>
        </p:nvSpPr>
        <p:spPr>
          <a:xfrm>
            <a:off x="8522208" y="5577840"/>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THE WHOLE CONVERSATION</a:t>
            </a:r>
            <a:endParaRPr lang="en-US" sz="1050" dirty="0"/>
          </a:p>
        </p:txBody>
      </p:sp>
      <p:sp>
        <p:nvSpPr>
          <p:cNvPr id="352" name="Text co-t 6.12"/>
          <p:cNvSpPr txBox="1"/>
          <p:nvPr/>
        </p:nvSpPr>
        <p:spPr>
          <a:xfrm>
            <a:off x="8522208" y="5815584"/>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Every message exchanged, so you walk in knowing exactly what was said and promised.</a:t>
            </a:r>
            <a:endParaRPr lang="en-US" sz="950" dirty="0"/>
          </a:p>
        </p:txBody>
      </p:sp>
      <p:sp>
        <p:nvSpPr>
          <p:cNvPr id="353" name="Shape arrow 6.88"/>
          <p:cNvSpPr/>
          <p:nvPr/>
        </p:nvSpPr>
        <p:spPr>
          <a:xfrm>
            <a:off x="8083296" y="6309360"/>
            <a:ext cx="329184" cy="182880"/>
          </a:xfrm>
          <a:prstGeom prst="leftArrow">
            <a:avLst/>
          </a:prstGeom>
          <a:solidFill>
            <a:srgbClr val="43D5FF"/>
          </a:solidFill>
          <a:ln>
            <a:noFill/>
          </a:ln>
        </p:spPr>
      </p:sp>
      <p:sp>
        <p:nvSpPr>
          <p:cNvPr id="354" name="Text co-l 6.88"/>
          <p:cNvSpPr txBox="1"/>
          <p:nvPr/>
        </p:nvSpPr>
        <p:spPr>
          <a:xfrm>
            <a:off x="8522208" y="6272784"/>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PROFILE + BOOKING</a:t>
            </a:r>
            <a:endParaRPr lang="en-US" sz="1050" dirty="0"/>
          </a:p>
        </p:txBody>
      </p:sp>
      <p:sp>
        <p:nvSpPr>
          <p:cNvPr id="355" name="Text co-t 6.88"/>
          <p:cNvSpPr txBox="1"/>
          <p:nvPr/>
        </p:nvSpPr>
        <p:spPr>
          <a:xfrm>
            <a:off x="8522208" y="6510528"/>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Full profile attached; the slot is already on your calendar.</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What To Expect</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VOLUME, MEETINGS, TIMING</a:t>
            </a:r>
            <a:endParaRPr lang="en-US" sz="1400" dirty="0"/>
          </a:p>
        </p:txBody>
      </p:sp>
      <p:sp>
        <p:nvSpPr>
          <p:cNvPr id="6" name="Shape 3"/>
          <p:cNvSpPr/>
          <p:nvPr/>
        </p:nvSpPr>
        <p:spPr>
          <a:xfrm>
            <a:off x="566928"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7" name="Text 4"/>
          <p:cNvSpPr/>
          <p:nvPr/>
        </p:nvSpPr>
        <p:spPr>
          <a:xfrm>
            <a:off x="795528"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OUTREACH VOLUME</a:t>
            </a:r>
            <a:endParaRPr lang="en-US" sz="1250" dirty="0"/>
          </a:p>
        </p:txBody>
      </p:sp>
      <p:sp>
        <p:nvSpPr>
          <p:cNvPr id="8" name="Text 5"/>
          <p:cNvSpPr/>
          <p:nvPr/>
        </p:nvSpPr>
        <p:spPr>
          <a:xfrm>
            <a:off x="795528"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1,600</a:t>
            </a:r>
            <a:endParaRPr lang="en-US" sz="4400" dirty="0"/>
          </a:p>
        </p:txBody>
      </p:sp>
      <p:sp>
        <p:nvSpPr>
          <p:cNvPr id="9" name="Text 6"/>
          <p:cNvSpPr/>
          <p:nvPr/>
        </p:nvSpPr>
        <p:spPr>
          <a:xfrm>
            <a:off x="795528"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LinkedIn touches / month, one profile</a:t>
            </a:r>
            <a:endParaRPr lang="en-US" sz="1100" dirty="0"/>
          </a:p>
        </p:txBody>
      </p:sp>
      <p:sp>
        <p:nvSpPr>
          <p:cNvPr id="10" name="Text 7"/>
          <p:cNvSpPr/>
          <p:nvPr/>
        </p:nvSpPr>
        <p:spPr>
          <a:xfrm>
            <a:off x="795528"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800 InMails and 800 connection invites every month from Karson’s profile, once fully warmed up. Every touch scored and hand-reviewed before it goes out.</a:t>
            </a:r>
            <a:endParaRPr lang="en-US" sz="1050" dirty="0"/>
          </a:p>
        </p:txBody>
      </p:sp>
      <p:sp>
        <p:nvSpPr>
          <p:cNvPr id="11" name="Shape 8"/>
          <p:cNvSpPr/>
          <p:nvPr/>
        </p:nvSpPr>
        <p:spPr>
          <a:xfrm>
            <a:off x="4434840"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12" name="Text 9"/>
          <p:cNvSpPr/>
          <p:nvPr/>
        </p:nvSpPr>
        <p:spPr>
          <a:xfrm>
            <a:off x="4663440"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QUALIFIED MEETINGS</a:t>
            </a:r>
            <a:endParaRPr lang="en-US" sz="1250" dirty="0"/>
          </a:p>
        </p:txBody>
      </p:sp>
      <p:sp>
        <p:nvSpPr>
          <p:cNvPr id="13" name="Text 10"/>
          <p:cNvSpPr/>
          <p:nvPr/>
        </p:nvSpPr>
        <p:spPr>
          <a:xfrm>
            <a:off x="4663440"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1–2</a:t>
            </a:r>
            <a:endParaRPr lang="en-US" sz="4400" dirty="0"/>
          </a:p>
        </p:txBody>
      </p:sp>
      <p:sp>
        <p:nvSpPr>
          <p:cNvPr id="14" name="Text 11"/>
          <p:cNvSpPr/>
          <p:nvPr/>
        </p:nvSpPr>
        <p:spPr>
          <a:xfrm>
            <a:off x="4663440"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per week at steady state (month 2 onward)</a:t>
            </a:r>
            <a:endParaRPr lang="en-US" sz="1100" dirty="0"/>
          </a:p>
        </p:txBody>
      </p:sp>
      <p:sp>
        <p:nvSpPr>
          <p:cNvPr id="15" name="Text 12"/>
          <p:cNvSpPr/>
          <p:nvPr/>
        </p:nvSpPr>
        <p:spPr>
          <a:xfrm>
            <a:off x="4663440"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Our conservative range for one profile once calibrated; real estate audiences often run higher. Add Dustin’s profile and the range moves with it.</a:t>
            </a:r>
            <a:endParaRPr lang="en-US" sz="1050" dirty="0"/>
          </a:p>
        </p:txBody>
      </p:sp>
      <p:sp>
        <p:nvSpPr>
          <p:cNvPr id="16" name="Shape 13"/>
          <p:cNvSpPr/>
          <p:nvPr/>
        </p:nvSpPr>
        <p:spPr>
          <a:xfrm>
            <a:off x="8302752"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17" name="Text 14"/>
          <p:cNvSpPr/>
          <p:nvPr/>
        </p:nvSpPr>
        <p:spPr>
          <a:xfrm>
            <a:off x="8531352"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TIME TO FIRST MEETINGS</a:t>
            </a:r>
            <a:endParaRPr lang="en-US" sz="1250" dirty="0"/>
          </a:p>
        </p:txBody>
      </p:sp>
      <p:sp>
        <p:nvSpPr>
          <p:cNvPr id="18" name="Text 15"/>
          <p:cNvSpPr/>
          <p:nvPr/>
        </p:nvSpPr>
        <p:spPr>
          <a:xfrm>
            <a:off x="8531352"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3–4</a:t>
            </a:r>
            <a:endParaRPr lang="en-US" sz="4400" dirty="0"/>
          </a:p>
        </p:txBody>
      </p:sp>
      <p:sp>
        <p:nvSpPr>
          <p:cNvPr id="19" name="Text 16"/>
          <p:cNvSpPr/>
          <p:nvPr/>
        </p:nvSpPr>
        <p:spPr>
          <a:xfrm>
            <a:off x="8531352"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weeks from kickoff to first booked calls</a:t>
            </a:r>
            <a:endParaRPr lang="en-US" sz="1100" dirty="0"/>
          </a:p>
        </p:txBody>
      </p:sp>
      <p:sp>
        <p:nvSpPr>
          <p:cNvPr id="20" name="Text 17"/>
          <p:cNvSpPr/>
          <p:nvPr/>
        </p:nvSpPr>
        <p:spPr>
          <a:xfrm>
            <a:off x="8531352"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Weeks one and two are setup: ICP, audiences, scripts, profile warm-up. Live outreach starts in week three, and the first replies and bookings follow within days.</a:t>
            </a:r>
            <a:endParaRPr lang="en-US" sz="1050" dirty="0"/>
          </a:p>
        </p:txBody>
      </p:sp>
      <p:sp>
        <p:nvSpPr>
          <p:cNvPr id="21" name="Shape 18"/>
          <p:cNvSpPr/>
          <p:nvPr/>
        </p:nvSpPr>
        <p:spPr>
          <a:xfrm>
            <a:off x="566928" y="4846320"/>
            <a:ext cx="11338560" cy="1463040"/>
          </a:xfrm>
          <a:prstGeom prst="roundRect">
            <a:avLst>
              <a:gd name="adj" fmla="val 5625"/>
            </a:avLst>
          </a:prstGeom>
          <a:solidFill>
            <a:srgbClr val="0D0D26">
              <a:alpha val="55000"/>
            </a:srgbClr>
          </a:solidFill>
          <a:ln w="9525">
            <a:solidFill>
              <a:srgbClr val="31316A">
                <a:alpha val="75000"/>
              </a:srgbClr>
            </a:solidFill>
            <a:prstDash val="solid"/>
          </a:ln>
        </p:spPr>
      </p:sp>
      <p:sp>
        <p:nvSpPr>
          <p:cNvPr id="22" name="Text 19"/>
          <p:cNvSpPr/>
          <p:nvPr/>
        </p:nvSpPr>
        <p:spPr>
          <a:xfrm>
            <a:off x="795528" y="5010912"/>
            <a:ext cx="10881360" cy="274320"/>
          </a:xfrm>
          <a:prstGeom prst="rect">
            <a:avLst/>
          </a:prstGeom>
          <a:noFill/>
          <a:ln/>
        </p:spPr>
        <p:txBody>
          <a:bodyPr wrap="square" lIns="0" tIns="0" rIns="0" bIns="0" rtlCol="0" anchor="ctr"/>
          <a:lstStyle/>
          <a:p>
            <a:pPr indent="0" marL="0">
              <a:buNone/>
            </a:pPr>
            <a:r>
              <a:rPr lang="en-US" sz="1200" b="1" spc="100" kern="0" dirty="0">
                <a:solidFill>
                  <a:srgbClr val="7C6CFF"/>
                </a:solidFill>
                <a:latin typeface="Arial" pitchFamily="34" charset="0"/>
                <a:ea typeface="Arial" pitchFamily="34" charset="-122"/>
                <a:cs typeface="Arial" pitchFamily="34" charset="-120"/>
              </a:rPr>
              <a:t>WHAT “QUALIFIED” MEANS, AND THE HONEST TIMELINE</a:t>
            </a:r>
            <a:endParaRPr lang="en-US" sz="1200" dirty="0"/>
          </a:p>
        </p:txBody>
      </p:sp>
      <p:sp>
        <p:nvSpPr>
          <p:cNvPr id="23" name="Text 20"/>
          <p:cNvSpPr/>
          <p:nvPr/>
        </p:nvSpPr>
        <p:spPr>
          <a:xfrm>
            <a:off x="795528" y="5321808"/>
            <a:ext cx="10881360" cy="868680"/>
          </a:xfrm>
          <a:prstGeom prst="rect">
            <a:avLst/>
          </a:prstGeom>
          <a:noFill/>
          <a:ln/>
        </p:spPr>
        <p:txBody>
          <a:bodyPr wrap="square" lIns="0" tIns="0" rIns="0" bIns="0" rtlCol="0" anchor="t"/>
          <a:lstStyle/>
          <a:p>
            <a:pPr indent="0" marL="0">
              <a:lnSpc>
                <a:spcPct val="125000"/>
              </a:lnSpc>
              <a:buNone/>
            </a:pPr>
            <a:r>
              <a:rPr lang="en-US" sz="1150" dirty="0">
                <a:solidFill>
                  <a:srgbClr val="FFFFFF"/>
                </a:solidFill>
                <a:latin typeface="Arial" pitchFamily="34" charset="0"/>
                <a:ea typeface="Arial" pitchFamily="34" charset="-122"/>
                <a:cs typeface="Arial" pitchFamily="34" charset="-120"/>
              </a:rPr>
              <a:t>A qualified meeting is an accredited individual, family office or fund with a history of similar real estate investments, who passed scoring and human review, completed the self-qualification form on booking, and whose briefing you approved. New relationships close slower than friends and family: plan on months from first meeting to signed note. Start four to six months before the capital is needed, and we’d rather you hear that from us now.</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Your First 90 Days</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WHAT HAPPENS, AND WHEN</a:t>
            </a:r>
            <a:endParaRPr lang="en-US" sz="1400" dirty="0"/>
          </a:p>
        </p:txBody>
      </p:sp>
      <p:sp>
        <p:nvSpPr>
          <p:cNvPr id="6" name="Shape 3"/>
          <p:cNvSpPr/>
          <p:nvPr/>
        </p:nvSpPr>
        <p:spPr>
          <a:xfrm>
            <a:off x="566928" y="2148840"/>
            <a:ext cx="2724912" cy="2642616"/>
          </a:xfrm>
          <a:prstGeom prst="roundRect">
            <a:avLst>
              <a:gd name="adj" fmla="val 3114"/>
            </a:avLst>
          </a:prstGeom>
          <a:solidFill>
            <a:srgbClr val="0D0D26">
              <a:alpha val="55000"/>
            </a:srgbClr>
          </a:solidFill>
          <a:ln w="9525">
            <a:solidFill>
              <a:srgbClr val="31316A">
                <a:alpha val="75000"/>
              </a:srgbClr>
            </a:solidFill>
            <a:prstDash val="solid"/>
          </a:ln>
        </p:spPr>
      </p:sp>
      <p:sp>
        <p:nvSpPr>
          <p:cNvPr id="7" name="Text 4"/>
          <p:cNvSpPr/>
          <p:nvPr/>
        </p:nvSpPr>
        <p:spPr>
          <a:xfrm>
            <a:off x="768096" y="2350008"/>
            <a:ext cx="2322576" cy="292608"/>
          </a:xfrm>
          <a:prstGeom prst="rect">
            <a:avLst/>
          </a:prstGeom>
          <a:noFill/>
          <a:ln/>
        </p:spPr>
        <p:txBody>
          <a:bodyPr wrap="square" lIns="0" tIns="0" rIns="0" bIns="0" rtlCol="0" anchor="ctr"/>
          <a:lstStyle/>
          <a:p>
            <a:pPr indent="0" marL="0">
              <a:buNone/>
            </a:pPr>
            <a:r>
              <a:rPr lang="en-US" sz="1200" b="1" spc="100" kern="0" dirty="0">
                <a:solidFill>
                  <a:srgbClr val="43D5FF"/>
                </a:solidFill>
                <a:latin typeface="Arial" pitchFamily="34" charset="0"/>
                <a:ea typeface="Arial" pitchFamily="34" charset="-122"/>
                <a:cs typeface="Arial" pitchFamily="34" charset="-120"/>
              </a:rPr>
              <a:t>WEEKS 1-2  ·  EARLY JAN</a:t>
            </a:r>
            <a:endParaRPr lang="en-US" sz="1200" dirty="0"/>
          </a:p>
        </p:txBody>
      </p:sp>
      <p:sp>
        <p:nvSpPr>
          <p:cNvPr id="8" name="Text 5"/>
          <p:cNvSpPr/>
          <p:nvPr/>
        </p:nvSpPr>
        <p:spPr>
          <a:xfrm>
            <a:off x="768096" y="2660904"/>
            <a:ext cx="2322576" cy="56692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Setup &amp; Calibration</a:t>
            </a:r>
            <a:endParaRPr lang="en-US" sz="1600" dirty="0"/>
          </a:p>
        </p:txBody>
      </p:sp>
      <p:sp>
        <p:nvSpPr>
          <p:cNvPr id="9" name="Text 6"/>
          <p:cNvSpPr/>
          <p:nvPr/>
        </p:nvSpPr>
        <p:spPr>
          <a:xfrm>
            <a:off x="768096" y="3337560"/>
            <a:ext cx="2359152" cy="1225296"/>
          </a:xfrm>
          <a:prstGeom prst="rect">
            <a:avLst/>
          </a:prstGeom>
          <a:noFill/>
          <a:ln/>
        </p:spPr>
        <p:txBody>
          <a:bodyPr wrap="square" lIns="0" tIns="0" rIns="0" bIns="0" rtlCol="0" anchor="t"/>
          <a:lstStyle/>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Onboarding interview with Karson</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PNW, Idaho &amp; coastal ICPs built</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Profile optimized, account warmed</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Scripts approved in your voice</a:t>
            </a:r>
            <a:endParaRPr lang="en-US" sz="1150" dirty="0"/>
          </a:p>
        </p:txBody>
      </p:sp>
      <p:sp>
        <p:nvSpPr>
          <p:cNvPr id="10" name="Shape 7"/>
          <p:cNvSpPr/>
          <p:nvPr/>
        </p:nvSpPr>
        <p:spPr>
          <a:xfrm>
            <a:off x="3447288" y="2148840"/>
            <a:ext cx="2724912" cy="2642616"/>
          </a:xfrm>
          <a:prstGeom prst="roundRect">
            <a:avLst>
              <a:gd name="adj" fmla="val 3114"/>
            </a:avLst>
          </a:prstGeom>
          <a:solidFill>
            <a:srgbClr val="0D0D26">
              <a:alpha val="55000"/>
            </a:srgbClr>
          </a:solidFill>
          <a:ln w="9525">
            <a:solidFill>
              <a:srgbClr val="31316A">
                <a:alpha val="75000"/>
              </a:srgbClr>
            </a:solidFill>
            <a:prstDash val="solid"/>
          </a:ln>
        </p:spPr>
      </p:sp>
      <p:sp>
        <p:nvSpPr>
          <p:cNvPr id="11" name="Text 8"/>
          <p:cNvSpPr/>
          <p:nvPr/>
        </p:nvSpPr>
        <p:spPr>
          <a:xfrm>
            <a:off x="3648456" y="2350008"/>
            <a:ext cx="2322576" cy="292608"/>
          </a:xfrm>
          <a:prstGeom prst="rect">
            <a:avLst/>
          </a:prstGeom>
          <a:noFill/>
          <a:ln/>
        </p:spPr>
        <p:txBody>
          <a:bodyPr wrap="square" lIns="0" tIns="0" rIns="0" bIns="0" rtlCol="0" anchor="ctr"/>
          <a:lstStyle/>
          <a:p>
            <a:pPr indent="0" marL="0">
              <a:buNone/>
            </a:pPr>
            <a:r>
              <a:rPr lang="en-US" sz="1200" b="1" spc="100" kern="0" dirty="0">
                <a:solidFill>
                  <a:srgbClr val="43D5FF"/>
                </a:solidFill>
                <a:latin typeface="Arial" pitchFamily="34" charset="0"/>
                <a:ea typeface="Arial" pitchFamily="34" charset="-122"/>
                <a:cs typeface="Arial" pitchFamily="34" charset="-120"/>
              </a:rPr>
              <a:t>WEEKS 3-4  ·  LATE JAN</a:t>
            </a:r>
            <a:endParaRPr lang="en-US" sz="1200" dirty="0"/>
          </a:p>
        </p:txBody>
      </p:sp>
      <p:sp>
        <p:nvSpPr>
          <p:cNvPr id="12" name="Text 9"/>
          <p:cNvSpPr/>
          <p:nvPr/>
        </p:nvSpPr>
        <p:spPr>
          <a:xfrm>
            <a:off x="3648456" y="2660904"/>
            <a:ext cx="2322576" cy="56692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First Live Outreach</a:t>
            </a:r>
            <a:endParaRPr lang="en-US" sz="1600" dirty="0"/>
          </a:p>
        </p:txBody>
      </p:sp>
      <p:sp>
        <p:nvSpPr>
          <p:cNvPr id="13" name="Text 10"/>
          <p:cNvSpPr/>
          <p:nvPr/>
        </p:nvSpPr>
        <p:spPr>
          <a:xfrm>
            <a:off x="3648456" y="3337560"/>
            <a:ext cx="2359152" cy="1225296"/>
          </a:xfrm>
          <a:prstGeom prst="rect">
            <a:avLst/>
          </a:prstGeom>
          <a:noFill/>
          <a:ln/>
        </p:spPr>
        <p:txBody>
          <a:bodyPr wrap="square" lIns="0" tIns="0" rIns="0" bIns="0" rtlCol="0" anchor="t"/>
          <a:lstStyle/>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Live on Karson’s profile</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First replies, first meetings</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A/B tests by segment and region</a:t>
            </a:r>
            <a:endParaRPr lang="en-US" sz="1150" dirty="0"/>
          </a:p>
        </p:txBody>
      </p:sp>
      <p:sp>
        <p:nvSpPr>
          <p:cNvPr id="14" name="Shape 11"/>
          <p:cNvSpPr/>
          <p:nvPr/>
        </p:nvSpPr>
        <p:spPr>
          <a:xfrm>
            <a:off x="6327648" y="2148840"/>
            <a:ext cx="2724912" cy="2642616"/>
          </a:xfrm>
          <a:prstGeom prst="roundRect">
            <a:avLst>
              <a:gd name="adj" fmla="val 3114"/>
            </a:avLst>
          </a:prstGeom>
          <a:solidFill>
            <a:srgbClr val="0D0D26">
              <a:alpha val="55000"/>
            </a:srgbClr>
          </a:solidFill>
          <a:ln w="9525">
            <a:solidFill>
              <a:srgbClr val="31316A">
                <a:alpha val="75000"/>
              </a:srgbClr>
            </a:solidFill>
            <a:prstDash val="solid"/>
          </a:ln>
        </p:spPr>
      </p:sp>
      <p:sp>
        <p:nvSpPr>
          <p:cNvPr id="15" name="Text 12"/>
          <p:cNvSpPr/>
          <p:nvPr/>
        </p:nvSpPr>
        <p:spPr>
          <a:xfrm>
            <a:off x="6528816" y="2350008"/>
            <a:ext cx="2322576" cy="292608"/>
          </a:xfrm>
          <a:prstGeom prst="rect">
            <a:avLst/>
          </a:prstGeom>
          <a:noFill/>
          <a:ln/>
        </p:spPr>
        <p:txBody>
          <a:bodyPr wrap="square" lIns="0" tIns="0" rIns="0" bIns="0" rtlCol="0" anchor="ctr"/>
          <a:lstStyle/>
          <a:p>
            <a:pPr indent="0" marL="0">
              <a:buNone/>
            </a:pPr>
            <a:r>
              <a:rPr lang="en-US" sz="1200" b="1" spc="100" kern="0" dirty="0">
                <a:solidFill>
                  <a:srgbClr val="43D5FF"/>
                </a:solidFill>
                <a:latin typeface="Arial" pitchFamily="34" charset="0"/>
                <a:ea typeface="Arial" pitchFamily="34" charset="-122"/>
                <a:cs typeface="Arial" pitchFamily="34" charset="-120"/>
              </a:rPr>
              <a:t>MONTH 2  ·  FEBRUARY</a:t>
            </a:r>
            <a:endParaRPr lang="en-US" sz="1200" dirty="0"/>
          </a:p>
        </p:txBody>
      </p:sp>
      <p:sp>
        <p:nvSpPr>
          <p:cNvPr id="16" name="Text 13"/>
          <p:cNvSpPr/>
          <p:nvPr/>
        </p:nvSpPr>
        <p:spPr>
          <a:xfrm>
            <a:off x="6528816" y="2660904"/>
            <a:ext cx="2322576" cy="56692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Steady Flow</a:t>
            </a:r>
            <a:endParaRPr lang="en-US" sz="1600" dirty="0"/>
          </a:p>
        </p:txBody>
      </p:sp>
      <p:sp>
        <p:nvSpPr>
          <p:cNvPr id="17" name="Text 14"/>
          <p:cNvSpPr/>
          <p:nvPr/>
        </p:nvSpPr>
        <p:spPr>
          <a:xfrm>
            <a:off x="6528816" y="3337560"/>
            <a:ext cx="2359152" cy="1225296"/>
          </a:xfrm>
          <a:prstGeom prst="rect">
            <a:avLst/>
          </a:prstGeom>
          <a:noFill/>
          <a:ln/>
        </p:spPr>
        <p:txBody>
          <a:bodyPr wrap="square" lIns="0" tIns="0" rIns="0" bIns="0" rtlCol="0" anchor="t"/>
          <a:lstStyle/>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Steady weekly meeting flow</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Targeting tightened on replies</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Segment reporting: what converts</a:t>
            </a:r>
            <a:endParaRPr lang="en-US" sz="1150" dirty="0"/>
          </a:p>
        </p:txBody>
      </p:sp>
      <p:sp>
        <p:nvSpPr>
          <p:cNvPr id="18" name="Shape 15"/>
          <p:cNvSpPr/>
          <p:nvPr/>
        </p:nvSpPr>
        <p:spPr>
          <a:xfrm>
            <a:off x="9208008" y="2148840"/>
            <a:ext cx="2724912" cy="2642616"/>
          </a:xfrm>
          <a:prstGeom prst="roundRect">
            <a:avLst>
              <a:gd name="adj" fmla="val 3114"/>
            </a:avLst>
          </a:prstGeom>
          <a:solidFill>
            <a:srgbClr val="0D0D26">
              <a:alpha val="55000"/>
            </a:srgbClr>
          </a:solidFill>
          <a:ln w="9525">
            <a:solidFill>
              <a:srgbClr val="31316A">
                <a:alpha val="75000"/>
              </a:srgbClr>
            </a:solidFill>
            <a:prstDash val="solid"/>
          </a:ln>
        </p:spPr>
      </p:sp>
      <p:sp>
        <p:nvSpPr>
          <p:cNvPr id="19" name="Text 16"/>
          <p:cNvSpPr/>
          <p:nvPr/>
        </p:nvSpPr>
        <p:spPr>
          <a:xfrm>
            <a:off x="9409176" y="2350008"/>
            <a:ext cx="2322576" cy="292608"/>
          </a:xfrm>
          <a:prstGeom prst="rect">
            <a:avLst/>
          </a:prstGeom>
          <a:noFill/>
          <a:ln/>
        </p:spPr>
        <p:txBody>
          <a:bodyPr wrap="square" lIns="0" tIns="0" rIns="0" bIns="0" rtlCol="0" anchor="ctr"/>
          <a:lstStyle/>
          <a:p>
            <a:pPr indent="0" marL="0">
              <a:buNone/>
            </a:pPr>
            <a:r>
              <a:rPr lang="en-US" sz="1200" b="1" spc="100" kern="0" dirty="0">
                <a:solidFill>
                  <a:srgbClr val="43D5FF"/>
                </a:solidFill>
                <a:latin typeface="Arial" pitchFamily="34" charset="0"/>
                <a:ea typeface="Arial" pitchFamily="34" charset="-122"/>
                <a:cs typeface="Arial" pitchFamily="34" charset="-120"/>
              </a:rPr>
              <a:t>MONTHS 3-4  ·  MAR-APR</a:t>
            </a:r>
            <a:endParaRPr lang="en-US" sz="1200" dirty="0"/>
          </a:p>
        </p:txBody>
      </p:sp>
      <p:sp>
        <p:nvSpPr>
          <p:cNvPr id="20" name="Text 17"/>
          <p:cNvSpPr/>
          <p:nvPr/>
        </p:nvSpPr>
        <p:spPr>
          <a:xfrm>
            <a:off x="9409176" y="2660904"/>
            <a:ext cx="2322576" cy="56692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Prove-Out &amp; Scale</a:t>
            </a:r>
            <a:endParaRPr lang="en-US" sz="1600" dirty="0"/>
          </a:p>
        </p:txBody>
      </p:sp>
      <p:sp>
        <p:nvSpPr>
          <p:cNvPr id="21" name="Text 18"/>
          <p:cNvSpPr/>
          <p:nvPr/>
        </p:nvSpPr>
        <p:spPr>
          <a:xfrm>
            <a:off x="9409176" y="3337560"/>
            <a:ext cx="2359152" cy="1225296"/>
          </a:xfrm>
          <a:prstGeom prst="rect">
            <a:avLst/>
          </a:prstGeom>
          <a:noFill/>
          <a:ln/>
        </p:spPr>
        <p:txBody>
          <a:bodyPr wrap="square" lIns="0" tIns="0" rIns="0" bIns="0" rtlCol="0" anchor="t"/>
          <a:lstStyle/>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Real data on meeting quality</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Idaho pipeline ahead of the raise</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Decide: continue, add Dustin</a:t>
            </a:r>
            <a:endParaRPr lang="en-US" sz="1150" dirty="0"/>
          </a:p>
        </p:txBody>
      </p:sp>
      <p:sp>
        <p:nvSpPr>
          <p:cNvPr id="356" name="Shape 20"/>
          <p:cNvSpPr/>
          <p:nvPr/>
        </p:nvSpPr>
        <p:spPr>
          <a:xfrm>
            <a:off x="566928" y="5029200"/>
            <a:ext cx="11338560" cy="1325880"/>
          </a:xfrm>
          <a:prstGeom prst="roundRect">
            <a:avLst>
              <a:gd name="adj" fmla="val 4865"/>
            </a:avLst>
          </a:prstGeom>
          <a:solidFill>
            <a:srgbClr val="0D0D26">
              <a:alpha val="55000"/>
            </a:srgbClr>
          </a:solidFill>
          <a:ln w="9525">
            <a:solidFill>
              <a:srgbClr val="31316A">
                <a:alpha val="75000"/>
              </a:srgbClr>
            </a:solidFill>
            <a:prstDash val="solid"/>
          </a:ln>
        </p:spPr>
      </p:sp>
      <p:sp>
        <p:nvSpPr>
          <p:cNvPr id="357" name="Text 21"/>
          <p:cNvSpPr/>
          <p:nvPr/>
        </p:nvSpPr>
        <p:spPr>
          <a:xfrm>
            <a:off x="795528" y="5175504"/>
            <a:ext cx="54864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THE APRIL DECISION</a:t>
            </a:r>
            <a:endParaRPr lang="en-US" sz="1400" dirty="0"/>
          </a:p>
        </p:txBody>
      </p:sp>
      <p:sp>
        <p:nvSpPr>
          <p:cNvPr id="358" name="Text 22"/>
          <p:cNvSpPr/>
          <p:nvPr/>
        </p:nvSpPr>
        <p:spPr>
          <a:xfrm>
            <a:off x="795528" y="5504688"/>
            <a:ext cx="10881360" cy="777240"/>
          </a:xfrm>
          <a:prstGeom prst="rect">
            <a:avLst/>
          </a:prstGeom>
          <a:noFill/>
          <a:ln/>
        </p:spPr>
        <p:txBody>
          <a:bodyPr wrap="square" lIns="0" tIns="0" rIns="0" bIns="0" rtlCol="0" anchor="t"/>
          <a:lstStyle/>
          <a:p>
            <a:pPr indent="0" marL="0">
              <a:lnSpc>
                <a:spcPct val="120000"/>
              </a:lnSpc>
              <a:buNone/>
            </a:pPr>
            <a:r>
              <a:rPr lang="en-US" sz="1250" dirty="0">
                <a:solidFill>
                  <a:srgbClr val="FFFFFF"/>
                </a:solidFill>
                <a:latin typeface="Arial" pitchFamily="34" charset="0"/>
                <a:ea typeface="Arial" pitchFamily="34" charset="-122"/>
                <a:cs typeface="Arial" pitchFamily="34" charset="-120"/>
              </a:rPr>
              <a:t>By the end of the four-month term you’ll have real numbers on audience quality, meeting quality and notes placed, plus a live investor pipeline going into the Q2 close and the Idaho raise. That is the decision point: continue, add Dustin’s profile, or stop. The partners decide on data, not on faith.</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Pricing</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FLAT RETAINER. NO SETUP FEES, NO SUCCESS FEES, NO SURPRISES.</a:t>
            </a:r>
            <a:endParaRPr lang="en-US" sz="1400" dirty="0"/>
          </a:p>
        </p:txBody>
      </p:sp>
      <p:sp>
        <p:nvSpPr>
          <p:cNvPr id="6" name="Shape 3"/>
          <p:cNvSpPr/>
          <p:nvPr/>
        </p:nvSpPr>
        <p:spPr>
          <a:xfrm>
            <a:off x="566928" y="2148840"/>
            <a:ext cx="5532120" cy="4114800"/>
          </a:xfrm>
          <a:prstGeom prst="roundRect">
            <a:avLst>
              <a:gd name="adj" fmla="val 2000"/>
            </a:avLst>
          </a:prstGeom>
          <a:solidFill>
            <a:srgbClr val="0D0D26">
              <a:alpha val="55000"/>
            </a:srgbClr>
          </a:solidFill>
          <a:ln w="9525">
            <a:solidFill>
              <a:srgbClr val="31316A">
                <a:alpha val="75000"/>
              </a:srgbClr>
            </a:solidFill>
            <a:prstDash val="solid"/>
          </a:ln>
        </p:spPr>
      </p:sp>
      <p:sp>
        <p:nvSpPr>
          <p:cNvPr id="7" name="Text 4"/>
          <p:cNvSpPr/>
          <p:nvPr/>
        </p:nvSpPr>
        <p:spPr>
          <a:xfrm>
            <a:off x="886968" y="2423160"/>
            <a:ext cx="4892040" cy="292608"/>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THINKFISH FUNDRAISING  ·  DONE-FOR-YOU</a:t>
            </a:r>
            <a:endParaRPr lang="en-US" sz="1300" dirty="0"/>
          </a:p>
        </p:txBody>
      </p:sp>
      <p:sp>
        <p:nvSpPr>
          <p:cNvPr id="8" name="Text 5"/>
          <p:cNvSpPr/>
          <p:nvPr/>
        </p:nvSpPr>
        <p:spPr>
          <a:xfrm>
            <a:off x="886968" y="2770632"/>
            <a:ext cx="4892040" cy="100584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$3,000</a:t>
            </a:r>
            <a:r>
              <a:rPr lang="en-US" sz="1400" dirty="0">
                <a:solidFill>
                  <a:srgbClr val="B9BEDC"/>
                </a:solidFill>
                <a:latin typeface="Arial" pitchFamily="34" charset="0"/>
                <a:ea typeface="Arial" pitchFamily="34" charset="-122"/>
                <a:cs typeface="Arial" pitchFamily="34" charset="-120"/>
              </a:rPr>
              <a:t xml:space="preserve">  / Karson</a:t>
            </a:r>
          </a:p>
          <a:p>
            <a:pPr indent="0" marL="0">
              <a:buNone/>
            </a:pPr>
            <a:r>
              <a:rPr lang="en-US" sz="3000" b="1" dirty="0">
                <a:solidFill>
                  <a:srgbClr val="FFFFFF"/>
                </a:solidFill>
                <a:latin typeface="Arial" pitchFamily="34" charset="0"/>
                <a:ea typeface="Arial" pitchFamily="34" charset="-122"/>
                <a:cs typeface="Arial" pitchFamily="34" charset="-120"/>
              </a:rPr>
              <a:t>$3,500</a:t>
            </a:r>
            <a:r>
              <a:rPr lang="en-US" sz="1400" dirty="0">
                <a:solidFill>
                  <a:srgbClr val="B9BEDC"/>
                </a:solidFill>
                <a:latin typeface="Arial" pitchFamily="34" charset="0"/>
                <a:ea typeface="Arial" pitchFamily="34" charset="-122"/>
                <a:cs typeface="Arial" pitchFamily="34" charset="-120"/>
              </a:rPr>
              <a:t xml:space="preserve">  / Karson + Dustin</a:t>
            </a:r>
          </a:p>
        </p:txBody>
      </p:sp>
      <p:sp>
        <p:nvSpPr>
          <p:cNvPr id="9" name="Text 6"/>
          <p:cNvSpPr/>
          <p:nvPr/>
        </p:nvSpPr>
        <p:spPr>
          <a:xfrm>
            <a:off x="886968" y="3794760"/>
            <a:ext cx="4892040" cy="320040"/>
          </a:xfrm>
          <a:prstGeom prst="rect">
            <a:avLst/>
          </a:prstGeom>
          <a:noFill/>
          <a:ln/>
        </p:spPr>
        <p:txBody>
          <a:bodyPr wrap="square" lIns="0" tIns="0" rIns="0" bIns="0" rtlCol="0" anchor="ctr"/>
          <a:lstStyle/>
          <a:p>
            <a:pPr indent="0" marL="0">
              <a:buNone/>
            </a:pPr>
            <a:r>
              <a:rPr lang="en-US" sz="1200" i="1" dirty="0">
                <a:solidFill>
                  <a:srgbClr val="B9BEDC"/>
                </a:solidFill>
                <a:latin typeface="Arial" pitchFamily="34" charset="0"/>
                <a:ea typeface="Arial" pitchFamily="34" charset="-122"/>
                <a:cs typeface="Arial" pitchFamily="34" charset="-120"/>
              </a:rPr>
              <a:t>4-month term  ·  add Dustin’s profile any time</a:t>
            </a:r>
            <a:endParaRPr lang="en-US" sz="1200" dirty="0"/>
          </a:p>
        </p:txBody>
      </p:sp>
      <p:sp>
        <p:nvSpPr>
          <p:cNvPr id="10" name="Text 7"/>
          <p:cNvSpPr/>
          <p:nvPr/>
        </p:nvSpPr>
        <p:spPr>
          <a:xfrm>
            <a:off x="886968" y="4206240"/>
            <a:ext cx="4892040" cy="1874520"/>
          </a:xfrm>
          <a:prstGeom prst="rect">
            <a:avLst/>
          </a:prstGeom>
          <a:noFill/>
          <a:ln/>
        </p:spPr>
        <p:txBody>
          <a:bodyPr wrap="square" lIns="0" tIns="0" rIns="0" bIns="0" rtlCol="0" anchor="t"/>
          <a:lstStyle/>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Karson’s profile (plus Dustin’s), fully managed end to end</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Full campaign execution, start to finish</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Outreach, inbox management &amp; follow-ups</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Lead qualification, pre-call briefings &amp; scheduling</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The Reef retargeting &amp; Startup Deal Desk feature</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Profile optimization &amp; messaging support</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CRM, weekly reporting, A/B testing &amp; optimization</a:t>
            </a:r>
            <a:endParaRPr lang="en-US" sz="1250" dirty="0"/>
          </a:p>
        </p:txBody>
      </p:sp>
      <p:sp>
        <p:nvSpPr>
          <p:cNvPr id="359" name="Shape 30"/>
          <p:cNvSpPr/>
          <p:nvPr/>
        </p:nvSpPr>
        <p:spPr>
          <a:xfrm>
            <a:off x="6373368" y="2148840"/>
            <a:ext cx="5532120" cy="4114800"/>
          </a:xfrm>
          <a:prstGeom prst="roundRect">
            <a:avLst>
              <a:gd name="adj" fmla="val 2000"/>
            </a:avLst>
          </a:prstGeom>
          <a:solidFill>
            <a:srgbClr val="0D0D26">
              <a:alpha val="55000"/>
            </a:srgbClr>
          </a:solidFill>
          <a:ln w="9525">
            <a:solidFill>
              <a:srgbClr val="31316A">
                <a:alpha val="75000"/>
              </a:srgbClr>
            </a:solidFill>
            <a:prstDash val="solid"/>
          </a:ln>
        </p:spPr>
      </p:sp>
      <p:sp>
        <p:nvSpPr>
          <p:cNvPr id="360" name="Text 31"/>
          <p:cNvSpPr/>
          <p:nvPr/>
        </p:nvSpPr>
        <p:spPr>
          <a:xfrm>
            <a:off x="6693408" y="2423160"/>
            <a:ext cx="4892040" cy="292608"/>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WHAT THAT BUYS</a:t>
            </a:r>
            <a:endParaRPr lang="en-US" sz="1300" dirty="0"/>
          </a:p>
        </p:txBody>
      </p:sp>
      <p:sp>
        <p:nvSpPr>
          <p:cNvPr id="361" name="Text 32"/>
          <p:cNvSpPr/>
          <p:nvPr/>
        </p:nvSpPr>
        <p:spPr>
          <a:xfrm>
            <a:off x="6693408" y="2834640"/>
            <a:ext cx="4892040" cy="3291840"/>
          </a:xfrm>
          <a:prstGeom prst="rect">
            <a:avLst/>
          </a:prstGeom>
          <a:noFill/>
          <a:ln/>
        </p:spPr>
        <p:txBody>
          <a:bodyPr wrap="square" lIns="0" tIns="0" rIns="0" bIns="0" rtlCol="0" anchor="t"/>
          <a:lstStyle/>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A full outreach team behind Karson for less than a second full-time capital raiser, with no hiring, training or ramp-up</a:t>
            </a:r>
            <a:endParaRPr lang="en-US" sz="1150" dirty="0"/>
          </a:p>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Dustin’s 9,000-connection network added for $500 more a month, with its own audience and scripts</a:t>
            </a:r>
            <a:endParaRPr lang="en-US" sz="1150" dirty="0"/>
          </a:p>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New investors who roll their notes like your existing ones keep paying back on every future project</a:t>
            </a:r>
            <a:endParaRPr lang="en-US" sz="1150" dirty="0"/>
          </a:p>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An Idaho investor network built remotely, before Generation Homes needs the capital</a:t>
            </a:r>
            <a:endParaRPr lang="en-US" sz="1150" dirty="0"/>
          </a:p>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A clean four-month read on real numbers before the partners decide to continue or scale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What We Are, and What We’re Not</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COMPLIANCE QUESTION, ANSWERED UP FRONT</a:t>
            </a:r>
            <a:endParaRPr lang="en-US" sz="1400" dirty="0"/>
          </a:p>
        </p:txBody>
      </p:sp>
      <p:sp>
        <p:nvSpPr>
          <p:cNvPr id="6" name="Shape 3"/>
          <p:cNvSpPr/>
          <p:nvPr/>
        </p:nvSpPr>
        <p:spPr>
          <a:xfrm>
            <a:off x="566928" y="2240280"/>
            <a:ext cx="3593592" cy="329184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468880"/>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WHAT WE ARE</a:t>
            </a:r>
            <a:endParaRPr lang="en-US" sz="1400" dirty="0"/>
          </a:p>
        </p:txBody>
      </p:sp>
      <p:sp>
        <p:nvSpPr>
          <p:cNvPr id="8" name="Text 5"/>
          <p:cNvSpPr/>
          <p:nvPr/>
        </p:nvSpPr>
        <p:spPr>
          <a:xfrm>
            <a:off x="795528" y="2880360"/>
            <a:ext cx="3136392" cy="2514600"/>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A digital media and investor-relations firm. We build and run LinkedIn outreach in your name, qualify the responses, and put pre-vetted investor conversations on your calendar. Flat monthly fee, nothing else.</a:t>
            </a:r>
            <a:endParaRPr lang="en-US" sz="1200" dirty="0"/>
          </a:p>
        </p:txBody>
      </p:sp>
      <p:sp>
        <p:nvSpPr>
          <p:cNvPr id="9" name="Shape 6"/>
          <p:cNvSpPr/>
          <p:nvPr/>
        </p:nvSpPr>
        <p:spPr>
          <a:xfrm>
            <a:off x="4434840" y="2240280"/>
            <a:ext cx="3593592" cy="329184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468880"/>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WHAT WE ARE NOT</a:t>
            </a:r>
            <a:endParaRPr lang="en-US" sz="1400" dirty="0"/>
          </a:p>
        </p:txBody>
      </p:sp>
      <p:sp>
        <p:nvSpPr>
          <p:cNvPr id="11" name="Text 8"/>
          <p:cNvSpPr/>
          <p:nvPr/>
        </p:nvSpPr>
        <p:spPr>
          <a:xfrm>
            <a:off x="4663440" y="2880360"/>
            <a:ext cx="3136392" cy="2514600"/>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Not a broker-dealer, placement agent or finder. We don’t negotiate terms, don’t take a success fee or commission, don’t touch the transaction, and don’t raise the capital. You run the conversation and you close.</a:t>
            </a:r>
            <a:endParaRPr lang="en-US" sz="1200" dirty="0"/>
          </a:p>
        </p:txBody>
      </p:sp>
      <p:sp>
        <p:nvSpPr>
          <p:cNvPr id="12" name="Shape 9"/>
          <p:cNvSpPr/>
          <p:nvPr/>
        </p:nvSpPr>
        <p:spPr>
          <a:xfrm>
            <a:off x="8302752" y="2240280"/>
            <a:ext cx="3593592" cy="329184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468880"/>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STAYING COMPLIANT</a:t>
            </a:r>
            <a:endParaRPr lang="en-US" sz="1400" dirty="0"/>
          </a:p>
        </p:txBody>
      </p:sp>
      <p:sp>
        <p:nvSpPr>
          <p:cNvPr id="14" name="Text 11"/>
          <p:cNvSpPr/>
          <p:nvPr/>
        </p:nvSpPr>
        <p:spPr>
          <a:xfrm>
            <a:off x="8531352" y="2880360"/>
            <a:ext cx="3136392" cy="2514600"/>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Early messages are relationship-first and high-level: no deal terms, no structure, no forecasts. Collateral only once interest is real, and you are the first to share a full deck. Every script is approved by you before it goes out.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Your Team</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WHO YOU WILL ACTUALLY BE WORKING WITH</a:t>
            </a:r>
            <a:endParaRPr lang="en-US" sz="1400" dirty="0"/>
          </a:p>
        </p:txBody>
      </p:sp>
      <p:sp>
        <p:nvSpPr>
          <p:cNvPr id="6" name="Shape 3"/>
          <p:cNvSpPr/>
          <p:nvPr/>
        </p:nvSpPr>
        <p:spPr>
          <a:xfrm>
            <a:off x="566928"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FREIZLE ABARRIENTOS</a:t>
            </a:r>
            <a:endParaRPr lang="en-US" sz="1400" dirty="0"/>
          </a:p>
        </p:txBody>
      </p:sp>
      <p:sp>
        <p:nvSpPr>
          <p:cNvPr id="8" name="Text 5"/>
          <p:cNvSpPr/>
          <p:nvPr/>
        </p:nvSpPr>
        <p:spPr>
          <a:xfrm>
            <a:off x="795528"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Chief Operating Officer. Two decades across operations, business development, investor relations and client services; oversees ThinkFISH’s daily operations. Leads strategy and the ICP design, and joins your monthly strategy calls.</a:t>
            </a:r>
            <a:endParaRPr lang="en-US" sz="1100" dirty="0"/>
          </a:p>
        </p:txBody>
      </p:sp>
      <p:sp>
        <p:nvSpPr>
          <p:cNvPr id="9" name="Shape 6"/>
          <p:cNvSpPr/>
          <p:nvPr/>
        </p:nvSpPr>
        <p:spPr>
          <a:xfrm>
            <a:off x="4434840"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SAMANTHA COWPER</a:t>
            </a:r>
            <a:endParaRPr lang="en-US" sz="1400" dirty="0"/>
          </a:p>
        </p:txBody>
      </p:sp>
      <p:sp>
        <p:nvSpPr>
          <p:cNvPr id="11" name="Text 8"/>
          <p:cNvSpPr/>
          <p:nvPr/>
        </p:nvSpPr>
        <p:spPr>
          <a:xfrm>
            <a:off x="4663440"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Onboarding Manager. Runs your first two weeks: the onboarding interviews with Karson, profile optimization, the ICP and audiences, and script approval, so the campaign launches on time and in your voice.</a:t>
            </a:r>
            <a:endParaRPr lang="en-US" sz="1100" dirty="0"/>
          </a:p>
        </p:txBody>
      </p:sp>
      <p:sp>
        <p:nvSpPr>
          <p:cNvPr id="12" name="Shape 9"/>
          <p:cNvSpPr/>
          <p:nvPr/>
        </p:nvSpPr>
        <p:spPr>
          <a:xfrm>
            <a:off x="8302752"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MYRA GRAMA</a:t>
            </a:r>
            <a:endParaRPr lang="en-US" sz="1400" dirty="0"/>
          </a:p>
        </p:txBody>
      </p:sp>
      <p:sp>
        <p:nvSpPr>
          <p:cNvPr id="14" name="Text 11"/>
          <p:cNvSpPr/>
          <p:nvPr/>
        </p:nvSpPr>
        <p:spPr>
          <a:xfrm>
            <a:off x="8531352"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Account Director. Owns the relationship from launch onward: campaign performance, the weekly report, the monthly strategy call, and the escalation point if anything needs a pivot.</a:t>
            </a:r>
            <a:endParaRPr lang="en-US" sz="1100" dirty="0"/>
          </a:p>
        </p:txBody>
      </p:sp>
      <p:sp>
        <p:nvSpPr>
          <p:cNvPr id="15" name="Shape 12"/>
          <p:cNvSpPr/>
          <p:nvPr/>
        </p:nvSpPr>
        <p:spPr>
          <a:xfrm>
            <a:off x="566928" y="4663440"/>
            <a:ext cx="11338560" cy="169164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4828032"/>
            <a:ext cx="82296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YOUR DEDICATED ACCOUNT MANAGER</a:t>
            </a:r>
            <a:endParaRPr lang="en-US" sz="1400" dirty="0"/>
          </a:p>
        </p:txBody>
      </p:sp>
      <p:sp>
        <p:nvSpPr>
          <p:cNvPr id="17" name="Text 14"/>
          <p:cNvSpPr/>
          <p:nvPr/>
        </p:nvSpPr>
        <p:spPr>
          <a:xfrm>
            <a:off x="795528" y="5175504"/>
            <a:ext cx="10881360" cy="1051560"/>
          </a:xfrm>
          <a:prstGeom prst="rect">
            <a:avLst/>
          </a:prstGeom>
          <a:noFill/>
          <a:ln/>
        </p:spPr>
        <p:txBody>
          <a:bodyPr wrap="square" lIns="0" tIns="0" rIns="0" bIns="0" rtlCol="0" anchor="t"/>
          <a:lstStyle/>
          <a:p>
            <a:pPr indent="0" marL="0">
              <a:lnSpc>
                <a:spcPct val="120000"/>
              </a:lnSpc>
              <a:buNone/>
            </a:pPr>
            <a:r>
              <a:rPr lang="en-US" sz="1250" dirty="0">
                <a:solidFill>
                  <a:srgbClr val="FFFFFF"/>
                </a:solidFill>
                <a:latin typeface="Arial" pitchFamily="34" charset="0"/>
                <a:ea typeface="Arial" pitchFamily="34" charset="-122"/>
                <a:cs typeface="Arial" pitchFamily="34" charset="-120"/>
              </a:rPr>
              <a:t>Assigned at kickoff and introduced by Samantha in the first onboarding session. Runs the campaign day to day under Myra: audience building, scripts, inbox, qualification, call briefings and the weekly report. One person who knows your story, reachable on Slack or WhatsApp, not a ticket queue.</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Next Steps</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HOW WE GET STARTED</a:t>
            </a:r>
            <a:endParaRPr lang="en-US" sz="1400" dirty="0"/>
          </a:p>
        </p:txBody>
      </p:sp>
      <p:sp>
        <p:nvSpPr>
          <p:cNvPr id="6" name="Shape 3"/>
          <p:cNvSpPr/>
          <p:nvPr/>
        </p:nvSpPr>
        <p:spPr>
          <a:xfrm>
            <a:off x="566928"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1  ·  REVIEW</a:t>
            </a:r>
            <a:endParaRPr lang="en-US" sz="1400" dirty="0"/>
          </a:p>
        </p:txBody>
      </p:sp>
      <p:sp>
        <p:nvSpPr>
          <p:cNvPr id="8" name="Text 5"/>
          <p:cNvSpPr/>
          <p:nvPr/>
        </p:nvSpPr>
        <p:spPr>
          <a:xfrm>
            <a:off x="795528" y="2651760"/>
            <a:ext cx="3136392" cy="1600200"/>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Arial" pitchFamily="34" charset="0"/>
                <a:ea typeface="Arial" pitchFamily="34" charset="-122"/>
                <a:cs typeface="Arial" pitchFamily="34" charset="-120"/>
              </a:rPr>
              <a:t>Karson, take this to the partners and send us the questions that come back. In December or January, Matt and Ben Padnos, our CEO, will join a short meeting with the partners to walk through the process, compliance and the numbers directly.</a:t>
            </a:r>
            <a:endParaRPr lang="en-US" sz="1150" dirty="0"/>
          </a:p>
        </p:txBody>
      </p:sp>
      <p:sp>
        <p:nvSpPr>
          <p:cNvPr id="9" name="Shape 6"/>
          <p:cNvSpPr/>
          <p:nvPr/>
        </p:nvSpPr>
        <p:spPr>
          <a:xfrm>
            <a:off x="4434840"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2  ·  SIGN &amp; KICK OFF</a:t>
            </a:r>
            <a:endParaRPr lang="en-US" sz="1400" dirty="0"/>
          </a:p>
        </p:txBody>
      </p:sp>
      <p:sp>
        <p:nvSpPr>
          <p:cNvPr id="11" name="Text 8"/>
          <p:cNvSpPr/>
          <p:nvPr/>
        </p:nvSpPr>
        <p:spPr>
          <a:xfrm>
            <a:off x="4663440" y="2651760"/>
            <a:ext cx="3136392" cy="1600200"/>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Arial" pitchFamily="34" charset="0"/>
                <a:ea typeface="Arial" pitchFamily="34" charset="-122"/>
                <a:cs typeface="Arial" pitchFamily="34" charset="-120"/>
              </a:rPr>
              <a:t>We send the services agreement the same day you say yes. Onboarding starts that week: one 60-minute interview with Karson, and we connect his LinkedIn profile, no passwords required. Setup in December puts outreach live in early January.</a:t>
            </a:r>
            <a:endParaRPr lang="en-US" sz="1150" dirty="0"/>
          </a:p>
        </p:txBody>
      </p:sp>
      <p:sp>
        <p:nvSpPr>
          <p:cNvPr id="12" name="Shape 9"/>
          <p:cNvSpPr/>
          <p:nvPr/>
        </p:nvSpPr>
        <p:spPr>
          <a:xfrm>
            <a:off x="8302752"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3  ·  FIRST MEETINGS</a:t>
            </a:r>
            <a:endParaRPr lang="en-US" sz="1400" dirty="0"/>
          </a:p>
        </p:txBody>
      </p:sp>
      <p:sp>
        <p:nvSpPr>
          <p:cNvPr id="14" name="Text 11"/>
          <p:cNvSpPr/>
          <p:nvPr/>
        </p:nvSpPr>
        <p:spPr>
          <a:xfrm>
            <a:off x="8531352" y="2651760"/>
            <a:ext cx="3136392" cy="1600200"/>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Arial" pitchFamily="34" charset="0"/>
                <a:ea typeface="Arial" pitchFamily="34" charset="-122"/>
                <a:cs typeface="Arial" pitchFamily="34" charset="-120"/>
              </a:rPr>
              <a:t>Karson’s profile is live within two weeks of kickoff. The first qualified investor conversations land in weeks three and four, then build to a steady weekly rhythm through February and March, ahead of the Q2 close and the Idaho raise.</a:t>
            </a:r>
            <a:endParaRPr lang="en-US" sz="1150" dirty="0"/>
          </a:p>
        </p:txBody>
      </p:sp>
      <p:sp>
        <p:nvSpPr>
          <p:cNvPr id="15" name="Shape 12"/>
          <p:cNvSpPr/>
          <p:nvPr/>
        </p:nvSpPr>
        <p:spPr>
          <a:xfrm>
            <a:off x="566928" y="4663440"/>
            <a:ext cx="11338560" cy="169164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4828032"/>
            <a:ext cx="82296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WHAT WE NEED FROM YOU</a:t>
            </a:r>
            <a:endParaRPr lang="en-US" sz="1400" dirty="0"/>
          </a:p>
        </p:txBody>
      </p:sp>
      <p:sp>
        <p:nvSpPr>
          <p:cNvPr id="17" name="Text 14"/>
          <p:cNvSpPr/>
          <p:nvPr/>
        </p:nvSpPr>
        <p:spPr>
          <a:xfrm>
            <a:off x="795528" y="5175504"/>
            <a:ext cx="10881360" cy="1051560"/>
          </a:xfrm>
          <a:prstGeom prst="rect">
            <a:avLst/>
          </a:prstGeom>
          <a:noFill/>
          <a:ln/>
        </p:spPr>
        <p:txBody>
          <a:bodyPr wrap="square" lIns="0" tIns="0" rIns="0" bIns="0" rtlCol="0" anchor="t"/>
          <a:lstStyle/>
          <a:p>
            <a:pPr indent="0" marL="0">
              <a:lnSpc>
                <a:spcPct val="120000"/>
              </a:lnSpc>
              <a:buNone/>
            </a:pPr>
            <a:r>
              <a:rPr lang="en-US" sz="1250" dirty="0">
                <a:solidFill>
                  <a:srgbClr val="FFFFFF"/>
                </a:solidFill>
                <a:latin typeface="Arial" pitchFamily="34" charset="0"/>
                <a:ea typeface="Arial" pitchFamily="34" charset="-122"/>
                <a:cs typeface="Arial" pitchFamily="34" charset="-120"/>
              </a:rPr>
              <a:t>Connect Karson’s LinkedIn account to our system (no passwords or login credentials required). Share the Investor Day deck, a current executive summary and any lists of past contacts. One 60-minute onboarding interview. A Calendly link, and a do-not-contact list covering your existing investors and anyone we should avoid. That’s it. We handle the rest.</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Deliverables</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APPENDIX  ·  THE ENGINE BEHIND THE MEETINGS</a:t>
            </a:r>
            <a:endParaRPr lang="en-US" sz="1400" dirty="0"/>
          </a:p>
        </p:txBody>
      </p:sp>
      <p:sp>
        <p:nvSpPr>
          <p:cNvPr id="6" name="Shape 3"/>
          <p:cNvSpPr/>
          <p:nvPr/>
        </p:nvSpPr>
        <p:spPr>
          <a:xfrm>
            <a:off x="566928"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7" name="Text 4"/>
          <p:cNvSpPr/>
          <p:nvPr/>
        </p:nvSpPr>
        <p:spPr>
          <a:xfrm>
            <a:off x="795528"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LINKEDIN OUTREACH</a:t>
            </a:r>
            <a:endParaRPr lang="en-US" sz="1250" dirty="0"/>
          </a:p>
        </p:txBody>
      </p:sp>
      <p:sp>
        <p:nvSpPr>
          <p:cNvPr id="8" name="Text 5"/>
          <p:cNvSpPr/>
          <p:nvPr/>
        </p:nvSpPr>
        <p:spPr>
          <a:xfrm>
            <a:off x="795528"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1,600</a:t>
            </a:r>
            <a:endParaRPr lang="en-US" sz="4400" dirty="0"/>
          </a:p>
        </p:txBody>
      </p:sp>
      <p:sp>
        <p:nvSpPr>
          <p:cNvPr id="9" name="Text 6"/>
          <p:cNvSpPr/>
          <p:nvPr/>
        </p:nvSpPr>
        <p:spPr>
          <a:xfrm>
            <a:off x="795528"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LinkedIn touches / month, one profile</a:t>
            </a:r>
            <a:endParaRPr lang="en-US" sz="1100" dirty="0"/>
          </a:p>
        </p:txBody>
      </p:sp>
      <p:sp>
        <p:nvSpPr>
          <p:cNvPr id="10" name="Text 7"/>
          <p:cNvSpPr/>
          <p:nvPr/>
        </p:nvSpPr>
        <p:spPr>
          <a:xfrm>
            <a:off x="795528"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800 InMails and 800 connection invites every month from Karson’s profile, in his voice, once fully warmed up. Every InMail credit in your Sales Navigator plan gets used.</a:t>
            </a:r>
            <a:endParaRPr lang="en-US" sz="1050" dirty="0"/>
          </a:p>
        </p:txBody>
      </p:sp>
      <p:sp>
        <p:nvSpPr>
          <p:cNvPr id="11" name="Shape 8"/>
          <p:cNvSpPr/>
          <p:nvPr/>
        </p:nvSpPr>
        <p:spPr>
          <a:xfrm>
            <a:off x="4434840"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12" name="Text 9"/>
          <p:cNvSpPr/>
          <p:nvPr/>
        </p:nvSpPr>
        <p:spPr>
          <a:xfrm>
            <a:off x="4663440"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THE REEF</a:t>
            </a:r>
            <a:endParaRPr lang="en-US" sz="1250" dirty="0"/>
          </a:p>
        </p:txBody>
      </p:sp>
      <p:sp>
        <p:nvSpPr>
          <p:cNvPr id="13" name="Text 10"/>
          <p:cNvSpPr/>
          <p:nvPr/>
        </p:nvSpPr>
        <p:spPr>
          <a:xfrm>
            <a:off x="4663440"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10k+</a:t>
            </a:r>
            <a:endParaRPr lang="en-US" sz="4400" dirty="0"/>
          </a:p>
        </p:txBody>
      </p:sp>
      <p:sp>
        <p:nvSpPr>
          <p:cNvPr id="14" name="Text 11"/>
          <p:cNvSpPr/>
          <p:nvPr/>
        </p:nvSpPr>
        <p:spPr>
          <a:xfrm>
            <a:off x="4663440"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curated investor network</a:t>
            </a:r>
            <a:endParaRPr lang="en-US" sz="1100" dirty="0"/>
          </a:p>
        </p:txBody>
      </p:sp>
      <p:sp>
        <p:nvSpPr>
          <p:cNvPr id="15" name="Text 12"/>
          <p:cNvSpPr/>
          <p:nvPr/>
        </p:nvSpPr>
        <p:spPr>
          <a:xfrm>
            <a:off x="4663440"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Our internal network of opt-in investors actively seeking deal flow, retargeted with your raise.</a:t>
            </a:r>
            <a:endParaRPr lang="en-US" sz="1050" dirty="0"/>
          </a:p>
        </p:txBody>
      </p:sp>
      <p:sp>
        <p:nvSpPr>
          <p:cNvPr id="16" name="Shape 13"/>
          <p:cNvSpPr/>
          <p:nvPr/>
        </p:nvSpPr>
        <p:spPr>
          <a:xfrm>
            <a:off x="8302752"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17" name="Text 14"/>
          <p:cNvSpPr/>
          <p:nvPr/>
        </p:nvSpPr>
        <p:spPr>
          <a:xfrm>
            <a:off x="8531352"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STARTUP DEAL DESK</a:t>
            </a:r>
            <a:endParaRPr lang="en-US" sz="1250" dirty="0"/>
          </a:p>
        </p:txBody>
      </p:sp>
      <p:sp>
        <p:nvSpPr>
          <p:cNvPr id="18" name="Text 15"/>
          <p:cNvSpPr/>
          <p:nvPr/>
        </p:nvSpPr>
        <p:spPr>
          <a:xfrm>
            <a:off x="8531352"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84k+</a:t>
            </a:r>
            <a:endParaRPr lang="en-US" sz="4400" dirty="0"/>
          </a:p>
        </p:txBody>
      </p:sp>
      <p:sp>
        <p:nvSpPr>
          <p:cNvPr id="19" name="Text 16"/>
          <p:cNvSpPr/>
          <p:nvPr/>
        </p:nvSpPr>
        <p:spPr>
          <a:xfrm>
            <a:off x="8531352"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investor subscribers</a:t>
            </a:r>
            <a:endParaRPr lang="en-US" sz="1100" dirty="0"/>
          </a:p>
        </p:txBody>
      </p:sp>
      <p:sp>
        <p:nvSpPr>
          <p:cNvPr id="20" name="Text 17"/>
          <p:cNvSpPr/>
          <p:nvPr/>
        </p:nvSpPr>
        <p:spPr>
          <a:xfrm>
            <a:off x="8531352"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Your company featured in our investor newsletter, putting your raise in front of capital allocators at scale.</a:t>
            </a:r>
            <a:endParaRPr lang="en-US" sz="1050" dirty="0"/>
          </a:p>
        </p:txBody>
      </p:sp>
      <p:sp>
        <p:nvSpPr>
          <p:cNvPr id="21" name="Shape 18"/>
          <p:cNvSpPr/>
          <p:nvPr/>
        </p:nvSpPr>
        <p:spPr>
          <a:xfrm>
            <a:off x="566928" y="4846320"/>
            <a:ext cx="11338560" cy="1463040"/>
          </a:xfrm>
          <a:prstGeom prst="roundRect">
            <a:avLst>
              <a:gd name="adj" fmla="val 5625"/>
            </a:avLst>
          </a:prstGeom>
          <a:solidFill>
            <a:srgbClr val="0D0D26">
              <a:alpha val="55000"/>
            </a:srgbClr>
          </a:solidFill>
          <a:ln w="9525">
            <a:solidFill>
              <a:srgbClr val="31316A">
                <a:alpha val="75000"/>
              </a:srgbClr>
            </a:solidFill>
            <a:prstDash val="solid"/>
          </a:ln>
        </p:spPr>
      </p:sp>
      <p:sp>
        <p:nvSpPr>
          <p:cNvPr id="22" name="Text 19"/>
          <p:cNvSpPr/>
          <p:nvPr/>
        </p:nvSpPr>
        <p:spPr>
          <a:xfrm>
            <a:off x="795528" y="5010912"/>
            <a:ext cx="4572000" cy="274320"/>
          </a:xfrm>
          <a:prstGeom prst="rect">
            <a:avLst/>
          </a:prstGeom>
          <a:noFill/>
          <a:ln/>
        </p:spPr>
        <p:txBody>
          <a:bodyPr wrap="square" lIns="0" tIns="0" rIns="0" bIns="0" rtlCol="0" anchor="ctr"/>
          <a:lstStyle/>
          <a:p>
            <a:pPr indent="0" marL="0">
              <a:buNone/>
            </a:pPr>
            <a:r>
              <a:rPr lang="en-US" sz="1200" b="1" spc="100" kern="0" dirty="0">
                <a:solidFill>
                  <a:srgbClr val="7C6CFF"/>
                </a:solidFill>
                <a:latin typeface="Arial" pitchFamily="34" charset="0"/>
                <a:ea typeface="Arial" pitchFamily="34" charset="-122"/>
                <a:cs typeface="Arial" pitchFamily="34" charset="-120"/>
              </a:rPr>
              <a:t>FULLY MANAGED, END TO END</a:t>
            </a:r>
            <a:endParaRPr lang="en-US" sz="1200" dirty="0"/>
          </a:p>
        </p:txBody>
      </p:sp>
      <p:sp>
        <p:nvSpPr>
          <p:cNvPr id="23" name="Text 20"/>
          <p:cNvSpPr/>
          <p:nvPr/>
        </p:nvSpPr>
        <p:spPr>
          <a:xfrm>
            <a:off x="795528" y="5321808"/>
            <a:ext cx="10881360" cy="868680"/>
          </a:xfrm>
          <a:prstGeom prst="rect">
            <a:avLst/>
          </a:prstGeom>
          <a:noFill/>
          <a:ln/>
        </p:spPr>
        <p:txBody>
          <a:bodyPr wrap="square" lIns="0" tIns="0" rIns="0" bIns="0" rtlCol="0" anchor="t"/>
          <a:lstStyle/>
          <a:p>
            <a:pPr indent="0" marL="0">
              <a:lnSpc>
                <a:spcPct val="125000"/>
              </a:lnSpc>
              <a:buNone/>
            </a:pPr>
            <a:r>
              <a:rPr lang="en-US" sz="1200" dirty="0">
                <a:solidFill>
                  <a:srgbClr val="FFFFFF"/>
                </a:solidFill>
                <a:latin typeface="Arial" pitchFamily="34" charset="0"/>
                <a:ea typeface="Arial" pitchFamily="34" charset="-122"/>
                <a:cs typeface="Arial" pitchFamily="34" charset="-120"/>
              </a:rPr>
              <a:t>Strategy &amp; onboarding  ·  LinkedIn profile optimization  ·  Investor targeting &amp; list building  ·  Outreach execution &amp; inbox management  ·  Lead qualification &amp; meeting scheduling  ·  Pitch positioning &amp; storytelling support  ·  CRM setup &amp; management  ·  Reporting &amp; continuous optimization</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Founders Who’ve Run This Play</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APPENDIX  ·  RESULTS &amp; TESTIMONIALS</a:t>
            </a:r>
            <a:endParaRPr lang="en-US" sz="1400" dirty="0"/>
          </a:p>
        </p:txBody>
      </p:sp>
      <p:sp>
        <p:nvSpPr>
          <p:cNvPr id="6" name="Shape 3"/>
          <p:cNvSpPr/>
          <p:nvPr/>
        </p:nvSpPr>
        <p:spPr>
          <a:xfrm>
            <a:off x="566928" y="2057400"/>
            <a:ext cx="3593592" cy="868680"/>
          </a:xfrm>
          <a:prstGeom prst="roundRect">
            <a:avLst>
              <a:gd name="adj" fmla="val 8571"/>
            </a:avLst>
          </a:prstGeom>
          <a:solidFill>
            <a:srgbClr val="0D0D26">
              <a:alpha val="55000"/>
            </a:srgbClr>
          </a:solidFill>
          <a:ln w="9525">
            <a:solidFill>
              <a:srgbClr val="31316A">
                <a:alpha val="75000"/>
              </a:srgbClr>
            </a:solidFill>
            <a:prstDash val="solid"/>
          </a:ln>
        </p:spPr>
      </p:sp>
      <p:sp>
        <p:nvSpPr>
          <p:cNvPr id="7" name="Text 4"/>
          <p:cNvSpPr/>
          <p:nvPr/>
        </p:nvSpPr>
        <p:spPr>
          <a:xfrm>
            <a:off x="795528" y="212140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$200M+</a:t>
            </a:r>
            <a:endParaRPr lang="en-US" sz="2400" dirty="0"/>
          </a:p>
        </p:txBody>
      </p:sp>
      <p:sp>
        <p:nvSpPr>
          <p:cNvPr id="8" name="Text 5"/>
          <p:cNvSpPr/>
          <p:nvPr/>
        </p:nvSpPr>
        <p:spPr>
          <a:xfrm>
            <a:off x="2350008" y="212140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client-reported capital raised</a:t>
            </a:r>
            <a:endParaRPr lang="en-US" sz="1050" dirty="0"/>
          </a:p>
        </p:txBody>
      </p:sp>
      <p:sp>
        <p:nvSpPr>
          <p:cNvPr id="9" name="Shape 6"/>
          <p:cNvSpPr/>
          <p:nvPr/>
        </p:nvSpPr>
        <p:spPr>
          <a:xfrm>
            <a:off x="4434840" y="2057400"/>
            <a:ext cx="3593592" cy="868680"/>
          </a:xfrm>
          <a:prstGeom prst="roundRect">
            <a:avLst>
              <a:gd name="adj" fmla="val 8571"/>
            </a:avLst>
          </a:prstGeom>
          <a:solidFill>
            <a:srgbClr val="0D0D26">
              <a:alpha val="55000"/>
            </a:srgbClr>
          </a:solidFill>
          <a:ln w="9525">
            <a:solidFill>
              <a:srgbClr val="31316A">
                <a:alpha val="75000"/>
              </a:srgbClr>
            </a:solidFill>
            <a:prstDash val="solid"/>
          </a:ln>
        </p:spPr>
      </p:sp>
      <p:sp>
        <p:nvSpPr>
          <p:cNvPr id="10" name="Text 7"/>
          <p:cNvSpPr/>
          <p:nvPr/>
        </p:nvSpPr>
        <p:spPr>
          <a:xfrm>
            <a:off x="4663440" y="212140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10,000+</a:t>
            </a:r>
            <a:endParaRPr lang="en-US" sz="2400" dirty="0"/>
          </a:p>
        </p:txBody>
      </p:sp>
      <p:sp>
        <p:nvSpPr>
          <p:cNvPr id="11" name="Text 8"/>
          <p:cNvSpPr/>
          <p:nvPr/>
        </p:nvSpPr>
        <p:spPr>
          <a:xfrm>
            <a:off x="6217920" y="212140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qualified investor meetings booked</a:t>
            </a:r>
            <a:endParaRPr lang="en-US" sz="1050" dirty="0"/>
          </a:p>
        </p:txBody>
      </p:sp>
      <p:sp>
        <p:nvSpPr>
          <p:cNvPr id="12" name="Shape 9"/>
          <p:cNvSpPr/>
          <p:nvPr/>
        </p:nvSpPr>
        <p:spPr>
          <a:xfrm>
            <a:off x="8302752" y="2057400"/>
            <a:ext cx="3593592" cy="868680"/>
          </a:xfrm>
          <a:prstGeom prst="roundRect">
            <a:avLst>
              <a:gd name="adj" fmla="val 8571"/>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12140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500+</a:t>
            </a:r>
            <a:endParaRPr lang="en-US" sz="2400" dirty="0"/>
          </a:p>
        </p:txBody>
      </p:sp>
      <p:sp>
        <p:nvSpPr>
          <p:cNvPr id="14" name="Text 11"/>
          <p:cNvSpPr/>
          <p:nvPr/>
        </p:nvSpPr>
        <p:spPr>
          <a:xfrm>
            <a:off x="10085832" y="212140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clients served since 2020</a:t>
            </a:r>
            <a:endParaRPr lang="en-US" sz="1050" dirty="0"/>
          </a:p>
        </p:txBody>
      </p:sp>
      <p:sp>
        <p:nvSpPr>
          <p:cNvPr id="362" name="Shape 40"/>
          <p:cNvSpPr/>
          <p:nvPr/>
        </p:nvSpPr>
        <p:spPr>
          <a:xfrm>
            <a:off x="566928" y="3063240"/>
            <a:ext cx="3593592"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63" name="Text 40a"/>
          <p:cNvSpPr/>
          <p:nvPr/>
        </p:nvSpPr>
        <p:spPr>
          <a:xfrm>
            <a:off x="795528" y="3145536"/>
            <a:ext cx="3136392" cy="256032"/>
          </a:xfrm>
          <a:prstGeom prst="rect">
            <a:avLst/>
          </a:prstGeom>
          <a:noFill/>
          <a:ln/>
        </p:spPr>
        <p:txBody>
          <a:bodyPr wrap="square" lIns="0" tIns="0" rIns="0" bIns="0" rtlCol="0" anchor="ctr"/>
          <a:lstStyle/>
          <a:p>
            <a:pPr indent="0" marL="0">
              <a:buNone/>
            </a:pPr>
            <a:r>
              <a:rPr lang="en-US" sz="1000" b="1" spc="100" kern="0" dirty="0">
                <a:solidFill>
                  <a:srgbClr val="7C6CFF"/>
                </a:solidFill>
                <a:latin typeface="Arial" pitchFamily="34" charset="0"/>
                <a:ea typeface="Arial" pitchFamily="34" charset="-122"/>
                <a:cs typeface="Arial" pitchFamily="34" charset="-120"/>
              </a:rPr>
              <a:t>ISSUANCE  ·  DARREN MARBLE, CEO</a:t>
            </a:r>
            <a:endParaRPr lang="en-US" sz="1000" dirty="0"/>
          </a:p>
        </p:txBody>
      </p:sp>
      <p:sp>
        <p:nvSpPr>
          <p:cNvPr id="364" name="Text 40b"/>
          <p:cNvSpPr/>
          <p:nvPr/>
        </p:nvSpPr>
        <p:spPr>
          <a:xfrm>
            <a:off x="795528" y="3419856"/>
            <a:ext cx="3136392" cy="1207008"/>
          </a:xfrm>
          <a:prstGeom prst="rect">
            <a:avLst/>
          </a:prstGeom>
          <a:noFill/>
          <a:ln/>
        </p:spPr>
        <p:txBody>
          <a:bodyPr wrap="square" lIns="0" tIns="0" rIns="0" bIns="0" rtlCol="0" anchor="t"/>
          <a:lstStyle/>
          <a:p>
            <a:pPr indent="0" marL="0">
              <a:lnSpc>
                <a:spcPct val="120000"/>
              </a:lnSpc>
              <a:buNone/>
            </a:pPr>
            <a:r>
              <a:rPr lang="en-US" sz="1050" i="1" dirty="0">
                <a:solidFill>
                  <a:srgbClr val="FFFFFF"/>
                </a:solidFill>
                <a:latin typeface="Arial" pitchFamily="34" charset="0"/>
                <a:ea typeface="Arial" pitchFamily="34" charset="-122"/>
                <a:cs typeface="Arial" pitchFamily="34" charset="-120"/>
              </a:rPr>
              <a:t>“…one of the most effective investor marketing firms I’ve ever worked with when it comes to raising capital for my companies. In the last 60 days alone, FISH has arranged 25 qualified investor meetings for me.”</a:t>
            </a:r>
            <a:endParaRPr lang="en-US" sz="1050" dirty="0"/>
          </a:p>
        </p:txBody>
      </p:sp>
      <p:sp>
        <p:nvSpPr>
          <p:cNvPr id="365" name="Text 40c"/>
          <p:cNvSpPr/>
          <p:nvPr/>
        </p:nvSpPr>
        <p:spPr>
          <a:xfrm>
            <a:off x="795528" y="4663440"/>
            <a:ext cx="3136392" cy="256032"/>
          </a:xfrm>
          <a:prstGeom prst="rect">
            <a:avLst/>
          </a:prstGeom>
          <a:noFill/>
          <a:ln/>
        </p:spPr>
        <p:txBody>
          <a:bodyPr wrap="square" lIns="0" tIns="0" rIns="0" bIns="0" rtlCol="0" anchor="ctr"/>
          <a:lstStyle/>
          <a:p>
            <a:pPr indent="0" marL="0">
              <a:buNone/>
            </a:pPr>
            <a:r>
              <a:rPr lang="en-US" sz="1000" b="1" dirty="0">
                <a:solidFill>
                  <a:srgbClr val="43D5FF"/>
                </a:solidFill>
                <a:latin typeface="Arial" pitchFamily="34" charset="0"/>
                <a:ea typeface="Arial" pitchFamily="34" charset="-122"/>
                <a:cs typeface="Arial" pitchFamily="34" charset="-120"/>
              </a:rPr>
              <a:t>25 QUALIFIED INVESTOR MEETINGS IN 60 DAYS</a:t>
            </a:r>
            <a:endParaRPr lang="en-US" sz="1000" dirty="0"/>
          </a:p>
        </p:txBody>
      </p:sp>
      <p:sp>
        <p:nvSpPr>
          <p:cNvPr id="366" name="Shape 41"/>
          <p:cNvSpPr/>
          <p:nvPr/>
        </p:nvSpPr>
        <p:spPr>
          <a:xfrm>
            <a:off x="4434840" y="3063240"/>
            <a:ext cx="3593592"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67" name="Text 41a"/>
          <p:cNvSpPr/>
          <p:nvPr/>
        </p:nvSpPr>
        <p:spPr>
          <a:xfrm>
            <a:off x="4663440" y="3145536"/>
            <a:ext cx="3136392" cy="256032"/>
          </a:xfrm>
          <a:prstGeom prst="rect">
            <a:avLst/>
          </a:prstGeom>
          <a:noFill/>
          <a:ln/>
        </p:spPr>
        <p:txBody>
          <a:bodyPr wrap="square" lIns="0" tIns="0" rIns="0" bIns="0" rtlCol="0" anchor="ctr"/>
          <a:lstStyle/>
          <a:p>
            <a:pPr indent="0" marL="0">
              <a:buNone/>
            </a:pPr>
            <a:r>
              <a:rPr lang="en-US" sz="1000" b="1" spc="100" kern="0" dirty="0">
                <a:solidFill>
                  <a:srgbClr val="7C6CFF"/>
                </a:solidFill>
                <a:latin typeface="Arial" pitchFamily="34" charset="0"/>
                <a:ea typeface="Arial" pitchFamily="34" charset="-122"/>
                <a:cs typeface="Arial" pitchFamily="34" charset="-120"/>
              </a:rPr>
              <a:t>CARTHAGE CAPITAL  ·  STEPHEN WU</a:t>
            </a:r>
            <a:endParaRPr lang="en-US" sz="1000" dirty="0"/>
          </a:p>
        </p:txBody>
      </p:sp>
      <p:sp>
        <p:nvSpPr>
          <p:cNvPr id="368" name="Text 41b"/>
          <p:cNvSpPr/>
          <p:nvPr/>
        </p:nvSpPr>
        <p:spPr>
          <a:xfrm>
            <a:off x="4663440" y="3419856"/>
            <a:ext cx="3136392" cy="1207008"/>
          </a:xfrm>
          <a:prstGeom prst="rect">
            <a:avLst/>
          </a:prstGeom>
          <a:noFill/>
          <a:ln/>
        </p:spPr>
        <p:txBody>
          <a:bodyPr wrap="square" lIns="0" tIns="0" rIns="0" bIns="0" rtlCol="0" anchor="t"/>
          <a:lstStyle/>
          <a:p>
            <a:pPr indent="0" marL="0">
              <a:lnSpc>
                <a:spcPct val="120000"/>
              </a:lnSpc>
              <a:buNone/>
            </a:pPr>
            <a:r>
              <a:rPr lang="en-US" sz="1050" i="1" dirty="0">
                <a:solidFill>
                  <a:srgbClr val="FFFFFF"/>
                </a:solidFill>
                <a:latin typeface="Arial" pitchFamily="34" charset="0"/>
                <a:ea typeface="Arial" pitchFamily="34" charset="-122"/>
                <a:cs typeface="Arial" pitchFamily="34" charset="-120"/>
              </a:rPr>
              <a:t>“ThinkFISH helped me raise $2 to $3 million across around 20 different investors over the past nine months. Two to three meetings every week, consistently, and they’re already interested. You delivered way above my expectations.”</a:t>
            </a:r>
            <a:endParaRPr lang="en-US" sz="1050" dirty="0"/>
          </a:p>
        </p:txBody>
      </p:sp>
      <p:sp>
        <p:nvSpPr>
          <p:cNvPr id="369" name="Text 41c"/>
          <p:cNvSpPr/>
          <p:nvPr/>
        </p:nvSpPr>
        <p:spPr>
          <a:xfrm>
            <a:off x="4663440" y="4663440"/>
            <a:ext cx="3136392" cy="256032"/>
          </a:xfrm>
          <a:prstGeom prst="rect">
            <a:avLst/>
          </a:prstGeom>
          <a:noFill/>
          <a:ln/>
        </p:spPr>
        <p:txBody>
          <a:bodyPr wrap="square" lIns="0" tIns="0" rIns="0" bIns="0" rtlCol="0" anchor="ctr"/>
          <a:lstStyle/>
          <a:p>
            <a:pPr indent="0" marL="0">
              <a:buNone/>
            </a:pPr>
            <a:r>
              <a:rPr lang="en-US" sz="1000" b="1" dirty="0">
                <a:solidFill>
                  <a:srgbClr val="43D5FF"/>
                </a:solidFill>
                <a:latin typeface="Arial" pitchFamily="34" charset="0"/>
                <a:ea typeface="Arial" pitchFamily="34" charset="-122"/>
                <a:cs typeface="Arial" pitchFamily="34" charset="-120"/>
              </a:rPr>
              <a:t>$2–3M RAISED  ·  ~20 INVESTORS  ·  9 MONTHS</a:t>
            </a:r>
            <a:endParaRPr lang="en-US" sz="1000" dirty="0"/>
          </a:p>
        </p:txBody>
      </p:sp>
      <p:sp>
        <p:nvSpPr>
          <p:cNvPr id="370" name="Shape 42"/>
          <p:cNvSpPr/>
          <p:nvPr/>
        </p:nvSpPr>
        <p:spPr>
          <a:xfrm>
            <a:off x="8302752" y="3063240"/>
            <a:ext cx="3593592"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71" name="Text 42a"/>
          <p:cNvSpPr/>
          <p:nvPr/>
        </p:nvSpPr>
        <p:spPr>
          <a:xfrm>
            <a:off x="8531352" y="3145536"/>
            <a:ext cx="3136392" cy="256032"/>
          </a:xfrm>
          <a:prstGeom prst="rect">
            <a:avLst/>
          </a:prstGeom>
          <a:noFill/>
          <a:ln/>
        </p:spPr>
        <p:txBody>
          <a:bodyPr wrap="square" lIns="0" tIns="0" rIns="0" bIns="0" rtlCol="0" anchor="ctr"/>
          <a:lstStyle/>
          <a:p>
            <a:pPr indent="0" marL="0">
              <a:buNone/>
            </a:pPr>
            <a:r>
              <a:rPr lang="en-US" sz="1000" b="1" spc="100" kern="0" dirty="0">
                <a:solidFill>
                  <a:srgbClr val="7C6CFF"/>
                </a:solidFill>
                <a:latin typeface="Arial" pitchFamily="34" charset="0"/>
                <a:ea typeface="Arial" pitchFamily="34" charset="-122"/>
                <a:cs typeface="Arial" pitchFamily="34" charset="-120"/>
              </a:rPr>
              <a:t>OPTIONSMD  ·  KYLE PIERCE, CEO</a:t>
            </a:r>
            <a:endParaRPr lang="en-US" sz="1000" dirty="0"/>
          </a:p>
        </p:txBody>
      </p:sp>
      <p:sp>
        <p:nvSpPr>
          <p:cNvPr id="372" name="Text 42b"/>
          <p:cNvSpPr/>
          <p:nvPr/>
        </p:nvSpPr>
        <p:spPr>
          <a:xfrm>
            <a:off x="8531352" y="3419856"/>
            <a:ext cx="3136392" cy="1207008"/>
          </a:xfrm>
          <a:prstGeom prst="rect">
            <a:avLst/>
          </a:prstGeom>
          <a:noFill/>
          <a:ln/>
        </p:spPr>
        <p:txBody>
          <a:bodyPr wrap="square" lIns="0" tIns="0" rIns="0" bIns="0" rtlCol="0" anchor="t"/>
          <a:lstStyle/>
          <a:p>
            <a:pPr indent="0" marL="0">
              <a:lnSpc>
                <a:spcPct val="120000"/>
              </a:lnSpc>
              <a:buNone/>
            </a:pPr>
            <a:r>
              <a:rPr lang="en-US" sz="1050" i="1" dirty="0">
                <a:solidFill>
                  <a:srgbClr val="FFFFFF"/>
                </a:solidFill>
                <a:latin typeface="Arial" pitchFamily="34" charset="0"/>
                <a:ea typeface="Arial" pitchFamily="34" charset="-122"/>
                <a:cs typeface="Arial" pitchFamily="34" charset="-120"/>
              </a:rPr>
              <a:t>“We’ve had a great experience with the team. The number and relevance of investor connections have grown quickly, and each meeting has proven valuable. We’ve been pleasantly surprised by the unexpected opportunities that have come from them.”</a:t>
            </a:r>
            <a:endParaRPr lang="en-US" sz="1050" dirty="0"/>
          </a:p>
        </p:txBody>
      </p:sp>
      <p:sp>
        <p:nvSpPr>
          <p:cNvPr id="373" name="Text 42c"/>
          <p:cNvSpPr/>
          <p:nvPr/>
        </p:nvSpPr>
        <p:spPr>
          <a:xfrm>
            <a:off x="8531352" y="4663440"/>
            <a:ext cx="3136392" cy="256032"/>
          </a:xfrm>
          <a:prstGeom prst="rect">
            <a:avLst/>
          </a:prstGeom>
          <a:noFill/>
          <a:ln/>
        </p:spPr>
        <p:txBody>
          <a:bodyPr wrap="square" lIns="0" tIns="0" rIns="0" bIns="0" rtlCol="0" anchor="ctr"/>
          <a:lstStyle/>
          <a:p>
            <a:pPr indent="0" marL="0">
              <a:buNone/>
            </a:pPr>
            <a:r>
              <a:rPr lang="en-US" sz="1000" b="1" dirty="0">
                <a:solidFill>
                  <a:srgbClr val="43D5FF"/>
                </a:solidFill>
                <a:latin typeface="Arial" pitchFamily="34" charset="0"/>
                <a:ea typeface="Arial" pitchFamily="34" charset="-122"/>
                <a:cs typeface="Arial" pitchFamily="34" charset="-120"/>
              </a:rPr>
              <a:t>90 MEETINGS IN 3 MONTHS  ·  LATER ACQUIRED</a:t>
            </a:r>
            <a:endParaRPr lang="en-US" sz="1000" dirty="0"/>
          </a:p>
        </p:txBody>
      </p:sp>
      <p:sp>
        <p:nvSpPr>
          <p:cNvPr id="374" name="Shape 50"/>
          <p:cNvSpPr/>
          <p:nvPr/>
        </p:nvSpPr>
        <p:spPr>
          <a:xfrm>
            <a:off x="566928" y="5120640"/>
            <a:ext cx="5532120" cy="777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75" name="Text 50b"/>
          <p:cNvSpPr/>
          <p:nvPr/>
        </p:nvSpPr>
        <p:spPr>
          <a:xfrm>
            <a:off x="795528" y="5175504"/>
            <a:ext cx="5074920" cy="502920"/>
          </a:xfrm>
          <a:prstGeom prst="rect">
            <a:avLst/>
          </a:prstGeom>
          <a:noFill/>
          <a:ln/>
        </p:spPr>
        <p:txBody>
          <a:bodyPr wrap="square" lIns="0" tIns="0" rIns="0" bIns="0" rtlCol="0" anchor="t"/>
          <a:lstStyle/>
          <a:p>
            <a:pPr indent="0" marL="0">
              <a:lnSpc>
                <a:spcPct val="112000"/>
              </a:lnSpc>
              <a:buNone/>
            </a:pPr>
            <a:r>
              <a:rPr lang="en-US" sz="1000" i="1" dirty="0">
                <a:solidFill>
                  <a:srgbClr val="FFFFFF"/>
                </a:solidFill>
                <a:latin typeface="Arial" pitchFamily="34" charset="0"/>
                <a:ea typeface="Arial" pitchFamily="34" charset="-122"/>
                <a:cs typeface="Arial" pitchFamily="34" charset="-120"/>
              </a:rPr>
              <a:t>“You guys truly exceeded my expectations. Honestly, I viewed it as a $20,000 gamble—like playing blackjack. But ironically, the very first lead you introduced was a solid single, and I was totally blown away.”</a:t>
            </a:r>
            <a:endParaRPr lang="en-US" sz="1000" dirty="0"/>
          </a:p>
        </p:txBody>
      </p:sp>
      <p:sp>
        <p:nvSpPr>
          <p:cNvPr id="376" name="Text 50c"/>
          <p:cNvSpPr/>
          <p:nvPr/>
        </p:nvSpPr>
        <p:spPr>
          <a:xfrm>
            <a:off x="795528" y="5678424"/>
            <a:ext cx="5074920" cy="201168"/>
          </a:xfrm>
          <a:prstGeom prst="rect">
            <a:avLst/>
          </a:prstGeom>
          <a:noFill/>
          <a:ln/>
        </p:spPr>
        <p:txBody>
          <a:bodyPr wrap="square" lIns="0" tIns="0" rIns="0" bIns="0" rtlCol="0" anchor="ctr"/>
          <a:lstStyle/>
          <a:p>
            <a:pPr indent="0" marL="0">
              <a:buNone/>
            </a:pPr>
            <a:r>
              <a:rPr lang="en-US" sz="950" b="1" dirty="0">
                <a:solidFill>
                  <a:srgbClr val="43D5FF"/>
                </a:solidFill>
                <a:latin typeface="Arial" pitchFamily="34" charset="0"/>
                <a:ea typeface="Arial" pitchFamily="34" charset="-122"/>
                <a:cs typeface="Arial" pitchFamily="34" charset="-120"/>
              </a:rPr>
              <a:t>TODD MCALLISTER, CEO, BIOAGE DATA</a:t>
            </a:r>
            <a:endParaRPr lang="en-US" sz="950" dirty="0"/>
          </a:p>
        </p:txBody>
      </p:sp>
      <p:sp>
        <p:nvSpPr>
          <p:cNvPr id="377" name="Shape 51"/>
          <p:cNvSpPr/>
          <p:nvPr/>
        </p:nvSpPr>
        <p:spPr>
          <a:xfrm>
            <a:off x="6373368" y="5120640"/>
            <a:ext cx="5532120" cy="777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78" name="Text 51b"/>
          <p:cNvSpPr/>
          <p:nvPr/>
        </p:nvSpPr>
        <p:spPr>
          <a:xfrm>
            <a:off x="6601968" y="5175504"/>
            <a:ext cx="5074920" cy="502920"/>
          </a:xfrm>
          <a:prstGeom prst="rect">
            <a:avLst/>
          </a:prstGeom>
          <a:noFill/>
          <a:ln/>
        </p:spPr>
        <p:txBody>
          <a:bodyPr wrap="square" lIns="0" tIns="0" rIns="0" bIns="0" rtlCol="0" anchor="t"/>
          <a:lstStyle/>
          <a:p>
            <a:pPr indent="0" marL="0">
              <a:lnSpc>
                <a:spcPct val="112000"/>
              </a:lnSpc>
              <a:buNone/>
            </a:pPr>
            <a:r>
              <a:rPr lang="en-US" sz="1000" i="1" dirty="0">
                <a:solidFill>
                  <a:srgbClr val="FFFFFF"/>
                </a:solidFill>
                <a:latin typeface="Arial" pitchFamily="34" charset="0"/>
                <a:ea typeface="Arial" pitchFamily="34" charset="-122"/>
                <a:cs typeface="Arial" pitchFamily="34" charset="-120"/>
              </a:rPr>
              <a:t>“ThinkFISH has consistently provided a steady stream of leads each week—over 20 so far! … Whenever a prospect doesn’t meet our criteria, they immediately remove them, which saves us valuable time.”</a:t>
            </a:r>
            <a:endParaRPr lang="en-US" sz="1000" dirty="0"/>
          </a:p>
        </p:txBody>
      </p:sp>
      <p:sp>
        <p:nvSpPr>
          <p:cNvPr id="379" name="Text 51c"/>
          <p:cNvSpPr/>
          <p:nvPr/>
        </p:nvSpPr>
        <p:spPr>
          <a:xfrm>
            <a:off x="6601968" y="5678424"/>
            <a:ext cx="5074920" cy="201168"/>
          </a:xfrm>
          <a:prstGeom prst="rect">
            <a:avLst/>
          </a:prstGeom>
          <a:noFill/>
          <a:ln/>
        </p:spPr>
        <p:txBody>
          <a:bodyPr wrap="square" lIns="0" tIns="0" rIns="0" bIns="0" rtlCol="0" anchor="ctr"/>
          <a:lstStyle/>
          <a:p>
            <a:pPr indent="0" marL="0">
              <a:buNone/>
            </a:pPr>
            <a:r>
              <a:rPr lang="en-US" sz="950" b="1" dirty="0">
                <a:solidFill>
                  <a:srgbClr val="43D5FF"/>
                </a:solidFill>
                <a:latin typeface="Arial" pitchFamily="34" charset="0"/>
                <a:ea typeface="Arial" pitchFamily="34" charset="-122"/>
                <a:cs typeface="Arial" pitchFamily="34" charset="-120"/>
              </a:rPr>
              <a:t>MATT SHIH, CO-FOUNDER &amp; CHIEF DESIGN OFFICER, PAINTBOX LABS</a:t>
            </a:r>
            <a:endParaRPr lang="en-US" sz="950" dirty="0"/>
          </a:p>
        </p:txBody>
      </p:sp>
      <p:sp>
        <p:nvSpPr>
          <p:cNvPr id="21" name="Shape 18"/>
          <p:cNvSpPr/>
          <p:nvPr/>
        </p:nvSpPr>
        <p:spPr>
          <a:xfrm>
            <a:off x="566928" y="6035040"/>
            <a:ext cx="11338560" cy="566928"/>
          </a:xfrm>
          <a:prstGeom prst="roundRect">
            <a:avLst>
              <a:gd name="adj" fmla="val 8182"/>
            </a:avLst>
          </a:prstGeom>
          <a:solidFill>
            <a:srgbClr val="0D0D26">
              <a:alpha val="55000"/>
            </a:srgbClr>
          </a:solidFill>
          <a:ln w="9525">
            <a:solidFill>
              <a:srgbClr val="31316A">
                <a:alpha val="75000"/>
              </a:srgbClr>
            </a:solidFill>
            <a:prstDash val="solid"/>
          </a:ln>
        </p:spPr>
      </p:sp>
      <p:sp>
        <p:nvSpPr>
          <p:cNvPr id="22" name="Text 19"/>
          <p:cNvSpPr/>
          <p:nvPr/>
        </p:nvSpPr>
        <p:spPr>
          <a:xfrm>
            <a:off x="795528" y="6089904"/>
            <a:ext cx="10881360" cy="457200"/>
          </a:xfrm>
          <a:prstGeom prst="rect">
            <a:avLst/>
          </a:prstGeom>
          <a:noFill/>
          <a:ln/>
        </p:spPr>
        <p:txBody>
          <a:bodyPr wrap="square" lIns="0" tIns="0" rIns="0" bIns="0" rtlCol="0" anchor="ctr"/>
          <a:lstStyle/>
          <a:p>
            <a:pPr indent="0" marL="0">
              <a:spcAft>
                <a:spcPts val="600"/>
              </a:spcAft>
              <a:buNone/>
            </a:pPr>
            <a:r>
              <a:rPr lang="en-US" sz="1200" b="1" spc="100" kern="0" dirty="0">
                <a:solidFill>
                  <a:srgbClr val="7C6CFF"/>
                </a:solidFill>
                <a:latin typeface="Arial" pitchFamily="34" charset="0"/>
                <a:ea typeface="Arial" pitchFamily="34" charset="-122"/>
                <a:cs typeface="Arial" pitchFamily="34" charset="-120"/>
              </a:rPr>
              <a:t xml:space="preserve">VIDEO TESTIMONIALS   </a:t>
            </a:r>
            <a:r>
              <a:rPr lang="en-US" sz="1300" dirty="0">
                <a:solidFill>
                  <a:srgbClr val="FFFFFF"/>
                </a:solidFill>
                <a:latin typeface="Arial" pitchFamily="34" charset="0"/>
                <a:ea typeface="Arial" pitchFamily="34" charset="-122"/>
                <a:cs typeface="Arial" pitchFamily="34" charset="-120"/>
              </a:rPr>
              <a:t xml:space="preserve">youtube.com/@thinkFISHLLC/videos</a:t>
            </a:r>
            <a:endParaRPr lang="en-US" sz="1200" dirty="0"/>
          </a:p>
          <a:p>
            <a:pPr indent="0" marL="0">
              <a:buNone/>
            </a:pPr>
            <a:r>
              <a:rPr lang="en-US" sz="1200" b="1" spc="100" kern="0" dirty="0">
                <a:solidFill>
                  <a:srgbClr val="7C6CFF"/>
                </a:solidFill>
                <a:latin typeface="Arial" pitchFamily="34" charset="0"/>
                <a:ea typeface="Arial" pitchFamily="34" charset="-122"/>
                <a:cs typeface="Arial" pitchFamily="34" charset="-120"/>
              </a:rPr>
              <a:t xml:space="preserve">HOW WE DO IT   </a:t>
            </a:r>
            <a:r>
              <a:rPr lang="en-US" sz="1300" dirty="0">
                <a:solidFill>
                  <a:srgbClr val="FFFFFF"/>
                </a:solidFill>
                <a:latin typeface="Arial" pitchFamily="34" charset="0"/>
                <a:ea typeface="Arial" pitchFamily="34" charset="-122"/>
                <a:cs typeface="Arial" pitchFamily="34" charset="-120"/>
              </a:rPr>
              <a:t xml:space="preserve">bit.ly/thinkfish_method</a:t>
            </a:r>
            <a:r>
              <a:rPr lang="en-US" sz="1200" b="1" spc="100" kern="0" dirty="0">
                <a:solidFill>
                  <a:srgbClr val="7C6CFF"/>
                </a:solidFill>
                <a:latin typeface="Arial" pitchFamily="34" charset="0"/>
                <a:ea typeface="Arial" pitchFamily="34" charset="-122"/>
                <a:cs typeface="Arial" pitchFamily="34" charset="-120"/>
              </a:rPr>
              <a:t xml:space="preserve">        WHO WE ARE   </a:t>
            </a:r>
            <a:r>
              <a:rPr lang="en-US" sz="1300" dirty="0">
                <a:solidFill>
                  <a:srgbClr val="FFFFFF"/>
                </a:solidFill>
                <a:latin typeface="Arial" pitchFamily="34" charset="0"/>
                <a:ea typeface="Arial" pitchFamily="34" charset="-122"/>
                <a:cs typeface="Arial" pitchFamily="34" charset="-120"/>
              </a:rPr>
              <a:t xml:space="preserve">bit.ly/thinkfish_VSL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2026-07-20T20:56:15Z</dcterms:created>
  <dcterms:modified xsi:type="dcterms:W3CDTF">2026-07-20T20:56:15Z</dcterms:modified>
</cp:coreProperties>
</file>