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7" r:id="rId101"/>
    <p:sldId id="258" r:id="rId102"/>
    <p:sldId id="259" r:id="rId103"/>
    <p:sldId id="260" r:id="rId104"/>
    <p:sldId id="261" r:id="rId105"/>
    <p:sldId id="262" r:id="rId106"/>
    <p:sldId id="263" r:id="rId107"/>
    <p:sldId id="264" r:id="rId108"/>
    <p:sldId id="265" r:id="rId109"/>
    <p:sldId id="266" r:id="rId110"/>
    <p:sldId id="267" r:id="rId111"/>
    <p:sldId id="268" r:id="rId112"/>
    <p:sldId id="269" r:id="rId113"/>
    <p:sldId id="270" r:id="rId114"/>
    <p:sldId id="271" r:id="rId115"/>
    <p:sldId id="272" r:id="rId116"/>
  </p:sldIdLst>
  <p:notesMasterIdLst>
    <p:notesMasterId r:id="rId1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6" Type="http://schemas.openxmlformats.org/officeDocument/2006/relationships/notesMaster" Target="notesMasters/notesMaster1.xml"/><Relationship Id="rId17" Type="http://schemas.openxmlformats.org/officeDocument/2006/relationships/presProps" Target="presProps.xml"/><Relationship Id="rId18" Type="http://schemas.openxmlformats.org/officeDocument/2006/relationships/viewProps" Target="viewProps.xml"/><Relationship Id="rId19" Type="http://schemas.openxmlformats.org/officeDocument/2006/relationships/theme" Target="theme/theme1.xml"/><Relationship Id="rId20" Type="http://schemas.openxmlformats.org/officeDocument/2006/relationships/tableStyles" Target="tableStyles.xml"/><Relationship Id="rId101" Type="http://schemas.openxmlformats.org/officeDocument/2006/relationships/slide" Target="slides/slide1.xml"/><Relationship Id="rId102" Type="http://schemas.openxmlformats.org/officeDocument/2006/relationships/slide" Target="slides/slide2.xml"/><Relationship Id="rId103" Type="http://schemas.openxmlformats.org/officeDocument/2006/relationships/slide" Target="slides/slide3.xml"/><Relationship Id="rId104" Type="http://schemas.openxmlformats.org/officeDocument/2006/relationships/slide" Target="slides/slide4.xml"/><Relationship Id="rId105" Type="http://schemas.openxmlformats.org/officeDocument/2006/relationships/slide" Target="slides/slide5.xml"/><Relationship Id="rId106" Type="http://schemas.openxmlformats.org/officeDocument/2006/relationships/slide" Target="slides/slide6.xml"/><Relationship Id="rId107" Type="http://schemas.openxmlformats.org/officeDocument/2006/relationships/slide" Target="slides/slide7.xml"/><Relationship Id="rId108" Type="http://schemas.openxmlformats.org/officeDocument/2006/relationships/slide" Target="slides/slide8.xml"/><Relationship Id="rId109" Type="http://schemas.openxmlformats.org/officeDocument/2006/relationships/slide" Target="slides/slide9.xml"/><Relationship Id="rId110" Type="http://schemas.openxmlformats.org/officeDocument/2006/relationships/slide" Target="slides/slide10.xml"/><Relationship Id="rId111" Type="http://schemas.openxmlformats.org/officeDocument/2006/relationships/slide" Target="slides/slide11.xml"/><Relationship Id="rId112" Type="http://schemas.openxmlformats.org/officeDocument/2006/relationships/slide" Target="slides/slide12.xml"/><Relationship Id="rId113" Type="http://schemas.openxmlformats.org/officeDocument/2006/relationships/slide" Target="slides/slide13.xml"/><Relationship Id="rId114" Type="http://schemas.openxmlformats.org/officeDocument/2006/relationships/slide" Target="slides/slide14.xml"/><Relationship Id="rId115" Type="http://schemas.openxmlformats.org/officeDocument/2006/relationships/slide" Target="slides/slide15.xml"/><Relationship Id="rId116" Type="http://schemas.openxmlformats.org/officeDocument/2006/relationships/slide" Target="slides/slide16.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jpeg"/><Relationship Id="rId2" Type="http://schemas.openxmlformats.org/officeDocument/2006/relationships/image" Target="../media/image-1-2.png"/><Relationship Id="rId3" Type="http://schemas.openxmlformats.org/officeDocument/2006/relationships/slideLayout" Target="../slideLayouts/slideLayout1.xml"/><Relationship Id="rId20" Type="http://schemas.openxmlformats.org/officeDocument/2006/relationships/image" Target="../media/cover_gradient.jpeg"/><Relationship Id="rId21" Type="http://schemas.openxmlformats.org/officeDocument/2006/relationships/image" Target="../media/cover_ribbon.png"/><Relationship Id="rId22" Type="http://schemas.openxmlformats.org/officeDocument/2006/relationships/image" Target="../media/cover_glow.png"/></Relationships>
</file>

<file path=ppt/slides/_rels/slide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image" Target="../media/Slide-3-image-1.jpeg"/><Relationship Id="rId2" Type="http://schemas.openxmlformats.org/officeDocument/2006/relationships/image" Target="../media/image-3-2.png"/><Relationship Id="rId3"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image" Target="../media/Slide-4-image-1.jpeg"/><Relationship Id="rId2" Type="http://schemas.openxmlformats.org/officeDocument/2006/relationships/image" Target="../media/image-4-2.png"/><Relationship Id="rId3"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image" Target="../media/Slide-11-image-1.jpeg"/><Relationship Id="rId2" Type="http://schemas.openxmlformats.org/officeDocument/2006/relationships/image" Target="../media/image-11-2.png"/><Relationship Id="rId3"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image" Target="../media/Slide-13-image-1.jpeg"/><Relationship Id="rId2" Type="http://schemas.openxmlformats.org/officeDocument/2006/relationships/image" Target="../media/image-13-2.png"/><Relationship Id="rId3"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1" Type="http://schemas.openxmlformats.org/officeDocument/2006/relationships/image" Target="../media/Slide-2-image-1.jpeg"/><Relationship Id="rId2" Type="http://schemas.openxmlformats.org/officeDocument/2006/relationships/image" Target="../media/image-2-2.png"/><Relationship Id="rId3"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image" Target="../media/Slide-12-image-1.jpeg"/><Relationship Id="rId2" Type="http://schemas.openxmlformats.org/officeDocument/2006/relationships/image" Target="../media/image-12-2.png"/><Relationship Id="rId3"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1" Type="http://schemas.openxmlformats.org/officeDocument/2006/relationships/image" Target="../media/Slide-14-image-1.jpeg"/><Relationship Id="rId2" Type="http://schemas.openxmlformats.org/officeDocument/2006/relationships/image" Target="../media/image-14-2.png"/><Relationship Id="rId3"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00000"/>
        </a:solidFill>
        <a:effectLst/>
      </p:bgPr>
    </p:bg>
    <p:spTree>
      <p:nvGrpSpPr>
        <p:cNvPr id="1" name=""/>
        <p:cNvGrpSpPr/>
        <p:nvPr/>
      </p:nvGrpSpPr>
      <p:grpSpPr>
        <a:xfrm>
          <a:off x="0" y="0"/>
          <a:ext cx="0" cy="0"/>
          <a:chOff x="0" y="0"/>
          <a:chExt cx="0" cy="0"/>
        </a:xfrm>
      </p:grpSpPr>
      <p:pic>
        <p:nvPicPr>
          <p:cNvPr id="300" name="Pic ribbon"/>
          <p:cNvPicPr>
            <a:picLocks noChangeAspect="1"/>
          </p:cNvPicPr>
          <p:nvPr/>
        </p:nvPicPr>
        <p:blipFill>
          <a:blip r:embed="rId21"/>
          <a:srcRect b="17691" l="21282"/>
          <a:stretch>
            <a:fillRect/>
          </a:stretch>
        </p:blipFill>
        <p:spPr>
          <a:xfrm>
            <a:off x="0" y="859536"/>
            <a:ext cx="4937760" cy="5998464"/>
          </a:xfrm>
          <a:prstGeom prst="rect">
            <a:avLst/>
          </a:prstGeom>
        </p:spPr>
      </p:pic>
      <p:pic>
        <p:nvPicPr>
          <p:cNvPr id="301" name="Pic gradient"/>
          <p:cNvPicPr>
            <a:picLocks noChangeAspect="1"/>
          </p:cNvPicPr>
          <p:nvPr/>
        </p:nvPicPr>
        <p:blipFill>
          <a:blip r:embed="rId20">
            <a:alphaModFix amt="37000"/>
          </a:blip>
          <a:srcRect l="4900" r="5000"/>
          <a:stretch>
            <a:fillRect/>
          </a:stretch>
        </p:blipFill>
        <p:spPr>
          <a:xfrm>
            <a:off x="4096512" y="841248"/>
            <a:ext cx="8095183" cy="6016752"/>
          </a:xfrm>
          <a:prstGeom prst="rect">
            <a:avLst/>
          </a:prstGeom>
        </p:spPr>
      </p:pic>
      <p:pic>
        <p:nvPicPr>
          <p:cNvPr id="302" name="Pic glow"/>
          <p:cNvPicPr>
            <a:picLocks noChangeAspect="1"/>
          </p:cNvPicPr>
          <p:nvPr/>
        </p:nvPicPr>
        <p:blipFill>
          <a:blip r:embed="rId22"/>
          <a:srcRect b="21079" l="72900" r="0"/>
          <a:stretch>
            <a:fillRect/>
          </a:stretch>
        </p:blipFill>
        <p:spPr>
          <a:xfrm>
            <a:off x="4096512" y="1106424"/>
            <a:ext cx="1700784" cy="5751576"/>
          </a:xfrm>
          <a:prstGeom prst="rect">
            <a:avLst/>
          </a:prstGeom>
        </p:spPr>
      </p:pic>
      <p:pic>
        <p:nvPicPr>
          <p:cNvPr id="2" name="Image 0" descr="/home/claude/brand/clean/logo_large.png">    </p:cNvPr>
          <p:cNvPicPr>
            <a:picLocks noChangeAspect="1"/>
          </p:cNvPicPr>
          <p:nvPr/>
        </p:nvPicPr>
        <p:blipFill>
          <a:blip r:embed="rId2"/>
          <a:stretch>
            <a:fillRect/>
          </a:stretch>
        </p:blipFill>
        <p:spPr>
          <a:xfrm>
            <a:off x="6818224" y="1280160"/>
            <a:ext cx="2651760" cy="1664208"/>
          </a:xfrm>
          <a:prstGeom prst="rect">
            <a:avLst/>
          </a:prstGeom>
        </p:spPr>
      </p:pic>
      <p:sp>
        <p:nvSpPr>
          <p:cNvPr id="3" name="Text 0"/>
          <p:cNvSpPr/>
          <p:nvPr/>
        </p:nvSpPr>
        <p:spPr>
          <a:xfrm>
            <a:off x="4370832" y="3108960"/>
            <a:ext cx="7546543" cy="868680"/>
          </a:xfrm>
          <a:prstGeom prst="rect">
            <a:avLst/>
          </a:prstGeom>
          <a:noFill/>
          <a:ln/>
        </p:spPr>
        <p:txBody>
          <a:bodyPr wrap="square" lIns="0" tIns="0" rIns="0" bIns="0" rtlCol="0" anchor="ctr"/>
          <a:lstStyle/>
          <a:p>
            <a:pPr algn="ctr" indent="0" marL="0">
              <a:buNone/>
            </a:pPr>
            <a:r>
              <a:rPr lang="en-US" sz="5400" b="1" dirty="0">
                <a:solidFill>
                  <a:srgbClr val="FFFFFF"/>
                </a:solidFill>
                <a:latin typeface="Arial" pitchFamily="34" charset="0"/>
                <a:ea typeface="Arial" pitchFamily="34" charset="-122"/>
                <a:cs typeface="Arial" pitchFamily="34" charset="-120"/>
              </a:rPr>
              <a:t>ThinkFISH</a:t>
            </a:r>
            <a:endParaRPr lang="en-US" sz="5400" dirty="0"/>
          </a:p>
        </p:txBody>
      </p:sp>
      <p:sp>
        <p:nvSpPr>
          <p:cNvPr id="4" name="Text 1"/>
          <p:cNvSpPr/>
          <p:nvPr/>
        </p:nvSpPr>
        <p:spPr>
          <a:xfrm>
            <a:off x="4370832" y="3977640"/>
            <a:ext cx="7546543" cy="320040"/>
          </a:xfrm>
          <a:prstGeom prst="rect">
            <a:avLst/>
          </a:prstGeom>
          <a:noFill/>
          <a:ln/>
        </p:spPr>
        <p:txBody>
          <a:bodyPr wrap="square" lIns="0" tIns="0" rIns="0" bIns="0" rtlCol="0" anchor="ctr"/>
          <a:lstStyle/>
          <a:p>
            <a:pPr algn="ctr" indent="0" marL="0">
              <a:buNone/>
            </a:pPr>
            <a:r>
              <a:rPr lang="en-US" sz="1800" b="1" spc="300" kern="0" dirty="0">
                <a:solidFill>
                  <a:srgbClr val="FFFFFF"/>
                </a:solidFill>
                <a:latin typeface="Arial" pitchFamily="34" charset="0"/>
                <a:ea typeface="Arial" pitchFamily="34" charset="-122"/>
                <a:cs typeface="Arial" pitchFamily="34" charset="-120"/>
              </a:rPr>
              <a:t>&lt;&gt;&lt;</a:t>
            </a:r>
            <a:endParaRPr lang="en-US" sz="1800" dirty="0"/>
          </a:p>
        </p:txBody>
      </p:sp>
      <p:sp>
        <p:nvSpPr>
          <p:cNvPr id="5" name="Text 2"/>
          <p:cNvSpPr/>
          <p:nvPr/>
        </p:nvSpPr>
        <p:spPr>
          <a:xfrm>
            <a:off x="4370832" y="4407408"/>
            <a:ext cx="7546543" cy="502920"/>
          </a:xfrm>
          <a:prstGeom prst="rect">
            <a:avLst/>
          </a:prstGeom>
          <a:noFill/>
          <a:ln/>
        </p:spPr>
        <p:txBody>
          <a:bodyPr wrap="square" lIns="0" tIns="0" rIns="0" bIns="0" rtlCol="0" anchor="ctr"/>
          <a:lstStyle/>
          <a:p>
            <a:pPr algn="ctr" indent="0" marL="0">
              <a:buNone/>
            </a:pPr>
            <a:r>
              <a:rPr lang="en-US" sz="2800" dirty="0">
                <a:solidFill>
                  <a:srgbClr val="FFFFFF"/>
                </a:solidFill>
                <a:latin typeface="Arial" pitchFamily="34" charset="0"/>
                <a:ea typeface="Arial" pitchFamily="34" charset="-122"/>
                <a:cs typeface="Arial" pitchFamily="34" charset="-120"/>
              </a:rPr>
              <a:t>SuperMatics</a:t>
            </a:r>
            <a:endParaRPr lang="en-US" sz="2800" dirty="0"/>
          </a:p>
        </p:txBody>
      </p:sp>
      <p:sp>
        <p:nvSpPr>
          <p:cNvPr id="6" name="Text 3"/>
          <p:cNvSpPr/>
          <p:nvPr/>
        </p:nvSpPr>
        <p:spPr>
          <a:xfrm>
            <a:off x="4370832" y="5074920"/>
            <a:ext cx="7546543" cy="640080"/>
          </a:xfrm>
          <a:prstGeom prst="rect">
            <a:avLst/>
          </a:prstGeom>
          <a:noFill/>
          <a:ln/>
        </p:spPr>
        <p:txBody>
          <a:bodyPr wrap="square" lIns="0" tIns="0" rIns="0" bIns="0" rtlCol="0" anchor="ctr"/>
          <a:lstStyle/>
          <a:p>
            <a:pPr algn="ctr" indent="0" marL="0">
              <a:buNone/>
            </a:pPr>
            <a:r>
              <a:rPr lang="en-US" sz="1300" dirty="0">
                <a:solidFill>
                  <a:srgbClr val="B9BEDC"/>
                </a:solidFill>
                <a:latin typeface="Arial" pitchFamily="34" charset="0"/>
                <a:ea typeface="Arial" pitchFamily="34" charset="-122"/>
                <a:cs typeface="Arial" pitchFamily="34" charset="-120"/>
              </a:rPr>
              <a:t>Investor Outreach Proposal  ·  October 2026</a:t>
            </a:r>
            <a:endParaRPr lang="en-US" sz="1300" dirty="0"/>
          </a:p>
          <a:p>
            <a:pPr algn="ctr" indent="0" marL="0">
              <a:buNone/>
            </a:pPr>
            <a:r>
              <a:rPr lang="en-US" sz="1300" dirty="0">
                <a:solidFill>
                  <a:srgbClr val="B9BEDC"/>
                </a:solidFill>
                <a:latin typeface="Arial" pitchFamily="34" charset="0"/>
                <a:ea typeface="Arial" pitchFamily="34" charset="-122"/>
                <a:cs typeface="Arial" pitchFamily="34" charset="-120"/>
              </a:rPr>
              <a:t>Prepared for Davis Rens &amp; Charlie Moon</a:t>
            </a:r>
            <a:endParaRPr lang="en-US" sz="1300" dirty="0"/>
          </a:p>
        </p:txBody>
      </p:sp>
      <p:sp>
        <p:nvSpPr>
          <p:cNvPr id="303" name="Text hdr"/>
          <p:cNvSpPr/>
          <p:nvPr/>
        </p:nvSpPr>
        <p:spPr>
          <a:xfrm>
            <a:off x="329184" y="365760"/>
            <a:ext cx="5486400" cy="365760"/>
          </a:xfrm>
          <a:prstGeom prst="rect">
            <a:avLst/>
          </a:prstGeom>
          <a:noFill/>
          <a:ln/>
        </p:spPr>
        <p:txBody>
          <a:bodyPr wrap="square" lIns="0" tIns="0" rIns="0" bIns="0" rtlCol="0" anchor="ctr"/>
          <a:lstStyle/>
          <a:p>
            <a:pPr indent="0" marL="0">
              <a:buNone/>
            </a:pPr>
            <a:r>
              <a:rPr lang="en-US" sz="1500" spc="200" kern="0" dirty="0">
                <a:solidFill>
                  <a:srgbClr val="FFFFFF"/>
                </a:solidFill>
                <a:latin typeface="Arial" pitchFamily="34" charset="0"/>
                <a:ea typeface="Arial" pitchFamily="34" charset="-122"/>
                <a:cs typeface="Arial" pitchFamily="34" charset="-120"/>
              </a:rPr>
              <a:t>THINKFISH LLC 2026</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Executive Summary</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ASK, THE PLAN, THE INVESTMENT, WHAT TO EXPECT</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ASK</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 $10M seed at a $60M post-money cap, closed by the end of Q1 2027. It builds on a $1M pre-seed led by a Korean semiconductor and superconductor manufacturer. The goal is a lead or larger allocation to anchor the round, with family offices, micro VCs and angels who understand frontier materials, quantum, fusion and AI infrastructure filling the rest.</a:t>
            </a:r>
            <a:endParaRPr lang="en-US" sz="105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PLAN</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Two LinkedIn profiles (Davis’s and Charlie’s), run end to end by ThinkFISH in your voice. We target deep-tech micro VCs, family offices and angels with a history in materials, quantum, fusion, semiconductors and data-center infrastructure. Every meeting is pre-qualified, approved by you and booked onto Davis’s calendar.</a:t>
            </a:r>
            <a:endParaRPr lang="en-US" sz="105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INVESTMENT</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$3,000 per month, as a flat retainer. Three-month initial term, with both profiles included. No setup fee, no success fee, no commission and no involvement in the transaction. We are not a broker-dealer.</a:t>
            </a:r>
            <a:endParaRPr lang="en-US" sz="105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WHAT TO EXPECT</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Arial" pitchFamily="34" charset="0"/>
                <a:ea typeface="Arial" pitchFamily="34" charset="-122"/>
                <a:cs typeface="Arial" pitchFamily="34" charset="-120"/>
              </a:rPr>
              <a:t>Outreach goes live within two weeks of kickoff. The first qualified investor conversations land in weeks three and four (mid-November), building to a steady 2–4 qualified meetings per week across both profiles from December. You get weekly reporting and a month-three review in January. One honest note: early-stage raises historically take 6–12 months from first outreach to capital in the bank, so a Q1 close is tight. We can have the right investors on Davis’s calendar before year-end. When checks close depends on your process and each investor’s diligence, and we’d rather you hear that from us now.</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Why ThinkFISH</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TRACK RECORD, BEFORE THE PROCESS</a:t>
            </a:r>
            <a:endParaRPr lang="en-US" sz="1400" dirty="0"/>
          </a:p>
        </p:txBody>
      </p:sp>
      <p:sp>
        <p:nvSpPr>
          <p:cNvPr id="6" name="Shape 3"/>
          <p:cNvSpPr/>
          <p:nvPr/>
        </p:nvSpPr>
        <p:spPr>
          <a:xfrm>
            <a:off x="566928"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7" name="Text 4"/>
          <p:cNvSpPr/>
          <p:nvPr/>
        </p:nvSpPr>
        <p:spPr>
          <a:xfrm>
            <a:off x="795528"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$200M+</a:t>
            </a:r>
            <a:endParaRPr lang="en-US" sz="2400" dirty="0"/>
          </a:p>
        </p:txBody>
      </p:sp>
      <p:sp>
        <p:nvSpPr>
          <p:cNvPr id="8" name="Text 5"/>
          <p:cNvSpPr/>
          <p:nvPr/>
        </p:nvSpPr>
        <p:spPr>
          <a:xfrm>
            <a:off x="2350008"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client-reported capital raised</a:t>
            </a:r>
            <a:endParaRPr lang="en-US" sz="1050" dirty="0"/>
          </a:p>
        </p:txBody>
      </p:sp>
      <p:sp>
        <p:nvSpPr>
          <p:cNvPr id="9" name="Shape 6"/>
          <p:cNvSpPr/>
          <p:nvPr/>
        </p:nvSpPr>
        <p:spPr>
          <a:xfrm>
            <a:off x="4434840"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10" name="Text 7"/>
          <p:cNvSpPr/>
          <p:nvPr/>
        </p:nvSpPr>
        <p:spPr>
          <a:xfrm>
            <a:off x="4663440"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10,000+</a:t>
            </a:r>
            <a:endParaRPr lang="en-US" sz="2400" dirty="0"/>
          </a:p>
        </p:txBody>
      </p:sp>
      <p:sp>
        <p:nvSpPr>
          <p:cNvPr id="11" name="Text 8"/>
          <p:cNvSpPr/>
          <p:nvPr/>
        </p:nvSpPr>
        <p:spPr>
          <a:xfrm>
            <a:off x="6217920"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qualified investor meetings booked</a:t>
            </a:r>
            <a:endParaRPr lang="en-US" sz="1050" dirty="0"/>
          </a:p>
        </p:txBody>
      </p:sp>
      <p:sp>
        <p:nvSpPr>
          <p:cNvPr id="12" name="Shape 9"/>
          <p:cNvSpPr/>
          <p:nvPr/>
        </p:nvSpPr>
        <p:spPr>
          <a:xfrm>
            <a:off x="8302752" y="2103120"/>
            <a:ext cx="3593592" cy="960120"/>
          </a:xfrm>
          <a:prstGeom prst="roundRect">
            <a:avLst>
              <a:gd name="adj" fmla="val 8571"/>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21284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500+</a:t>
            </a:r>
            <a:endParaRPr lang="en-US" sz="2400" dirty="0"/>
          </a:p>
        </p:txBody>
      </p:sp>
      <p:sp>
        <p:nvSpPr>
          <p:cNvPr id="14" name="Text 11"/>
          <p:cNvSpPr/>
          <p:nvPr/>
        </p:nvSpPr>
        <p:spPr>
          <a:xfrm>
            <a:off x="10085832" y="221284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clients served since 2020</a:t>
            </a:r>
            <a:endParaRPr lang="en-US" sz="1050" dirty="0"/>
          </a:p>
        </p:txBody>
      </p:sp>
      <p:sp>
        <p:nvSpPr>
          <p:cNvPr id="15" name="Shape 12"/>
          <p:cNvSpPr/>
          <p:nvPr/>
        </p:nvSpPr>
        <p:spPr>
          <a:xfrm>
            <a:off x="566928" y="3291840"/>
            <a:ext cx="5532120"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18" name="Shape 15"/>
          <p:cNvSpPr/>
          <p:nvPr/>
        </p:nvSpPr>
        <p:spPr>
          <a:xfrm>
            <a:off x="6373368" y="3291840"/>
            <a:ext cx="5532120"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21" name="Shape 18"/>
          <p:cNvSpPr/>
          <p:nvPr/>
        </p:nvSpPr>
        <p:spPr>
          <a:xfrm>
            <a:off x="566928" y="5440680"/>
            <a:ext cx="11338560" cy="1005840"/>
          </a:xfrm>
          <a:prstGeom prst="roundRect">
            <a:avLst>
              <a:gd name="adj" fmla="val 8182"/>
            </a:avLst>
          </a:prstGeom>
          <a:solidFill>
            <a:srgbClr val="0D0D26">
              <a:alpha val="55000"/>
            </a:srgbClr>
          </a:solidFill>
          <a:ln w="9525">
            <a:solidFill>
              <a:srgbClr val="31316A">
                <a:alpha val="75000"/>
              </a:srgbClr>
            </a:solidFill>
            <a:prstDash val="solid"/>
          </a:ln>
        </p:spPr>
      </p:sp>
      <p:sp>
        <p:nvSpPr>
          <p:cNvPr id="304" name="Text w0"/>
          <p:cNvSpPr/>
          <p:nvPr/>
        </p:nvSpPr>
        <p:spPr>
          <a:xfrm>
            <a:off x="822960" y="3419856"/>
            <a:ext cx="5029200" cy="256032"/>
          </a:xfrm>
          <a:prstGeom prst="rect">
            <a:avLst/>
          </a:prstGeom>
          <a:noFill/>
          <a:ln/>
        </p:spPr>
        <p:txBody>
          <a:bodyPr wrap="square" lIns="0" tIns="0" rIns="0" bIns="0" rtlCol="0" anchor="ctr"/>
          <a:lstStyle/>
          <a:p>
            <a:pPr indent="0" marL="0">
              <a:buNone/>
            </a:pPr>
            <a:r>
              <a:rPr lang="en-US" sz="1100" b="1" spc="100" kern="0" dirty="0">
                <a:solidFill>
                  <a:srgbClr val="7C6CFF"/>
                </a:solidFill>
                <a:latin typeface="Arial" pitchFamily="34" charset="0"/>
                <a:ea typeface="Arial" pitchFamily="34" charset="-122"/>
                <a:cs typeface="Arial" pitchFamily="34" charset="-120"/>
              </a:rPr>
              <a:t>ISSUANCE  ·  DARREN MARBLE, CEO</a:t>
            </a:r>
            <a:endParaRPr lang="en-US" sz="1100" dirty="0"/>
          </a:p>
        </p:txBody>
      </p:sp>
      <p:sp>
        <p:nvSpPr>
          <p:cNvPr id="305" name="Text q0"/>
          <p:cNvSpPr/>
          <p:nvPr/>
        </p:nvSpPr>
        <p:spPr>
          <a:xfrm>
            <a:off x="822960" y="3712464"/>
            <a:ext cx="5029200" cy="1143000"/>
          </a:xfrm>
          <a:prstGeom prst="rect">
            <a:avLst/>
          </a:prstGeom>
          <a:noFill/>
          <a:ln/>
        </p:spPr>
        <p:txBody>
          <a:bodyPr wrap="square" lIns="0" tIns="0" rIns="0" bIns="0" rtlCol="0" anchor="t"/>
          <a:lstStyle/>
          <a:p>
            <a:pPr indent="0" marL="0">
              <a:lnSpc>
                <a:spcPct val="120000"/>
              </a:lnSpc>
              <a:buNone/>
            </a:pPr>
            <a:r>
              <a:rPr lang="en-US" sz="1200" i="1" dirty="0">
                <a:solidFill>
                  <a:srgbClr val="FFFFFF"/>
                </a:solidFill>
                <a:latin typeface="Arial" pitchFamily="34" charset="0"/>
                <a:ea typeface="Arial" pitchFamily="34" charset="-122"/>
                <a:cs typeface="Arial" pitchFamily="34" charset="-120"/>
              </a:rPr>
              <a:t>“…one of the most effective investor marketing firms I’ve ever worked with when it comes to raising capital for my companies. In the last 60 days alone, FISH has arranged 25 qualified investor meetings for me.”</a:t>
            </a:r>
            <a:endParaRPr lang="en-US" sz="1200" dirty="0"/>
          </a:p>
        </p:txBody>
      </p:sp>
      <p:sp>
        <p:nvSpPr>
          <p:cNvPr id="306" name="Text r0"/>
          <p:cNvSpPr/>
          <p:nvPr/>
        </p:nvSpPr>
        <p:spPr>
          <a:xfrm>
            <a:off x="822960" y="4864608"/>
            <a:ext cx="5029200" cy="256032"/>
          </a:xfrm>
          <a:prstGeom prst="rect">
            <a:avLst/>
          </a:prstGeom>
          <a:noFill/>
          <a:ln/>
        </p:spPr>
        <p:txBody>
          <a:bodyPr wrap="square" lIns="0" tIns="0" rIns="0" bIns="0" rtlCol="0" anchor="ctr"/>
          <a:lstStyle/>
          <a:p>
            <a:pPr indent="0" marL="0">
              <a:buNone/>
            </a:pPr>
            <a:r>
              <a:rPr lang="en-US" sz="1050" b="1" dirty="0">
                <a:solidFill>
                  <a:srgbClr val="43D5FF"/>
                </a:solidFill>
                <a:latin typeface="Arial" pitchFamily="34" charset="0"/>
                <a:ea typeface="Arial" pitchFamily="34" charset="-122"/>
                <a:cs typeface="Arial" pitchFamily="34" charset="-120"/>
              </a:rPr>
              <a:t>25 QUALIFIED INVESTOR MEETINGS IN 60 DAYS</a:t>
            </a:r>
            <a:endParaRPr lang="en-US" sz="1050" dirty="0"/>
          </a:p>
        </p:txBody>
      </p:sp>
      <p:sp>
        <p:nvSpPr>
          <p:cNvPr id="307" name="Text w1"/>
          <p:cNvSpPr/>
          <p:nvPr/>
        </p:nvSpPr>
        <p:spPr>
          <a:xfrm>
            <a:off x="6629400" y="3419856"/>
            <a:ext cx="5029200" cy="256032"/>
          </a:xfrm>
          <a:prstGeom prst="rect">
            <a:avLst/>
          </a:prstGeom>
          <a:noFill/>
          <a:ln/>
        </p:spPr>
        <p:txBody>
          <a:bodyPr wrap="square" lIns="0" tIns="0" rIns="0" bIns="0" rtlCol="0" anchor="ctr"/>
          <a:lstStyle/>
          <a:p>
            <a:pPr indent="0" marL="0">
              <a:buNone/>
            </a:pPr>
            <a:r>
              <a:rPr lang="en-US" sz="1100" b="1" spc="100" kern="0" dirty="0">
                <a:solidFill>
                  <a:srgbClr val="7C6CFF"/>
                </a:solidFill>
                <a:latin typeface="Arial" pitchFamily="34" charset="0"/>
                <a:ea typeface="Arial" pitchFamily="34" charset="-122"/>
                <a:cs typeface="Arial" pitchFamily="34" charset="-120"/>
              </a:rPr>
              <a:t>CARTHAGE CAPITAL  ·  STEPHEN WU</a:t>
            </a:r>
            <a:endParaRPr lang="en-US" sz="1100" dirty="0"/>
          </a:p>
        </p:txBody>
      </p:sp>
      <p:sp>
        <p:nvSpPr>
          <p:cNvPr id="308" name="Text q1"/>
          <p:cNvSpPr/>
          <p:nvPr/>
        </p:nvSpPr>
        <p:spPr>
          <a:xfrm>
            <a:off x="6629400" y="3712464"/>
            <a:ext cx="5029200" cy="1143000"/>
          </a:xfrm>
          <a:prstGeom prst="rect">
            <a:avLst/>
          </a:prstGeom>
          <a:noFill/>
          <a:ln/>
        </p:spPr>
        <p:txBody>
          <a:bodyPr wrap="square" lIns="0" tIns="0" rIns="0" bIns="0" rtlCol="0" anchor="t"/>
          <a:lstStyle/>
          <a:p>
            <a:pPr indent="0" marL="0">
              <a:lnSpc>
                <a:spcPct val="120000"/>
              </a:lnSpc>
              <a:buNone/>
            </a:pPr>
            <a:r>
              <a:rPr lang="en-US" sz="1200" i="1" dirty="0">
                <a:solidFill>
                  <a:srgbClr val="FFFFFF"/>
                </a:solidFill>
                <a:latin typeface="Arial" pitchFamily="34" charset="0"/>
                <a:ea typeface="Arial" pitchFamily="34" charset="-122"/>
                <a:cs typeface="Arial" pitchFamily="34" charset="-120"/>
              </a:rPr>
              <a:t>“ThinkFISH helped me raise $2 to $3 million across around 20 different investors over the past nine months. I basically got two to three meetings every week, consistently, and they’re already interested. I was going to cancel after a quarter if you didn’t deliver. You delivered way above my expectations.”</a:t>
            </a:r>
            <a:endParaRPr lang="en-US" sz="1200" dirty="0"/>
          </a:p>
        </p:txBody>
      </p:sp>
      <p:sp>
        <p:nvSpPr>
          <p:cNvPr id="309" name="Text r1"/>
          <p:cNvSpPr/>
          <p:nvPr/>
        </p:nvSpPr>
        <p:spPr>
          <a:xfrm>
            <a:off x="6629400" y="4864608"/>
            <a:ext cx="5029200" cy="256032"/>
          </a:xfrm>
          <a:prstGeom prst="rect">
            <a:avLst/>
          </a:prstGeom>
          <a:noFill/>
          <a:ln/>
        </p:spPr>
        <p:txBody>
          <a:bodyPr wrap="square" lIns="0" tIns="0" rIns="0" bIns="0" rtlCol="0" anchor="ctr"/>
          <a:lstStyle/>
          <a:p>
            <a:pPr indent="0" marL="0">
              <a:buNone/>
            </a:pPr>
            <a:r>
              <a:rPr lang="en-US" sz="1050" b="1" dirty="0">
                <a:solidFill>
                  <a:srgbClr val="43D5FF"/>
                </a:solidFill>
                <a:latin typeface="Arial" pitchFamily="34" charset="0"/>
                <a:ea typeface="Arial" pitchFamily="34" charset="-122"/>
                <a:cs typeface="Arial" pitchFamily="34" charset="-120"/>
              </a:rPr>
              <a:t>$2–3M RAISED ACROSS ~20 INVESTORS IN 9 MONTHS</a:t>
            </a:r>
            <a:endParaRPr lang="en-US" sz="1050" dirty="0"/>
          </a:p>
        </p:txBody>
      </p:sp>
      <p:sp>
        <p:nvSpPr>
          <p:cNvPr id="310" name="Text bl"/>
          <p:cNvSpPr/>
          <p:nvPr/>
        </p:nvSpPr>
        <p:spPr>
          <a:xfrm>
            <a:off x="795528" y="5559552"/>
            <a:ext cx="548640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WHAT WE CONTROL, AND WHAT WE DON’T</a:t>
            </a:r>
            <a:endParaRPr lang="en-US" sz="1200" dirty="0"/>
          </a:p>
        </p:txBody>
      </p:sp>
      <p:sp>
        <p:nvSpPr>
          <p:cNvPr id="311" name="Text bp"/>
          <p:cNvSpPr/>
          <p:nvPr/>
        </p:nvSpPr>
        <p:spPr>
          <a:xfrm>
            <a:off x="795528" y="5852160"/>
            <a:ext cx="10881360" cy="548640"/>
          </a:xfrm>
          <a:prstGeom prst="rect">
            <a:avLst/>
          </a:prstGeom>
          <a:noFill/>
          <a:ln/>
        </p:spPr>
        <p:txBody>
          <a:bodyPr wrap="square" lIns="0" tIns="0" rIns="0" bIns="0" rtlCol="0" anchor="t"/>
          <a:lstStyle/>
          <a:p>
            <a:pPr indent="0" marL="0">
              <a:lnSpc>
                <a:spcPct val="120000"/>
              </a:lnSpc>
              <a:buNone/>
            </a:pPr>
            <a:r>
              <a:rPr lang="en-US" sz="1150" dirty="0">
                <a:solidFill>
                  <a:srgbClr val="FFFFFF"/>
                </a:solidFill>
                <a:latin typeface="Arial" pitchFamily="34" charset="0"/>
                <a:ea typeface="Arial" pitchFamily="34" charset="-122"/>
                <a:cs typeface="Arial" pitchFamily="34" charset="-120"/>
              </a:rPr>
              <a:t>We’re not in the room for investor meetings, so we only report what clients report back, and results vary by company, team and deal. What we control is the top of the funnel: right-sized, pre-qualified investors on your calendar every week. Full testimonials and video links are in the appendix.</a:t>
            </a:r>
            <a:endParaRPr lang="en-US" sz="11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What’s Standing Between You and the Close</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GAP WE’RE SOLVING</a:t>
            </a:r>
            <a:endParaRPr lang="en-US" sz="1400" dirty="0"/>
          </a:p>
        </p:txBody>
      </p:sp>
      <p:sp>
        <p:nvSpPr>
          <p:cNvPr id="6" name="Text 3"/>
          <p:cNvSpPr/>
          <p:nvPr/>
        </p:nvSpPr>
        <p:spPr>
          <a:xfrm>
            <a:off x="566928" y="2148840"/>
            <a:ext cx="4297680" cy="2651760"/>
          </a:xfrm>
          <a:prstGeom prst="rect">
            <a:avLst/>
          </a:prstGeom>
          <a:noFill/>
          <a:ln/>
        </p:spPr>
        <p:txBody>
          <a:bodyPr wrap="square" lIns="0" tIns="0" rIns="0" bIns="0" rtlCol="0" anchor="t"/>
          <a:lstStyle/>
          <a:p>
            <a:pPr indent="0" marL="0">
              <a:lnSpc>
                <a:spcPct val="125000"/>
              </a:lnSpc>
              <a:buNone/>
            </a:pPr>
            <a:r>
              <a:rPr lang="en-US" sz="1300" dirty="0">
                <a:solidFill>
                  <a:srgbClr val="FFFFFF"/>
                </a:solidFill>
                <a:latin typeface="Arial" pitchFamily="34" charset="0"/>
                <a:ea typeface="Arial" pitchFamily="34" charset="-122"/>
                <a:cs typeface="Arial" pitchFamily="34" charset="-120"/>
              </a:rPr>
              <a:t>You’ve done the hard part in eight months: a focused thesis on superconducting materials, models no generalist materials platform has built, paying work with fusion and quantum hardware teams, and a signed NVIDIA contract on data-center thermal load. The gap is structural. Your pre-seed came about 90% from one strategic partner, so SuperMatics has never needed a repeatable investor pipeline. A $10M seed needs dozens of right-sized conversations, and today they depend on cold outreach from your only technical founder.</a:t>
            </a:r>
            <a:endParaRPr lang="en-US" sz="1300" dirty="0"/>
          </a:p>
        </p:txBody>
      </p:sp>
      <p:sp>
        <p:nvSpPr>
          <p:cNvPr id="7" name="Text 4"/>
          <p:cNvSpPr/>
          <p:nvPr/>
        </p:nvSpPr>
        <p:spPr>
          <a:xfrm>
            <a:off x="566928" y="4800600"/>
            <a:ext cx="4297680" cy="1554480"/>
          </a:xfrm>
          <a:prstGeom prst="rect">
            <a:avLst/>
          </a:prstGeom>
          <a:noFill/>
          <a:ln/>
        </p:spPr>
        <p:txBody>
          <a:bodyPr wrap="square" lIns="0" tIns="0" rIns="0" bIns="0" rtlCol="0" anchor="t"/>
          <a:lstStyle/>
          <a:p>
            <a:pPr indent="0" marL="0">
              <a:lnSpc>
                <a:spcPct val="125000"/>
              </a:lnSpc>
              <a:buNone/>
            </a:pPr>
            <a:r>
              <a:rPr lang="en-US" sz="1300" i="1" dirty="0">
                <a:solidFill>
                  <a:srgbClr val="B9BEDC"/>
                </a:solidFill>
                <a:latin typeface="Arial" pitchFamily="34" charset="0"/>
                <a:ea typeface="Arial" pitchFamily="34" charset="-122"/>
                <a:cs typeface="Arial" pitchFamily="34" charset="-120"/>
              </a:rPr>
              <a:t>Fundraising is a volume game at the right tier. The variable you control is how many qualified, right-sized investor conversations enter the top of your funnel every single week.</a:t>
            </a:r>
            <a:endParaRPr lang="en-US" sz="1300" dirty="0"/>
          </a:p>
        </p:txBody>
      </p:sp>
      <p:sp>
        <p:nvSpPr>
          <p:cNvPr id="8" name="Shape 5"/>
          <p:cNvSpPr/>
          <p:nvPr/>
        </p:nvSpPr>
        <p:spPr>
          <a:xfrm>
            <a:off x="5257800" y="214884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9" name="Text 6"/>
          <p:cNvSpPr/>
          <p:nvPr/>
        </p:nvSpPr>
        <p:spPr>
          <a:xfrm>
            <a:off x="5486400" y="225856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SURFACE PROBLEM</a:t>
            </a:r>
            <a:endParaRPr lang="en-US" sz="1250" dirty="0"/>
          </a:p>
        </p:txBody>
      </p:sp>
      <p:sp>
        <p:nvSpPr>
          <p:cNvPr id="10" name="Text 7"/>
          <p:cNvSpPr/>
          <p:nvPr/>
        </p:nvSpPr>
        <p:spPr>
          <a:xfrm>
            <a:off x="7498080" y="224028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Interest from smaller VCs, family offices and HNW individuals at low-to-mid six figures, and early diligence with a couple of larger firms, but no confidence yet in a Q1 close.</a:t>
            </a:r>
            <a:endParaRPr lang="en-US" sz="1100" dirty="0"/>
          </a:p>
        </p:txBody>
      </p:sp>
      <p:sp>
        <p:nvSpPr>
          <p:cNvPr id="11" name="Shape 8"/>
          <p:cNvSpPr/>
          <p:nvPr/>
        </p:nvSpPr>
        <p:spPr>
          <a:xfrm>
            <a:off x="5257800" y="324612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2" name="Text 9"/>
          <p:cNvSpPr/>
          <p:nvPr/>
        </p:nvSpPr>
        <p:spPr>
          <a:xfrm>
            <a:off x="5486400" y="335584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BUSINESS IMPACT</a:t>
            </a:r>
            <a:endParaRPr lang="en-US" sz="1250" dirty="0"/>
          </a:p>
        </p:txBody>
      </p:sp>
      <p:sp>
        <p:nvSpPr>
          <p:cNvPr id="13" name="Text 10"/>
          <p:cNvSpPr/>
          <p:nvPr/>
        </p:nvSpPr>
        <p:spPr>
          <a:xfrm>
            <a:off x="7498080" y="333756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Without a lead or larger allocation, the round can’t fill around $60M-post terms, and the move from internal models to an externally deployed product waits on capital.</a:t>
            </a:r>
            <a:endParaRPr lang="en-US" sz="1100" dirty="0"/>
          </a:p>
        </p:txBody>
      </p:sp>
      <p:sp>
        <p:nvSpPr>
          <p:cNvPr id="14" name="Shape 11"/>
          <p:cNvSpPr/>
          <p:nvPr/>
        </p:nvSpPr>
        <p:spPr>
          <a:xfrm>
            <a:off x="5257800" y="434340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5" name="Text 12"/>
          <p:cNvSpPr/>
          <p:nvPr/>
        </p:nvSpPr>
        <p:spPr>
          <a:xfrm>
            <a:off x="5486400" y="445312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PERSONAL IMPACT</a:t>
            </a:r>
            <a:endParaRPr lang="en-US" sz="1250" dirty="0"/>
          </a:p>
        </p:txBody>
      </p:sp>
      <p:sp>
        <p:nvSpPr>
          <p:cNvPr id="16" name="Text 13"/>
          <p:cNvSpPr/>
          <p:nvPr/>
        </p:nvSpPr>
        <p:spPr>
          <a:xfrm>
            <a:off x="7498080" y="443484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Davis is doing the building and the investor outreach. In his words: time spent on cold outreach that “majority of the time” leads to nothing, “not the best use of time.”</a:t>
            </a:r>
            <a:endParaRPr lang="en-US" sz="1100" dirty="0"/>
          </a:p>
        </p:txBody>
      </p:sp>
      <p:sp>
        <p:nvSpPr>
          <p:cNvPr id="17" name="Shape 14"/>
          <p:cNvSpPr/>
          <p:nvPr/>
        </p:nvSpPr>
        <p:spPr>
          <a:xfrm>
            <a:off x="5257800" y="5440680"/>
            <a:ext cx="6400800" cy="932688"/>
          </a:xfrm>
          <a:prstGeom prst="roundRect">
            <a:avLst>
              <a:gd name="adj" fmla="val 8824"/>
            </a:avLst>
          </a:prstGeom>
          <a:solidFill>
            <a:srgbClr val="0D0D26">
              <a:alpha val="55000"/>
            </a:srgbClr>
          </a:solidFill>
          <a:ln w="9525">
            <a:solidFill>
              <a:srgbClr val="31316A">
                <a:alpha val="75000"/>
              </a:srgbClr>
            </a:solidFill>
            <a:prstDash val="solid"/>
          </a:ln>
        </p:spPr>
      </p:sp>
      <p:sp>
        <p:nvSpPr>
          <p:cNvPr id="18" name="Text 15"/>
          <p:cNvSpPr/>
          <p:nvPr/>
        </p:nvSpPr>
        <p:spPr>
          <a:xfrm>
            <a:off x="5486400" y="5550408"/>
            <a:ext cx="1965960" cy="731520"/>
          </a:xfrm>
          <a:prstGeom prst="rect">
            <a:avLst/>
          </a:prstGeom>
          <a:noFill/>
          <a:ln/>
        </p:spPr>
        <p:txBody>
          <a:bodyPr wrap="square" lIns="0" tIns="0" rIns="0" bIns="0" rtlCol="0" anchor="ctr"/>
          <a:lstStyle/>
          <a:p>
            <a:pPr indent="0" marL="0">
              <a:buNone/>
            </a:pPr>
            <a:r>
              <a:rPr lang="en-US" sz="1250" b="1" dirty="0">
                <a:solidFill>
                  <a:srgbClr val="43D5FF"/>
                </a:solidFill>
                <a:latin typeface="Arial" pitchFamily="34" charset="0"/>
                <a:ea typeface="Arial" pitchFamily="34" charset="-122"/>
                <a:cs typeface="Arial" pitchFamily="34" charset="-120"/>
              </a:rPr>
              <a:t>COST OF INACTION</a:t>
            </a:r>
            <a:endParaRPr lang="en-US" sz="1250" dirty="0"/>
          </a:p>
        </p:txBody>
      </p:sp>
      <p:sp>
        <p:nvSpPr>
          <p:cNvPr id="19" name="Text 16"/>
          <p:cNvSpPr/>
          <p:nvPr/>
        </p:nvSpPr>
        <p:spPr>
          <a:xfrm>
            <a:off x="7498080" y="5532120"/>
            <a:ext cx="3931920" cy="749808"/>
          </a:xfrm>
          <a:prstGeom prst="rect">
            <a:avLst/>
          </a:prstGeom>
          <a:noFill/>
          <a:ln/>
        </p:spPr>
        <p:txBody>
          <a:bodyPr wrap="square" lIns="0" tIns="0" rIns="0" bIns="0" rtlCol="0" anchor="ctr"/>
          <a:lstStyle/>
          <a:p>
            <a:pPr indent="0" marL="0">
              <a:lnSpc>
                <a:spcPct val="110000"/>
              </a:lnSpc>
              <a:buNone/>
            </a:pPr>
            <a:r>
              <a:rPr lang="en-US" sz="1100" dirty="0">
                <a:solidFill>
                  <a:srgbClr val="FFFFFF"/>
                </a:solidFill>
                <a:latin typeface="Arial" pitchFamily="34" charset="0"/>
                <a:ea typeface="Arial" pitchFamily="34" charset="-122"/>
                <a:cs typeface="Arial" pitchFamily="34" charset="-120"/>
              </a:rPr>
              <a:t>Every month spent sourcing pushes the close past Q1 and leaves the round depending on what Davis called “a bit of a stroke of luck.”</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Investor ICP</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TARGET SEGMENTS, IN PRIORITY ORDER</a:t>
            </a:r>
            <a:endParaRPr lang="en-US" sz="1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66928" y="2240280"/>
          <a:ext cx="11055096" cy="914400"/>
        </p:xfrm>
        <a:graphic>
          <a:graphicData uri="http://schemas.openxmlformats.org/drawingml/2006/table">
            <a:tbl>
              <a:tblPr/>
              <a:tblGrid>
                <a:gridCol w="3291840"/>
                <a:gridCol w="7763256"/>
              </a:tblGrid>
              <a:tr h="457200">
                <a:tc>
                  <a:txBody>
                    <a:bodyPr/>
                    <a:lstStyle/>
                    <a:p>
                      <a:pPr algn="l" indent="0" marL="0">
                        <a:buNone/>
                      </a:pPr>
                      <a:r>
                        <a:rPr lang="en-US" sz="1200" b="1" dirty="0">
                          <a:solidFill>
                            <a:srgbClr val="43D5FF"/>
                          </a:solidFill>
                          <a:latin typeface="Arial" pitchFamily="34" charset="0"/>
                          <a:ea typeface="Arial" pitchFamily="34" charset="-122"/>
                          <a:cs typeface="Arial" pitchFamily="34" charset="-120"/>
                        </a:rPr>
                        <a:t>SEGMENT</a:t>
                      </a:r>
                      <a:endParaRPr lang="en-US" sz="12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1B1B45">
                        <a:alpha val="75000"/>
                      </a:srgbClr>
                    </a:solidFill>
                  </a:tcPr>
                </a:tc>
                <a:tc>
                  <a:txBody>
                    <a:bodyPr/>
                    <a:lstStyle/>
                    <a:p>
                      <a:pPr algn="l" indent="0" marL="0">
                        <a:buNone/>
                      </a:pPr>
                      <a:r>
                        <a:rPr lang="en-US" sz="1200" b="1" dirty="0">
                          <a:solidFill>
                            <a:srgbClr val="43D5FF"/>
                          </a:solidFill>
                          <a:latin typeface="Arial" pitchFamily="34" charset="0"/>
                          <a:ea typeface="Arial" pitchFamily="34" charset="-122"/>
                          <a:cs typeface="Arial" pitchFamily="34" charset="-120"/>
                        </a:rPr>
                        <a:t>WHO THEY ARE AND WHY THEY FIT</a:t>
                      </a:r>
                      <a:endParaRPr lang="en-US" sz="12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1B1B45">
                        <a:alpha val="75000"/>
                      </a:srgbClr>
                    </a:solidFill>
                  </a:tcPr>
                </a:tc>
              </a:tr>
              <a:tr h="841248">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1.  Deep-Tech &amp; Frontier-Science Micro VCs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Funds with a history in advanced materials, quantum and fusion. They read novel model architectures and an NVIDIA contract as signal, and can anchor an allocation.</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841248">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2.  Energy, Chip &amp; Industrial Family Offices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Family offices built on energy, chips or manufacturing. They understand superconductor supply chains and the royalty model behind manufacturing routes.</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841248">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3.  AI Infrastructure &amp; Data-Center Angels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Operators and investors in compute, cooling and data-center buildouts, for whom thermal load is a known, expensive problem.</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r h="841248">
                <a:tc>
                  <a:txBody>
                    <a:bodyPr/>
                    <a:lstStyle/>
                    <a:p>
                      <a:pPr algn="l" indent="0" marL="0">
                        <a:buNone/>
                      </a:pPr>
                      <a:r>
                        <a:rPr lang="en-US" sz="1400" b="1" dirty="0">
                          <a:solidFill>
                            <a:srgbClr val="FFFFFF"/>
                          </a:solidFill>
                          <a:latin typeface="Arial" pitchFamily="34" charset="0"/>
                          <a:ea typeface="Arial" pitchFamily="34" charset="-122"/>
                          <a:cs typeface="Arial" pitchFamily="34" charset="-120"/>
                        </a:rPr>
                        <a:t>4.  Quantum &amp; Fusion Operator-Angels</a:t>
                      </a:r>
                      <a:endParaRPr lang="en-US" sz="140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c>
                  <a:txBody>
                    <a:bodyPr/>
                    <a:lstStyle/>
                    <a:p>
                      <a:pPr algn="l" indent="0" marL="0">
                        <a:buNone/>
                      </a:pPr>
                      <a:r>
                        <a:rPr lang="en-US" sz="1250" dirty="0">
                          <a:solidFill>
                            <a:srgbClr val="FFFFFF"/>
                          </a:solidFill>
                          <a:latin typeface="Arial" pitchFamily="34" charset="0"/>
                          <a:ea typeface="Arial" pitchFamily="34" charset="-122"/>
                          <a:cs typeface="Arial" pitchFamily="34" charset="-120"/>
                        </a:rPr>
                        <a:t>Exited founders, physicists and executives from quantum hardware and fusion who know the materials bottleneck firsthand and back technical founders.</a:t>
                      </a:r>
                      <a:endParaRPr lang="en-US" sz="1250" dirty="0">
                        <a:latin typeface="Arial" charset="0"/>
                        <a:ea typeface="Arial" charset="0"/>
                        <a:cs typeface="Arial" charset="0"/>
                      </a:endParaRPr>
                    </a:p>
                  </a:txBody>
                  <a:tcPr marL="109728" marR="109728" marT="109728" marB="109728" anchor="ctr">
                    <a:lnL w="12700" cap="flat" cmpd="sng" algn="ctr">
                      <a:solidFill>
                        <a:srgbClr val="31316A"/>
                      </a:solidFill>
                      <a:prstDash val="solid"/>
                      <a:round/>
                      <a:headEnd type="none" w="med" len="med"/>
                      <a:tailEnd type="none" w="med" len="med"/>
                    </a:lnL>
                    <a:lnR w="12700" cap="flat" cmpd="sng" algn="ctr">
                      <a:solidFill>
                        <a:srgbClr val="31316A"/>
                      </a:solidFill>
                      <a:prstDash val="solid"/>
                      <a:round/>
                      <a:headEnd type="none" w="med" len="med"/>
                      <a:tailEnd type="none" w="med" len="med"/>
                    </a:lnR>
                    <a:lnT w="12700" cap="flat" cmpd="sng" algn="ctr">
                      <a:solidFill>
                        <a:srgbClr val="31316A"/>
                      </a:solidFill>
                      <a:prstDash val="solid"/>
                      <a:round/>
                      <a:headEnd type="none" w="med" len="med"/>
                      <a:tailEnd type="none" w="med" len="med"/>
                    </a:lnT>
                    <a:lnB w="12700" cap="flat" cmpd="sng" algn="ctr">
                      <a:solidFill>
                        <a:srgbClr val="31316A"/>
                      </a:solidFill>
                      <a:prstDash val="solid"/>
                      <a:round/>
                      <a:headEnd type="none" w="med" len="med"/>
                      <a:tailEnd type="none" w="med" len="med"/>
                    </a:lnB>
                    <a:solidFill>
                      <a:srgbClr val="0D0D26">
                        <a:alpha val="55000"/>
                      </a:srgbClr>
                    </a:solidFill>
                  </a:tcPr>
                </a:tc>
              </a:tr>
            </a:tbl>
          </a:graphicData>
        </a:graphic>
      </p:graphicFrame>
      <p:sp>
        <p:nvSpPr>
          <p:cNvPr id="312" name="Text 30"/>
          <p:cNvSpPr/>
          <p:nvPr/>
        </p:nvSpPr>
        <p:spPr>
          <a:xfrm>
            <a:off x="566928" y="6199632"/>
            <a:ext cx="11155680" cy="411480"/>
          </a:xfrm>
          <a:prstGeom prst="rect">
            <a:avLst/>
          </a:prstGeom>
          <a:noFill/>
          <a:ln/>
        </p:spPr>
        <p:txBody>
          <a:bodyPr wrap="square" lIns="0" tIns="0" rIns="0" bIns="0" rtlCol="0" anchor="t"/>
          <a:lstStyle/>
          <a:p>
            <a:pPr indent="0" marL="0">
              <a:lnSpc>
                <a:spcPct val="125000"/>
              </a:lnSpc>
              <a:buNone/>
            </a:pPr>
            <a:r>
              <a:rPr lang="en-US" sz="1150" i="1" dirty="0">
                <a:solidFill>
                  <a:srgbClr val="B9BEDC"/>
                </a:solidFill>
                <a:latin typeface="Arial" pitchFamily="34" charset="0"/>
                <a:ea typeface="Arial" pitchFamily="34" charset="-122"/>
                <a:cs typeface="Arial" pitchFamily="34" charset="-120"/>
              </a:rPr>
              <a:t>These segments are our starting point. We’ll plan a fuller outline of investor targets with you during onboarding, including check sizes, geographies (US and Korea), and exclusions such as firms already in diligence.</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Two Profiles, One Calendar</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HOW BOTH FOUNDERS’ PROFILES FEED DAVIS’S MEETINGS</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DAVIS  ·  TECHNICAL FOUNDER</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Davis’s profile leads with the science: a quantum-hardware background, purpose-built models for superconducting materials, and the NVIDIA, fusion and quantum work. That message lands with deep-tech funds and technical angels, and Davis takes every first meeting.</a:t>
            </a:r>
            <a:endParaRPr lang="en-US" sz="110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CHARLIE  ·  CO-FOUNDER</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Charlie’s profile doubles the outreach volume. It has its own audience and scripts, so no investor gets messaged twice. Your account manager handles every reply and books it to Davis’s calendar, so the time difference with Korea never slows a meeting down.</a:t>
            </a:r>
            <a:endParaRPr lang="en-US" sz="110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REEF  ·  RETARGETING</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Beyond outreach from your profiles, we retarget the raise to our internal database of 10k+ investors who opted in for deal flow, filtered to deep tech, energy and AI infrastructure. It’s also featured in Startup Deal Desk, our 84k-subscriber investor newsletter.</a:t>
            </a:r>
            <a:endParaRPr lang="en-US" sz="110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RIGHT-SIZED FOR A $60M POST</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Every booking routes through a short pre-qualification form covering accreditation, check size, timeline and sectors, so you see before the call whether an investor fits a $60M-post round. Family offices, micro VCs and angels fill a seed around its lead. Any lead-capable fund or family office we find goes straight to Davis. The profile split above is our starting assumption, and we’ll confirm it with you in onboarding.</a:t>
            </a:r>
            <a:endParaRPr lang="en-US" sz="12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How We Fill Your Calendar</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SIX STEPS, ONE PAGE</a:t>
            </a:r>
            <a:endParaRPr lang="en-US" sz="1400" dirty="0"/>
          </a:p>
        </p:txBody>
      </p:sp>
      <p:sp>
        <p:nvSpPr>
          <p:cNvPr id="313" name="Shape s0"/>
          <p:cNvSpPr/>
          <p:nvPr/>
        </p:nvSpPr>
        <p:spPr>
          <a:xfrm>
            <a:off x="566928"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14" name="Text s0l"/>
          <p:cNvSpPr/>
          <p:nvPr/>
        </p:nvSpPr>
        <p:spPr>
          <a:xfrm>
            <a:off x="795528"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1  ·  MULTI-SOURCE DATA</a:t>
            </a:r>
            <a:endParaRPr lang="en-US" sz="1300" dirty="0"/>
          </a:p>
        </p:txBody>
      </p:sp>
      <p:sp>
        <p:nvSpPr>
          <p:cNvPr id="315" name="Text s0p"/>
          <p:cNvSpPr/>
          <p:nvPr/>
        </p:nvSpPr>
        <p:spPr>
          <a:xfrm>
            <a:off x="795528"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Sales Navigator, your own lists and past conversations, our 10k+ investor database, the 84k-subscriber Startup Deal Desk newsletter, and the events your targets attend.</a:t>
            </a:r>
            <a:endParaRPr lang="en-US" sz="1050" dirty="0"/>
          </a:p>
        </p:txBody>
      </p:sp>
      <p:sp>
        <p:nvSpPr>
          <p:cNvPr id="316" name="Shape s1"/>
          <p:cNvSpPr/>
          <p:nvPr/>
        </p:nvSpPr>
        <p:spPr>
          <a:xfrm>
            <a:off x="4434840"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17" name="Text s1l"/>
          <p:cNvSpPr/>
          <p:nvPr/>
        </p:nvSpPr>
        <p:spPr>
          <a:xfrm>
            <a:off x="4663440"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2  ·  SIGNAL FILTERING</a:t>
            </a:r>
            <a:endParaRPr lang="en-US" sz="1300" dirty="0"/>
          </a:p>
        </p:txBody>
      </p:sp>
      <p:sp>
        <p:nvSpPr>
          <p:cNvPr id="318" name="Text s1p"/>
          <p:cNvSpPr/>
          <p:nvPr/>
        </p:nvSpPr>
        <p:spPr>
          <a:xfrm>
            <a:off x="4663440"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Deal history and live engagement outweigh job titles. Brokers, funding agents, advisor-only contacts and “investors” who are selling services are filtered out.</a:t>
            </a:r>
            <a:endParaRPr lang="en-US" sz="1050" dirty="0"/>
          </a:p>
        </p:txBody>
      </p:sp>
      <p:sp>
        <p:nvSpPr>
          <p:cNvPr id="319" name="Shape s2"/>
          <p:cNvSpPr/>
          <p:nvPr/>
        </p:nvSpPr>
        <p:spPr>
          <a:xfrm>
            <a:off x="8302752" y="205740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0" name="Text s2l"/>
          <p:cNvSpPr/>
          <p:nvPr/>
        </p:nvSpPr>
        <p:spPr>
          <a:xfrm>
            <a:off x="8531352" y="218541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3  ·  ICP SCORING</a:t>
            </a:r>
            <a:endParaRPr lang="en-US" sz="1300" dirty="0"/>
          </a:p>
        </p:txBody>
      </p:sp>
      <p:sp>
        <p:nvSpPr>
          <p:cNvPr id="321" name="Text s2p"/>
          <p:cNvSpPr/>
          <p:nvPr/>
        </p:nvSpPr>
        <p:spPr>
          <a:xfrm>
            <a:off x="8531352" y="249631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Every contact scored high, medium or low fit against a scorecard built with you. High fit goes first. Scripts A/B tested against real replies.</a:t>
            </a:r>
            <a:endParaRPr lang="en-US" sz="1050" dirty="0"/>
          </a:p>
        </p:txBody>
      </p:sp>
      <p:sp>
        <p:nvSpPr>
          <p:cNvPr id="322" name="Shape s3"/>
          <p:cNvSpPr/>
          <p:nvPr/>
        </p:nvSpPr>
        <p:spPr>
          <a:xfrm>
            <a:off x="566928"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3" name="Text s3l"/>
          <p:cNvSpPr/>
          <p:nvPr/>
        </p:nvSpPr>
        <p:spPr>
          <a:xfrm>
            <a:off x="795528"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4  ·  MANUAL REVIEW</a:t>
            </a:r>
            <a:endParaRPr lang="en-US" sz="1300" dirty="0"/>
          </a:p>
        </p:txBody>
      </p:sp>
      <p:sp>
        <p:nvSpPr>
          <p:cNvPr id="324" name="Text s3p"/>
          <p:cNvSpPr/>
          <p:nvPr/>
        </p:nvSpPr>
        <p:spPr>
          <a:xfrm>
            <a:off x="795528"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 dedicated account manager hand-checks every high-fit profile before a message goes out, and learns your story well enough to tell it in your voice.</a:t>
            </a:r>
            <a:endParaRPr lang="en-US" sz="1050" dirty="0"/>
          </a:p>
        </p:txBody>
      </p:sp>
      <p:sp>
        <p:nvSpPr>
          <p:cNvPr id="325" name="Shape s4"/>
          <p:cNvSpPr/>
          <p:nvPr/>
        </p:nvSpPr>
        <p:spPr>
          <a:xfrm>
            <a:off x="4434840"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6" name="Text s4l"/>
          <p:cNvSpPr/>
          <p:nvPr/>
        </p:nvSpPr>
        <p:spPr>
          <a:xfrm>
            <a:off x="4663440"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5  ·  PRE-CALL QUALIFICATION</a:t>
            </a:r>
            <a:endParaRPr lang="en-US" sz="1300" dirty="0"/>
          </a:p>
        </p:txBody>
      </p:sp>
      <p:sp>
        <p:nvSpPr>
          <p:cNvPr id="327" name="Text s4p"/>
          <p:cNvSpPr/>
          <p:nvPr/>
        </p:nvSpPr>
        <p:spPr>
          <a:xfrm>
            <a:off x="4663440"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Every booking routes through a short form: accreditation, check size, timeline, sectors. A briefing before every call; soft letdowns for the wrong fit.</a:t>
            </a:r>
            <a:endParaRPr lang="en-US" sz="1050" dirty="0"/>
          </a:p>
        </p:txBody>
      </p:sp>
      <p:sp>
        <p:nvSpPr>
          <p:cNvPr id="328" name="Shape s5"/>
          <p:cNvSpPr/>
          <p:nvPr/>
        </p:nvSpPr>
        <p:spPr>
          <a:xfrm>
            <a:off x="8302752" y="3611880"/>
            <a:ext cx="3593592" cy="1417320"/>
          </a:xfrm>
          <a:prstGeom prst="roundRect">
            <a:avLst>
              <a:gd name="adj" fmla="val 3529"/>
            </a:avLst>
          </a:prstGeom>
          <a:solidFill>
            <a:srgbClr val="0D0D26">
              <a:alpha val="55000"/>
            </a:srgbClr>
          </a:solidFill>
          <a:ln w="9525">
            <a:solidFill>
              <a:srgbClr val="31316A">
                <a:alpha val="75000"/>
              </a:srgbClr>
            </a:solidFill>
            <a:prstDash val="solid"/>
          </a:ln>
        </p:spPr>
      </p:sp>
      <p:sp>
        <p:nvSpPr>
          <p:cNvPr id="329" name="Text s5l"/>
          <p:cNvSpPr/>
          <p:nvPr/>
        </p:nvSpPr>
        <p:spPr>
          <a:xfrm>
            <a:off x="8531352" y="3739896"/>
            <a:ext cx="3136392" cy="274320"/>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6  ·  YOUR FINAL APPROVAL</a:t>
            </a:r>
            <a:endParaRPr lang="en-US" sz="1300" dirty="0"/>
          </a:p>
        </p:txBody>
      </p:sp>
      <p:sp>
        <p:nvSpPr>
          <p:cNvPr id="330" name="Text s5p"/>
          <p:cNvSpPr/>
          <p:nvPr/>
        </p:nvSpPr>
        <p:spPr>
          <a:xfrm>
            <a:off x="8531352" y="4050792"/>
            <a:ext cx="3136392" cy="914400"/>
          </a:xfrm>
          <a:prstGeom prst="rect">
            <a:avLst/>
          </a:prstGeom>
          <a:noFill/>
          <a:ln/>
        </p:spPr>
        <p:txBody>
          <a:bodyPr wrap="square" lIns="0" tIns="0" rIns="0" bIns="0" rtlCol="0" anchor="t"/>
          <a:lstStyle/>
          <a:p>
            <a:pPr indent="0" marL="0">
              <a:lnSpc>
                <a:spcPct val="115000"/>
              </a:lnSpc>
              <a:buNone/>
            </a:pPr>
            <a:r>
              <a:rPr lang="en-US" sz="1050" dirty="0">
                <a:solidFill>
                  <a:srgbClr val="FFFFFF"/>
                </a:solidFill>
                <a:latin typeface="Arial" pitchFamily="34" charset="0"/>
                <a:ea typeface="Arial" pitchFamily="34" charset="-122"/>
                <a:cs typeface="Arial" pitchFamily="34" charset="-120"/>
              </a:rPr>
              <a:t>Accept, vet further or decline every meeting. Shared CRM from day one, weekly reporting, monthly strategy calls. If something isn’t working, you hear it from us first.</a:t>
            </a:r>
            <a:endParaRPr lang="en-US" sz="1050" dirty="0"/>
          </a:p>
        </p:txBody>
      </p:sp>
      <p:sp>
        <p:nvSpPr>
          <p:cNvPr id="15" name="Shape 12"/>
          <p:cNvSpPr/>
          <p:nvPr/>
        </p:nvSpPr>
        <p:spPr>
          <a:xfrm>
            <a:off x="566928" y="5212080"/>
            <a:ext cx="11338560" cy="114300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5340096"/>
            <a:ext cx="2743200" cy="27432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THE FLOW</a:t>
            </a:r>
            <a:endParaRPr lang="en-US" sz="1400" dirty="0"/>
          </a:p>
        </p:txBody>
      </p:sp>
      <p:sp>
        <p:nvSpPr>
          <p:cNvPr id="17" name="Text 14"/>
          <p:cNvSpPr/>
          <p:nvPr/>
        </p:nvSpPr>
        <p:spPr>
          <a:xfrm>
            <a:off x="795528" y="5632704"/>
            <a:ext cx="10881360" cy="640080"/>
          </a:xfrm>
          <a:prstGeom prst="rect">
            <a:avLst/>
          </a:prstGeom>
          <a:noFill/>
          <a:ln/>
        </p:spPr>
        <p:txBody>
          <a:bodyPr wrap="square" lIns="0" tIns="0" rIns="0" bIns="0" rtlCol="0" anchor="t"/>
          <a:lstStyle/>
          <a:p>
            <a:pPr indent="0" marL="0">
              <a:lnSpc>
                <a:spcPct val="120000"/>
              </a:lnSpc>
              <a:buNone/>
            </a:pPr>
            <a:r>
              <a:rPr lang="en-US" sz="1200" dirty="0">
                <a:solidFill>
                  <a:srgbClr val="FFFFFF"/>
                </a:solidFill>
                <a:latin typeface="Arial" pitchFamily="34" charset="0"/>
                <a:ea typeface="Arial" pitchFamily="34" charset="-122"/>
                <a:cs typeface="Arial" pitchFamily="34" charset="-120"/>
              </a:rPr>
              <a:t>Multi-source data → signal filters → ICP scoring → manual review → pre-call qualification → your approval. Outreach only happens after the first four steps; a meeting only lands after all six. The briefing you receive before every call is on the next page.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The Call Briefing</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LANDS IN YOUR INBOX BEFORE EVERY MEETING  ·  A REAL ONE, NAMES WITHHELD</a:t>
            </a:r>
            <a:endParaRPr lang="en-US" sz="1400" dirty="0"/>
          </a:p>
        </p:txBody>
      </p:sp>
      <p:sp>
        <p:nvSpPr>
          <p:cNvPr id="331" name="Shape email"/>
          <p:cNvSpPr/>
          <p:nvPr/>
        </p:nvSpPr>
        <p:spPr>
          <a:xfrm>
            <a:off x="566928" y="1965960"/>
            <a:ext cx="7452360" cy="4617720"/>
          </a:xfrm>
          <a:prstGeom prst="roundRect">
            <a:avLst>
              <a:gd name="adj" fmla="val 2500"/>
            </a:avLst>
          </a:prstGeom>
          <a:solidFill>
            <a:srgbClr val="FFFFFF"/>
          </a:solidFill>
          <a:ln>
            <a:noFill/>
          </a:ln>
        </p:spPr>
      </p:sp>
      <p:sp>
        <p:nvSpPr>
          <p:cNvPr id="332" name="Text e-subj"/>
          <p:cNvSpPr txBox="1"/>
          <p:nvPr/>
        </p:nvSpPr>
        <p:spPr>
          <a:xfrm>
            <a:off x="822960" y="2103120"/>
            <a:ext cx="6940296" cy="256032"/>
          </a:xfrm>
          <a:prstGeom prst="rect">
            <a:avLst/>
          </a:prstGeom>
          <a:noFill/>
        </p:spPr>
        <p:txBody>
          <a:bodyPr wrap="square" lIns="0" tIns="0" rIns="0" bIns="0" rtlCol="0" anchor="t"/>
          <a:lstStyle/>
          <a:p>
            <a:pPr indent="0" marL="0">
              <a:lnSpc>
                <a:spcPct val="112000"/>
              </a:lnSpc>
              <a:spcAft>
                <a:spcPts val="300"/>
              </a:spcAft>
              <a:buNone/>
            </a:pPr>
            <a:r>
              <a:rPr lang="en-US" sz="1150" b="1" dirty="0">
                <a:solidFill>
                  <a:srgbClr val="1A1A2E"/>
                </a:solidFill>
                <a:latin typeface="Arial" pitchFamily="34" charset="0"/>
                <a:ea typeface="Arial" pitchFamily="34" charset="-122"/>
                <a:cs typeface="Arial" pitchFamily="34" charset="-120"/>
              </a:rPr>
              <a:t xml:space="preserve">CONFIRMED MEETING: New Scheduled Call – [Prospect]</a:t>
            </a:r>
            <a:endParaRPr lang="en-US" sz="1150" dirty="0"/>
          </a:p>
        </p:txBody>
      </p:sp>
      <p:sp>
        <p:nvSpPr>
          <p:cNvPr id="333" name="Text e-from"/>
          <p:cNvSpPr txBox="1"/>
          <p:nvPr/>
        </p:nvSpPr>
        <p:spPr>
          <a:xfrm>
            <a:off x="822960" y="2359152"/>
            <a:ext cx="6940296" cy="182880"/>
          </a:xfrm>
          <a:prstGeom prst="rect">
            <a:avLst/>
          </a:prstGeom>
          <a:noFill/>
        </p:spPr>
        <p:txBody>
          <a:bodyPr wrap="square" lIns="0" tIns="0" rIns="0" bIns="0" rtlCol="0" anchor="t"/>
          <a:lstStyle/>
          <a:p>
            <a:pPr indent="0" marL="0">
              <a:lnSpc>
                <a:spcPct val="112000"/>
              </a:lnSpc>
              <a:spcAft>
                <a:spcPts val="300"/>
              </a:spcAft>
              <a:buNone/>
            </a:pPr>
            <a:r>
              <a:rPr lang="en-US" sz="800" dirty="0">
                <a:solidFill>
                  <a:srgbClr val="5F6368"/>
                </a:solidFill>
                <a:latin typeface="Arial" pitchFamily="34" charset="0"/>
                <a:ea typeface="Arial" pitchFamily="34" charset="-122"/>
                <a:cs typeface="Arial" pitchFamily="34" charset="-120"/>
              </a:rPr>
              <a:t xml:space="preserve">From: your ThinkFISH account manager   ·   To: you   ·   Cc: Myra Grama, Freizle Abarrientos   ·   Thu, Sep 17, 2026, 6:26 PM</a:t>
            </a:r>
            <a:endParaRPr lang="en-US" sz="800" dirty="0"/>
          </a:p>
        </p:txBody>
      </p:sp>
      <p:sp>
        <p:nvSpPr>
          <p:cNvPr id="334" name="Shape e-rule"/>
          <p:cNvSpPr/>
          <p:nvPr/>
        </p:nvSpPr>
        <p:spPr>
          <a:xfrm>
            <a:off x="822960" y="2596896"/>
            <a:ext cx="6940296" cy="13716"/>
          </a:xfrm>
          <a:prstGeom prst="rect">
            <a:avLst/>
          </a:prstGeom>
          <a:solidFill>
            <a:srgbClr val="DADCE0"/>
          </a:solidFill>
          <a:ln>
            <a:noFill/>
          </a:ln>
        </p:spPr>
      </p:sp>
      <p:sp>
        <p:nvSpPr>
          <p:cNvPr id="335" name="Text e-2.94"/>
          <p:cNvSpPr txBox="1"/>
          <p:nvPr/>
        </p:nvSpPr>
        <p:spPr>
          <a:xfrm>
            <a:off x="822960" y="2688336"/>
            <a:ext cx="6940296" cy="640080"/>
          </a:xfrm>
          <a:prstGeom prst="rect">
            <a:avLst/>
          </a:prstGeom>
          <a:noFill/>
        </p:spPr>
        <p:txBody>
          <a:bodyPr wrap="square" lIns="0" tIns="0" rIns="0" bIns="0" rtlCol="0" anchor="t"/>
          <a:lstStyle/>
          <a:p>
            <a:pPr indent="0" marL="0">
              <a:lnSpc>
                <a:spcPct val="110000"/>
              </a:lnSpc>
              <a:spcAft>
                <a:spcPts val="150"/>
              </a:spcAft>
              <a:buNone/>
            </a:pPr>
            <a:r>
              <a:rPr lang="en-US" sz="850" dirty="0">
                <a:solidFill>
                  <a:srgbClr val="333333"/>
                </a:solidFill>
                <a:latin typeface="Arial" pitchFamily="34" charset="0"/>
                <a:ea typeface="Arial" pitchFamily="34" charset="-122"/>
                <a:cs typeface="Arial" pitchFamily="34" charset="-120"/>
              </a:rPr>
              <a:t xml:space="preserve">Here is the booking summary for your upcoming call with [Prospect] on Tuesday, September 22, at 5:30pm ET. This meeting came through outbound LinkedIn outreach, and is categorized under </a:t>
            </a:r>
            <a:r>
              <a:rPr lang="en-US" sz="850" b="1" dirty="0">
                <a:solidFill>
                  <a:srgbClr val="333333"/>
                </a:solidFill>
                <a:latin typeface="Arial" pitchFamily="34" charset="0"/>
                <a:ea typeface="Arial" pitchFamily="34" charset="-122"/>
                <a:cs typeface="Arial" pitchFamily="34" charset="-120"/>
              </a:rPr>
              <a:t xml:space="preserve">Segment A (Hospitality-Connected Investors)</a:t>
            </a:r>
            <a:r>
              <a:rPr lang="en-US" sz="850" dirty="0">
                <a:solidFill>
                  <a:srgbClr val="333333"/>
                </a:solidFill>
                <a:latin typeface="Arial" pitchFamily="34" charset="0"/>
                <a:ea typeface="Arial" pitchFamily="34" charset="-122"/>
                <a:cs typeface="Arial" pitchFamily="34" charset="-120"/>
              </a:rPr>
              <a:t xml:space="preserve">, with secondary alignment to </a:t>
            </a:r>
            <a:r>
              <a:rPr lang="en-US" sz="850" b="1" dirty="0">
                <a:solidFill>
                  <a:srgbClr val="333333"/>
                </a:solidFill>
                <a:latin typeface="Arial" pitchFamily="34" charset="0"/>
                <a:ea typeface="Arial" pitchFamily="34" charset="-122"/>
                <a:cs typeface="Arial" pitchFamily="34" charset="-120"/>
              </a:rPr>
              <a:t xml:space="preserve">Segment C (Operator-Turned-Investor / High-Income Professional)</a:t>
            </a:r>
            <a:r>
              <a:rPr lang="en-US" sz="850" dirty="0">
                <a:solidFill>
                  <a:srgbClr val="333333"/>
                </a:solidFill>
                <a:latin typeface="Arial" pitchFamily="34" charset="0"/>
                <a:ea typeface="Arial" pitchFamily="34" charset="-122"/>
                <a:cs typeface="Arial" pitchFamily="34" charset="-120"/>
              </a:rPr>
              <a:t xml:space="preserve">. He initially pushed back hard on the original pitch, questioning whether luggage storage footprint would move a hotel’s P&amp;L, then re-engaged and booked once the conversation was reframed around the raise and his advisory perspective rather than a property-pilot pitch.</a:t>
            </a:r>
            <a:endParaRPr lang="en-US" sz="850" dirty="0"/>
          </a:p>
        </p:txBody>
      </p:sp>
      <p:sp>
        <p:nvSpPr>
          <p:cNvPr id="336" name="Text e-3.78"/>
          <p:cNvSpPr txBox="1"/>
          <p:nvPr/>
        </p:nvSpPr>
        <p:spPr>
          <a:xfrm>
            <a:off x="822960" y="3456432"/>
            <a:ext cx="6940296" cy="86868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Summary of why he’s a good fit:</a:t>
            </a:r>
            <a:endParaRPr lang="en-US" sz="850" dirty="0"/>
          </a:p>
          <a:p>
            <a:pPr indent="0" marL="0">
              <a:lnSpc>
                <a:spcPct val="110000"/>
              </a:lnSpc>
              <a:spcAft>
                <a:spcPts val="150"/>
              </a:spcAft>
              <a:buNone/>
            </a:pPr>
            <a:r>
              <a:rPr lang="en-US" sz="850" dirty="0">
                <a:solidFill>
                  <a:srgbClr val="333333"/>
                </a:solidFill>
                <a:latin typeface="Arial" pitchFamily="34" charset="0"/>
                <a:ea typeface="Arial" pitchFamily="34" charset="-122"/>
                <a:cs typeface="Arial" pitchFamily="34" charset="-120"/>
              </a:rPr>
              <a:t xml:space="preserve">15+ years of senior hospitality brand leadership: Global Brand Director for Westin Hotels &amp; Resorts and Global Brand lead across Marriott’s premium and lifestyle portfolio, Director of Brand F&amp;B Development (Americas) at Hilton, and a stint at a VC-backed hospitality-tech startup. He now advises private clients across the hospitality sector. </a:t>
            </a:r>
            <a:r>
              <a:rPr lang="en-US" sz="850" b="1" dirty="0">
                <a:solidFill>
                  <a:srgbClr val="333333"/>
                </a:solidFill>
                <a:latin typeface="Arial" pitchFamily="34" charset="0"/>
                <a:ea typeface="Arial" pitchFamily="34" charset="-122"/>
                <a:cs typeface="Arial" pitchFamily="34" charset="-120"/>
              </a:rPr>
              <a:t xml:space="preserve">His own qualifying answers reflect that: he marked himself as not accredited but also selected a $25K–$50K check size, direct investment, and a 30–90 day timeline</a:t>
            </a:r>
            <a:r>
              <a:rPr lang="en-US" sz="850" dirty="0">
                <a:solidFill>
                  <a:srgbClr val="333333"/>
                </a:solidFill>
                <a:latin typeface="Arial" pitchFamily="34" charset="0"/>
                <a:ea typeface="Arial" pitchFamily="34" charset="-122"/>
                <a:cs typeface="Arial" pitchFamily="34" charset="-120"/>
              </a:rPr>
              <a:t xml:space="preserve">, an inconsistency worth being aware of going in. He also selected Advisor/Consultant as his partnership interest, so the call may land better framed as an operator/advisory conversation.</a:t>
            </a:r>
            <a:endParaRPr lang="en-US" sz="850" dirty="0"/>
          </a:p>
        </p:txBody>
      </p:sp>
      <p:sp>
        <p:nvSpPr>
          <p:cNvPr id="337" name="Text e-4.92"/>
          <p:cNvSpPr txBox="1"/>
          <p:nvPr/>
        </p:nvSpPr>
        <p:spPr>
          <a:xfrm>
            <a:off x="822960" y="4498848"/>
            <a:ext cx="6940296" cy="27432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Mutual Connections: </a:t>
            </a:r>
            <a:r>
              <a:rPr lang="en-US" sz="850" dirty="0">
                <a:solidFill>
                  <a:srgbClr val="333333"/>
                </a:solidFill>
                <a:latin typeface="Arial" pitchFamily="34" charset="0"/>
                <a:ea typeface="Arial" pitchFamily="34" charset="-122"/>
                <a:cs typeface="Arial" pitchFamily="34" charset="-120"/>
              </a:rPr>
              <a:t xml:space="preserve">Matthew and Cherryh.   </a:t>
            </a:r>
            <a:r>
              <a:rPr lang="en-US" sz="850" b="1" dirty="0">
                <a:solidFill>
                  <a:srgbClr val="1A1A2E"/>
                </a:solidFill>
                <a:latin typeface="Arial" pitchFamily="34" charset="0"/>
                <a:ea typeface="Arial" pitchFamily="34" charset="-122"/>
                <a:cs typeface="Arial" pitchFamily="34" charset="-120"/>
              </a:rPr>
              <a:t xml:space="preserve">Network Highlights: </a:t>
            </a:r>
            <a:r>
              <a:rPr lang="en-US" sz="850" dirty="0">
                <a:solidFill>
                  <a:srgbClr val="333333"/>
                </a:solidFill>
                <a:latin typeface="Arial" pitchFamily="34" charset="0"/>
                <a:ea typeface="Arial" pitchFamily="34" charset="-122"/>
                <a:cs typeface="Arial" pitchFamily="34" charset="-120"/>
              </a:rPr>
              <a:t xml:space="preserve">4,251 followers, active on LinkedIn engaging with colleagues’ career milestones; Cornell-affiliated.</a:t>
            </a:r>
            <a:endParaRPr lang="en-US" sz="850" dirty="0"/>
          </a:p>
        </p:txBody>
      </p:sp>
      <p:sp>
        <p:nvSpPr>
          <p:cNvPr id="338" name="Text e-5.3"/>
          <p:cNvSpPr txBox="1"/>
          <p:nvPr/>
        </p:nvSpPr>
        <p:spPr>
          <a:xfrm>
            <a:off x="822960" y="4846320"/>
            <a:ext cx="6940296" cy="512064"/>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Affiliations &amp; notable initiatives: </a:t>
            </a:r>
            <a:r>
              <a:rPr lang="en-US" sz="850" dirty="0">
                <a:solidFill>
                  <a:srgbClr val="333333"/>
                </a:solidFill>
                <a:latin typeface="Arial" pitchFamily="34" charset="0"/>
                <a:ea typeface="Arial" pitchFamily="34" charset="-122"/>
                <a:cs typeface="Arial" pitchFamily="34" charset="-120"/>
              </a:rPr>
              <a:t xml:space="preserve">VP, Strategy at a hospitality brand consultancy  ·  Former Global Brand Director, Westin Hotels &amp; Resorts (Marriott International)  ·  Former Director, Brand F&amp;B Development (Americas), Hilton  ·  Led global brand strategy across Westin, Sheraton, Autograph Collection, Le Méridien, Renaissance and Delta  ·  Part of a team that drove a 5x revenue increase with 40% margin expansion across 9 markets and 200,000+ hotel guest rooms.</a:t>
            </a:r>
            <a:endParaRPr lang="en-US" sz="850" dirty="0"/>
          </a:p>
        </p:txBody>
      </p:sp>
      <p:sp>
        <p:nvSpPr>
          <p:cNvPr id="339" name="Text e-5.96"/>
          <p:cNvSpPr txBox="1"/>
          <p:nvPr/>
        </p:nvSpPr>
        <p:spPr>
          <a:xfrm>
            <a:off x="822960" y="5449824"/>
            <a:ext cx="6940296" cy="713232"/>
          </a:xfrm>
          <a:prstGeom prst="rect">
            <a:avLst/>
          </a:prstGeom>
          <a:noFill/>
        </p:spPr>
        <p:txBody>
          <a:bodyPr wrap="square" lIns="0" tIns="0" rIns="0" bIns="0" rtlCol="0" anchor="t"/>
          <a:lstStyle/>
          <a:p>
            <a:pPr indent="0" marL="0">
              <a:lnSpc>
                <a:spcPct val="108000"/>
              </a:lnSpc>
              <a:spcAft>
                <a:spcPts val="100"/>
              </a:spcAft>
              <a:buNone/>
            </a:pPr>
            <a:r>
              <a:rPr lang="en-US" sz="800" b="1" dirty="0">
                <a:solidFill>
                  <a:srgbClr val="1A1A2E"/>
                </a:solidFill>
                <a:latin typeface="Arial" pitchFamily="34" charset="0"/>
                <a:ea typeface="Arial" pitchFamily="34" charset="-122"/>
                <a:cs typeface="Arial" pitchFamily="34" charset="-120"/>
              </a:rPr>
              <a:t xml:space="preserve">Conversation Thread:</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Prospect: </a:t>
            </a:r>
            <a:r>
              <a:rPr lang="en-US" sz="800" i="1" dirty="0">
                <a:solidFill>
                  <a:srgbClr val="333333"/>
                </a:solidFill>
                <a:latin typeface="Arial" pitchFamily="34" charset="0"/>
                <a:ea typeface="Arial" pitchFamily="34" charset="-122"/>
                <a:cs typeface="Arial" pitchFamily="34" charset="-120"/>
              </a:rPr>
              <a:t xml:space="preserve">“…Not sure the additional 50 sq meters a luggage storage room would change the hotel P&amp;L much if any. I’m no longer your target audience… Let me know if helpful to chat.”</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Founder: </a:t>
            </a:r>
            <a:r>
              <a:rPr lang="en-US" sz="800" i="1" dirty="0">
                <a:solidFill>
                  <a:srgbClr val="333333"/>
                </a:solidFill>
                <a:latin typeface="Arial" pitchFamily="34" charset="0"/>
                <a:ea typeface="Arial" pitchFamily="34" charset="-122"/>
                <a:cs typeface="Arial" pitchFamily="34" charset="-120"/>
              </a:rPr>
              <a:t xml:space="preserve">“…To be upfront, this outreach is part of a raise we’re running, not a property-pilot pitch… Given your background, I’d genuinely value your take on it from that angle.”</a:t>
            </a:r>
            <a:endParaRPr lang="en-US" sz="800" dirty="0"/>
          </a:p>
          <a:p>
            <a:pPr indent="0" marL="0">
              <a:lnSpc>
                <a:spcPct val="108000"/>
              </a:lnSpc>
              <a:spcAft>
                <a:spcPts val="100"/>
              </a:spcAft>
              <a:buNone/>
            </a:pPr>
            <a:r>
              <a:rPr lang="en-US" sz="800" b="1" i="1" dirty="0">
                <a:solidFill>
                  <a:srgbClr val="333333"/>
                </a:solidFill>
                <a:latin typeface="Arial" pitchFamily="34" charset="0"/>
                <a:ea typeface="Arial" pitchFamily="34" charset="-122"/>
                <a:cs typeface="Arial" pitchFamily="34" charset="-120"/>
              </a:rPr>
              <a:t xml:space="preserve">Prospect: </a:t>
            </a:r>
            <a:r>
              <a:rPr lang="en-US" sz="800" i="1" dirty="0">
                <a:solidFill>
                  <a:srgbClr val="333333"/>
                </a:solidFill>
                <a:latin typeface="Arial" pitchFamily="34" charset="0"/>
                <a:ea typeface="Arial" pitchFamily="34" charset="-122"/>
                <a:cs typeface="Arial" pitchFamily="34" charset="-120"/>
              </a:rPr>
              <a:t xml:space="preserve">“Love it. Let’s connect.”  …  “Perfect. Sent. Looking forward.”</a:t>
            </a:r>
            <a:endParaRPr lang="en-US" sz="800" dirty="0"/>
          </a:p>
        </p:txBody>
      </p:sp>
      <p:sp>
        <p:nvSpPr>
          <p:cNvPr id="340" name="Text e-6.86"/>
          <p:cNvSpPr txBox="1"/>
          <p:nvPr/>
        </p:nvSpPr>
        <p:spPr>
          <a:xfrm>
            <a:off x="822960" y="6272784"/>
            <a:ext cx="6940296" cy="182880"/>
          </a:xfrm>
          <a:prstGeom prst="rect">
            <a:avLst/>
          </a:prstGeom>
          <a:noFill/>
        </p:spPr>
        <p:txBody>
          <a:bodyPr wrap="square" lIns="0" tIns="0" rIns="0" bIns="0" rtlCol="0" anchor="t"/>
          <a:lstStyle/>
          <a:p>
            <a:pPr indent="0" marL="0">
              <a:lnSpc>
                <a:spcPct val="110000"/>
              </a:lnSpc>
              <a:spcAft>
                <a:spcPts val="150"/>
              </a:spcAft>
              <a:buNone/>
            </a:pPr>
            <a:r>
              <a:rPr lang="en-US" sz="850" b="1" dirty="0">
                <a:solidFill>
                  <a:srgbClr val="1A1A2E"/>
                </a:solidFill>
                <a:latin typeface="Arial" pitchFamily="34" charset="0"/>
                <a:ea typeface="Arial" pitchFamily="34" charset="-122"/>
                <a:cs typeface="Arial" pitchFamily="34" charset="-120"/>
              </a:rPr>
              <a:t xml:space="preserve">LinkedIn Profile: </a:t>
            </a:r>
            <a:r>
              <a:rPr lang="en-US" sz="850" dirty="0">
                <a:solidFill>
                  <a:srgbClr val="1A73E8"/>
                </a:solidFill>
                <a:latin typeface="Arial" pitchFamily="34" charset="0"/>
                <a:ea typeface="Arial" pitchFamily="34" charset="-122"/>
                <a:cs typeface="Arial" pitchFamily="34" charset="-120"/>
              </a:rPr>
              <a:t xml:space="preserve">full profile attached below</a:t>
            </a:r>
            <a:r>
              <a:rPr lang="en-US" sz="850" b="1" dirty="0">
                <a:solidFill>
                  <a:srgbClr val="1A1A2E"/>
                </a:solidFill>
                <a:latin typeface="Arial" pitchFamily="34" charset="0"/>
                <a:ea typeface="Arial" pitchFamily="34" charset="-122"/>
                <a:cs typeface="Arial" pitchFamily="34" charset="-120"/>
              </a:rPr>
              <a:t xml:space="preserve">     Calendly booking: </a:t>
            </a:r>
            <a:r>
              <a:rPr lang="en-US" sz="850" dirty="0">
                <a:solidFill>
                  <a:srgbClr val="1A73E8"/>
                </a:solidFill>
                <a:latin typeface="Arial" pitchFamily="34" charset="0"/>
                <a:ea typeface="Arial" pitchFamily="34" charset="-122"/>
                <a:cs typeface="Arial" pitchFamily="34" charset="-120"/>
              </a:rPr>
              <a:t xml:space="preserve">confirmed for Tue, Sep 22, 5:30pm ET</a:t>
            </a:r>
            <a:endParaRPr lang="en-US" sz="850" dirty="0"/>
          </a:p>
        </p:txBody>
      </p:sp>
      <p:sp>
        <p:nvSpPr>
          <p:cNvPr id="341" name="Shape arrow 2.94"/>
          <p:cNvSpPr/>
          <p:nvPr/>
        </p:nvSpPr>
        <p:spPr>
          <a:xfrm>
            <a:off x="8083296" y="2706624"/>
            <a:ext cx="329184" cy="182880"/>
          </a:xfrm>
          <a:prstGeom prst="leftArrow">
            <a:avLst/>
          </a:prstGeom>
          <a:solidFill>
            <a:srgbClr val="43D5FF"/>
          </a:solidFill>
          <a:ln>
            <a:noFill/>
          </a:ln>
        </p:spPr>
      </p:sp>
      <p:sp>
        <p:nvSpPr>
          <p:cNvPr id="342" name="Text co-l 2.94"/>
          <p:cNvSpPr txBox="1"/>
          <p:nvPr/>
        </p:nvSpPr>
        <p:spPr>
          <a:xfrm>
            <a:off x="8522208" y="2670048"/>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SEGMENT FIT, STATED</a:t>
            </a:r>
            <a:endParaRPr lang="en-US" sz="1050" dirty="0"/>
          </a:p>
        </p:txBody>
      </p:sp>
      <p:sp>
        <p:nvSpPr>
          <p:cNvPr id="343" name="Text co-t 2.94"/>
          <p:cNvSpPr txBox="1"/>
          <p:nvPr/>
        </p:nvSpPr>
        <p:spPr>
          <a:xfrm>
            <a:off x="8522208" y="2907792"/>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Which of your ICP segments they matched and how the conversation got to a booking, so nothing is a surprise on the call.</a:t>
            </a:r>
            <a:endParaRPr lang="en-US" sz="950" dirty="0"/>
          </a:p>
        </p:txBody>
      </p:sp>
      <p:sp>
        <p:nvSpPr>
          <p:cNvPr id="344" name="Shape arrow 4"/>
          <p:cNvSpPr/>
          <p:nvPr/>
        </p:nvSpPr>
        <p:spPr>
          <a:xfrm>
            <a:off x="8083296" y="3675888"/>
            <a:ext cx="329184" cy="182880"/>
          </a:xfrm>
          <a:prstGeom prst="leftArrow">
            <a:avLst/>
          </a:prstGeom>
          <a:solidFill>
            <a:srgbClr val="43D5FF"/>
          </a:solidFill>
          <a:ln>
            <a:noFill/>
          </a:ln>
        </p:spPr>
      </p:sp>
      <p:sp>
        <p:nvSpPr>
          <p:cNvPr id="345" name="Text co-l 4"/>
          <p:cNvSpPr txBox="1"/>
          <p:nvPr/>
        </p:nvSpPr>
        <p:spPr>
          <a:xfrm>
            <a:off x="8522208" y="3639312"/>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WHY THEY’RE WORTH YOUR TIME</a:t>
            </a:r>
            <a:endParaRPr lang="en-US" sz="1050" dirty="0"/>
          </a:p>
        </p:txBody>
      </p:sp>
      <p:sp>
        <p:nvSpPr>
          <p:cNvPr id="346" name="Text co-t 4"/>
          <p:cNvSpPr txBox="1"/>
          <p:nvPr/>
        </p:nvSpPr>
        <p:spPr>
          <a:xfrm>
            <a:off x="8522208" y="3877056"/>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Background, their own qualifying answers and an honest read on how to frame the call, inconsistencies included.</a:t>
            </a:r>
            <a:endParaRPr lang="en-US" sz="950" dirty="0"/>
          </a:p>
        </p:txBody>
      </p:sp>
      <p:sp>
        <p:nvSpPr>
          <p:cNvPr id="347" name="Shape arrow 5.14"/>
          <p:cNvSpPr/>
          <p:nvPr/>
        </p:nvSpPr>
        <p:spPr>
          <a:xfrm>
            <a:off x="8083296" y="4718304"/>
            <a:ext cx="329184" cy="182880"/>
          </a:xfrm>
          <a:prstGeom prst="leftArrow">
            <a:avLst/>
          </a:prstGeom>
          <a:solidFill>
            <a:srgbClr val="43D5FF"/>
          </a:solidFill>
          <a:ln>
            <a:noFill/>
          </a:ln>
        </p:spPr>
      </p:sp>
      <p:sp>
        <p:nvSpPr>
          <p:cNvPr id="348" name="Text co-l 5.14"/>
          <p:cNvSpPr txBox="1"/>
          <p:nvPr/>
        </p:nvSpPr>
        <p:spPr>
          <a:xfrm>
            <a:off x="8522208" y="4681728"/>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WARM PATHS IN + TRACK RECORD</a:t>
            </a:r>
            <a:endParaRPr lang="en-US" sz="1050" dirty="0"/>
          </a:p>
        </p:txBody>
      </p:sp>
      <p:sp>
        <p:nvSpPr>
          <p:cNvPr id="349" name="Text co-t 5.14"/>
          <p:cNvSpPr txBox="1"/>
          <p:nvPr/>
        </p:nvSpPr>
        <p:spPr>
          <a:xfrm>
            <a:off x="8522208" y="4919472"/>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Mutual connections, shared schools, roles, affiliations and initiatives that matter to you, each checked by a person.</a:t>
            </a:r>
            <a:endParaRPr lang="en-US" sz="950" dirty="0"/>
          </a:p>
        </p:txBody>
      </p:sp>
      <p:sp>
        <p:nvSpPr>
          <p:cNvPr id="350" name="Shape arrow 6.12"/>
          <p:cNvSpPr/>
          <p:nvPr/>
        </p:nvSpPr>
        <p:spPr>
          <a:xfrm>
            <a:off x="8083296" y="5614416"/>
            <a:ext cx="329184" cy="182880"/>
          </a:xfrm>
          <a:prstGeom prst="leftArrow">
            <a:avLst/>
          </a:prstGeom>
          <a:solidFill>
            <a:srgbClr val="43D5FF"/>
          </a:solidFill>
          <a:ln>
            <a:noFill/>
          </a:ln>
        </p:spPr>
      </p:sp>
      <p:sp>
        <p:nvSpPr>
          <p:cNvPr id="351" name="Text co-l 6.12"/>
          <p:cNvSpPr txBox="1"/>
          <p:nvPr/>
        </p:nvSpPr>
        <p:spPr>
          <a:xfrm>
            <a:off x="8522208" y="5577840"/>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THE WHOLE CONVERSATION</a:t>
            </a:r>
            <a:endParaRPr lang="en-US" sz="1050" dirty="0"/>
          </a:p>
        </p:txBody>
      </p:sp>
      <p:sp>
        <p:nvSpPr>
          <p:cNvPr id="352" name="Text co-t 6.12"/>
          <p:cNvSpPr txBox="1"/>
          <p:nvPr/>
        </p:nvSpPr>
        <p:spPr>
          <a:xfrm>
            <a:off x="8522208" y="5815584"/>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Every message exchanged, so you walk in knowing exactly what was said and promised.</a:t>
            </a:r>
            <a:endParaRPr lang="en-US" sz="950" dirty="0"/>
          </a:p>
        </p:txBody>
      </p:sp>
      <p:sp>
        <p:nvSpPr>
          <p:cNvPr id="353" name="Shape arrow 6.88"/>
          <p:cNvSpPr/>
          <p:nvPr/>
        </p:nvSpPr>
        <p:spPr>
          <a:xfrm>
            <a:off x="8083296" y="6309360"/>
            <a:ext cx="329184" cy="182880"/>
          </a:xfrm>
          <a:prstGeom prst="leftArrow">
            <a:avLst/>
          </a:prstGeom>
          <a:solidFill>
            <a:srgbClr val="43D5FF"/>
          </a:solidFill>
          <a:ln>
            <a:noFill/>
          </a:ln>
        </p:spPr>
      </p:sp>
      <p:sp>
        <p:nvSpPr>
          <p:cNvPr id="354" name="Text co-l 6.88"/>
          <p:cNvSpPr txBox="1"/>
          <p:nvPr/>
        </p:nvSpPr>
        <p:spPr>
          <a:xfrm>
            <a:off x="8522208" y="6272784"/>
            <a:ext cx="3108960" cy="219456"/>
          </a:xfrm>
          <a:prstGeom prst="rect">
            <a:avLst/>
          </a:prstGeom>
          <a:noFill/>
        </p:spPr>
        <p:txBody>
          <a:bodyPr wrap="square" lIns="0" tIns="0" rIns="0" bIns="0" rtlCol="0" anchor="t"/>
          <a:lstStyle/>
          <a:p>
            <a:pPr indent="0" marL="0">
              <a:lnSpc>
                <a:spcPct val="112000"/>
              </a:lnSpc>
              <a:spcAft>
                <a:spcPts val="300"/>
              </a:spcAft>
              <a:buNone/>
            </a:pPr>
            <a:r>
              <a:rPr lang="en-US" sz="1050" b="1" dirty="0">
                <a:solidFill>
                  <a:srgbClr val="43D5FF"/>
                </a:solidFill>
                <a:latin typeface="Arial" pitchFamily="34" charset="0"/>
                <a:ea typeface="Arial" pitchFamily="34" charset="-122"/>
                <a:cs typeface="Arial" pitchFamily="34" charset="-120"/>
              </a:rPr>
              <a:t xml:space="preserve">PROFILE + BOOKING</a:t>
            </a:r>
            <a:endParaRPr lang="en-US" sz="1050" dirty="0"/>
          </a:p>
        </p:txBody>
      </p:sp>
      <p:sp>
        <p:nvSpPr>
          <p:cNvPr id="355" name="Text co-t 6.88"/>
          <p:cNvSpPr txBox="1"/>
          <p:nvPr/>
        </p:nvSpPr>
        <p:spPr>
          <a:xfrm>
            <a:off x="8522208" y="6510528"/>
            <a:ext cx="3108960" cy="566928"/>
          </a:xfrm>
          <a:prstGeom prst="rect">
            <a:avLst/>
          </a:prstGeom>
          <a:noFill/>
        </p:spPr>
        <p:txBody>
          <a:bodyPr wrap="square" lIns="0" tIns="0" rIns="0" bIns="0" rtlCol="0" anchor="t"/>
          <a:lstStyle/>
          <a:p>
            <a:pPr indent="0" marL="0">
              <a:lnSpc>
                <a:spcPct val="110000"/>
              </a:lnSpc>
              <a:spcAft>
                <a:spcPts val="0"/>
              </a:spcAft>
              <a:buNone/>
            </a:pPr>
            <a:r>
              <a:rPr lang="en-US" sz="950" dirty="0">
                <a:solidFill>
                  <a:srgbClr val="FFFFFF"/>
                </a:solidFill>
                <a:latin typeface="Arial" pitchFamily="34" charset="0"/>
                <a:ea typeface="Arial" pitchFamily="34" charset="-122"/>
                <a:cs typeface="Arial" pitchFamily="34" charset="-120"/>
              </a:rPr>
              <a:t xml:space="preserve">Full profile attached; the slot is already on your calendar.</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 To Expect</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VOLUME, MEETINGS, TIMING</a:t>
            </a:r>
            <a:endParaRPr lang="en-US" sz="1400" dirty="0"/>
          </a:p>
        </p:txBody>
      </p:sp>
      <p:sp>
        <p:nvSpPr>
          <p:cNvPr id="6" name="Shape 3"/>
          <p:cNvSpPr/>
          <p:nvPr/>
        </p:nvSpPr>
        <p:spPr>
          <a:xfrm>
            <a:off x="566928"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7" name="Text 4"/>
          <p:cNvSpPr/>
          <p:nvPr/>
        </p:nvSpPr>
        <p:spPr>
          <a:xfrm>
            <a:off x="795528"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OUTREACH VOLUME</a:t>
            </a:r>
            <a:endParaRPr lang="en-US" sz="1250" dirty="0"/>
          </a:p>
        </p:txBody>
      </p:sp>
      <p:sp>
        <p:nvSpPr>
          <p:cNvPr id="8" name="Text 5"/>
          <p:cNvSpPr/>
          <p:nvPr/>
        </p:nvSpPr>
        <p:spPr>
          <a:xfrm>
            <a:off x="795528"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2,400+</a:t>
            </a:r>
            <a:endParaRPr lang="en-US" sz="4400" dirty="0"/>
          </a:p>
        </p:txBody>
      </p:sp>
      <p:sp>
        <p:nvSpPr>
          <p:cNvPr id="9" name="Text 6"/>
          <p:cNvSpPr/>
          <p:nvPr/>
        </p:nvSpPr>
        <p:spPr>
          <a:xfrm>
            <a:off x="795528"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LinkedIn touches / month, two profiles</a:t>
            </a:r>
            <a:endParaRPr lang="en-US" sz="1100" dirty="0"/>
          </a:p>
        </p:txBody>
      </p:sp>
      <p:sp>
        <p:nvSpPr>
          <p:cNvPr id="10" name="Text 7"/>
          <p:cNvSpPr/>
          <p:nvPr/>
        </p:nvSpPr>
        <p:spPr>
          <a:xfrm>
            <a:off x="795528"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We aim to send 600–800 InMails and 600–800 connection invites per profile every month, from Davis’s and Charlie’s accounts, once they’re fully warmed up. Every touch is scored and hand-reviewed before it goes out.</a:t>
            </a:r>
            <a:endParaRPr lang="en-US" sz="1050" dirty="0"/>
          </a:p>
        </p:txBody>
      </p:sp>
      <p:sp>
        <p:nvSpPr>
          <p:cNvPr id="11" name="Shape 8"/>
          <p:cNvSpPr/>
          <p:nvPr/>
        </p:nvSpPr>
        <p:spPr>
          <a:xfrm>
            <a:off x="4434840"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2" name="Text 9"/>
          <p:cNvSpPr/>
          <p:nvPr/>
        </p:nvSpPr>
        <p:spPr>
          <a:xfrm>
            <a:off x="4663440"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QUALIFIED MEETINGS</a:t>
            </a:r>
            <a:endParaRPr lang="en-US" sz="1250" dirty="0"/>
          </a:p>
        </p:txBody>
      </p:sp>
      <p:sp>
        <p:nvSpPr>
          <p:cNvPr id="13" name="Text 10"/>
          <p:cNvSpPr/>
          <p:nvPr/>
        </p:nvSpPr>
        <p:spPr>
          <a:xfrm>
            <a:off x="4663440"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2–4</a:t>
            </a:r>
            <a:endParaRPr lang="en-US" sz="4400" dirty="0"/>
          </a:p>
        </p:txBody>
      </p:sp>
      <p:sp>
        <p:nvSpPr>
          <p:cNvPr id="14" name="Text 11"/>
          <p:cNvSpPr/>
          <p:nvPr/>
        </p:nvSpPr>
        <p:spPr>
          <a:xfrm>
            <a:off x="4663440"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per week at steady state (month 2 onward)</a:t>
            </a:r>
            <a:endParaRPr lang="en-US" sz="1100" dirty="0"/>
          </a:p>
        </p:txBody>
      </p:sp>
      <p:sp>
        <p:nvSpPr>
          <p:cNvPr id="15" name="Text 12"/>
          <p:cNvSpPr/>
          <p:nvPr/>
        </p:nvSpPr>
        <p:spPr>
          <a:xfrm>
            <a:off x="4663440"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Conservatively 1–2 per profile per week once calibrated, and strong audiences run more. It’s not a guarantee, but it’s the range we deliver consistently. Every meeting goes to Davis.</a:t>
            </a:r>
            <a:endParaRPr lang="en-US" sz="1050" dirty="0"/>
          </a:p>
        </p:txBody>
      </p:sp>
      <p:sp>
        <p:nvSpPr>
          <p:cNvPr id="16" name="Shape 13"/>
          <p:cNvSpPr/>
          <p:nvPr/>
        </p:nvSpPr>
        <p:spPr>
          <a:xfrm>
            <a:off x="8302752"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7" name="Text 14"/>
          <p:cNvSpPr/>
          <p:nvPr/>
        </p:nvSpPr>
        <p:spPr>
          <a:xfrm>
            <a:off x="8531352"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TIME TO FIRST MEETINGS</a:t>
            </a:r>
            <a:endParaRPr lang="en-US" sz="1250" dirty="0"/>
          </a:p>
        </p:txBody>
      </p:sp>
      <p:sp>
        <p:nvSpPr>
          <p:cNvPr id="18" name="Text 15"/>
          <p:cNvSpPr/>
          <p:nvPr/>
        </p:nvSpPr>
        <p:spPr>
          <a:xfrm>
            <a:off x="8531352"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3–4</a:t>
            </a:r>
            <a:endParaRPr lang="en-US" sz="4400" dirty="0"/>
          </a:p>
        </p:txBody>
      </p:sp>
      <p:sp>
        <p:nvSpPr>
          <p:cNvPr id="19" name="Text 16"/>
          <p:cNvSpPr/>
          <p:nvPr/>
        </p:nvSpPr>
        <p:spPr>
          <a:xfrm>
            <a:off x="8531352"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weeks from kickoff to first booked calls</a:t>
            </a:r>
            <a:endParaRPr lang="en-US" sz="1100" dirty="0"/>
          </a:p>
        </p:txBody>
      </p:sp>
      <p:sp>
        <p:nvSpPr>
          <p:cNvPr id="20" name="Text 17"/>
          <p:cNvSpPr/>
          <p:nvPr/>
        </p:nvSpPr>
        <p:spPr>
          <a:xfrm>
            <a:off x="8531352"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Weeks one and two are setup: ICP, audiences, scripts and profile warm-up. Live outreach starts in week three, and the first replies and bookings follow within days.</a:t>
            </a:r>
            <a:endParaRPr lang="en-US" sz="1050" dirty="0"/>
          </a:p>
        </p:txBody>
      </p:sp>
      <p:sp>
        <p:nvSpPr>
          <p:cNvPr id="21" name="Shape 18"/>
          <p:cNvSpPr/>
          <p:nvPr/>
        </p:nvSpPr>
        <p:spPr>
          <a:xfrm>
            <a:off x="566928" y="4846320"/>
            <a:ext cx="11338560" cy="1463040"/>
          </a:xfrm>
          <a:prstGeom prst="roundRect">
            <a:avLst>
              <a:gd name="adj" fmla="val 5625"/>
            </a:avLst>
          </a:prstGeom>
          <a:solidFill>
            <a:srgbClr val="0D0D26">
              <a:alpha val="55000"/>
            </a:srgbClr>
          </a:solidFill>
          <a:ln w="9525">
            <a:solidFill>
              <a:srgbClr val="31316A">
                <a:alpha val="75000"/>
              </a:srgbClr>
            </a:solidFill>
            <a:prstDash val="solid"/>
          </a:ln>
        </p:spPr>
      </p:sp>
      <p:sp>
        <p:nvSpPr>
          <p:cNvPr id="22" name="Text 19"/>
          <p:cNvSpPr/>
          <p:nvPr/>
        </p:nvSpPr>
        <p:spPr>
          <a:xfrm>
            <a:off x="795528" y="5010912"/>
            <a:ext cx="1088136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WHAT “QUALIFIED” MEANS, AND THE HONEST TIMELINE</a:t>
            </a:r>
            <a:endParaRPr lang="en-US" sz="1200" dirty="0"/>
          </a:p>
        </p:txBody>
      </p:sp>
      <p:sp>
        <p:nvSpPr>
          <p:cNvPr id="23" name="Text 20"/>
          <p:cNvSpPr/>
          <p:nvPr/>
        </p:nvSpPr>
        <p:spPr>
          <a:xfrm>
            <a:off x="795528" y="5321808"/>
            <a:ext cx="10881360" cy="868680"/>
          </a:xfrm>
          <a:prstGeom prst="rect">
            <a:avLst/>
          </a:prstGeom>
          <a:noFill/>
          <a:ln/>
        </p:spPr>
        <p:txBody>
          <a:bodyPr wrap="square" lIns="0" tIns="0" rIns="0" bIns="0" rtlCol="0" anchor="t"/>
          <a:lstStyle/>
          <a:p>
            <a:pPr indent="0" marL="0">
              <a:lnSpc>
                <a:spcPct val="125000"/>
              </a:lnSpc>
              <a:buNone/>
            </a:pPr>
            <a:r>
              <a:rPr lang="en-US" sz="1150" dirty="0">
                <a:solidFill>
                  <a:srgbClr val="FFFFFF"/>
                </a:solidFill>
                <a:latin typeface="Arial" pitchFamily="34" charset="0"/>
                <a:ea typeface="Arial" pitchFamily="34" charset="-122"/>
                <a:cs typeface="Arial" pitchFamily="34" charset="-120"/>
              </a:rPr>
              <a:t>A qualified meeting is a high-net-worth individual, fund or family office with a verified history of similar investments, who passed scoring and human review, completed the self-qualification form on booking, and whose briefing you approved. Pre-revenue raises historically take 6–12 months from first outreach to capital in the bank. We’ll have the right investors on your calendars quickly; the close depends on your process and their diligence, and we’d rather you hear that from us now.</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First 90 Days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HAPPENS, AND WHEN</a:t>
            </a:r>
            <a:endParaRPr lang="en-US" sz="1400" dirty="0"/>
          </a:p>
        </p:txBody>
      </p:sp>
      <p:sp>
        <p:nvSpPr>
          <p:cNvPr id="6" name="Shape 3"/>
          <p:cNvSpPr/>
          <p:nvPr/>
        </p:nvSpPr>
        <p:spPr>
          <a:xfrm>
            <a:off x="56692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7" name="Text 4"/>
          <p:cNvSpPr/>
          <p:nvPr/>
        </p:nvSpPr>
        <p:spPr>
          <a:xfrm>
            <a:off x="76809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WEEKS 1-2  ·  LATE OCT</a:t>
            </a:r>
            <a:endParaRPr lang="en-US" sz="1200" dirty="0"/>
          </a:p>
        </p:txBody>
      </p:sp>
      <p:sp>
        <p:nvSpPr>
          <p:cNvPr id="8" name="Text 5"/>
          <p:cNvSpPr/>
          <p:nvPr/>
        </p:nvSpPr>
        <p:spPr>
          <a:xfrm>
            <a:off x="76809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Setup &amp; Calibration</a:t>
            </a:r>
            <a:endParaRPr lang="en-US" sz="1600" dirty="0"/>
          </a:p>
        </p:txBody>
      </p:sp>
      <p:sp>
        <p:nvSpPr>
          <p:cNvPr id="9" name="Text 6"/>
          <p:cNvSpPr/>
          <p:nvPr/>
        </p:nvSpPr>
        <p:spPr>
          <a:xfrm>
            <a:off x="76809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Interviews: Davis, then Charlie</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Investor ICP, two audiences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Profiles optimized &amp; warmed</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Scripts approved in your voice</a:t>
            </a:r>
            <a:endParaRPr lang="en-US" sz="1150" dirty="0"/>
          </a:p>
        </p:txBody>
      </p:sp>
      <p:sp>
        <p:nvSpPr>
          <p:cNvPr id="10" name="Shape 7"/>
          <p:cNvSpPr/>
          <p:nvPr/>
        </p:nvSpPr>
        <p:spPr>
          <a:xfrm>
            <a:off x="344728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1" name="Text 8"/>
          <p:cNvSpPr/>
          <p:nvPr/>
        </p:nvSpPr>
        <p:spPr>
          <a:xfrm>
            <a:off x="364845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WEEKS 3-4  ·  MID NOV</a:t>
            </a:r>
            <a:endParaRPr lang="en-US" sz="1200" dirty="0"/>
          </a:p>
        </p:txBody>
      </p:sp>
      <p:sp>
        <p:nvSpPr>
          <p:cNvPr id="12" name="Text 9"/>
          <p:cNvSpPr/>
          <p:nvPr/>
        </p:nvSpPr>
        <p:spPr>
          <a:xfrm>
            <a:off x="364845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First Live Outreach</a:t>
            </a:r>
            <a:endParaRPr lang="en-US" sz="1600" dirty="0"/>
          </a:p>
        </p:txBody>
      </p:sp>
      <p:sp>
        <p:nvSpPr>
          <p:cNvPr id="13" name="Text 10"/>
          <p:cNvSpPr/>
          <p:nvPr/>
        </p:nvSpPr>
        <p:spPr>
          <a:xfrm>
            <a:off x="364845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Live on both LinkedIn profiles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First replies, first booked meetings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A/B tests on openers by segment</a:t>
            </a:r>
            <a:endParaRPr lang="en-US" sz="1150" dirty="0"/>
          </a:p>
        </p:txBody>
      </p:sp>
      <p:sp>
        <p:nvSpPr>
          <p:cNvPr id="14" name="Shape 11"/>
          <p:cNvSpPr/>
          <p:nvPr/>
        </p:nvSpPr>
        <p:spPr>
          <a:xfrm>
            <a:off x="632764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5" name="Text 12"/>
          <p:cNvSpPr/>
          <p:nvPr/>
        </p:nvSpPr>
        <p:spPr>
          <a:xfrm>
            <a:off x="652881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MONTH 2  ·  DECEMBER</a:t>
            </a:r>
            <a:endParaRPr lang="en-US" sz="1200" dirty="0"/>
          </a:p>
        </p:txBody>
      </p:sp>
      <p:sp>
        <p:nvSpPr>
          <p:cNvPr id="16" name="Text 13"/>
          <p:cNvSpPr/>
          <p:nvPr/>
        </p:nvSpPr>
        <p:spPr>
          <a:xfrm>
            <a:off x="652881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Steady Flow</a:t>
            </a:r>
            <a:endParaRPr lang="en-US" sz="1600" dirty="0"/>
          </a:p>
        </p:txBody>
      </p:sp>
      <p:sp>
        <p:nvSpPr>
          <p:cNvPr id="17" name="Text 14"/>
          <p:cNvSpPr/>
          <p:nvPr/>
        </p:nvSpPr>
        <p:spPr>
          <a:xfrm>
            <a:off x="652881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Steady weekly flow to Davis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Targeting tightened on real replies</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Segment reporting: what converts</a:t>
            </a:r>
            <a:endParaRPr lang="en-US" sz="1150" dirty="0"/>
          </a:p>
        </p:txBody>
      </p:sp>
      <p:sp>
        <p:nvSpPr>
          <p:cNvPr id="18" name="Shape 15"/>
          <p:cNvSpPr/>
          <p:nvPr/>
        </p:nvSpPr>
        <p:spPr>
          <a:xfrm>
            <a:off x="9208008" y="2148840"/>
            <a:ext cx="2724912" cy="2642616"/>
          </a:xfrm>
          <a:prstGeom prst="roundRect">
            <a:avLst>
              <a:gd name="adj" fmla="val 3114"/>
            </a:avLst>
          </a:prstGeom>
          <a:solidFill>
            <a:srgbClr val="0D0D26">
              <a:alpha val="55000"/>
            </a:srgbClr>
          </a:solidFill>
          <a:ln w="9525">
            <a:solidFill>
              <a:srgbClr val="31316A">
                <a:alpha val="75000"/>
              </a:srgbClr>
            </a:solidFill>
            <a:prstDash val="solid"/>
          </a:ln>
        </p:spPr>
      </p:sp>
      <p:sp>
        <p:nvSpPr>
          <p:cNvPr id="19" name="Text 16"/>
          <p:cNvSpPr/>
          <p:nvPr/>
        </p:nvSpPr>
        <p:spPr>
          <a:xfrm>
            <a:off x="9409176" y="2350008"/>
            <a:ext cx="2322576" cy="292608"/>
          </a:xfrm>
          <a:prstGeom prst="rect">
            <a:avLst/>
          </a:prstGeom>
          <a:noFill/>
          <a:ln/>
        </p:spPr>
        <p:txBody>
          <a:bodyPr wrap="square" lIns="0" tIns="0" rIns="0" bIns="0" rtlCol="0" anchor="ctr"/>
          <a:lstStyle/>
          <a:p>
            <a:pPr indent="0" marL="0">
              <a:buNone/>
            </a:pPr>
            <a:r>
              <a:rPr lang="en-US" sz="1200" b="1" spc="100" kern="0" dirty="0">
                <a:solidFill>
                  <a:srgbClr val="43D5FF"/>
                </a:solidFill>
                <a:latin typeface="Arial" pitchFamily="34" charset="0"/>
                <a:ea typeface="Arial" pitchFamily="34" charset="-122"/>
                <a:cs typeface="Arial" pitchFamily="34" charset="-120"/>
              </a:rPr>
              <a:t>MONTH 3  ·  JANUARY</a:t>
            </a:r>
            <a:endParaRPr lang="en-US" sz="1200" dirty="0"/>
          </a:p>
        </p:txBody>
      </p:sp>
      <p:sp>
        <p:nvSpPr>
          <p:cNvPr id="20" name="Text 17"/>
          <p:cNvSpPr/>
          <p:nvPr/>
        </p:nvSpPr>
        <p:spPr>
          <a:xfrm>
            <a:off x="9409176" y="2660904"/>
            <a:ext cx="2322576" cy="566928"/>
          </a:xfrm>
          <a:prstGeom prst="rect">
            <a:avLst/>
          </a:prstGeom>
          <a:noFill/>
          <a:ln/>
        </p:spPr>
        <p:txBody>
          <a:bodyPr wrap="square" lIns="0" tIns="0" rIns="0" bIns="0" rtlCol="0" anchor="t"/>
          <a:lstStyle/>
          <a:p>
            <a:pPr indent="0" marL="0">
              <a:buNone/>
            </a:pPr>
            <a:r>
              <a:rPr lang="en-US" sz="1600" b="1" dirty="0">
                <a:solidFill>
                  <a:srgbClr val="FFFFFF"/>
                </a:solidFill>
                <a:latin typeface="Arial" pitchFamily="34" charset="0"/>
                <a:ea typeface="Arial" pitchFamily="34" charset="-122"/>
                <a:cs typeface="Arial" pitchFamily="34" charset="-120"/>
              </a:rPr>
              <a:t>Prove-Out &amp; Scale</a:t>
            </a:r>
            <a:endParaRPr lang="en-US" sz="1600" dirty="0"/>
          </a:p>
        </p:txBody>
      </p:sp>
      <p:sp>
        <p:nvSpPr>
          <p:cNvPr id="21" name="Text 18"/>
          <p:cNvSpPr/>
          <p:nvPr/>
        </p:nvSpPr>
        <p:spPr>
          <a:xfrm>
            <a:off x="9409176" y="3337560"/>
            <a:ext cx="2359152" cy="1225296"/>
          </a:xfrm>
          <a:prstGeom prst="rect">
            <a:avLst/>
          </a:prstGeom>
          <a:noFill/>
          <a:ln/>
        </p:spPr>
        <p:txBody>
          <a:bodyPr wrap="square" lIns="0" tIns="0" rIns="0" bIns="0" rtlCol="0" anchor="t"/>
          <a:lstStyle/>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Review of three months of data</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Pipeline mapped against the Q1 close</a:t>
            </a:r>
            <a:endParaRPr lang="en-US" sz="1150" dirty="0"/>
          </a:p>
          <a:p>
            <a:pPr marL="127000" indent="-127000">
              <a:lnSpc>
                <a:spcPct val="110000"/>
              </a:lnSpc>
              <a:spcAft>
                <a:spcPts val="800"/>
              </a:spcAft>
              <a:buSzPct val="100000"/>
              <a:buChar char="•"/>
            </a:pPr>
            <a:r>
              <a:rPr lang="en-US" sz="1150" dirty="0">
                <a:solidFill>
                  <a:srgbClr val="FFFFFF"/>
                </a:solidFill>
                <a:latin typeface="Arial" pitchFamily="34" charset="0"/>
                <a:ea typeface="Arial" pitchFamily="34" charset="-122"/>
                <a:cs typeface="Arial" pitchFamily="34" charset="-120"/>
              </a:rPr>
              <a:t>Continue, scale or stop</a:t>
            </a:r>
            <a:endParaRPr lang="en-US" sz="1150" dirty="0"/>
          </a:p>
        </p:txBody>
      </p:sp>
      <p:sp>
        <p:nvSpPr>
          <p:cNvPr id="356" name="Shape 20"/>
          <p:cNvSpPr/>
          <p:nvPr/>
        </p:nvSpPr>
        <p:spPr>
          <a:xfrm>
            <a:off x="566928" y="5029200"/>
            <a:ext cx="11338560" cy="1325880"/>
          </a:xfrm>
          <a:prstGeom prst="roundRect">
            <a:avLst>
              <a:gd name="adj" fmla="val 4865"/>
            </a:avLst>
          </a:prstGeom>
          <a:solidFill>
            <a:srgbClr val="0D0D26">
              <a:alpha val="55000"/>
            </a:srgbClr>
          </a:solidFill>
          <a:ln w="9525">
            <a:solidFill>
              <a:srgbClr val="31316A">
                <a:alpha val="75000"/>
              </a:srgbClr>
            </a:solidFill>
            <a:prstDash val="solid"/>
          </a:ln>
        </p:spPr>
      </p:sp>
      <p:sp>
        <p:nvSpPr>
          <p:cNvPr id="357" name="Text 21"/>
          <p:cNvSpPr/>
          <p:nvPr/>
        </p:nvSpPr>
        <p:spPr>
          <a:xfrm>
            <a:off x="795528" y="5175504"/>
            <a:ext cx="54864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THE JANUARY CHECKPOINT</a:t>
            </a:r>
            <a:endParaRPr lang="en-US" sz="1400" dirty="0"/>
          </a:p>
        </p:txBody>
      </p:sp>
      <p:sp>
        <p:nvSpPr>
          <p:cNvPr id="358" name="Text 22"/>
          <p:cNvSpPr/>
          <p:nvPr/>
        </p:nvSpPr>
        <p:spPr>
          <a:xfrm>
            <a:off x="795528" y="5504688"/>
            <a:ext cx="10881360" cy="77724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By the January review you’ll have three months of real numbers on audience quality, meeting quality and which segments convert, with the pipeline laid against your Q1 target. That’s the end of the initial term: continue, scale (add a profile, or point the same engine at manufacturing and co-development partners) or stop. The decision gets made on data, not faith.</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Pricing</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FLAT RETAINER. NO SETUP FEES, NO SUCCESS FEES, NO SURPRISES.</a:t>
            </a:r>
            <a:endParaRPr lang="en-US" sz="1400" dirty="0"/>
          </a:p>
        </p:txBody>
      </p:sp>
      <p:sp>
        <p:nvSpPr>
          <p:cNvPr id="6" name="Shape 3"/>
          <p:cNvSpPr/>
          <p:nvPr/>
        </p:nvSpPr>
        <p:spPr>
          <a:xfrm>
            <a:off x="566928" y="2148840"/>
            <a:ext cx="5532120" cy="4114800"/>
          </a:xfrm>
          <a:prstGeom prst="roundRect">
            <a:avLst>
              <a:gd name="adj" fmla="val 2000"/>
            </a:avLst>
          </a:prstGeom>
          <a:solidFill>
            <a:srgbClr val="0D0D26">
              <a:alpha val="55000"/>
            </a:srgbClr>
          </a:solidFill>
          <a:ln w="9525">
            <a:solidFill>
              <a:srgbClr val="31316A">
                <a:alpha val="75000"/>
              </a:srgbClr>
            </a:solidFill>
            <a:prstDash val="solid"/>
          </a:ln>
        </p:spPr>
      </p:sp>
      <p:sp>
        <p:nvSpPr>
          <p:cNvPr id="7" name="Text 4"/>
          <p:cNvSpPr/>
          <p:nvPr/>
        </p:nvSpPr>
        <p:spPr>
          <a:xfrm>
            <a:off x="886968" y="2423160"/>
            <a:ext cx="4892040" cy="292608"/>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THINKFISH FUNDRAISING  ·  DONE-FOR-YOU</a:t>
            </a:r>
            <a:endParaRPr lang="en-US" sz="1300" dirty="0"/>
          </a:p>
        </p:txBody>
      </p:sp>
      <p:sp>
        <p:nvSpPr>
          <p:cNvPr id="8" name="Text 5"/>
          <p:cNvSpPr/>
          <p:nvPr/>
        </p:nvSpPr>
        <p:spPr>
          <a:xfrm>
            <a:off x="886968" y="2770632"/>
            <a:ext cx="4892040" cy="731520"/>
          </a:xfrm>
          <a:prstGeom prst="rect">
            <a:avLst/>
          </a:prstGeom>
          <a:noFill/>
          <a:ln/>
        </p:spPr>
        <p:txBody>
          <a:bodyPr wrap="square" lIns="0" tIns="0" rIns="0" bIns="0" rtlCol="0" anchor="ctr"/>
          <a:lstStyle/>
          <a:p>
            <a:pPr indent="0" marL="0">
              <a:buNone/>
            </a:pPr>
            <a:r>
              <a:rPr lang="en-US" sz="4000" b="1" dirty="0">
                <a:solidFill>
                  <a:srgbClr val="FFFFFF"/>
                </a:solidFill>
                <a:latin typeface="Arial" pitchFamily="34" charset="0"/>
                <a:ea typeface="Arial" pitchFamily="34" charset="-122"/>
                <a:cs typeface="Arial" pitchFamily="34" charset="-120"/>
              </a:rPr>
              <a:t>$3,000</a:t>
            </a:r>
            <a:r>
              <a:rPr lang="en-US" sz="1400" dirty="0">
                <a:solidFill>
                  <a:srgbClr val="B9BEDC"/>
                </a:solidFill>
                <a:latin typeface="Arial" pitchFamily="34" charset="0"/>
                <a:ea typeface="Arial" pitchFamily="34" charset="-122"/>
                <a:cs typeface="Arial" pitchFamily="34" charset="-120"/>
              </a:rPr>
              <a:t xml:space="preserve">  / month</a:t>
            </a:r>
          </a:p>
        </p:txBody>
      </p:sp>
      <p:sp>
        <p:nvSpPr>
          <p:cNvPr id="9" name="Text 6"/>
          <p:cNvSpPr/>
          <p:nvPr/>
        </p:nvSpPr>
        <p:spPr>
          <a:xfrm>
            <a:off x="886968" y="3520440"/>
            <a:ext cx="4892040" cy="320040"/>
          </a:xfrm>
          <a:prstGeom prst="rect">
            <a:avLst/>
          </a:prstGeom>
          <a:noFill/>
          <a:ln/>
        </p:spPr>
        <p:txBody>
          <a:bodyPr wrap="square" lIns="0" tIns="0" rIns="0" bIns="0" rtlCol="0" anchor="ctr"/>
          <a:lstStyle/>
          <a:p>
            <a:pPr indent="0" marL="0">
              <a:buNone/>
            </a:pPr>
            <a:r>
              <a:rPr lang="en-US" sz="1200" i="1" dirty="0">
                <a:solidFill>
                  <a:srgbClr val="B9BEDC"/>
                </a:solidFill>
                <a:latin typeface="Arial" pitchFamily="34" charset="0"/>
                <a:ea typeface="Arial" pitchFamily="34" charset="-122"/>
                <a:cs typeface="Arial" pitchFamily="34" charset="-120"/>
              </a:rPr>
              <a:t>3-month initial term  ·  Both profiles included  ·  No success fee</a:t>
            </a:r>
            <a:endParaRPr lang="en-US" sz="1200" dirty="0"/>
          </a:p>
        </p:txBody>
      </p:sp>
      <p:sp>
        <p:nvSpPr>
          <p:cNvPr id="10" name="Text 7"/>
          <p:cNvSpPr/>
          <p:nvPr/>
        </p:nvSpPr>
        <p:spPr>
          <a:xfrm>
            <a:off x="886968" y="3977640"/>
            <a:ext cx="4892040" cy="2057400"/>
          </a:xfrm>
          <a:prstGeom prst="rect">
            <a:avLst/>
          </a:prstGeom>
          <a:noFill/>
          <a:ln/>
        </p:spPr>
        <p:txBody>
          <a:bodyPr wrap="square" lIns="0" tIns="0" rIns="0" bIns="0" rtlCol="0" anchor="t"/>
          <a:lstStyle/>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Two LinkedIn profiles (Davis + Charlie), fully managed</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Full investor campaign for the $10M seed, end to end</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Outreach, inbox management &amp; follow-ups</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Lead qualification, pre-call briefings &amp; scheduling</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The Reef retargeting &amp; Startup Deal Desk feature</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Profile optimization, pitch &amp; deck support</a:t>
            </a:r>
            <a:endParaRPr lang="en-US" sz="1250" dirty="0"/>
          </a:p>
          <a:p>
            <a:pPr marL="127000" indent="-127000">
              <a:lnSpc>
                <a:spcPct val="112000"/>
              </a:lnSpc>
              <a:spcAft>
                <a:spcPts val="800"/>
              </a:spcAft>
              <a:buSzPct val="100000"/>
              <a:buChar char="•"/>
            </a:pPr>
            <a:r>
              <a:rPr lang="en-US" sz="1250" dirty="0">
                <a:solidFill>
                  <a:srgbClr val="FFFFFF"/>
                </a:solidFill>
                <a:latin typeface="Arial" pitchFamily="34" charset="0"/>
                <a:ea typeface="Arial" pitchFamily="34" charset="-122"/>
                <a:cs typeface="Arial" pitchFamily="34" charset="-120"/>
              </a:rPr>
              <a:t>CRM, weekly reporting, A/B testing &amp; optimization</a:t>
            </a:r>
            <a:endParaRPr lang="en-US" sz="1250" dirty="0"/>
          </a:p>
        </p:txBody>
      </p:sp>
      <p:sp>
        <p:nvSpPr>
          <p:cNvPr id="359" name="Shape 30"/>
          <p:cNvSpPr/>
          <p:nvPr/>
        </p:nvSpPr>
        <p:spPr>
          <a:xfrm>
            <a:off x="6373368" y="2148840"/>
            <a:ext cx="5532120" cy="4114800"/>
          </a:xfrm>
          <a:prstGeom prst="roundRect">
            <a:avLst>
              <a:gd name="adj" fmla="val 2000"/>
            </a:avLst>
          </a:prstGeom>
          <a:solidFill>
            <a:srgbClr val="0D0D26">
              <a:alpha val="55000"/>
            </a:srgbClr>
          </a:solidFill>
          <a:ln w="9525">
            <a:solidFill>
              <a:srgbClr val="31316A">
                <a:alpha val="75000"/>
              </a:srgbClr>
            </a:solidFill>
            <a:prstDash val="solid"/>
          </a:ln>
        </p:spPr>
      </p:sp>
      <p:sp>
        <p:nvSpPr>
          <p:cNvPr id="360" name="Text 31"/>
          <p:cNvSpPr/>
          <p:nvPr/>
        </p:nvSpPr>
        <p:spPr>
          <a:xfrm>
            <a:off x="6693408" y="2423160"/>
            <a:ext cx="4892040" cy="292608"/>
          </a:xfrm>
          <a:prstGeom prst="rect">
            <a:avLst/>
          </a:prstGeom>
          <a:noFill/>
          <a:ln/>
        </p:spPr>
        <p:txBody>
          <a:bodyPr wrap="square" lIns="0" tIns="0" rIns="0" bIns="0" rtlCol="0" anchor="ctr"/>
          <a:lstStyle/>
          <a:p>
            <a:pPr indent="0" marL="0">
              <a:buNone/>
            </a:pPr>
            <a:r>
              <a:rPr lang="en-US" sz="1300" b="1" spc="100" kern="0" dirty="0">
                <a:solidFill>
                  <a:srgbClr val="43D5FF"/>
                </a:solidFill>
                <a:latin typeface="Arial" pitchFamily="34" charset="0"/>
                <a:ea typeface="Arial" pitchFamily="34" charset="-122"/>
                <a:cs typeface="Arial" pitchFamily="34" charset="-120"/>
              </a:rPr>
              <a:t>WHAT THAT BUYS</a:t>
            </a:r>
            <a:endParaRPr lang="en-US" sz="1300" dirty="0"/>
          </a:p>
        </p:txBody>
      </p:sp>
      <p:sp>
        <p:nvSpPr>
          <p:cNvPr id="361" name="Text 32"/>
          <p:cNvSpPr/>
          <p:nvPr/>
        </p:nvSpPr>
        <p:spPr>
          <a:xfrm>
            <a:off x="6693408" y="2834640"/>
            <a:ext cx="4892040" cy="3291840"/>
          </a:xfrm>
          <a:prstGeom prst="rect">
            <a:avLst/>
          </a:prstGeom>
          <a:noFill/>
          <a:ln/>
        </p:spPr>
        <p:txBody>
          <a:bodyPr wrap="square" lIns="0" tIns="0" rIns="0" bIns="0" rtlCol="0" anchor="t"/>
          <a:lstStyle/>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Davis’s weeks back: sourcing, outreach, follow-ups and qualification handled, so his time goes to investor meetings and the build</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Two profiles, two audiences and one dedicated account manager, with every meeting routed to one calendar</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Every investor screened on accreditation, check size and timeline before they reach Davis</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No success fee and no commission, so every dollar of the $10M seed stays with SuperMatics</a:t>
            </a:r>
            <a:endParaRPr lang="en-US" sz="1150" dirty="0"/>
          </a:p>
          <a:p>
            <a:pPr marL="127000" indent="-127000">
              <a:lnSpc>
                <a:spcPct val="112000"/>
              </a:lnSpc>
              <a:spcAft>
                <a:spcPts val="1000"/>
              </a:spcAft>
              <a:buSzPct val="100000"/>
              <a:buChar char="•"/>
            </a:pPr>
            <a:r>
              <a:rPr lang="en-US" sz="1150" dirty="0">
                <a:solidFill>
                  <a:srgbClr val="FFFFFF"/>
                </a:solidFill>
                <a:latin typeface="Arial" pitchFamily="34" charset="0"/>
                <a:ea typeface="Arial" pitchFamily="34" charset="-122"/>
                <a:cs typeface="Arial" pitchFamily="34" charset="-120"/>
              </a:rPr>
              <a:t>A January review on three months of real numbers, so the next step is decided on data, not faith</a:t>
            </a:r>
            <a:endParaRPr lang="en-US" sz="11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What We Are, and What We’re Not</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THE COMPLIANCE QUESTION, ANSWERED UP FRONT</a:t>
            </a:r>
            <a:endParaRPr lang="en-US" sz="1400" dirty="0"/>
          </a:p>
        </p:txBody>
      </p:sp>
      <p:sp>
        <p:nvSpPr>
          <p:cNvPr id="6" name="Shape 3"/>
          <p:cNvSpPr/>
          <p:nvPr/>
        </p:nvSpPr>
        <p:spPr>
          <a:xfrm>
            <a:off x="566928"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WE ARE</a:t>
            </a:r>
            <a:endParaRPr lang="en-US" sz="1400" dirty="0"/>
          </a:p>
        </p:txBody>
      </p:sp>
      <p:sp>
        <p:nvSpPr>
          <p:cNvPr id="8" name="Text 5"/>
          <p:cNvSpPr/>
          <p:nvPr/>
        </p:nvSpPr>
        <p:spPr>
          <a:xfrm>
            <a:off x="795528"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A digital media and investor-relations firm. We build and run LinkedIn outreach in your name, qualify the responses, and put pre-vetted investor conversations on your calendar. Flat monthly fee, nothing else.</a:t>
            </a:r>
            <a:endParaRPr lang="en-US" sz="1200" dirty="0"/>
          </a:p>
        </p:txBody>
      </p:sp>
      <p:sp>
        <p:nvSpPr>
          <p:cNvPr id="9" name="Shape 6"/>
          <p:cNvSpPr/>
          <p:nvPr/>
        </p:nvSpPr>
        <p:spPr>
          <a:xfrm>
            <a:off x="4434840"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WHAT WE ARE NOT</a:t>
            </a:r>
            <a:endParaRPr lang="en-US" sz="1400" dirty="0"/>
          </a:p>
        </p:txBody>
      </p:sp>
      <p:sp>
        <p:nvSpPr>
          <p:cNvPr id="11" name="Text 8"/>
          <p:cNvSpPr/>
          <p:nvPr/>
        </p:nvSpPr>
        <p:spPr>
          <a:xfrm>
            <a:off x="4663440"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Not a broker-dealer, placement agent or finder. We don’t negotiate terms, don’t take a success fee or commission, don’t touch the transaction, and don’t raise the capital. You run the conversation and you close.</a:t>
            </a:r>
            <a:endParaRPr lang="en-US" sz="1200" dirty="0"/>
          </a:p>
        </p:txBody>
      </p:sp>
      <p:sp>
        <p:nvSpPr>
          <p:cNvPr id="12" name="Shape 9"/>
          <p:cNvSpPr/>
          <p:nvPr/>
        </p:nvSpPr>
        <p:spPr>
          <a:xfrm>
            <a:off x="8302752" y="2240280"/>
            <a:ext cx="3593592" cy="329184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468880"/>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STAYING COMPLIANT</a:t>
            </a:r>
            <a:endParaRPr lang="en-US" sz="1400" dirty="0"/>
          </a:p>
        </p:txBody>
      </p:sp>
      <p:sp>
        <p:nvSpPr>
          <p:cNvPr id="14" name="Text 11"/>
          <p:cNvSpPr/>
          <p:nvPr/>
        </p:nvSpPr>
        <p:spPr>
          <a:xfrm>
            <a:off x="8531352" y="2880360"/>
            <a:ext cx="3136392" cy="2514600"/>
          </a:xfrm>
          <a:prstGeom prst="rect">
            <a:avLst/>
          </a:prstGeom>
          <a:noFill/>
          <a:ln/>
        </p:spPr>
        <p:txBody>
          <a:bodyPr wrap="square" lIns="0" tIns="0" rIns="0" bIns="0" rtlCol="0" anchor="t"/>
          <a:lstStyle/>
          <a:p>
            <a:pPr indent="0" marL="0">
              <a:lnSpc>
                <a:spcPct val="115000"/>
              </a:lnSpc>
              <a:buNone/>
            </a:pPr>
            <a:r>
              <a:rPr lang="en-US" sz="1200" dirty="0">
                <a:solidFill>
                  <a:srgbClr val="FFFFFF"/>
                </a:solidFill>
                <a:latin typeface="Arial" pitchFamily="34" charset="0"/>
                <a:ea typeface="Arial" pitchFamily="34" charset="-122"/>
                <a:cs typeface="Arial" pitchFamily="34" charset="-120"/>
              </a:rPr>
              <a:t>Early messages are relationship-first and high-level: no deal terms, no structure, no forecasts. Collateral only once interest is real, and you are the first to share a full deck. Every script is approved by you before it goes out.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Your Team</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WHO YOU WILL ACTUALLY BE WORKING WITH</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FREIZLE ABARRIENTOS</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Chief Operating Officer. Two decades across operations, business development, investor relations and client services; oversees ThinkFISH’s daily operations. Leads strategy and the ICP design, and joins your monthly strategy calls.</a:t>
            </a:r>
            <a:endParaRPr lang="en-US" sz="110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SAMANTHA COWPER</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Onboarding Manager. Runs your first two weeks: the onboarding interviews with Davis and Charlie, profile optimization, the ICP and audiences, and script approval, so the campaign launches on time and in your voice.</a:t>
            </a:r>
            <a:endParaRPr lang="en-US" sz="110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MYRA GRAMA</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00" dirty="0">
                <a:solidFill>
                  <a:srgbClr val="FFFFFF"/>
                </a:solidFill>
                <a:latin typeface="Arial" pitchFamily="34" charset="0"/>
                <a:ea typeface="Arial" pitchFamily="34" charset="-122"/>
                <a:cs typeface="Arial" pitchFamily="34" charset="-120"/>
              </a:rPr>
              <a:t>Account Director. Owns the relationship from launch onward: campaign performance, the weekly report, the monthly strategy call, and the escalation point if anything needs a pivot.</a:t>
            </a:r>
            <a:endParaRPr lang="en-US" sz="110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YOUR DEDICATED ACCOUNT MANAGER</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Assigned at kickoff and introduced by Samantha in the first onboarding session. Runs the campaign day to day under Myra: audience building, scripts, inbox, qualification, call briefings and the weekly report. One person who knows your story, reachable on Slack or WhatsApp, not a ticket queue.</a:t>
            </a:r>
            <a:endParaRPr lang="en-US" sz="12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Next Steps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HOW WE GET STARTED</a:t>
            </a:r>
            <a:endParaRPr lang="en-US" sz="1400" dirty="0"/>
          </a:p>
        </p:txBody>
      </p:sp>
      <p:sp>
        <p:nvSpPr>
          <p:cNvPr id="6" name="Shape 3"/>
          <p:cNvSpPr/>
          <p:nvPr/>
        </p:nvSpPr>
        <p:spPr>
          <a:xfrm>
            <a:off x="566928"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7" name="Text 4"/>
          <p:cNvSpPr/>
          <p:nvPr/>
        </p:nvSpPr>
        <p:spPr>
          <a:xfrm>
            <a:off x="795528"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1  ·  REVIEW</a:t>
            </a:r>
            <a:endParaRPr lang="en-US" sz="1400" dirty="0"/>
          </a:p>
        </p:txBody>
      </p:sp>
      <p:sp>
        <p:nvSpPr>
          <p:cNvPr id="8" name="Text 5"/>
          <p:cNvSpPr/>
          <p:nvPr/>
        </p:nvSpPr>
        <p:spPr>
          <a:xfrm>
            <a:off x="795528"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Davis, take this to Charlie on Monday. Matt will walk through anything that comes back on our Wednesday call (11:30am PT / 2:30pm ET). If Charlie wants to hear it directly, Freizle or Ben will join a 20-minute call at a Korea-friendly hour.</a:t>
            </a:r>
            <a:endParaRPr lang="en-US" sz="1150" dirty="0"/>
          </a:p>
        </p:txBody>
      </p:sp>
      <p:sp>
        <p:nvSpPr>
          <p:cNvPr id="9" name="Shape 6"/>
          <p:cNvSpPr/>
          <p:nvPr/>
        </p:nvSpPr>
        <p:spPr>
          <a:xfrm>
            <a:off x="4434840"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0" name="Text 7"/>
          <p:cNvSpPr/>
          <p:nvPr/>
        </p:nvSpPr>
        <p:spPr>
          <a:xfrm>
            <a:off x="4663440"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2  ·  SIGN &amp; KICK OFF</a:t>
            </a:r>
            <a:endParaRPr lang="en-US" sz="1400" dirty="0"/>
          </a:p>
        </p:txBody>
      </p:sp>
      <p:sp>
        <p:nvSpPr>
          <p:cNvPr id="11" name="Text 8"/>
          <p:cNvSpPr/>
          <p:nvPr/>
        </p:nvSpPr>
        <p:spPr>
          <a:xfrm>
            <a:off x="4663440"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We send the services agreement the same day you say yes. Onboarding interviews with Davis and Charlie start that week, and we get access to the data room and both LinkedIn profiles.</a:t>
            </a:r>
            <a:endParaRPr lang="en-US" sz="1150" dirty="0"/>
          </a:p>
        </p:txBody>
      </p:sp>
      <p:sp>
        <p:nvSpPr>
          <p:cNvPr id="12" name="Shape 9"/>
          <p:cNvSpPr/>
          <p:nvPr/>
        </p:nvSpPr>
        <p:spPr>
          <a:xfrm>
            <a:off x="8302752" y="2121408"/>
            <a:ext cx="3593592" cy="2331720"/>
          </a:xfrm>
          <a:prstGeom prst="roundRect">
            <a:avLst>
              <a:gd name="adj" fmla="val 3529"/>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304288"/>
            <a:ext cx="3136392"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3  ·  FIRST MEETINGS</a:t>
            </a:r>
            <a:endParaRPr lang="en-US" sz="1400" dirty="0"/>
          </a:p>
        </p:txBody>
      </p:sp>
      <p:sp>
        <p:nvSpPr>
          <p:cNvPr id="14" name="Text 11"/>
          <p:cNvSpPr/>
          <p:nvPr/>
        </p:nvSpPr>
        <p:spPr>
          <a:xfrm>
            <a:off x="8531352" y="2651760"/>
            <a:ext cx="3136392" cy="1600200"/>
          </a:xfrm>
          <a:prstGeom prst="rect">
            <a:avLst/>
          </a:prstGeom>
          <a:noFill/>
          <a:ln/>
        </p:spPr>
        <p:txBody>
          <a:bodyPr wrap="square" lIns="0" tIns="0" rIns="0" bIns="0" rtlCol="0" anchor="t"/>
          <a:lstStyle/>
          <a:p>
            <a:pPr indent="0" marL="0">
              <a:lnSpc>
                <a:spcPct val="115000"/>
              </a:lnSpc>
              <a:buNone/>
            </a:pPr>
            <a:r>
              <a:rPr lang="en-US" sz="1150" dirty="0">
                <a:solidFill>
                  <a:srgbClr val="FFFFFF"/>
                </a:solidFill>
                <a:latin typeface="Arial" pitchFamily="34" charset="0"/>
                <a:ea typeface="Arial" pitchFamily="34" charset="-122"/>
                <a:cs typeface="Arial" pitchFamily="34" charset="-120"/>
              </a:rPr>
              <a:t>Both profiles go live within two weeks of kickoff. The first qualified investor conversations land on Davis’s calendar in weeks three and four, then build to a steady weekly rhythm through December and into the January review.</a:t>
            </a:r>
            <a:endParaRPr lang="en-US" sz="1150" dirty="0"/>
          </a:p>
        </p:txBody>
      </p:sp>
      <p:sp>
        <p:nvSpPr>
          <p:cNvPr id="15" name="Shape 12"/>
          <p:cNvSpPr/>
          <p:nvPr/>
        </p:nvSpPr>
        <p:spPr>
          <a:xfrm>
            <a:off x="566928" y="4663440"/>
            <a:ext cx="11338560" cy="1691640"/>
          </a:xfrm>
          <a:prstGeom prst="roundRect">
            <a:avLst>
              <a:gd name="adj" fmla="val 4865"/>
            </a:avLst>
          </a:prstGeom>
          <a:solidFill>
            <a:srgbClr val="0D0D26">
              <a:alpha val="55000"/>
            </a:srgbClr>
          </a:solidFill>
          <a:ln w="9525">
            <a:solidFill>
              <a:srgbClr val="31316A">
                <a:alpha val="75000"/>
              </a:srgbClr>
            </a:solidFill>
            <a:prstDash val="solid"/>
          </a:ln>
        </p:spPr>
      </p:sp>
      <p:sp>
        <p:nvSpPr>
          <p:cNvPr id="16" name="Text 13"/>
          <p:cNvSpPr/>
          <p:nvPr/>
        </p:nvSpPr>
        <p:spPr>
          <a:xfrm>
            <a:off x="795528" y="4828032"/>
            <a:ext cx="8229600" cy="320040"/>
          </a:xfrm>
          <a:prstGeom prst="rect">
            <a:avLst/>
          </a:prstGeom>
          <a:noFill/>
          <a:ln/>
        </p:spPr>
        <p:txBody>
          <a:bodyPr wrap="square" lIns="0" tIns="0" rIns="0" bIns="0" rtlCol="0" anchor="ctr"/>
          <a:lstStyle/>
          <a:p>
            <a:pPr indent="0" marL="0">
              <a:buNone/>
            </a:pPr>
            <a:r>
              <a:rPr lang="en-US" sz="1400" b="1" spc="100" kern="0" dirty="0">
                <a:solidFill>
                  <a:srgbClr val="7C6CFF"/>
                </a:solidFill>
                <a:latin typeface="Arial" pitchFamily="34" charset="0"/>
                <a:ea typeface="Arial" pitchFamily="34" charset="-122"/>
                <a:cs typeface="Arial" pitchFamily="34" charset="-120"/>
              </a:rPr>
              <a:t>WHAT WE NEED FROM YOU</a:t>
            </a:r>
            <a:endParaRPr lang="en-US" sz="1400" dirty="0"/>
          </a:p>
        </p:txBody>
      </p:sp>
      <p:sp>
        <p:nvSpPr>
          <p:cNvPr id="17" name="Text 14"/>
          <p:cNvSpPr/>
          <p:nvPr/>
        </p:nvSpPr>
        <p:spPr>
          <a:xfrm>
            <a:off x="795528" y="5175504"/>
            <a:ext cx="10881360" cy="1051560"/>
          </a:xfrm>
          <a:prstGeom prst="rect">
            <a:avLst/>
          </a:prstGeom>
          <a:noFill/>
          <a:ln/>
        </p:spPr>
        <p:txBody>
          <a:bodyPr wrap="square" lIns="0" tIns="0" rIns="0" bIns="0" rtlCol="0" anchor="t"/>
          <a:lstStyle/>
          <a:p>
            <a:pPr indent="0" marL="0">
              <a:lnSpc>
                <a:spcPct val="120000"/>
              </a:lnSpc>
              <a:buNone/>
            </a:pPr>
            <a:r>
              <a:rPr lang="en-US" sz="1250" dirty="0">
                <a:solidFill>
                  <a:srgbClr val="FFFFFF"/>
                </a:solidFill>
                <a:latin typeface="Arial" pitchFamily="34" charset="0"/>
                <a:ea typeface="Arial" pitchFamily="34" charset="-122"/>
                <a:cs typeface="Arial" pitchFamily="34" charset="-120"/>
              </a:rPr>
              <a:t>Connect Davis’s and Charlie’s LinkedIn accounts to our system (no passwords or login credentials required). Share the data room and any investor lists or past conversations, including the firms already in diligence and everyone who passed. One 60-minute onboarding interview with Davis, and a shorter one with Charlie. A Calendly link for Davis, and a do-not-contact list. That’s it. We handle the rest.</a:t>
            </a:r>
            <a:endParaRPr lang="en-US" sz="12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Deliverables</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APPENDIX  ·  THE ENGINE BEHIND THE MEETINGS</a:t>
            </a:r>
            <a:endParaRPr lang="en-US" sz="1400" dirty="0"/>
          </a:p>
        </p:txBody>
      </p:sp>
      <p:sp>
        <p:nvSpPr>
          <p:cNvPr id="6" name="Shape 3"/>
          <p:cNvSpPr/>
          <p:nvPr/>
        </p:nvSpPr>
        <p:spPr>
          <a:xfrm>
            <a:off x="566928"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7" name="Text 4"/>
          <p:cNvSpPr/>
          <p:nvPr/>
        </p:nvSpPr>
        <p:spPr>
          <a:xfrm>
            <a:off x="795528"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LINKEDIN OUTREACH</a:t>
            </a:r>
            <a:endParaRPr lang="en-US" sz="1250" dirty="0"/>
          </a:p>
        </p:txBody>
      </p:sp>
      <p:sp>
        <p:nvSpPr>
          <p:cNvPr id="8" name="Text 5"/>
          <p:cNvSpPr/>
          <p:nvPr/>
        </p:nvSpPr>
        <p:spPr>
          <a:xfrm>
            <a:off x="795528"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2,400+</a:t>
            </a:r>
            <a:endParaRPr lang="en-US" sz="4400" dirty="0"/>
          </a:p>
        </p:txBody>
      </p:sp>
      <p:sp>
        <p:nvSpPr>
          <p:cNvPr id="9" name="Text 6"/>
          <p:cNvSpPr/>
          <p:nvPr/>
        </p:nvSpPr>
        <p:spPr>
          <a:xfrm>
            <a:off x="795528"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LinkedIn touches / month, two profiles</a:t>
            </a:r>
            <a:endParaRPr lang="en-US" sz="1100" dirty="0"/>
          </a:p>
        </p:txBody>
      </p:sp>
      <p:sp>
        <p:nvSpPr>
          <p:cNvPr id="10" name="Text 7"/>
          <p:cNvSpPr/>
          <p:nvPr/>
        </p:nvSpPr>
        <p:spPr>
          <a:xfrm>
            <a:off x="795528"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600–800 InMails and 600–800 connection invites per profile every month, from Davis’s and Charlie’s accounts, in your voice, once fully warmed up. Every InMail credit in your Sales Navigator plans gets used.</a:t>
            </a:r>
            <a:endParaRPr lang="en-US" sz="1050" dirty="0"/>
          </a:p>
        </p:txBody>
      </p:sp>
      <p:sp>
        <p:nvSpPr>
          <p:cNvPr id="11" name="Shape 8"/>
          <p:cNvSpPr/>
          <p:nvPr/>
        </p:nvSpPr>
        <p:spPr>
          <a:xfrm>
            <a:off x="4434840"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2" name="Text 9"/>
          <p:cNvSpPr/>
          <p:nvPr/>
        </p:nvSpPr>
        <p:spPr>
          <a:xfrm>
            <a:off x="4663440"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THE REEF</a:t>
            </a:r>
            <a:endParaRPr lang="en-US" sz="1250" dirty="0"/>
          </a:p>
        </p:txBody>
      </p:sp>
      <p:sp>
        <p:nvSpPr>
          <p:cNvPr id="13" name="Text 10"/>
          <p:cNvSpPr/>
          <p:nvPr/>
        </p:nvSpPr>
        <p:spPr>
          <a:xfrm>
            <a:off x="4663440"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10k+</a:t>
            </a:r>
            <a:endParaRPr lang="en-US" sz="4400" dirty="0"/>
          </a:p>
        </p:txBody>
      </p:sp>
      <p:sp>
        <p:nvSpPr>
          <p:cNvPr id="14" name="Text 11"/>
          <p:cNvSpPr/>
          <p:nvPr/>
        </p:nvSpPr>
        <p:spPr>
          <a:xfrm>
            <a:off x="4663440"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curated investor network</a:t>
            </a:r>
            <a:endParaRPr lang="en-US" sz="1100" dirty="0"/>
          </a:p>
        </p:txBody>
      </p:sp>
      <p:sp>
        <p:nvSpPr>
          <p:cNvPr id="15" name="Text 12"/>
          <p:cNvSpPr/>
          <p:nvPr/>
        </p:nvSpPr>
        <p:spPr>
          <a:xfrm>
            <a:off x="4663440"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Our internal network of opt-in investors actively seeking deal flow, retargeted with your raise.</a:t>
            </a:r>
            <a:endParaRPr lang="en-US" sz="1050" dirty="0"/>
          </a:p>
        </p:txBody>
      </p:sp>
      <p:sp>
        <p:nvSpPr>
          <p:cNvPr id="16" name="Shape 13"/>
          <p:cNvSpPr/>
          <p:nvPr/>
        </p:nvSpPr>
        <p:spPr>
          <a:xfrm>
            <a:off x="8302752" y="2103120"/>
            <a:ext cx="3593592" cy="2514600"/>
          </a:xfrm>
          <a:prstGeom prst="roundRect">
            <a:avLst>
              <a:gd name="adj" fmla="val 3273"/>
            </a:avLst>
          </a:prstGeom>
          <a:solidFill>
            <a:srgbClr val="0D0D26">
              <a:alpha val="55000"/>
            </a:srgbClr>
          </a:solidFill>
          <a:ln w="9525">
            <a:solidFill>
              <a:srgbClr val="31316A">
                <a:alpha val="75000"/>
              </a:srgbClr>
            </a:solidFill>
            <a:prstDash val="solid"/>
          </a:ln>
        </p:spPr>
      </p:sp>
      <p:sp>
        <p:nvSpPr>
          <p:cNvPr id="17" name="Text 14"/>
          <p:cNvSpPr/>
          <p:nvPr/>
        </p:nvSpPr>
        <p:spPr>
          <a:xfrm>
            <a:off x="8531352" y="2286000"/>
            <a:ext cx="3136392" cy="292608"/>
          </a:xfrm>
          <a:prstGeom prst="rect">
            <a:avLst/>
          </a:prstGeom>
          <a:noFill/>
          <a:ln/>
        </p:spPr>
        <p:txBody>
          <a:bodyPr wrap="square" lIns="0" tIns="0" rIns="0" bIns="0" rtlCol="0" anchor="ctr"/>
          <a:lstStyle/>
          <a:p>
            <a:pPr indent="0" marL="0">
              <a:buNone/>
            </a:pPr>
            <a:r>
              <a:rPr lang="en-US" sz="1250" b="1" spc="100" kern="0" dirty="0">
                <a:solidFill>
                  <a:srgbClr val="43D5FF"/>
                </a:solidFill>
                <a:latin typeface="Arial" pitchFamily="34" charset="0"/>
                <a:ea typeface="Arial" pitchFamily="34" charset="-122"/>
                <a:cs typeface="Arial" pitchFamily="34" charset="-120"/>
              </a:rPr>
              <a:t>STARTUP DEAL DESK</a:t>
            </a:r>
            <a:endParaRPr lang="en-US" sz="1250" dirty="0"/>
          </a:p>
        </p:txBody>
      </p:sp>
      <p:sp>
        <p:nvSpPr>
          <p:cNvPr id="18" name="Text 15"/>
          <p:cNvSpPr/>
          <p:nvPr/>
        </p:nvSpPr>
        <p:spPr>
          <a:xfrm>
            <a:off x="8531352" y="2560320"/>
            <a:ext cx="3136392" cy="685800"/>
          </a:xfrm>
          <a:prstGeom prst="rect">
            <a:avLst/>
          </a:prstGeom>
          <a:noFill/>
          <a:ln/>
        </p:spPr>
        <p:txBody>
          <a:bodyPr wrap="square" lIns="0" tIns="0" rIns="0" bIns="0" rtlCol="0" anchor="ctr"/>
          <a:lstStyle/>
          <a:p>
            <a:pPr indent="0" marL="0">
              <a:buNone/>
            </a:pPr>
            <a:r>
              <a:rPr lang="en-US" sz="4400" b="1" dirty="0">
                <a:solidFill>
                  <a:srgbClr val="FFFFFF"/>
                </a:solidFill>
                <a:latin typeface="Arial" pitchFamily="34" charset="0"/>
                <a:ea typeface="Arial" pitchFamily="34" charset="-122"/>
                <a:cs typeface="Arial" pitchFamily="34" charset="-120"/>
              </a:rPr>
              <a:t>84k+</a:t>
            </a:r>
            <a:endParaRPr lang="en-US" sz="4400" dirty="0"/>
          </a:p>
        </p:txBody>
      </p:sp>
      <p:sp>
        <p:nvSpPr>
          <p:cNvPr id="19" name="Text 16"/>
          <p:cNvSpPr/>
          <p:nvPr/>
        </p:nvSpPr>
        <p:spPr>
          <a:xfrm>
            <a:off x="8531352" y="3255264"/>
            <a:ext cx="3136392" cy="274320"/>
          </a:xfrm>
          <a:prstGeom prst="rect">
            <a:avLst/>
          </a:prstGeom>
          <a:noFill/>
          <a:ln/>
        </p:spPr>
        <p:txBody>
          <a:bodyPr wrap="square" lIns="0" tIns="0" rIns="0" bIns="0" rtlCol="0" anchor="ctr"/>
          <a:lstStyle/>
          <a:p>
            <a:pPr indent="0" marL="0">
              <a:buNone/>
            </a:pPr>
            <a:r>
              <a:rPr lang="en-US" sz="1100" dirty="0">
                <a:solidFill>
                  <a:srgbClr val="B9BEDC"/>
                </a:solidFill>
                <a:latin typeface="Arial" pitchFamily="34" charset="0"/>
                <a:ea typeface="Arial" pitchFamily="34" charset="-122"/>
                <a:cs typeface="Arial" pitchFamily="34" charset="-120"/>
              </a:rPr>
              <a:t>investor subscribers</a:t>
            </a:r>
            <a:endParaRPr lang="en-US" sz="1100" dirty="0"/>
          </a:p>
        </p:txBody>
      </p:sp>
      <p:sp>
        <p:nvSpPr>
          <p:cNvPr id="20" name="Text 17"/>
          <p:cNvSpPr/>
          <p:nvPr/>
        </p:nvSpPr>
        <p:spPr>
          <a:xfrm>
            <a:off x="8531352" y="3566160"/>
            <a:ext cx="3136392" cy="868680"/>
          </a:xfrm>
          <a:prstGeom prst="rect">
            <a:avLst/>
          </a:prstGeom>
          <a:noFill/>
          <a:ln/>
        </p:spPr>
        <p:txBody>
          <a:bodyPr wrap="square" lIns="0" tIns="0" rIns="0" bIns="0" rtlCol="0" anchor="t"/>
          <a:lstStyle/>
          <a:p>
            <a:pPr indent="0" marL="0">
              <a:lnSpc>
                <a:spcPct val="112000"/>
              </a:lnSpc>
              <a:buNone/>
            </a:pPr>
            <a:r>
              <a:rPr lang="en-US" sz="1050" dirty="0">
                <a:solidFill>
                  <a:srgbClr val="FFFFFF"/>
                </a:solidFill>
                <a:latin typeface="Arial" pitchFamily="34" charset="0"/>
                <a:ea typeface="Arial" pitchFamily="34" charset="-122"/>
                <a:cs typeface="Arial" pitchFamily="34" charset="-120"/>
              </a:rPr>
              <a:t>Your company featured in our investor newsletter, putting your raise in front of capital allocators at scale.</a:t>
            </a:r>
            <a:endParaRPr lang="en-US" sz="1050" dirty="0"/>
          </a:p>
        </p:txBody>
      </p:sp>
      <p:sp>
        <p:nvSpPr>
          <p:cNvPr id="21" name="Shape 18"/>
          <p:cNvSpPr/>
          <p:nvPr/>
        </p:nvSpPr>
        <p:spPr>
          <a:xfrm>
            <a:off x="566928" y="4846320"/>
            <a:ext cx="11338560" cy="1463040"/>
          </a:xfrm>
          <a:prstGeom prst="roundRect">
            <a:avLst>
              <a:gd name="adj" fmla="val 5625"/>
            </a:avLst>
          </a:prstGeom>
          <a:solidFill>
            <a:srgbClr val="0D0D26">
              <a:alpha val="55000"/>
            </a:srgbClr>
          </a:solidFill>
          <a:ln w="9525">
            <a:solidFill>
              <a:srgbClr val="31316A">
                <a:alpha val="75000"/>
              </a:srgbClr>
            </a:solidFill>
            <a:prstDash val="solid"/>
          </a:ln>
        </p:spPr>
      </p:sp>
      <p:sp>
        <p:nvSpPr>
          <p:cNvPr id="22" name="Text 19"/>
          <p:cNvSpPr/>
          <p:nvPr/>
        </p:nvSpPr>
        <p:spPr>
          <a:xfrm>
            <a:off x="795528" y="5010912"/>
            <a:ext cx="4572000" cy="274320"/>
          </a:xfrm>
          <a:prstGeom prst="rect">
            <a:avLst/>
          </a:prstGeom>
          <a:noFill/>
          <a:ln/>
        </p:spPr>
        <p:txBody>
          <a:bodyPr wrap="square" lIns="0" tIns="0" rIns="0" bIns="0" rtlCol="0" anchor="ctr"/>
          <a:lstStyle/>
          <a:p>
            <a:pPr indent="0" marL="0">
              <a:buNone/>
            </a:pPr>
            <a:r>
              <a:rPr lang="en-US" sz="1200" b="1" spc="100" kern="0" dirty="0">
                <a:solidFill>
                  <a:srgbClr val="7C6CFF"/>
                </a:solidFill>
                <a:latin typeface="Arial" pitchFamily="34" charset="0"/>
                <a:ea typeface="Arial" pitchFamily="34" charset="-122"/>
                <a:cs typeface="Arial" pitchFamily="34" charset="-120"/>
              </a:rPr>
              <a:t>FULLY MANAGED, END TO END</a:t>
            </a:r>
            <a:endParaRPr lang="en-US" sz="1200" dirty="0"/>
          </a:p>
        </p:txBody>
      </p:sp>
      <p:sp>
        <p:nvSpPr>
          <p:cNvPr id="23" name="Text 20"/>
          <p:cNvSpPr/>
          <p:nvPr/>
        </p:nvSpPr>
        <p:spPr>
          <a:xfrm>
            <a:off x="795528" y="5321808"/>
            <a:ext cx="10881360" cy="868680"/>
          </a:xfrm>
          <a:prstGeom prst="rect">
            <a:avLst/>
          </a:prstGeom>
          <a:noFill/>
          <a:ln/>
        </p:spPr>
        <p:txBody>
          <a:bodyPr wrap="square" lIns="0" tIns="0" rIns="0" bIns="0" rtlCol="0" anchor="t"/>
          <a:lstStyle/>
          <a:p>
            <a:pPr indent="0" marL="0">
              <a:lnSpc>
                <a:spcPct val="125000"/>
              </a:lnSpc>
              <a:buNone/>
            </a:pPr>
            <a:r>
              <a:rPr lang="en-US" sz="1200" dirty="0">
                <a:solidFill>
                  <a:srgbClr val="FFFFFF"/>
                </a:solidFill>
                <a:latin typeface="Arial" pitchFamily="34" charset="0"/>
                <a:ea typeface="Arial" pitchFamily="34" charset="-122"/>
                <a:cs typeface="Arial" pitchFamily="34" charset="-120"/>
              </a:rPr>
              <a:t>Strategy &amp; onboarding  ·  LinkedIn profile optimization  ·  Investor targeting &amp; list building  ·  Outreach execution &amp; inbox management  ·  Lead qualification &amp; meeting scheduling  ·  Pitch positioning &amp; storytelling support  ·  CRM setup &amp; management  ·  Reporting &amp; continuous optimization</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pic>
        <p:nvPicPr>
          <p:cNvPr id="2" name="Image 0" descr="/home/claude/brand/clean/logo_header.png">    </p:cNvPr>
          <p:cNvPicPr>
            <a:picLocks noChangeAspect="1"/>
          </p:cNvPicPr>
          <p:nvPr/>
        </p:nvPicPr>
        <p:blipFill>
          <a:blip r:embed="rId2"/>
          <a:stretch>
            <a:fillRect/>
          </a:stretch>
        </p:blipFill>
        <p:spPr>
          <a:xfrm>
            <a:off x="411480" y="164592"/>
            <a:ext cx="850392" cy="530352"/>
          </a:xfrm>
          <a:prstGeom prst="rect">
            <a:avLst/>
          </a:prstGeom>
        </p:spPr>
      </p:pic>
      <p:sp>
        <p:nvSpPr>
          <p:cNvPr id="3" name="Text 0"/>
          <p:cNvSpPr/>
          <p:nvPr/>
        </p:nvSpPr>
        <p:spPr>
          <a:xfrm>
            <a:off x="1417320" y="201168"/>
            <a:ext cx="4114800" cy="457200"/>
          </a:xfrm>
          <a:prstGeom prst="rect">
            <a:avLst/>
          </a:prstGeom>
          <a:noFill/>
          <a:ln/>
        </p:spPr>
        <p:txBody>
          <a:bodyPr wrap="square" lIns="0" tIns="0" rIns="0" bIns="0" rtlCol="0" anchor="ctr"/>
          <a:lstStyle/>
          <a:p>
            <a:pPr indent="0" marL="0">
              <a:buNone/>
            </a:pPr>
            <a:r>
              <a:rPr lang="en-US" sz="1300" spc="200" kern="0" dirty="0">
                <a:solidFill>
                  <a:srgbClr val="FFFFFF"/>
                </a:solidFill>
                <a:latin typeface="Arial" pitchFamily="34" charset="0"/>
                <a:ea typeface="Arial" pitchFamily="34" charset="-122"/>
                <a:cs typeface="Arial" pitchFamily="34" charset="-120"/>
              </a:rPr>
              <a:t>THINKFISH LLC 2026</a:t>
            </a:r>
            <a:endParaRPr lang="en-US" sz="1300" dirty="0"/>
          </a:p>
        </p:txBody>
      </p:sp>
      <p:sp>
        <p:nvSpPr>
          <p:cNvPr id="4" name="Text 1"/>
          <p:cNvSpPr/>
          <p:nvPr/>
        </p:nvSpPr>
        <p:spPr>
          <a:xfrm>
            <a:off x="566928" y="868680"/>
            <a:ext cx="11155680" cy="777240"/>
          </a:xfrm>
          <a:prstGeom prst="rect">
            <a:avLst/>
          </a:prstGeom>
          <a:noFill/>
          <a:ln/>
        </p:spPr>
        <p:txBody>
          <a:bodyPr wrap="square" lIns="0" tIns="0" rIns="0" bIns="0" rtlCol="0" anchor="ctr"/>
          <a:lstStyle/>
          <a:p>
            <a:pPr indent="0" marL="0">
              <a:buNone/>
            </a:pPr>
            <a:r>
              <a:rPr lang="en-US" sz="3800" b="1" dirty="0">
                <a:solidFill>
                  <a:srgbClr val="FFFFFF"/>
                </a:solidFill>
                <a:latin typeface="Arial" pitchFamily="34" charset="0"/>
                <a:ea typeface="Arial" pitchFamily="34" charset="-122"/>
                <a:cs typeface="Arial" pitchFamily="34" charset="-120"/>
              </a:rPr>
              <a:t>Founders Who’ve Run This Play</a:t>
            </a:r>
            <a:endParaRPr lang="en-US" sz="3800" dirty="0"/>
          </a:p>
        </p:txBody>
      </p:sp>
      <p:sp>
        <p:nvSpPr>
          <p:cNvPr id="5" name="Text 2"/>
          <p:cNvSpPr/>
          <p:nvPr/>
        </p:nvSpPr>
        <p:spPr>
          <a:xfrm>
            <a:off x="594360" y="1481328"/>
            <a:ext cx="11155680" cy="320040"/>
          </a:xfrm>
          <a:prstGeom prst="rect">
            <a:avLst/>
          </a:prstGeom>
          <a:noFill/>
          <a:ln/>
        </p:spPr>
        <p:txBody>
          <a:bodyPr wrap="square" lIns="0" tIns="0" rIns="0" bIns="0" rtlCol="0" anchor="ctr"/>
          <a:lstStyle/>
          <a:p>
            <a:pPr indent="0" marL="0">
              <a:buNone/>
            </a:pPr>
            <a:r>
              <a:rPr lang="en-US" sz="1400" b="1" spc="100" kern="0" dirty="0">
                <a:solidFill>
                  <a:srgbClr val="43D5FF"/>
                </a:solidFill>
                <a:latin typeface="Arial" pitchFamily="34" charset="0"/>
                <a:ea typeface="Arial" pitchFamily="34" charset="-122"/>
                <a:cs typeface="Arial" pitchFamily="34" charset="-120"/>
              </a:rPr>
              <a:t>APPENDIX  ·  RESULTS &amp; TESTIMONIALS</a:t>
            </a:r>
            <a:endParaRPr lang="en-US" sz="1400" dirty="0"/>
          </a:p>
        </p:txBody>
      </p:sp>
      <p:sp>
        <p:nvSpPr>
          <p:cNvPr id="6" name="Shape 3"/>
          <p:cNvSpPr/>
          <p:nvPr/>
        </p:nvSpPr>
        <p:spPr>
          <a:xfrm>
            <a:off x="566928"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7" name="Text 4"/>
          <p:cNvSpPr/>
          <p:nvPr/>
        </p:nvSpPr>
        <p:spPr>
          <a:xfrm>
            <a:off x="795528"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$200M+</a:t>
            </a:r>
            <a:endParaRPr lang="en-US" sz="2400" dirty="0"/>
          </a:p>
        </p:txBody>
      </p:sp>
      <p:sp>
        <p:nvSpPr>
          <p:cNvPr id="8" name="Text 5"/>
          <p:cNvSpPr/>
          <p:nvPr/>
        </p:nvSpPr>
        <p:spPr>
          <a:xfrm>
            <a:off x="2350008"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client-reported capital raised</a:t>
            </a:r>
            <a:endParaRPr lang="en-US" sz="1050" dirty="0"/>
          </a:p>
        </p:txBody>
      </p:sp>
      <p:sp>
        <p:nvSpPr>
          <p:cNvPr id="9" name="Shape 6"/>
          <p:cNvSpPr/>
          <p:nvPr/>
        </p:nvSpPr>
        <p:spPr>
          <a:xfrm>
            <a:off x="4434840"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10" name="Text 7"/>
          <p:cNvSpPr/>
          <p:nvPr/>
        </p:nvSpPr>
        <p:spPr>
          <a:xfrm>
            <a:off x="4663440"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10,000+</a:t>
            </a:r>
            <a:endParaRPr lang="en-US" sz="2400" dirty="0"/>
          </a:p>
        </p:txBody>
      </p:sp>
      <p:sp>
        <p:nvSpPr>
          <p:cNvPr id="11" name="Text 8"/>
          <p:cNvSpPr/>
          <p:nvPr/>
        </p:nvSpPr>
        <p:spPr>
          <a:xfrm>
            <a:off x="6217920"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qualified investor meetings booked</a:t>
            </a:r>
            <a:endParaRPr lang="en-US" sz="1050" dirty="0"/>
          </a:p>
        </p:txBody>
      </p:sp>
      <p:sp>
        <p:nvSpPr>
          <p:cNvPr id="12" name="Shape 9"/>
          <p:cNvSpPr/>
          <p:nvPr/>
        </p:nvSpPr>
        <p:spPr>
          <a:xfrm>
            <a:off x="8302752" y="2057400"/>
            <a:ext cx="3593592" cy="868680"/>
          </a:xfrm>
          <a:prstGeom prst="roundRect">
            <a:avLst>
              <a:gd name="adj" fmla="val 8571"/>
            </a:avLst>
          </a:prstGeom>
          <a:solidFill>
            <a:srgbClr val="0D0D26">
              <a:alpha val="55000"/>
            </a:srgbClr>
          </a:solidFill>
          <a:ln w="9525">
            <a:solidFill>
              <a:srgbClr val="31316A">
                <a:alpha val="75000"/>
              </a:srgbClr>
            </a:solidFill>
            <a:prstDash val="solid"/>
          </a:ln>
        </p:spPr>
      </p:sp>
      <p:sp>
        <p:nvSpPr>
          <p:cNvPr id="13" name="Text 10"/>
          <p:cNvSpPr/>
          <p:nvPr/>
        </p:nvSpPr>
        <p:spPr>
          <a:xfrm>
            <a:off x="8531352" y="2121408"/>
            <a:ext cx="1554480" cy="731520"/>
          </a:xfrm>
          <a:prstGeom prst="rect">
            <a:avLst/>
          </a:prstGeom>
          <a:noFill/>
          <a:ln/>
        </p:spPr>
        <p:txBody>
          <a:bodyPr wrap="square" lIns="0" tIns="0" rIns="0" bIns="0" rtlCol="0" anchor="ctr"/>
          <a:lstStyle/>
          <a:p>
            <a:pPr indent="0" marL="0">
              <a:buNone/>
            </a:pPr>
            <a:r>
              <a:rPr lang="en-US" sz="2400" b="1" dirty="0">
                <a:solidFill>
                  <a:srgbClr val="43D5FF"/>
                </a:solidFill>
                <a:latin typeface="Arial" pitchFamily="34" charset="0"/>
                <a:ea typeface="Arial" pitchFamily="34" charset="-122"/>
                <a:cs typeface="Arial" pitchFamily="34" charset="-120"/>
              </a:rPr>
              <a:t>500+</a:t>
            </a:r>
            <a:endParaRPr lang="en-US" sz="2400" dirty="0"/>
          </a:p>
        </p:txBody>
      </p:sp>
      <p:sp>
        <p:nvSpPr>
          <p:cNvPr id="14" name="Text 11"/>
          <p:cNvSpPr/>
          <p:nvPr/>
        </p:nvSpPr>
        <p:spPr>
          <a:xfrm>
            <a:off x="10085832" y="2121408"/>
            <a:ext cx="1581912" cy="731520"/>
          </a:xfrm>
          <a:prstGeom prst="rect">
            <a:avLst/>
          </a:prstGeom>
          <a:noFill/>
          <a:ln/>
        </p:spPr>
        <p:txBody>
          <a:bodyPr wrap="square" lIns="0" tIns="0" rIns="0" bIns="0" rtlCol="0" anchor="ctr"/>
          <a:lstStyle/>
          <a:p>
            <a:pPr indent="0" marL="0">
              <a:lnSpc>
                <a:spcPct val="110000"/>
              </a:lnSpc>
              <a:buNone/>
            </a:pPr>
            <a:r>
              <a:rPr lang="en-US" sz="1050" dirty="0">
                <a:solidFill>
                  <a:srgbClr val="FFFFFF"/>
                </a:solidFill>
                <a:latin typeface="Arial" pitchFamily="34" charset="0"/>
                <a:ea typeface="Arial" pitchFamily="34" charset="-122"/>
                <a:cs typeface="Arial" pitchFamily="34" charset="-120"/>
              </a:rPr>
              <a:t>clients served since 2020</a:t>
            </a:r>
            <a:endParaRPr lang="en-US" sz="1050" dirty="0"/>
          </a:p>
        </p:txBody>
      </p:sp>
      <p:sp>
        <p:nvSpPr>
          <p:cNvPr id="362" name="Shape 40"/>
          <p:cNvSpPr/>
          <p:nvPr/>
        </p:nvSpPr>
        <p:spPr>
          <a:xfrm>
            <a:off x="566928"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63" name="Text 40a"/>
          <p:cNvSpPr/>
          <p:nvPr/>
        </p:nvSpPr>
        <p:spPr>
          <a:xfrm>
            <a:off x="795528"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ISSUANCE  ·  DARREN MARBLE, CEO</a:t>
            </a:r>
            <a:endParaRPr lang="en-US" sz="1000" dirty="0"/>
          </a:p>
        </p:txBody>
      </p:sp>
      <p:sp>
        <p:nvSpPr>
          <p:cNvPr id="364" name="Text 40b"/>
          <p:cNvSpPr/>
          <p:nvPr/>
        </p:nvSpPr>
        <p:spPr>
          <a:xfrm>
            <a:off x="795528"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“…one of the most effective investor marketing firms I’ve ever worked with when it comes to raising capital for my companies. In the last 60 days alone, FISH has arranged 25 qualified investor meetings for me.”</a:t>
            </a:r>
            <a:endParaRPr lang="en-US" sz="1050" dirty="0"/>
          </a:p>
        </p:txBody>
      </p:sp>
      <p:sp>
        <p:nvSpPr>
          <p:cNvPr id="365" name="Text 40c"/>
          <p:cNvSpPr/>
          <p:nvPr/>
        </p:nvSpPr>
        <p:spPr>
          <a:xfrm>
            <a:off x="795528"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25 QUALIFIED INVESTOR MEETINGS IN 60 DAYS</a:t>
            </a:r>
            <a:endParaRPr lang="en-US" sz="1000" dirty="0"/>
          </a:p>
        </p:txBody>
      </p:sp>
      <p:sp>
        <p:nvSpPr>
          <p:cNvPr id="366" name="Shape 41"/>
          <p:cNvSpPr/>
          <p:nvPr/>
        </p:nvSpPr>
        <p:spPr>
          <a:xfrm>
            <a:off x="4434840"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67" name="Text 41a"/>
          <p:cNvSpPr/>
          <p:nvPr/>
        </p:nvSpPr>
        <p:spPr>
          <a:xfrm>
            <a:off x="4663440"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CARTHAGE CAPITAL  ·  STEPHEN WU</a:t>
            </a:r>
            <a:endParaRPr lang="en-US" sz="1000" dirty="0"/>
          </a:p>
        </p:txBody>
      </p:sp>
      <p:sp>
        <p:nvSpPr>
          <p:cNvPr id="368" name="Text 41b"/>
          <p:cNvSpPr/>
          <p:nvPr/>
        </p:nvSpPr>
        <p:spPr>
          <a:xfrm>
            <a:off x="4663440"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“ThinkFISH helped me raise $2 to $3 million across around 20 different investors over the past nine months. Two to three meetings every week, consistently, and they’re already interested. You delivered way above my expectations.”</a:t>
            </a:r>
            <a:endParaRPr lang="en-US" sz="1050" dirty="0"/>
          </a:p>
        </p:txBody>
      </p:sp>
      <p:sp>
        <p:nvSpPr>
          <p:cNvPr id="369" name="Text 41c"/>
          <p:cNvSpPr/>
          <p:nvPr/>
        </p:nvSpPr>
        <p:spPr>
          <a:xfrm>
            <a:off x="4663440"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$2–3M RAISED  ·  ~20 INVESTORS  ·  9 MONTHS</a:t>
            </a:r>
            <a:endParaRPr lang="en-US" sz="1000" dirty="0"/>
          </a:p>
        </p:txBody>
      </p:sp>
      <p:sp>
        <p:nvSpPr>
          <p:cNvPr id="370" name="Shape 42"/>
          <p:cNvSpPr/>
          <p:nvPr/>
        </p:nvSpPr>
        <p:spPr>
          <a:xfrm>
            <a:off x="8302752" y="3063240"/>
            <a:ext cx="3593592" cy="1920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1" name="Text 42a"/>
          <p:cNvSpPr/>
          <p:nvPr/>
        </p:nvSpPr>
        <p:spPr>
          <a:xfrm>
            <a:off x="8531352" y="3145536"/>
            <a:ext cx="3136392" cy="256032"/>
          </a:xfrm>
          <a:prstGeom prst="rect">
            <a:avLst/>
          </a:prstGeom>
          <a:noFill/>
          <a:ln/>
        </p:spPr>
        <p:txBody>
          <a:bodyPr wrap="square" lIns="0" tIns="0" rIns="0" bIns="0" rtlCol="0" anchor="ctr"/>
          <a:lstStyle/>
          <a:p>
            <a:pPr indent="0" marL="0">
              <a:buNone/>
            </a:pPr>
            <a:r>
              <a:rPr lang="en-US" sz="1000" b="1" spc="100" kern="0" dirty="0">
                <a:solidFill>
                  <a:srgbClr val="7C6CFF"/>
                </a:solidFill>
                <a:latin typeface="Arial" pitchFamily="34" charset="0"/>
                <a:ea typeface="Arial" pitchFamily="34" charset="-122"/>
                <a:cs typeface="Arial" pitchFamily="34" charset="-120"/>
              </a:rPr>
              <a:t>OPTIONSMD  ·  KYLE PIERCE, CEO</a:t>
            </a:r>
            <a:endParaRPr lang="en-US" sz="1000" dirty="0"/>
          </a:p>
        </p:txBody>
      </p:sp>
      <p:sp>
        <p:nvSpPr>
          <p:cNvPr id="372" name="Text 42b"/>
          <p:cNvSpPr/>
          <p:nvPr/>
        </p:nvSpPr>
        <p:spPr>
          <a:xfrm>
            <a:off x="8531352" y="3419856"/>
            <a:ext cx="3136392" cy="1207008"/>
          </a:xfrm>
          <a:prstGeom prst="rect">
            <a:avLst/>
          </a:prstGeom>
          <a:noFill/>
          <a:ln/>
        </p:spPr>
        <p:txBody>
          <a:bodyPr wrap="square" lIns="0" tIns="0" rIns="0" bIns="0" rtlCol="0" anchor="t"/>
          <a:lstStyle/>
          <a:p>
            <a:pPr indent="0" marL="0">
              <a:lnSpc>
                <a:spcPct val="120000"/>
              </a:lnSpc>
              <a:buNone/>
            </a:pPr>
            <a:r>
              <a:rPr lang="en-US" sz="1050" i="1" dirty="0">
                <a:solidFill>
                  <a:srgbClr val="FFFFFF"/>
                </a:solidFill>
                <a:latin typeface="Arial" pitchFamily="34" charset="0"/>
                <a:ea typeface="Arial" pitchFamily="34" charset="-122"/>
                <a:cs typeface="Arial" pitchFamily="34" charset="-120"/>
              </a:rPr>
              <a:t>“We’ve had a great experience with the team. The number and relevance of investor connections have grown quickly, and each meeting has proven valuable. We’ve been pleasantly surprised by the unexpected opportunities that have come from them.”</a:t>
            </a:r>
            <a:endParaRPr lang="en-US" sz="1050" dirty="0"/>
          </a:p>
        </p:txBody>
      </p:sp>
      <p:sp>
        <p:nvSpPr>
          <p:cNvPr id="373" name="Text 42c"/>
          <p:cNvSpPr/>
          <p:nvPr/>
        </p:nvSpPr>
        <p:spPr>
          <a:xfrm>
            <a:off x="8531352" y="4663440"/>
            <a:ext cx="3136392" cy="256032"/>
          </a:xfrm>
          <a:prstGeom prst="rect">
            <a:avLst/>
          </a:prstGeom>
          <a:noFill/>
          <a:ln/>
        </p:spPr>
        <p:txBody>
          <a:bodyPr wrap="square" lIns="0" tIns="0" rIns="0" bIns="0" rtlCol="0" anchor="ctr"/>
          <a:lstStyle/>
          <a:p>
            <a:pPr indent="0" marL="0">
              <a:buNone/>
            </a:pPr>
            <a:r>
              <a:rPr lang="en-US" sz="1000" b="1" dirty="0">
                <a:solidFill>
                  <a:srgbClr val="43D5FF"/>
                </a:solidFill>
                <a:latin typeface="Arial" pitchFamily="34" charset="0"/>
                <a:ea typeface="Arial" pitchFamily="34" charset="-122"/>
                <a:cs typeface="Arial" pitchFamily="34" charset="-120"/>
              </a:rPr>
              <a:t>90 MEETINGS IN 3 MONTHS  ·  LATER ACQUIRED</a:t>
            </a:r>
            <a:endParaRPr lang="en-US" sz="1000" dirty="0"/>
          </a:p>
        </p:txBody>
      </p:sp>
      <p:sp>
        <p:nvSpPr>
          <p:cNvPr id="374" name="Shape 50"/>
          <p:cNvSpPr/>
          <p:nvPr/>
        </p:nvSpPr>
        <p:spPr>
          <a:xfrm>
            <a:off x="566928" y="5120640"/>
            <a:ext cx="5532120" cy="777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5" name="Text 50b"/>
          <p:cNvSpPr/>
          <p:nvPr/>
        </p:nvSpPr>
        <p:spPr>
          <a:xfrm>
            <a:off x="795528" y="5175504"/>
            <a:ext cx="5074920" cy="502920"/>
          </a:xfrm>
          <a:prstGeom prst="rect">
            <a:avLst/>
          </a:prstGeom>
          <a:noFill/>
          <a:ln/>
        </p:spPr>
        <p:txBody>
          <a:bodyPr wrap="square" lIns="0" tIns="0" rIns="0" bIns="0" rtlCol="0" anchor="t"/>
          <a:lstStyle/>
          <a:p>
            <a:pPr indent="0" marL="0">
              <a:lnSpc>
                <a:spcPct val="112000"/>
              </a:lnSpc>
              <a:buNone/>
            </a:pPr>
            <a:r>
              <a:rPr lang="en-US" sz="1000" i="1" dirty="0">
                <a:solidFill>
                  <a:srgbClr val="FFFFFF"/>
                </a:solidFill>
                <a:latin typeface="Arial" pitchFamily="34" charset="0"/>
                <a:ea typeface="Arial" pitchFamily="34" charset="-122"/>
                <a:cs typeface="Arial" pitchFamily="34" charset="-120"/>
              </a:rPr>
              <a:t>“You guys truly exceeded my expectations. Honestly, I viewed it as a $20,000 gamble—like playing blackjack. But ironically, the very first lead you introduced was a solid single, and I was totally blown away.”</a:t>
            </a:r>
            <a:endParaRPr lang="en-US" sz="1000" dirty="0"/>
          </a:p>
        </p:txBody>
      </p:sp>
      <p:sp>
        <p:nvSpPr>
          <p:cNvPr id="376" name="Text 50c"/>
          <p:cNvSpPr/>
          <p:nvPr/>
        </p:nvSpPr>
        <p:spPr>
          <a:xfrm>
            <a:off x="795528" y="5678424"/>
            <a:ext cx="5074920" cy="201168"/>
          </a:xfrm>
          <a:prstGeom prst="rect">
            <a:avLst/>
          </a:prstGeom>
          <a:noFill/>
          <a:ln/>
        </p:spPr>
        <p:txBody>
          <a:bodyPr wrap="square" lIns="0" tIns="0" rIns="0" bIns="0" rtlCol="0" anchor="ctr"/>
          <a:lstStyle/>
          <a:p>
            <a:pPr indent="0" marL="0">
              <a:buNone/>
            </a:pPr>
            <a:r>
              <a:rPr lang="en-US" sz="950" b="1" dirty="0">
                <a:solidFill>
                  <a:srgbClr val="43D5FF"/>
                </a:solidFill>
                <a:latin typeface="Arial" pitchFamily="34" charset="0"/>
                <a:ea typeface="Arial" pitchFamily="34" charset="-122"/>
                <a:cs typeface="Arial" pitchFamily="34" charset="-120"/>
              </a:rPr>
              <a:t>TODD MCALLISTER, CEO, BIOAGE DATA</a:t>
            </a:r>
            <a:endParaRPr lang="en-US" sz="950" dirty="0"/>
          </a:p>
        </p:txBody>
      </p:sp>
      <p:sp>
        <p:nvSpPr>
          <p:cNvPr id="377" name="Shape 51"/>
          <p:cNvSpPr/>
          <p:nvPr/>
        </p:nvSpPr>
        <p:spPr>
          <a:xfrm>
            <a:off x="6373368" y="5120640"/>
            <a:ext cx="5532120" cy="777240"/>
          </a:xfrm>
          <a:prstGeom prst="roundRect">
            <a:avLst>
              <a:gd name="adj" fmla="val 4286"/>
            </a:avLst>
          </a:prstGeom>
          <a:solidFill>
            <a:srgbClr val="0D0D26">
              <a:alpha val="55000"/>
            </a:srgbClr>
          </a:solidFill>
          <a:ln w="9525">
            <a:solidFill>
              <a:srgbClr val="31316A">
                <a:alpha val="75000"/>
              </a:srgbClr>
            </a:solidFill>
            <a:prstDash val="solid"/>
          </a:ln>
        </p:spPr>
      </p:sp>
      <p:sp>
        <p:nvSpPr>
          <p:cNvPr id="378" name="Text 51b"/>
          <p:cNvSpPr/>
          <p:nvPr/>
        </p:nvSpPr>
        <p:spPr>
          <a:xfrm>
            <a:off x="6601968" y="5175504"/>
            <a:ext cx="5074920" cy="502920"/>
          </a:xfrm>
          <a:prstGeom prst="rect">
            <a:avLst/>
          </a:prstGeom>
          <a:noFill/>
          <a:ln/>
        </p:spPr>
        <p:txBody>
          <a:bodyPr wrap="square" lIns="0" tIns="0" rIns="0" bIns="0" rtlCol="0" anchor="t"/>
          <a:lstStyle/>
          <a:p>
            <a:pPr indent="0" marL="0">
              <a:lnSpc>
                <a:spcPct val="112000"/>
              </a:lnSpc>
              <a:buNone/>
            </a:pPr>
            <a:r>
              <a:rPr lang="en-US" sz="1000" i="1" dirty="0">
                <a:solidFill>
                  <a:srgbClr val="FFFFFF"/>
                </a:solidFill>
                <a:latin typeface="Arial" pitchFamily="34" charset="0"/>
                <a:ea typeface="Arial" pitchFamily="34" charset="-122"/>
                <a:cs typeface="Arial" pitchFamily="34" charset="-120"/>
              </a:rPr>
              <a:t>“ThinkFISH has consistently provided a steady stream of leads each week—over 20 so far! … Whenever a prospect doesn’t meet our criteria, they immediately remove them, which saves us valuable time.”</a:t>
            </a:r>
            <a:endParaRPr lang="en-US" sz="1000" dirty="0"/>
          </a:p>
        </p:txBody>
      </p:sp>
      <p:sp>
        <p:nvSpPr>
          <p:cNvPr id="379" name="Text 51c"/>
          <p:cNvSpPr/>
          <p:nvPr/>
        </p:nvSpPr>
        <p:spPr>
          <a:xfrm>
            <a:off x="6601968" y="5678424"/>
            <a:ext cx="5074920" cy="201168"/>
          </a:xfrm>
          <a:prstGeom prst="rect">
            <a:avLst/>
          </a:prstGeom>
          <a:noFill/>
          <a:ln/>
        </p:spPr>
        <p:txBody>
          <a:bodyPr wrap="square" lIns="0" tIns="0" rIns="0" bIns="0" rtlCol="0" anchor="ctr"/>
          <a:lstStyle/>
          <a:p>
            <a:pPr indent="0" marL="0">
              <a:buNone/>
            </a:pPr>
            <a:r>
              <a:rPr lang="en-US" sz="950" b="1" dirty="0">
                <a:solidFill>
                  <a:srgbClr val="43D5FF"/>
                </a:solidFill>
                <a:latin typeface="Arial" pitchFamily="34" charset="0"/>
                <a:ea typeface="Arial" pitchFamily="34" charset="-122"/>
                <a:cs typeface="Arial" pitchFamily="34" charset="-120"/>
              </a:rPr>
              <a:t>MATT SHIH, CO-FOUNDER &amp; CHIEF DESIGN OFFICER, PAINTBOX LABS</a:t>
            </a:r>
            <a:endParaRPr lang="en-US" sz="950" dirty="0"/>
          </a:p>
        </p:txBody>
      </p:sp>
      <p:sp>
        <p:nvSpPr>
          <p:cNvPr id="21" name="Shape 18"/>
          <p:cNvSpPr/>
          <p:nvPr/>
        </p:nvSpPr>
        <p:spPr>
          <a:xfrm>
            <a:off x="566928" y="6035040"/>
            <a:ext cx="11338560" cy="566928"/>
          </a:xfrm>
          <a:prstGeom prst="roundRect">
            <a:avLst>
              <a:gd name="adj" fmla="val 8182"/>
            </a:avLst>
          </a:prstGeom>
          <a:solidFill>
            <a:srgbClr val="0D0D26">
              <a:alpha val="55000"/>
            </a:srgbClr>
          </a:solidFill>
          <a:ln w="9525">
            <a:solidFill>
              <a:srgbClr val="31316A">
                <a:alpha val="75000"/>
              </a:srgbClr>
            </a:solidFill>
            <a:prstDash val="solid"/>
          </a:ln>
        </p:spPr>
      </p:sp>
      <p:sp>
        <p:nvSpPr>
          <p:cNvPr id="22" name="Text 19"/>
          <p:cNvSpPr/>
          <p:nvPr/>
        </p:nvSpPr>
        <p:spPr>
          <a:xfrm>
            <a:off x="795528" y="6089904"/>
            <a:ext cx="10881360" cy="457200"/>
          </a:xfrm>
          <a:prstGeom prst="rect">
            <a:avLst/>
          </a:prstGeom>
          <a:noFill/>
          <a:ln/>
        </p:spPr>
        <p:txBody>
          <a:bodyPr wrap="square" lIns="0" tIns="0" rIns="0" bIns="0" rtlCol="0" anchor="ctr"/>
          <a:lstStyle/>
          <a:p>
            <a:pPr indent="0" marL="0">
              <a:spcAft>
                <a:spcPts val="600"/>
              </a:spcAft>
              <a:buNone/>
            </a:pPr>
            <a:r>
              <a:rPr lang="en-US" sz="1200" b="1" spc="100" kern="0" dirty="0">
                <a:solidFill>
                  <a:srgbClr val="7C6CFF"/>
                </a:solidFill>
                <a:latin typeface="Arial" pitchFamily="34" charset="0"/>
                <a:ea typeface="Arial" pitchFamily="34" charset="-122"/>
                <a:cs typeface="Arial" pitchFamily="34" charset="-120"/>
              </a:rPr>
              <a:t xml:space="preserve">VIDEO TESTIMONIALS   </a:t>
            </a:r>
            <a:r>
              <a:rPr lang="en-US" sz="1300" dirty="0">
                <a:solidFill>
                  <a:srgbClr val="FFFFFF"/>
                </a:solidFill>
                <a:latin typeface="Arial" pitchFamily="34" charset="0"/>
                <a:ea typeface="Arial" pitchFamily="34" charset="-122"/>
                <a:cs typeface="Arial" pitchFamily="34" charset="-120"/>
              </a:rPr>
              <a:t xml:space="preserve">youtube.com/@thinkFISHLLC/videos</a:t>
            </a:r>
            <a:endParaRPr lang="en-US" sz="1200" dirty="0"/>
          </a:p>
          <a:p>
            <a:pPr indent="0" marL="0">
              <a:buNone/>
            </a:pPr>
            <a:r>
              <a:rPr lang="en-US" sz="1200" b="1" spc="100" kern="0" dirty="0">
                <a:solidFill>
                  <a:srgbClr val="7C6CFF"/>
                </a:solidFill>
                <a:latin typeface="Arial" pitchFamily="34" charset="0"/>
                <a:ea typeface="Arial" pitchFamily="34" charset="-122"/>
                <a:cs typeface="Arial" pitchFamily="34" charset="-120"/>
              </a:rPr>
              <a:t xml:space="preserve">HOW WE DO IT   </a:t>
            </a:r>
            <a:r>
              <a:rPr lang="en-US" sz="1300" dirty="0">
                <a:solidFill>
                  <a:srgbClr val="FFFFFF"/>
                </a:solidFill>
                <a:latin typeface="Arial" pitchFamily="34" charset="0"/>
                <a:ea typeface="Arial" pitchFamily="34" charset="-122"/>
                <a:cs typeface="Arial" pitchFamily="34" charset="-120"/>
              </a:rPr>
              <a:t xml:space="preserve">bit.ly/thinkfish_method</a:t>
            </a:r>
            <a:r>
              <a:rPr lang="en-US" sz="1200" b="1" spc="100" kern="0" dirty="0">
                <a:solidFill>
                  <a:srgbClr val="7C6CFF"/>
                </a:solidFill>
                <a:latin typeface="Arial" pitchFamily="34" charset="0"/>
                <a:ea typeface="Arial" pitchFamily="34" charset="-122"/>
                <a:cs typeface="Arial" pitchFamily="34" charset="-120"/>
              </a:rPr>
              <a:t xml:space="preserve">        WHO WE ARE   </a:t>
            </a:r>
            <a:r>
              <a:rPr lang="en-US" sz="1300" dirty="0">
                <a:solidFill>
                  <a:srgbClr val="FFFFFF"/>
                </a:solidFill>
                <a:latin typeface="Arial" pitchFamily="34" charset="0"/>
                <a:ea typeface="Arial" pitchFamily="34" charset="-122"/>
                <a:cs typeface="Arial" pitchFamily="34" charset="-120"/>
              </a:rPr>
              <a:t xml:space="preserve">bit.ly/thinkfish_VSL</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14</Slides>
  <Notes>14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14</vt:i4>
      </vt:variant>
    </vt:vector>
  </HeadingPairs>
  <TitlesOfParts>
    <vt:vector size="1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2026-07-20T20:56:15Z</dcterms:created>
  <dcterms:modified xsi:type="dcterms:W3CDTF">2026-07-20T20:56:15Z</dcterms:modified>
</cp:coreProperties>
</file>