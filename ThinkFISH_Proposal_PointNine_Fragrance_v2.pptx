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PQ4Xb/FVboAmJ90hMU8lAcomb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BBF1CB-3055-4061-9A71-149695C2F488}">
  <a:tblStyle styleId="{76BBF1CB-3055-4061-9A71-149695C2F48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1.jpg"/><Relationship Id="rId5" Type="http://schemas.openxmlformats.org/officeDocument/2006/relationships/image" Target="../media/image18.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 name="Shape 14"/>
        <p:cNvGrpSpPr/>
        <p:nvPr/>
      </p:nvGrpSpPr>
      <p:grpSpPr>
        <a:xfrm>
          <a:off x="0" y="0"/>
          <a:ext cx="0" cy="0"/>
          <a:chOff x="0" y="0"/>
          <a:chExt cx="0" cy="0"/>
        </a:xfrm>
      </p:grpSpPr>
      <p:pic>
        <p:nvPicPr>
          <p:cNvPr id="15" name="Google Shape;15;p1"/>
          <p:cNvPicPr preferRelativeResize="0"/>
          <p:nvPr/>
        </p:nvPicPr>
        <p:blipFill rotWithShape="1">
          <a:blip r:embed="rId3">
            <a:alphaModFix/>
          </a:blip>
          <a:srcRect b="17691" l="21282" r="0" t="0"/>
          <a:stretch/>
        </p:blipFill>
        <p:spPr>
          <a:xfrm>
            <a:off x="0" y="859536"/>
            <a:ext cx="4937760" cy="5998464"/>
          </a:xfrm>
          <a:prstGeom prst="rect">
            <a:avLst/>
          </a:prstGeom>
          <a:noFill/>
          <a:ln>
            <a:noFill/>
          </a:ln>
        </p:spPr>
      </p:pic>
      <p:pic>
        <p:nvPicPr>
          <p:cNvPr id="16" name="Google Shape;16;p1"/>
          <p:cNvPicPr preferRelativeResize="0"/>
          <p:nvPr/>
        </p:nvPicPr>
        <p:blipFill rotWithShape="1">
          <a:blip r:embed="rId4">
            <a:alphaModFix amt="37000"/>
          </a:blip>
          <a:srcRect b="0" l="4900" r="5000" t="0"/>
          <a:stretch/>
        </p:blipFill>
        <p:spPr>
          <a:xfrm>
            <a:off x="4096512" y="841248"/>
            <a:ext cx="8095183" cy="6016752"/>
          </a:xfrm>
          <a:prstGeom prst="rect">
            <a:avLst/>
          </a:prstGeom>
          <a:noFill/>
          <a:ln>
            <a:noFill/>
          </a:ln>
        </p:spPr>
      </p:pic>
      <p:pic>
        <p:nvPicPr>
          <p:cNvPr id="17" name="Google Shape;17;p1"/>
          <p:cNvPicPr preferRelativeResize="0"/>
          <p:nvPr/>
        </p:nvPicPr>
        <p:blipFill rotWithShape="1">
          <a:blip r:embed="rId5">
            <a:alphaModFix/>
          </a:blip>
          <a:srcRect b="21079" l="72900" r="0" t="0"/>
          <a:stretch/>
        </p:blipFill>
        <p:spPr>
          <a:xfrm>
            <a:off x="4096512" y="1106424"/>
            <a:ext cx="1700784" cy="5751576"/>
          </a:xfrm>
          <a:prstGeom prst="rect">
            <a:avLst/>
          </a:prstGeom>
          <a:noFill/>
          <a:ln>
            <a:noFill/>
          </a:ln>
        </p:spPr>
      </p:pic>
      <p:pic>
        <p:nvPicPr>
          <p:cNvPr descr="/home/claude/brand/clean/logo_large.png" id="18" name="Google Shape;18;p1"/>
          <p:cNvPicPr preferRelativeResize="0"/>
          <p:nvPr/>
        </p:nvPicPr>
        <p:blipFill rotWithShape="1">
          <a:blip r:embed="rId6">
            <a:alphaModFix/>
          </a:blip>
          <a:srcRect b="0" l="0" r="0" t="0"/>
          <a:stretch/>
        </p:blipFill>
        <p:spPr>
          <a:xfrm>
            <a:off x="6818224" y="1280160"/>
            <a:ext cx="2651760" cy="1664208"/>
          </a:xfrm>
          <a:prstGeom prst="rect">
            <a:avLst/>
          </a:prstGeom>
          <a:noFill/>
          <a:ln>
            <a:noFill/>
          </a:ln>
        </p:spPr>
      </p:pic>
      <p:sp>
        <p:nvSpPr>
          <p:cNvPr id="19" name="Google Shape;19;p1"/>
          <p:cNvSpPr/>
          <p:nvPr/>
        </p:nvSpPr>
        <p:spPr>
          <a:xfrm>
            <a:off x="4370832" y="3108960"/>
            <a:ext cx="7546543"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400"/>
              <a:buFont typeface="Arial"/>
              <a:buNone/>
            </a:pPr>
            <a:r>
              <a:rPr b="1" i="0" lang="en-US" sz="5400" u="none" cap="none" strike="noStrike">
                <a:solidFill>
                  <a:srgbClr val="FFFFFF"/>
                </a:solidFill>
                <a:latin typeface="Arial"/>
                <a:ea typeface="Arial"/>
                <a:cs typeface="Arial"/>
                <a:sym typeface="Arial"/>
              </a:rPr>
              <a:t>ThinkFISH</a:t>
            </a:r>
            <a:endParaRPr b="0" i="0" sz="5400" u="none" cap="none" strike="noStrike">
              <a:solidFill>
                <a:schemeClr val="dk1"/>
              </a:solidFill>
              <a:latin typeface="Calibri"/>
              <a:ea typeface="Calibri"/>
              <a:cs typeface="Calibri"/>
              <a:sym typeface="Calibri"/>
            </a:endParaRPr>
          </a:p>
        </p:txBody>
      </p:sp>
      <p:sp>
        <p:nvSpPr>
          <p:cNvPr id="20" name="Google Shape;20;p1"/>
          <p:cNvSpPr/>
          <p:nvPr/>
        </p:nvSpPr>
        <p:spPr>
          <a:xfrm>
            <a:off x="4370832" y="3977640"/>
            <a:ext cx="7546543"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&lt;&gt;&lt;</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4370832" y="4407408"/>
            <a:ext cx="7546543"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Arial"/>
              <a:buNone/>
            </a:pPr>
            <a:r>
              <a:rPr b="0" i="0" lang="en-US" sz="2800" u="none" cap="none" strike="noStrike">
                <a:solidFill>
                  <a:srgbClr val="FFFFFF"/>
                </a:solidFill>
                <a:latin typeface="Arial"/>
                <a:ea typeface="Arial"/>
                <a:cs typeface="Arial"/>
                <a:sym typeface="Arial"/>
              </a:rPr>
              <a:t>PointNine Fragrance, Inc.</a:t>
            </a:r>
            <a:endParaRPr b="0" i="0" sz="2800" u="none" cap="none" strike="noStrike">
              <a:solidFill>
                <a:schemeClr val="dk1"/>
              </a:solidFill>
              <a:latin typeface="Calibri"/>
              <a:ea typeface="Calibri"/>
              <a:cs typeface="Calibri"/>
              <a:sym typeface="Calibri"/>
            </a:endParaRPr>
          </a:p>
        </p:txBody>
      </p:sp>
      <p:sp>
        <p:nvSpPr>
          <p:cNvPr id="22" name="Google Shape;22;p1"/>
          <p:cNvSpPr/>
          <p:nvPr/>
        </p:nvSpPr>
        <p:spPr>
          <a:xfrm>
            <a:off x="4370832" y="5074920"/>
            <a:ext cx="7546543"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BEDC"/>
              </a:buClr>
              <a:buSzPts val="1300"/>
              <a:buFont typeface="Arial"/>
              <a:buNone/>
            </a:pPr>
            <a:r>
              <a:rPr b="0" i="0" lang="en-US" sz="1300" u="none" cap="none" strike="noStrike">
                <a:solidFill>
                  <a:srgbClr val="B9BEDC"/>
                </a:solidFill>
                <a:latin typeface="Arial"/>
                <a:ea typeface="Arial"/>
                <a:cs typeface="Arial"/>
                <a:sym typeface="Arial"/>
              </a:rPr>
              <a:t>Investor Outreach Proposal  ·  October 2026</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B9BEDC"/>
              </a:buClr>
              <a:buSzPts val="1300"/>
              <a:buFont typeface="Arial"/>
              <a:buNone/>
            </a:pPr>
            <a:r>
              <a:rPr b="0" i="0" lang="en-US" sz="1300" u="none" cap="none" strike="noStrike">
                <a:solidFill>
                  <a:srgbClr val="B9BEDC"/>
                </a:solidFill>
                <a:latin typeface="Arial"/>
                <a:ea typeface="Arial"/>
                <a:cs typeface="Arial"/>
                <a:sym typeface="Arial"/>
              </a:rPr>
              <a:t>Prepared for Brian Fox Krawczyk &amp; Maria Ashe</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329184" y="3657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0" i="0" lang="en-US" sz="1500" u="none" cap="none" strike="noStrike">
                <a:solidFill>
                  <a:srgbClr val="FFFFFF"/>
                </a:solidFill>
                <a:latin typeface="Arial"/>
                <a:ea typeface="Arial"/>
                <a:cs typeface="Arial"/>
                <a:sym typeface="Arial"/>
              </a:rPr>
              <a:t>THINKFISH LLC 2026</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 name="Shape 27"/>
        <p:cNvGrpSpPr/>
        <p:nvPr/>
      </p:nvGrpSpPr>
      <p:grpSpPr>
        <a:xfrm>
          <a:off x="0" y="0"/>
          <a:ext cx="0" cy="0"/>
          <a:chOff x="0" y="0"/>
          <a:chExt cx="0" cy="0"/>
        </a:xfrm>
      </p:grpSpPr>
      <p:pic>
        <p:nvPicPr>
          <p:cNvPr descr="/home/claude/brand/clean/logo_header.png" id="28" name="Google Shape;28;p2"/>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29" name="Google Shape;29;p2"/>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30" name="Google Shape;30;p2"/>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Executive Summary</a:t>
            </a:r>
            <a:endParaRPr b="0" i="0" sz="3800" u="none" cap="none" strike="noStrike">
              <a:solidFill>
                <a:schemeClr val="dk1"/>
              </a:solidFill>
              <a:latin typeface="Calibri"/>
              <a:ea typeface="Calibri"/>
              <a:cs typeface="Calibri"/>
              <a:sym typeface="Calibri"/>
            </a:endParaRPr>
          </a:p>
        </p:txBody>
      </p:sp>
      <p:sp>
        <p:nvSpPr>
          <p:cNvPr id="31" name="Google Shape;31;p2"/>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THE ASK, THE PLAN, THE INVESTMENT, WHAT TO EXPECT</a:t>
            </a:r>
            <a:endParaRPr b="0" i="0" sz="1400" u="none" cap="none" strike="noStrike">
              <a:solidFill>
                <a:schemeClr val="dk1"/>
              </a:solidFill>
              <a:latin typeface="Calibri"/>
              <a:ea typeface="Calibri"/>
              <a:cs typeface="Calibri"/>
              <a:sym typeface="Calibri"/>
            </a:endParaRPr>
          </a:p>
        </p:txBody>
      </p:sp>
      <p:sp>
        <p:nvSpPr>
          <p:cNvPr id="32" name="Google Shape;32;p2"/>
          <p:cNvSpPr/>
          <p:nvPr/>
        </p:nvSpPr>
        <p:spPr>
          <a:xfrm>
            <a:off x="566928"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95528"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THE ASK</a:t>
            </a:r>
            <a:endParaRPr b="0" i="0" sz="1400" u="none" cap="none" strike="noStrike">
              <a:solidFill>
                <a:schemeClr val="dk1"/>
              </a:solidFill>
              <a:latin typeface="Calibri"/>
              <a:ea typeface="Calibri"/>
              <a:cs typeface="Calibri"/>
              <a:sym typeface="Calibri"/>
            </a:endParaRPr>
          </a:p>
        </p:txBody>
      </p:sp>
      <p:sp>
        <p:nvSpPr>
          <p:cNvPr id="34" name="Google Shape;34;p2"/>
          <p:cNvSpPr/>
          <p:nvPr/>
        </p:nvSpPr>
        <p:spPr>
          <a:xfrm>
            <a:off x="795528"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$600K–$850K to take PointNine to its Q1 launch: the first production run of 12 SKUs (six fragrances, each in 9.5 mL and 50 mL), packaging, launch marketing and trade shows. Your year-one cash flow at $700K never goes negative. Minimum check $250K, so two or three investors, ideally led by a strategic who knows fragrance or luxury. Capital can land in two halves: inventory first, the balance at ship.</a:t>
            </a:r>
            <a:endParaRPr b="0" i="0" sz="1050" u="none" cap="none" strike="noStrike">
              <a:solidFill>
                <a:schemeClr val="dk1"/>
              </a:solidFill>
              <a:latin typeface="Calibri"/>
              <a:ea typeface="Calibri"/>
              <a:cs typeface="Calibri"/>
              <a:sym typeface="Calibri"/>
            </a:endParaRPr>
          </a:p>
        </p:txBody>
      </p:sp>
      <p:sp>
        <p:nvSpPr>
          <p:cNvPr id="35" name="Google Shape;35;p2"/>
          <p:cNvSpPr/>
          <p:nvPr/>
        </p:nvSpPr>
        <p:spPr>
          <a:xfrm>
            <a:off x="4434840"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4663440"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THE PLAN</a:t>
            </a:r>
            <a:endParaRPr b="0" i="0" sz="1400" u="none" cap="none" strike="noStrike">
              <a:solidFill>
                <a:schemeClr val="dk1"/>
              </a:solidFill>
              <a:latin typeface="Calibri"/>
              <a:ea typeface="Calibri"/>
              <a:cs typeface="Calibri"/>
              <a:sym typeface="Calibri"/>
            </a:endParaRPr>
          </a:p>
        </p:txBody>
      </p:sp>
      <p:sp>
        <p:nvSpPr>
          <p:cNvPr id="37" name="Google Shape;37;p2"/>
          <p:cNvSpPr/>
          <p:nvPr/>
        </p:nvSpPr>
        <p:spPr>
          <a:xfrm>
            <a:off x="4663440"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Three LinkedIn profiles (Brian’s, Maria’s and Rain Hannah’s), run end to end by ThinkFISH in your voice. Targeting investors who already understand prestige fragrance: beauty and luxury operator-angels, consumer family offices, luxury wellness and sustainability investors, and angels with recent exits. Every meeting screened against your $250K minimum and approved by you.</a:t>
            </a:r>
            <a:endParaRPr b="0" i="0" sz="1050" u="none" cap="none" strike="noStrike">
              <a:solidFill>
                <a:schemeClr val="dk1"/>
              </a:solidFill>
              <a:latin typeface="Calibri"/>
              <a:ea typeface="Calibri"/>
              <a:cs typeface="Calibri"/>
              <a:sym typeface="Calibri"/>
            </a:endParaRPr>
          </a:p>
        </p:txBody>
      </p:sp>
      <p:sp>
        <p:nvSpPr>
          <p:cNvPr id="38" name="Google Shape;38;p2"/>
          <p:cNvSpPr/>
          <p:nvPr/>
        </p:nvSpPr>
        <p:spPr>
          <a:xfrm>
            <a:off x="8302752"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531352"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THE INVESTMENT</a:t>
            </a:r>
            <a:endParaRPr b="0" i="0" sz="1400" u="none" cap="none" strike="noStrike">
              <a:solidFill>
                <a:schemeClr val="dk1"/>
              </a:solidFill>
              <a:latin typeface="Calibri"/>
              <a:ea typeface="Calibri"/>
              <a:cs typeface="Calibri"/>
              <a:sym typeface="Calibri"/>
            </a:endParaRPr>
          </a:p>
        </p:txBody>
      </p:sp>
      <p:sp>
        <p:nvSpPr>
          <p:cNvPr id="40" name="Google Shape;40;p2"/>
          <p:cNvSpPr/>
          <p:nvPr/>
        </p:nvSpPr>
        <p:spPr>
          <a:xfrm>
            <a:off x="8531352"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$3,500 per month, flat, covering all three profiles. Four-month term, matched to the raise window we discussed. No setup fee, no success fee, no commission, no transaction involvement.</a:t>
            </a:r>
            <a:endParaRPr b="0" i="0" sz="1050" u="none" cap="none" strike="noStrike">
              <a:solidFill>
                <a:schemeClr val="dk1"/>
              </a:solidFill>
              <a:latin typeface="Calibri"/>
              <a:ea typeface="Calibri"/>
              <a:cs typeface="Calibri"/>
              <a:sym typeface="Calibri"/>
            </a:endParaRPr>
          </a:p>
        </p:txBody>
      </p:sp>
      <p:sp>
        <p:nvSpPr>
          <p:cNvPr id="41" name="Google Shape;41;p2"/>
          <p:cNvSpPr/>
          <p:nvPr/>
        </p:nvSpPr>
        <p:spPr>
          <a:xfrm>
            <a:off x="566928" y="4663440"/>
            <a:ext cx="11338560" cy="1691640"/>
          </a:xfrm>
          <a:prstGeom prst="roundRect">
            <a:avLst>
              <a:gd fmla="val 4865"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95528" y="4828032"/>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400"/>
              <a:buFont typeface="Arial"/>
              <a:buNone/>
            </a:pPr>
            <a:r>
              <a:rPr b="1" i="0" lang="en-US" sz="1400" u="none" cap="none" strike="noStrike">
                <a:solidFill>
                  <a:srgbClr val="7C6CFF"/>
                </a:solidFill>
                <a:latin typeface="Arial"/>
                <a:ea typeface="Arial"/>
                <a:cs typeface="Arial"/>
                <a:sym typeface="Arial"/>
              </a:rPr>
              <a:t>WHAT TO EXPECT</a:t>
            </a:r>
            <a:endParaRPr b="0" i="0" sz="1400" u="none" cap="none" strike="noStrike">
              <a:solidFill>
                <a:schemeClr val="dk1"/>
              </a:solidFill>
              <a:latin typeface="Calibri"/>
              <a:ea typeface="Calibri"/>
              <a:cs typeface="Calibri"/>
              <a:sym typeface="Calibri"/>
            </a:endParaRPr>
          </a:p>
        </p:txBody>
      </p:sp>
      <p:sp>
        <p:nvSpPr>
          <p:cNvPr id="43" name="Google Shape;43;p2"/>
          <p:cNvSpPr/>
          <p:nvPr/>
        </p:nvSpPr>
        <p:spPr>
          <a:xfrm>
            <a:off x="795528" y="5175504"/>
            <a:ext cx="10881360" cy="10515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Outreach live within two weeks of kickoff. First qualified investor conversations in weeks three and four, building to a steady 3–6 qualified meetings per week across the three profiles from December, with weekly reporting throughout.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 name="Shape 47"/>
        <p:cNvGrpSpPr/>
        <p:nvPr/>
      </p:nvGrpSpPr>
      <p:grpSpPr>
        <a:xfrm>
          <a:off x="0" y="0"/>
          <a:ext cx="0" cy="0"/>
          <a:chOff x="0" y="0"/>
          <a:chExt cx="0" cy="0"/>
        </a:xfrm>
      </p:grpSpPr>
      <p:pic>
        <p:nvPicPr>
          <p:cNvPr descr="/home/claude/brand/clean/logo_header.png" id="48" name="Google Shape;48;p3"/>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49" name="Google Shape;49;p3"/>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50" name="Google Shape;50;p3"/>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Why ThinkFISH</a:t>
            </a:r>
            <a:endParaRPr b="0" i="0" sz="3800" u="none" cap="none" strike="noStrike">
              <a:solidFill>
                <a:schemeClr val="dk1"/>
              </a:solidFill>
              <a:latin typeface="Calibri"/>
              <a:ea typeface="Calibri"/>
              <a:cs typeface="Calibri"/>
              <a:sym typeface="Calibri"/>
            </a:endParaRPr>
          </a:p>
        </p:txBody>
      </p:sp>
      <p:sp>
        <p:nvSpPr>
          <p:cNvPr id="51" name="Google Shape;51;p3"/>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THE TRACK RECORD, BEFORE THE PROCESS</a:t>
            </a:r>
            <a:endParaRPr b="0" i="0" sz="1400" u="none" cap="none" strike="noStrike">
              <a:solidFill>
                <a:schemeClr val="dk1"/>
              </a:solidFill>
              <a:latin typeface="Calibri"/>
              <a:ea typeface="Calibri"/>
              <a:cs typeface="Calibri"/>
              <a:sym typeface="Calibri"/>
            </a:endParaRPr>
          </a:p>
        </p:txBody>
      </p:sp>
      <p:sp>
        <p:nvSpPr>
          <p:cNvPr id="52" name="Google Shape;52;p3"/>
          <p:cNvSpPr/>
          <p:nvPr/>
        </p:nvSpPr>
        <p:spPr>
          <a:xfrm>
            <a:off x="2505403" y="1988820"/>
            <a:ext cx="3593700" cy="960000"/>
          </a:xfrm>
          <a:prstGeom prst="roundRect">
            <a:avLst>
              <a:gd fmla="val 8571"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2734003" y="2098548"/>
            <a:ext cx="1554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2400"/>
              <a:buFont typeface="Arial"/>
              <a:buNone/>
            </a:pPr>
            <a:r>
              <a:rPr b="1" i="0" lang="en-US" sz="2400" u="none" cap="none" strike="noStrike">
                <a:solidFill>
                  <a:srgbClr val="43D5FF"/>
                </a:solidFill>
                <a:latin typeface="Arial"/>
                <a:ea typeface="Arial"/>
                <a:cs typeface="Arial"/>
                <a:sym typeface="Arial"/>
              </a:rPr>
              <a:t>$200M+</a:t>
            </a:r>
            <a:endParaRPr b="0" i="0" sz="2400" u="none" cap="none" strike="noStrike">
              <a:solidFill>
                <a:schemeClr val="dk1"/>
              </a:solidFill>
              <a:latin typeface="Calibri"/>
              <a:ea typeface="Calibri"/>
              <a:cs typeface="Calibri"/>
              <a:sym typeface="Calibri"/>
            </a:endParaRPr>
          </a:p>
        </p:txBody>
      </p:sp>
      <p:sp>
        <p:nvSpPr>
          <p:cNvPr id="54" name="Google Shape;54;p3"/>
          <p:cNvSpPr/>
          <p:nvPr/>
        </p:nvSpPr>
        <p:spPr>
          <a:xfrm>
            <a:off x="4288483" y="2098548"/>
            <a:ext cx="1581900" cy="731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client-reported capital raised</a:t>
            </a:r>
            <a:endParaRPr b="0" i="0" sz="1050" u="none" cap="none" strike="noStrike">
              <a:solidFill>
                <a:schemeClr val="dk1"/>
              </a:solidFill>
              <a:latin typeface="Calibri"/>
              <a:ea typeface="Calibri"/>
              <a:cs typeface="Calibri"/>
              <a:sym typeface="Calibri"/>
            </a:endParaRPr>
          </a:p>
        </p:txBody>
      </p:sp>
      <p:sp>
        <p:nvSpPr>
          <p:cNvPr id="55" name="Google Shape;55;p3"/>
          <p:cNvSpPr/>
          <p:nvPr/>
        </p:nvSpPr>
        <p:spPr>
          <a:xfrm>
            <a:off x="6373315" y="1988820"/>
            <a:ext cx="3593700" cy="960000"/>
          </a:xfrm>
          <a:prstGeom prst="roundRect">
            <a:avLst>
              <a:gd fmla="val 8571"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6601915" y="2098548"/>
            <a:ext cx="1554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2400"/>
              <a:buFont typeface="Arial"/>
              <a:buNone/>
            </a:pPr>
            <a:r>
              <a:rPr b="1" i="0" lang="en-US" sz="2400" u="none" cap="none" strike="noStrike">
                <a:solidFill>
                  <a:srgbClr val="43D5FF"/>
                </a:solidFill>
                <a:latin typeface="Arial"/>
                <a:ea typeface="Arial"/>
                <a:cs typeface="Arial"/>
                <a:sym typeface="Arial"/>
              </a:rPr>
              <a:t>10,000+</a:t>
            </a:r>
            <a:endParaRPr b="0" i="0" sz="2400" u="none" cap="none" strike="noStrike">
              <a:solidFill>
                <a:schemeClr val="dk1"/>
              </a:solidFill>
              <a:latin typeface="Calibri"/>
              <a:ea typeface="Calibri"/>
              <a:cs typeface="Calibri"/>
              <a:sym typeface="Calibri"/>
            </a:endParaRPr>
          </a:p>
        </p:txBody>
      </p:sp>
      <p:sp>
        <p:nvSpPr>
          <p:cNvPr id="57" name="Google Shape;57;p3"/>
          <p:cNvSpPr/>
          <p:nvPr/>
        </p:nvSpPr>
        <p:spPr>
          <a:xfrm>
            <a:off x="8156395" y="2098548"/>
            <a:ext cx="1581900" cy="7314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qualified investor meetings booked</a:t>
            </a:r>
            <a:endParaRPr b="0" i="0" sz="1050" u="none" cap="none" strike="noStrike">
              <a:solidFill>
                <a:schemeClr val="dk1"/>
              </a:solidFill>
              <a:latin typeface="Calibri"/>
              <a:ea typeface="Calibri"/>
              <a:cs typeface="Calibri"/>
              <a:sym typeface="Calibri"/>
            </a:endParaRPr>
          </a:p>
        </p:txBody>
      </p:sp>
      <p:sp>
        <p:nvSpPr>
          <p:cNvPr id="58" name="Google Shape;58;p3"/>
          <p:cNvSpPr/>
          <p:nvPr/>
        </p:nvSpPr>
        <p:spPr>
          <a:xfrm>
            <a:off x="566928" y="3291840"/>
            <a:ext cx="5532120" cy="1920240"/>
          </a:xfrm>
          <a:prstGeom prst="roundRect">
            <a:avLst>
              <a:gd fmla="val 4286"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6373368" y="3291840"/>
            <a:ext cx="5532120" cy="1920240"/>
          </a:xfrm>
          <a:prstGeom prst="roundRect">
            <a:avLst>
              <a:gd fmla="val 4286"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566928" y="5440680"/>
            <a:ext cx="11338560" cy="1005840"/>
          </a:xfrm>
          <a:prstGeom prst="roundRect">
            <a:avLst>
              <a:gd fmla="val 8182"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822960" y="3419856"/>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100"/>
              <a:buFont typeface="Arial"/>
              <a:buNone/>
            </a:pPr>
            <a:r>
              <a:rPr b="1" i="0" lang="en-US" sz="1100" u="none" cap="none" strike="noStrike">
                <a:solidFill>
                  <a:srgbClr val="7C6CFF"/>
                </a:solidFill>
                <a:latin typeface="Arial"/>
                <a:ea typeface="Arial"/>
                <a:cs typeface="Arial"/>
                <a:sym typeface="Arial"/>
              </a:rPr>
              <a:t>ISSUANCE  ·  DARREN MARBLE, CEO</a:t>
            </a:r>
            <a:endParaRPr b="0" i="0" sz="1100" u="none" cap="none" strike="noStrike">
              <a:solidFill>
                <a:schemeClr val="dk1"/>
              </a:solidFill>
              <a:latin typeface="Calibri"/>
              <a:ea typeface="Calibri"/>
              <a:cs typeface="Calibri"/>
              <a:sym typeface="Calibri"/>
            </a:endParaRPr>
          </a:p>
        </p:txBody>
      </p:sp>
      <p:sp>
        <p:nvSpPr>
          <p:cNvPr id="62" name="Google Shape;62;p3"/>
          <p:cNvSpPr/>
          <p:nvPr/>
        </p:nvSpPr>
        <p:spPr>
          <a:xfrm>
            <a:off x="822960" y="3712464"/>
            <a:ext cx="5029200" cy="114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200"/>
              <a:buFont typeface="Arial"/>
              <a:buNone/>
            </a:pPr>
            <a:r>
              <a:rPr b="0" i="1" lang="en-US" sz="1200" u="none" cap="none" strike="noStrike">
                <a:solidFill>
                  <a:srgbClr val="FFFFFF"/>
                </a:solidFill>
                <a:latin typeface="Arial"/>
                <a:ea typeface="Arial"/>
                <a:cs typeface="Arial"/>
                <a:sym typeface="Arial"/>
              </a:rPr>
              <a:t>“…one of the most effective investor marketing firms I’ve ever worked with when it comes to raising capital for my companies. In the last 60 days alone, FISH has arranged 25 qualified investor meetings for me.”</a:t>
            </a:r>
            <a:endParaRPr b="0" i="0" sz="1200" u="none" cap="none" strike="noStrike">
              <a:solidFill>
                <a:schemeClr val="dk1"/>
              </a:solidFill>
              <a:latin typeface="Calibri"/>
              <a:ea typeface="Calibri"/>
              <a:cs typeface="Calibri"/>
              <a:sym typeface="Calibri"/>
            </a:endParaRPr>
          </a:p>
        </p:txBody>
      </p:sp>
      <p:sp>
        <p:nvSpPr>
          <p:cNvPr id="63" name="Google Shape;63;p3"/>
          <p:cNvSpPr/>
          <p:nvPr/>
        </p:nvSpPr>
        <p:spPr>
          <a:xfrm>
            <a:off x="822960" y="4864608"/>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050"/>
              <a:buFont typeface="Arial"/>
              <a:buNone/>
            </a:pPr>
            <a:r>
              <a:rPr b="1" i="0" lang="en-US" sz="1050" u="none" cap="none" strike="noStrike">
                <a:solidFill>
                  <a:srgbClr val="43D5FF"/>
                </a:solidFill>
                <a:latin typeface="Arial"/>
                <a:ea typeface="Arial"/>
                <a:cs typeface="Arial"/>
                <a:sym typeface="Arial"/>
              </a:rPr>
              <a:t>25 QUALIFIED INVESTOR MEETINGS IN 60 DAYS</a:t>
            </a:r>
            <a:endParaRPr b="0" i="0" sz="1050" u="none" cap="none" strike="noStrike">
              <a:solidFill>
                <a:schemeClr val="dk1"/>
              </a:solidFill>
              <a:latin typeface="Calibri"/>
              <a:ea typeface="Calibri"/>
              <a:cs typeface="Calibri"/>
              <a:sym typeface="Calibri"/>
            </a:endParaRPr>
          </a:p>
        </p:txBody>
      </p:sp>
      <p:sp>
        <p:nvSpPr>
          <p:cNvPr id="64" name="Google Shape;64;p3"/>
          <p:cNvSpPr/>
          <p:nvPr/>
        </p:nvSpPr>
        <p:spPr>
          <a:xfrm>
            <a:off x="6629400" y="3419856"/>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100"/>
              <a:buFont typeface="Arial"/>
              <a:buNone/>
            </a:pPr>
            <a:r>
              <a:rPr b="1" i="0" lang="en-US" sz="1100" u="none" cap="none" strike="noStrike">
                <a:solidFill>
                  <a:srgbClr val="7C6CFF"/>
                </a:solidFill>
                <a:latin typeface="Arial"/>
                <a:ea typeface="Arial"/>
                <a:cs typeface="Arial"/>
                <a:sym typeface="Arial"/>
              </a:rPr>
              <a:t>CARTHAGE CAPITAL  ·  STEPHEN WU</a:t>
            </a:r>
            <a:endParaRPr b="0" i="0" sz="1100" u="none" cap="none" strike="noStrike">
              <a:solidFill>
                <a:schemeClr val="dk1"/>
              </a:solidFill>
              <a:latin typeface="Calibri"/>
              <a:ea typeface="Calibri"/>
              <a:cs typeface="Calibri"/>
              <a:sym typeface="Calibri"/>
            </a:endParaRPr>
          </a:p>
        </p:txBody>
      </p:sp>
      <p:sp>
        <p:nvSpPr>
          <p:cNvPr id="65" name="Google Shape;65;p3"/>
          <p:cNvSpPr/>
          <p:nvPr/>
        </p:nvSpPr>
        <p:spPr>
          <a:xfrm>
            <a:off x="6629400" y="3712464"/>
            <a:ext cx="5029200" cy="114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200"/>
              <a:buFont typeface="Arial"/>
              <a:buNone/>
            </a:pPr>
            <a:r>
              <a:rPr b="0" i="1" lang="en-US" sz="1200" u="none" cap="none" strike="noStrike">
                <a:solidFill>
                  <a:srgbClr val="FFFFFF"/>
                </a:solidFill>
                <a:latin typeface="Arial"/>
                <a:ea typeface="Arial"/>
                <a:cs typeface="Arial"/>
                <a:sym typeface="Arial"/>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b="0" i="0" sz="1200" u="none" cap="none" strike="noStrike">
              <a:solidFill>
                <a:schemeClr val="dk1"/>
              </a:solidFill>
              <a:latin typeface="Calibri"/>
              <a:ea typeface="Calibri"/>
              <a:cs typeface="Calibri"/>
              <a:sym typeface="Calibri"/>
            </a:endParaRPr>
          </a:p>
        </p:txBody>
      </p:sp>
      <p:sp>
        <p:nvSpPr>
          <p:cNvPr id="66" name="Google Shape;66;p3"/>
          <p:cNvSpPr/>
          <p:nvPr/>
        </p:nvSpPr>
        <p:spPr>
          <a:xfrm>
            <a:off x="6629400" y="4864608"/>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050"/>
              <a:buFont typeface="Arial"/>
              <a:buNone/>
            </a:pPr>
            <a:r>
              <a:rPr b="1" i="0" lang="en-US" sz="1050" u="none" cap="none" strike="noStrike">
                <a:solidFill>
                  <a:srgbClr val="43D5FF"/>
                </a:solidFill>
                <a:latin typeface="Arial"/>
                <a:ea typeface="Arial"/>
                <a:cs typeface="Arial"/>
                <a:sym typeface="Arial"/>
              </a:rPr>
              <a:t>$2–3M RAISED ACROSS ~20 INVESTORS IN 9 MONTHS</a:t>
            </a:r>
            <a:endParaRPr b="0" i="0" sz="1050" u="none" cap="none" strike="noStrike">
              <a:solidFill>
                <a:schemeClr val="dk1"/>
              </a:solidFill>
              <a:latin typeface="Calibri"/>
              <a:ea typeface="Calibri"/>
              <a:cs typeface="Calibri"/>
              <a:sym typeface="Calibri"/>
            </a:endParaRPr>
          </a:p>
        </p:txBody>
      </p:sp>
      <p:sp>
        <p:nvSpPr>
          <p:cNvPr id="67" name="Google Shape;67;p3"/>
          <p:cNvSpPr/>
          <p:nvPr/>
        </p:nvSpPr>
        <p:spPr>
          <a:xfrm>
            <a:off x="795528" y="5559552"/>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200"/>
              <a:buFont typeface="Arial"/>
              <a:buNone/>
            </a:pPr>
            <a:r>
              <a:rPr b="1" i="0" lang="en-US" sz="1200" u="none" cap="none" strike="noStrike">
                <a:solidFill>
                  <a:srgbClr val="7C6CFF"/>
                </a:solidFill>
                <a:latin typeface="Arial"/>
                <a:ea typeface="Arial"/>
                <a:cs typeface="Arial"/>
                <a:sym typeface="Arial"/>
              </a:rPr>
              <a:t>FUNDABLE COMPANIES GET FUNDED</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795528" y="5852160"/>
            <a:ext cx="10881360" cy="548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 name="Shape 72"/>
        <p:cNvGrpSpPr/>
        <p:nvPr/>
      </p:nvGrpSpPr>
      <p:grpSpPr>
        <a:xfrm>
          <a:off x="0" y="0"/>
          <a:ext cx="0" cy="0"/>
          <a:chOff x="0" y="0"/>
          <a:chExt cx="0" cy="0"/>
        </a:xfrm>
      </p:grpSpPr>
      <p:pic>
        <p:nvPicPr>
          <p:cNvPr descr="/home/claude/brand/clean/logo_header.png" id="73" name="Google Shape;73;p4"/>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74" name="Google Shape;74;p4"/>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75" name="Google Shape;75;p4"/>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What’s Standing Between You and the Close</a:t>
            </a:r>
            <a:endParaRPr b="0" i="0" sz="3800" u="none" cap="none" strike="noStrike">
              <a:solidFill>
                <a:schemeClr val="dk1"/>
              </a:solidFill>
              <a:latin typeface="Calibri"/>
              <a:ea typeface="Calibri"/>
              <a:cs typeface="Calibri"/>
              <a:sym typeface="Calibri"/>
            </a:endParaRPr>
          </a:p>
        </p:txBody>
      </p:sp>
      <p:sp>
        <p:nvSpPr>
          <p:cNvPr id="76" name="Google Shape;76;p4"/>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THE GAP WE’RE SOLVING</a:t>
            </a:r>
            <a:endParaRPr b="0" i="0" sz="1400" u="none" cap="none" strike="noStrike">
              <a:solidFill>
                <a:schemeClr val="dk1"/>
              </a:solidFill>
              <a:latin typeface="Calibri"/>
              <a:ea typeface="Calibri"/>
              <a:cs typeface="Calibri"/>
              <a:sym typeface="Calibri"/>
            </a:endParaRPr>
          </a:p>
        </p:txBody>
      </p:sp>
      <p:sp>
        <p:nvSpPr>
          <p:cNvPr id="77" name="Google Shape;77;p4"/>
          <p:cNvSpPr/>
          <p:nvPr/>
        </p:nvSpPr>
        <p:spPr>
          <a:xfrm>
            <a:off x="566928" y="2148840"/>
            <a:ext cx="4297680" cy="26517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You’ve done what most pre-launch brands haven’t: the formula is locked with Mane, packaging and CADs are finished, a filler is in place, Saujet has signed on as launch partner, a full leadership bench including a CFO is in place, and every boutique you’ve walked into has said yes. What’s missing is capital, and the reason is structural: your network runs deep in retail, product and celebrity, not in investors writing $250K checks, and cold investors won’t wire in 30–45 days.</a:t>
            </a:r>
            <a:endParaRPr b="0" i="0" sz="1300" u="none" cap="none" strike="noStrike">
              <a:solidFill>
                <a:schemeClr val="dk1"/>
              </a:solidFill>
              <a:latin typeface="Calibri"/>
              <a:ea typeface="Calibri"/>
              <a:cs typeface="Calibri"/>
              <a:sym typeface="Calibri"/>
            </a:endParaRPr>
          </a:p>
        </p:txBody>
      </p:sp>
      <p:sp>
        <p:nvSpPr>
          <p:cNvPr id="78" name="Google Shape;78;p4"/>
          <p:cNvSpPr/>
          <p:nvPr/>
        </p:nvSpPr>
        <p:spPr>
          <a:xfrm>
            <a:off x="566928" y="4800600"/>
            <a:ext cx="4297680" cy="1554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9BEDC"/>
              </a:buClr>
              <a:buSzPts val="1300"/>
              <a:buFont typeface="Arial"/>
              <a:buNone/>
            </a:pPr>
            <a:r>
              <a:rPr b="0" i="1" lang="en-US" sz="1300" u="none" cap="none" strike="noStrike">
                <a:solidFill>
                  <a:srgbClr val="B9BEDC"/>
                </a:solidFill>
                <a:latin typeface="Arial"/>
                <a:ea typeface="Arial"/>
                <a:cs typeface="Arial"/>
                <a:sym typeface="Arial"/>
              </a:rPr>
              <a:t>Your round is modest and the story is strong. The variable you control is how many right-sized investors, people who write $250K checks and already understand prestige fragrance margins, land on your calendars every week.</a:t>
            </a:r>
            <a:endParaRPr b="0" i="0" sz="1300" u="none" cap="none" strike="noStrike">
              <a:solidFill>
                <a:schemeClr val="dk1"/>
              </a:solidFill>
              <a:latin typeface="Calibri"/>
              <a:ea typeface="Calibri"/>
              <a:cs typeface="Calibri"/>
              <a:sym typeface="Calibri"/>
            </a:endParaRPr>
          </a:p>
        </p:txBody>
      </p:sp>
      <p:sp>
        <p:nvSpPr>
          <p:cNvPr id="79" name="Google Shape;79;p4"/>
          <p:cNvSpPr/>
          <p:nvPr/>
        </p:nvSpPr>
        <p:spPr>
          <a:xfrm>
            <a:off x="5257800" y="2148840"/>
            <a:ext cx="6400800" cy="932688"/>
          </a:xfrm>
          <a:prstGeom prst="roundRect">
            <a:avLst>
              <a:gd fmla="val 8824"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5486400" y="2258568"/>
            <a:ext cx="1965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SURFACE PROBLEM</a:t>
            </a:r>
            <a:endParaRPr b="0" i="0" sz="1250" u="none" cap="none" strike="noStrike">
              <a:solidFill>
                <a:schemeClr val="dk1"/>
              </a:solidFill>
              <a:latin typeface="Calibri"/>
              <a:ea typeface="Calibri"/>
              <a:cs typeface="Calibri"/>
              <a:sym typeface="Calibri"/>
            </a:endParaRPr>
          </a:p>
        </p:txBody>
      </p:sp>
      <p:sp>
        <p:nvSpPr>
          <p:cNvPr id="81" name="Google Shape;81;p4"/>
          <p:cNvSpPr/>
          <p:nvPr/>
        </p:nvSpPr>
        <p:spPr>
          <a:xfrm>
            <a:off x="7498080" y="2240280"/>
            <a:ext cx="3931920" cy="74980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The brand is ready and retailers are saying yes, but the round has no committed investor yet, and the one industry investor in view is waiting on a house sale.</a:t>
            </a:r>
            <a:endParaRPr b="0" i="0" sz="1100" u="none" cap="none" strike="noStrike">
              <a:solidFill>
                <a:schemeClr val="dk1"/>
              </a:solidFill>
              <a:latin typeface="Calibri"/>
              <a:ea typeface="Calibri"/>
              <a:cs typeface="Calibri"/>
              <a:sym typeface="Calibri"/>
            </a:endParaRPr>
          </a:p>
        </p:txBody>
      </p:sp>
      <p:sp>
        <p:nvSpPr>
          <p:cNvPr id="82" name="Google Shape;82;p4"/>
          <p:cNvSpPr/>
          <p:nvPr/>
        </p:nvSpPr>
        <p:spPr>
          <a:xfrm>
            <a:off x="5257800" y="3246120"/>
            <a:ext cx="6400800" cy="932688"/>
          </a:xfrm>
          <a:prstGeom prst="roundRect">
            <a:avLst>
              <a:gd fmla="val 8824"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5486400" y="3355848"/>
            <a:ext cx="1965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BUSINESS IMPACT</a:t>
            </a:r>
            <a:endParaRPr b="0" i="0" sz="1250" u="none" cap="none" strike="noStrike">
              <a:solidFill>
                <a:schemeClr val="dk1"/>
              </a:solidFill>
              <a:latin typeface="Calibri"/>
              <a:ea typeface="Calibri"/>
              <a:cs typeface="Calibri"/>
              <a:sym typeface="Calibri"/>
            </a:endParaRPr>
          </a:p>
        </p:txBody>
      </p:sp>
      <p:sp>
        <p:nvSpPr>
          <p:cNvPr id="84" name="Google Shape;84;p4"/>
          <p:cNvSpPr/>
          <p:nvPr/>
        </p:nvSpPr>
        <p:spPr>
          <a:xfrm>
            <a:off x="7498080" y="3337560"/>
            <a:ext cx="3931920" cy="74980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The first production run, 12 launch SKUs across 9.5 mL and 50 mL, and the Q1 launch with Saujet all wait on the same $600K–$850K.</a:t>
            </a:r>
            <a:endParaRPr b="0" i="0" sz="1100" u="none" cap="none" strike="noStrike">
              <a:solidFill>
                <a:schemeClr val="dk1"/>
              </a:solidFill>
              <a:latin typeface="Calibri"/>
              <a:ea typeface="Calibri"/>
              <a:cs typeface="Calibri"/>
              <a:sym typeface="Calibri"/>
            </a:endParaRPr>
          </a:p>
        </p:txBody>
      </p:sp>
      <p:sp>
        <p:nvSpPr>
          <p:cNvPr id="85" name="Google Shape;85;p4"/>
          <p:cNvSpPr/>
          <p:nvPr/>
        </p:nvSpPr>
        <p:spPr>
          <a:xfrm>
            <a:off x="5257800" y="4343400"/>
            <a:ext cx="6400800" cy="932688"/>
          </a:xfrm>
          <a:prstGeom prst="roundRect">
            <a:avLst>
              <a:gd fmla="val 8824"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5486400" y="4453128"/>
            <a:ext cx="1965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PERSONAL IMPACT</a:t>
            </a:r>
            <a:endParaRPr b="0" i="0" sz="1250" u="none" cap="none" strike="noStrike">
              <a:solidFill>
                <a:schemeClr val="dk1"/>
              </a:solidFill>
              <a:latin typeface="Calibri"/>
              <a:ea typeface="Calibri"/>
              <a:cs typeface="Calibri"/>
              <a:sym typeface="Calibri"/>
            </a:endParaRPr>
          </a:p>
        </p:txBody>
      </p:sp>
      <p:sp>
        <p:nvSpPr>
          <p:cNvPr id="87" name="Google Shape;87;p4"/>
          <p:cNvSpPr/>
          <p:nvPr/>
        </p:nvSpPr>
        <p:spPr>
          <a:xfrm>
            <a:off x="7498080" y="4434840"/>
            <a:ext cx="3931920" cy="74980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Two founders, two years in and over $300K of their own money committed, spending launch-critical weeks sourcing investors instead of selling in.</a:t>
            </a:r>
            <a:endParaRPr b="0" i="0" sz="1100" u="none" cap="none" strike="noStrike">
              <a:solidFill>
                <a:schemeClr val="dk1"/>
              </a:solidFill>
              <a:latin typeface="Calibri"/>
              <a:ea typeface="Calibri"/>
              <a:cs typeface="Calibri"/>
              <a:sym typeface="Calibri"/>
            </a:endParaRPr>
          </a:p>
        </p:txBody>
      </p:sp>
      <p:sp>
        <p:nvSpPr>
          <p:cNvPr id="88" name="Google Shape;88;p4"/>
          <p:cNvSpPr/>
          <p:nvPr/>
        </p:nvSpPr>
        <p:spPr>
          <a:xfrm>
            <a:off x="5257800" y="5440680"/>
            <a:ext cx="6400800" cy="932688"/>
          </a:xfrm>
          <a:prstGeom prst="roundRect">
            <a:avLst>
              <a:gd fmla="val 8824"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5486400" y="5550408"/>
            <a:ext cx="19659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COST OF INACTION</a:t>
            </a:r>
            <a:endParaRPr b="0" i="0" sz="1250" u="none" cap="none" strike="noStrike">
              <a:solidFill>
                <a:schemeClr val="dk1"/>
              </a:solidFill>
              <a:latin typeface="Calibri"/>
              <a:ea typeface="Calibri"/>
              <a:cs typeface="Calibri"/>
              <a:sym typeface="Calibri"/>
            </a:endParaRPr>
          </a:p>
        </p:txBody>
      </p:sp>
      <p:sp>
        <p:nvSpPr>
          <p:cNvPr id="90" name="Google Shape;90;p4"/>
          <p:cNvSpPr/>
          <p:nvPr/>
        </p:nvSpPr>
        <p:spPr>
          <a:xfrm>
            <a:off x="7498080" y="5532120"/>
            <a:ext cx="3931920" cy="74980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Every week without a pipeline compresses the raise into the launch window and raises the pressure to take whoever moves first, not the partner you want.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pic>
        <p:nvPicPr>
          <p:cNvPr descr="/home/claude/brand/clean/logo_header.png" id="95" name="Google Shape;95;p5"/>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96" name="Google Shape;96;p5"/>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97" name="Google Shape;97;p5"/>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Your Investor ICP</a:t>
            </a:r>
            <a:endParaRPr b="0" i="0" sz="3800" u="none" cap="none" strike="noStrike">
              <a:solidFill>
                <a:schemeClr val="dk1"/>
              </a:solidFill>
              <a:latin typeface="Calibri"/>
              <a:ea typeface="Calibri"/>
              <a:cs typeface="Calibri"/>
              <a:sym typeface="Calibri"/>
            </a:endParaRPr>
          </a:p>
        </p:txBody>
      </p:sp>
      <p:sp>
        <p:nvSpPr>
          <p:cNvPr id="98" name="Google Shape;98;p5"/>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TARGET SEGMENTS, IN PRIORITY ORDER</a:t>
            </a:r>
            <a:endParaRPr b="0" i="0" sz="1400" u="none" cap="none" strike="noStrike">
              <a:solidFill>
                <a:schemeClr val="dk1"/>
              </a:solidFill>
              <a:latin typeface="Calibri"/>
              <a:ea typeface="Calibri"/>
              <a:cs typeface="Calibri"/>
              <a:sym typeface="Calibri"/>
            </a:endParaRPr>
          </a:p>
        </p:txBody>
      </p:sp>
      <p:graphicFrame>
        <p:nvGraphicFramePr>
          <p:cNvPr id="99" name="Google Shape;99;p5"/>
          <p:cNvGraphicFramePr/>
          <p:nvPr/>
        </p:nvGraphicFramePr>
        <p:xfrm>
          <a:off x="566928" y="2240280"/>
          <a:ext cx="3000000" cy="3822200"/>
        </p:xfrm>
        <a:graphic>
          <a:graphicData uri="http://schemas.openxmlformats.org/drawingml/2006/table">
            <a:tbl>
              <a:tblPr>
                <a:noFill/>
                <a:tableStyleId>{76BBF1CB-3055-4061-9A71-149695C2F488}</a:tableStyleId>
              </a:tblPr>
              <a:tblGrid>
                <a:gridCol w="3291850"/>
                <a:gridCol w="7763250"/>
              </a:tblGrid>
              <a:tr h="457200">
                <a:tc>
                  <a:txBody>
                    <a:bodyPr/>
                    <a:lstStyle/>
                    <a:p>
                      <a:pPr indent="0" lvl="0" marL="0" marR="0" rtl="0" algn="l">
                        <a:spcBef>
                          <a:spcPts val="0"/>
                        </a:spcBef>
                        <a:spcAft>
                          <a:spcPts val="0"/>
                        </a:spcAft>
                        <a:buClr>
                          <a:srgbClr val="43D5FF"/>
                        </a:buClr>
                        <a:buSzPts val="1200"/>
                        <a:buFont typeface="Arial"/>
                        <a:buNone/>
                      </a:pPr>
                      <a:r>
                        <a:rPr b="1" lang="en-US" sz="1200" u="none" cap="none" strike="noStrike">
                          <a:solidFill>
                            <a:srgbClr val="43D5FF"/>
                          </a:solidFill>
                          <a:latin typeface="Arial"/>
                          <a:ea typeface="Arial"/>
                          <a:cs typeface="Arial"/>
                          <a:sym typeface="Arial"/>
                        </a:rPr>
                        <a:t>SEGMENT</a:t>
                      </a:r>
                      <a:endParaRPr sz="120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1B1B45">
                        <a:alpha val="74902"/>
                      </a:srgbClr>
                    </a:solidFill>
                  </a:tcPr>
                </a:tc>
                <a:tc>
                  <a:txBody>
                    <a:bodyPr/>
                    <a:lstStyle/>
                    <a:p>
                      <a:pPr indent="0" lvl="0" marL="0" marR="0" rtl="0" algn="l">
                        <a:spcBef>
                          <a:spcPts val="0"/>
                        </a:spcBef>
                        <a:spcAft>
                          <a:spcPts val="0"/>
                        </a:spcAft>
                        <a:buClr>
                          <a:srgbClr val="43D5FF"/>
                        </a:buClr>
                        <a:buSzPts val="1200"/>
                        <a:buFont typeface="Arial"/>
                        <a:buNone/>
                      </a:pPr>
                      <a:r>
                        <a:rPr b="1" lang="en-US" sz="1200" u="none" cap="none" strike="noStrike">
                          <a:solidFill>
                            <a:srgbClr val="43D5FF"/>
                          </a:solidFill>
                          <a:latin typeface="Arial"/>
                          <a:ea typeface="Arial"/>
                          <a:cs typeface="Arial"/>
                          <a:sym typeface="Arial"/>
                        </a:rPr>
                        <a:t>WHO THEY ARE AND WHY THEY FIT</a:t>
                      </a:r>
                      <a:endParaRPr sz="120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1B1B45">
                        <a:alpha val="74902"/>
                      </a:srgbClr>
                    </a:solidFill>
                  </a:tcPr>
                </a:tc>
              </a:tr>
              <a:tr h="673000">
                <a:tc>
                  <a:txBody>
                    <a:bodyPr/>
                    <a:lstStyle/>
                    <a:p>
                      <a:pPr indent="0" lvl="0" marL="0" marR="0" rtl="0" algn="l">
                        <a:spcBef>
                          <a:spcPts val="0"/>
                        </a:spcBef>
                        <a:spcAft>
                          <a:spcPts val="0"/>
                        </a:spcAft>
                        <a:buClr>
                          <a:srgbClr val="FFFFFF"/>
                        </a:buClr>
                        <a:buSzPts val="1400"/>
                        <a:buFont typeface="Arial"/>
                        <a:buNone/>
                      </a:pPr>
                      <a:r>
                        <a:rPr b="1" lang="en-US" sz="1400" u="none" cap="none" strike="noStrike">
                          <a:solidFill>
                            <a:srgbClr val="FFFFFF"/>
                          </a:solidFill>
                          <a:latin typeface="Arial"/>
                          <a:ea typeface="Arial"/>
                          <a:cs typeface="Arial"/>
                          <a:sym typeface="Arial"/>
                        </a:rPr>
                        <a:t>1.  Beauty &amp; Fragrance Operator-Angels</a:t>
                      </a:r>
                      <a:endParaRPr sz="140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c>
                  <a:txBody>
                    <a:bodyPr/>
                    <a:lstStyle/>
                    <a:p>
                      <a:pPr indent="0" lvl="0" marL="0" marR="0" rtl="0" algn="l">
                        <a:spcBef>
                          <a:spcPts val="0"/>
                        </a:spcBef>
                        <a:spcAft>
                          <a:spcPts val="0"/>
                        </a:spcAft>
                        <a:buClr>
                          <a:srgbClr val="FFFFFF"/>
                        </a:buClr>
                        <a:buSzPts val="1250"/>
                        <a:buFont typeface="Arial"/>
                        <a:buNone/>
                      </a:pPr>
                      <a:r>
                        <a:rPr lang="en-US" sz="1250" u="none" cap="none" strike="noStrike">
                          <a:solidFill>
                            <a:srgbClr val="FFFFFF"/>
                          </a:solidFill>
                          <a:latin typeface="Arial"/>
                          <a:ea typeface="Arial"/>
                          <a:cs typeface="Arial"/>
                          <a:sym typeface="Arial"/>
                        </a:rPr>
                        <a:t>Exited founders and executives from prestige beauty, fragrance and luxury. They read a $17 cost on a $350 bottle and need no education on the category.</a:t>
                      </a:r>
                      <a:endParaRPr sz="125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r>
              <a:tr h="673000">
                <a:tc>
                  <a:txBody>
                    <a:bodyPr/>
                    <a:lstStyle/>
                    <a:p>
                      <a:pPr indent="0" lvl="0" marL="0" marR="0" rtl="0" algn="l">
                        <a:spcBef>
                          <a:spcPts val="0"/>
                        </a:spcBef>
                        <a:spcAft>
                          <a:spcPts val="0"/>
                        </a:spcAft>
                        <a:buClr>
                          <a:srgbClr val="FFFFFF"/>
                        </a:buClr>
                        <a:buSzPts val="1400"/>
                        <a:buFont typeface="Arial"/>
                        <a:buNone/>
                      </a:pPr>
                      <a:r>
                        <a:rPr b="1" lang="en-US" sz="1400" u="none" cap="none" strike="noStrike">
                          <a:solidFill>
                            <a:srgbClr val="FFFFFF"/>
                          </a:solidFill>
                          <a:latin typeface="Arial"/>
                          <a:ea typeface="Arial"/>
                          <a:cs typeface="Arial"/>
                          <a:sym typeface="Arial"/>
                        </a:rPr>
                        <a:t>2.  Luxury &amp; Consumer Family Offices</a:t>
                      </a:r>
                      <a:endParaRPr sz="140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c>
                  <a:txBody>
                    <a:bodyPr/>
                    <a:lstStyle/>
                    <a:p>
                      <a:pPr indent="0" lvl="0" marL="0" marR="0" rtl="0" algn="l">
                        <a:spcBef>
                          <a:spcPts val="0"/>
                        </a:spcBef>
                        <a:spcAft>
                          <a:spcPts val="0"/>
                        </a:spcAft>
                        <a:buClr>
                          <a:srgbClr val="FFFFFF"/>
                        </a:buClr>
                        <a:buSzPts val="1250"/>
                        <a:buFont typeface="Arial"/>
                        <a:buNone/>
                      </a:pPr>
                      <a:r>
                        <a:rPr lang="en-US" sz="1250" u="none" cap="none" strike="noStrike">
                          <a:solidFill>
                            <a:srgbClr val="FFFFFF"/>
                          </a:solidFill>
                          <a:latin typeface="Arial"/>
                          <a:ea typeface="Arial"/>
                          <a:cs typeface="Arial"/>
                          <a:sym typeface="Arial"/>
                        </a:rPr>
                        <a:t>Family offices with consumer, luxury or retail holdings that can lead a $250K+ check and open doors to the department stores on your list.</a:t>
                      </a:r>
                      <a:endParaRPr sz="125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r>
              <a:tr h="673000">
                <a:tc>
                  <a:txBody>
                    <a:bodyPr/>
                    <a:lstStyle/>
                    <a:p>
                      <a:pPr indent="0" lvl="0" marL="0" marR="0" rtl="0" algn="l">
                        <a:spcBef>
                          <a:spcPts val="0"/>
                        </a:spcBef>
                        <a:spcAft>
                          <a:spcPts val="0"/>
                        </a:spcAft>
                        <a:buClr>
                          <a:srgbClr val="FFFFFF"/>
                        </a:buClr>
                        <a:buSzPts val="1400"/>
                        <a:buFont typeface="Arial"/>
                        <a:buNone/>
                      </a:pPr>
                      <a:r>
                        <a:rPr b="1" lang="en-US" sz="1400" u="none" cap="none" strike="noStrike">
                          <a:solidFill>
                            <a:srgbClr val="FFFFFF"/>
                          </a:solidFill>
                          <a:latin typeface="Arial"/>
                          <a:ea typeface="Arial"/>
                          <a:cs typeface="Arial"/>
                          <a:sym typeface="Arial"/>
                        </a:rPr>
                        <a:t>3.  Luxury Wellness &amp; Recovery Investors</a:t>
                      </a:r>
                      <a:endParaRPr sz="140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c>
                  <a:txBody>
                    <a:bodyPr/>
                    <a:lstStyle/>
                    <a:p>
                      <a:pPr indent="0" lvl="0" marL="0" marR="0" rtl="0" algn="l">
                        <a:spcBef>
                          <a:spcPts val="0"/>
                        </a:spcBef>
                        <a:spcAft>
                          <a:spcPts val="0"/>
                        </a:spcAft>
                        <a:buClr>
                          <a:srgbClr val="FFFFFF"/>
                        </a:buClr>
                        <a:buSzPts val="1250"/>
                        <a:buFont typeface="Arial"/>
                        <a:buNone/>
                      </a:pPr>
                      <a:r>
                        <a:rPr lang="en-US" sz="1250" u="none" cap="none" strike="noStrike">
                          <a:solidFill>
                            <a:srgbClr val="FFFFFF"/>
                          </a:solidFill>
                          <a:latin typeface="Arial"/>
                          <a:ea typeface="Arial"/>
                          <a:cs typeface="Arial"/>
                          <a:sym typeface="Arial"/>
                        </a:rPr>
                        <a:t>Investors backing luxury wellness and recovery, where more Wall Street money is moving. GranRepair and the skin-sensitivity peptide make PointNine a wellness ritual, not just a scent.</a:t>
                      </a:r>
                      <a:endParaRPr sz="125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r>
              <a:tr h="673000">
                <a:tc>
                  <a:txBody>
                    <a:bodyPr/>
                    <a:lstStyle/>
                    <a:p>
                      <a:pPr indent="0" lvl="0" marL="0" marR="0" rtl="0" algn="l">
                        <a:spcBef>
                          <a:spcPts val="0"/>
                        </a:spcBef>
                        <a:spcAft>
                          <a:spcPts val="0"/>
                        </a:spcAft>
                        <a:buClr>
                          <a:srgbClr val="FFFFFF"/>
                        </a:buClr>
                        <a:buSzPts val="1400"/>
                        <a:buFont typeface="Arial"/>
                        <a:buNone/>
                      </a:pPr>
                      <a:r>
                        <a:rPr b="1" lang="en-US" sz="1400" u="none" cap="none" strike="noStrike">
                          <a:solidFill>
                            <a:srgbClr val="FFFFFF"/>
                          </a:solidFill>
                          <a:latin typeface="Arial"/>
                          <a:ea typeface="Arial"/>
                          <a:cs typeface="Arial"/>
                          <a:sym typeface="Arial"/>
                        </a:rPr>
                        <a:t>4.  Clean Beauty &amp; Sustainability Investors</a:t>
                      </a:r>
                      <a:endParaRPr sz="140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c>
                  <a:txBody>
                    <a:bodyPr/>
                    <a:lstStyle/>
                    <a:p>
                      <a:pPr indent="0" lvl="0" marL="0" marR="0" rtl="0" algn="l">
                        <a:spcBef>
                          <a:spcPts val="0"/>
                        </a:spcBef>
                        <a:spcAft>
                          <a:spcPts val="0"/>
                        </a:spcAft>
                        <a:buClr>
                          <a:srgbClr val="FFFFFF"/>
                        </a:buClr>
                        <a:buSzPts val="1250"/>
                        <a:buFont typeface="Arial"/>
                        <a:buNone/>
                      </a:pPr>
                      <a:r>
                        <a:rPr lang="en-US" sz="1250" u="none" cap="none" strike="noStrike">
                          <a:solidFill>
                            <a:srgbClr val="FFFFFF"/>
                          </a:solidFill>
                          <a:latin typeface="Arial"/>
                          <a:ea typeface="Arial"/>
                          <a:cs typeface="Arial"/>
                          <a:sym typeface="Arial"/>
                        </a:rPr>
                        <a:t>Impact and ESG-minded angels drawn to alcohol-free Aquafine, headspace oils, upcycled packaging, refills, and 1% of profits to Harboring Hearts and All Out.</a:t>
                      </a:r>
                      <a:endParaRPr sz="125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r>
              <a:tr h="673000">
                <a:tc>
                  <a:txBody>
                    <a:bodyPr/>
                    <a:lstStyle/>
                    <a:p>
                      <a:pPr indent="0" lvl="0" marL="0" marR="0" rtl="0" algn="l">
                        <a:spcBef>
                          <a:spcPts val="0"/>
                        </a:spcBef>
                        <a:spcAft>
                          <a:spcPts val="0"/>
                        </a:spcAft>
                        <a:buClr>
                          <a:srgbClr val="FFFFFF"/>
                        </a:buClr>
                        <a:buSzPts val="1400"/>
                        <a:buFont typeface="Arial"/>
                        <a:buNone/>
                      </a:pPr>
                      <a:r>
                        <a:rPr b="1" lang="en-US" sz="1400" u="none" cap="none" strike="noStrike">
                          <a:solidFill>
                            <a:srgbClr val="FFFFFF"/>
                          </a:solidFill>
                          <a:latin typeface="Arial"/>
                          <a:ea typeface="Arial"/>
                          <a:cs typeface="Arial"/>
                          <a:sym typeface="Arial"/>
                        </a:rPr>
                        <a:t>5.  Consumer-Brand Angels with Recent Exits</a:t>
                      </a:r>
                      <a:endParaRPr sz="140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c>
                  <a:txBody>
                    <a:bodyPr/>
                    <a:lstStyle/>
                    <a:p>
                      <a:pPr indent="0" lvl="0" marL="0" marR="0" rtl="0" algn="l">
                        <a:spcBef>
                          <a:spcPts val="0"/>
                        </a:spcBef>
                        <a:spcAft>
                          <a:spcPts val="0"/>
                        </a:spcAft>
                        <a:buClr>
                          <a:srgbClr val="FFFFFF"/>
                        </a:buClr>
                        <a:buSzPts val="1250"/>
                        <a:buFont typeface="Arial"/>
                        <a:buNone/>
                      </a:pPr>
                      <a:r>
                        <a:rPr lang="en-US" sz="1250" u="none" cap="none" strike="noStrike">
                          <a:solidFill>
                            <a:srgbClr val="FFFFFF"/>
                          </a:solidFill>
                          <a:latin typeface="Arial"/>
                          <a:ea typeface="Arial"/>
                          <a:cs typeface="Arial"/>
                          <a:sym typeface="Arial"/>
                        </a:rPr>
                        <a:t>Investors who recently exited a DTC or CPG brand, understand multi-channel launches, and are actively looking for the next one.</a:t>
                      </a:r>
                      <a:endParaRPr sz="1250" u="none" cap="none" strike="noStrike">
                        <a:latin typeface="Arial"/>
                        <a:ea typeface="Arial"/>
                        <a:cs typeface="Arial"/>
                        <a:sym typeface="Arial"/>
                      </a:endParaRPr>
                    </a:p>
                  </a:txBody>
                  <a:tcPr marT="109725" marB="109725" marR="109725" marL="109725" anchor="ctr">
                    <a:lnL cap="flat" cmpd="sng" w="12700">
                      <a:solidFill>
                        <a:srgbClr val="31316A"/>
                      </a:solidFill>
                      <a:prstDash val="solid"/>
                      <a:round/>
                      <a:headEnd len="sm" w="sm" type="none"/>
                      <a:tailEnd len="sm" w="sm" type="none"/>
                    </a:lnL>
                    <a:lnR cap="flat" cmpd="sng" w="12700">
                      <a:solidFill>
                        <a:srgbClr val="31316A"/>
                      </a:solidFill>
                      <a:prstDash val="solid"/>
                      <a:round/>
                      <a:headEnd len="sm" w="sm" type="none"/>
                      <a:tailEnd len="sm" w="sm" type="none"/>
                    </a:lnR>
                    <a:lnT cap="flat" cmpd="sng" w="12700">
                      <a:solidFill>
                        <a:srgbClr val="31316A"/>
                      </a:solidFill>
                      <a:prstDash val="solid"/>
                      <a:round/>
                      <a:headEnd len="sm" w="sm" type="none"/>
                      <a:tailEnd len="sm" w="sm" type="none"/>
                    </a:lnT>
                    <a:lnB cap="flat" cmpd="sng" w="12700">
                      <a:solidFill>
                        <a:srgbClr val="31316A"/>
                      </a:solidFill>
                      <a:prstDash val="solid"/>
                      <a:round/>
                      <a:headEnd len="sm" w="sm" type="none"/>
                      <a:tailEnd len="sm" w="sm" type="none"/>
                    </a:lnB>
                    <a:solidFill>
                      <a:srgbClr val="0D0D26">
                        <a:alpha val="54902"/>
                      </a:srgbClr>
                    </a:solidFill>
                  </a:tcPr>
                </a:tc>
              </a:tr>
            </a:tbl>
          </a:graphicData>
        </a:graphic>
      </p:graphicFrame>
      <p:sp>
        <p:nvSpPr>
          <p:cNvPr id="100" name="Google Shape;100;p5"/>
          <p:cNvSpPr/>
          <p:nvPr/>
        </p:nvSpPr>
        <p:spPr>
          <a:xfrm>
            <a:off x="566928" y="6199632"/>
            <a:ext cx="11155680" cy="4114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9BEDC"/>
              </a:buClr>
              <a:buSzPts val="1150"/>
              <a:buFont typeface="Arial"/>
              <a:buNone/>
            </a:pPr>
            <a:r>
              <a:rPr b="0" i="1" lang="en-US" sz="1150" u="none" cap="none" strike="noStrike">
                <a:solidFill>
                  <a:srgbClr val="B9BEDC"/>
                </a:solidFill>
                <a:latin typeface="Arial"/>
                <a:ea typeface="Arial"/>
                <a:cs typeface="Arial"/>
                <a:sym typeface="Arial"/>
              </a:rPr>
              <a:t>These segments are our starting point. A fuller outline of investor targets, including check sizes, geographies and exclusions, will be planned with you during onboarding.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 name="Shape 104"/>
        <p:cNvGrpSpPr/>
        <p:nvPr/>
      </p:nvGrpSpPr>
      <p:grpSpPr>
        <a:xfrm>
          <a:off x="0" y="0"/>
          <a:ext cx="0" cy="0"/>
          <a:chOff x="0" y="0"/>
          <a:chExt cx="0" cy="0"/>
        </a:xfrm>
      </p:grpSpPr>
      <p:pic>
        <p:nvPicPr>
          <p:cNvPr descr="/home/claude/brand/clean/logo_header.png" id="105" name="Google Shape;105;p6"/>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106" name="Google Shape;106;p6"/>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107" name="Google Shape;107;p6"/>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Three Voices, One Raise</a:t>
            </a:r>
            <a:endParaRPr b="0" i="0" sz="3800" u="none" cap="none" strike="noStrike">
              <a:solidFill>
                <a:schemeClr val="dk1"/>
              </a:solidFill>
              <a:latin typeface="Calibri"/>
              <a:ea typeface="Calibri"/>
              <a:cs typeface="Calibri"/>
              <a:sym typeface="Calibri"/>
            </a:endParaRPr>
          </a:p>
        </p:txBody>
      </p:sp>
      <p:sp>
        <p:nvSpPr>
          <p:cNvPr id="108" name="Google Shape;108;p6"/>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HOW THREE PROFILES COVER ONE ROUND</a:t>
            </a:r>
            <a:endParaRPr b="0" i="0" sz="1400" u="none" cap="none" strike="noStrike">
              <a:solidFill>
                <a:schemeClr val="dk1"/>
              </a:solidFill>
              <a:latin typeface="Calibri"/>
              <a:ea typeface="Calibri"/>
              <a:cs typeface="Calibri"/>
              <a:sym typeface="Calibri"/>
            </a:endParaRPr>
          </a:p>
        </p:txBody>
      </p:sp>
      <p:sp>
        <p:nvSpPr>
          <p:cNvPr id="109" name="Google Shape;109;p6"/>
          <p:cNvSpPr/>
          <p:nvPr/>
        </p:nvSpPr>
        <p:spPr>
          <a:xfrm>
            <a:off x="566928"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795528"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BRIAN  ·  TRACK RECORD</a:t>
            </a:r>
            <a:endParaRPr b="0" i="0" sz="1400" u="none" cap="none" strike="noStrike">
              <a:solidFill>
                <a:schemeClr val="dk1"/>
              </a:solidFill>
              <a:latin typeface="Calibri"/>
              <a:ea typeface="Calibri"/>
              <a:cs typeface="Calibri"/>
              <a:sym typeface="Calibri"/>
            </a:endParaRPr>
          </a:p>
        </p:txBody>
      </p:sp>
      <p:sp>
        <p:nvSpPr>
          <p:cNvPr id="111" name="Google Shape;111;p6"/>
          <p:cNvSpPr/>
          <p:nvPr/>
        </p:nvSpPr>
        <p:spPr>
          <a:xfrm>
            <a:off x="795528"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Brian’s profile leads with the track record: at Mana Products he grew the contract division from $17M to $122M in five years; he built Genealogy Beauty into a $17M-a-year lab; and he has created formulas for MAC, NARS, Chanel and Dior. The message for beauty operator-angels and family offices who back a founder’s record.</a:t>
            </a:r>
            <a:endParaRPr b="0" i="0" sz="1100" u="none" cap="none" strike="noStrike">
              <a:solidFill>
                <a:schemeClr val="dk1"/>
              </a:solidFill>
              <a:latin typeface="Calibri"/>
              <a:ea typeface="Calibri"/>
              <a:cs typeface="Calibri"/>
              <a:sym typeface="Calibri"/>
            </a:endParaRPr>
          </a:p>
        </p:txBody>
      </p:sp>
      <p:sp>
        <p:nvSpPr>
          <p:cNvPr id="112" name="Google Shape;112;p6"/>
          <p:cNvSpPr/>
          <p:nvPr/>
        </p:nvSpPr>
        <p:spPr>
          <a:xfrm>
            <a:off x="4434840"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4663440"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MARIA  ·  TRACTION</a:t>
            </a:r>
            <a:endParaRPr b="0" i="0" sz="1400" u="none" cap="none" strike="noStrike">
              <a:solidFill>
                <a:schemeClr val="dk1"/>
              </a:solidFill>
              <a:latin typeface="Calibri"/>
              <a:ea typeface="Calibri"/>
              <a:cs typeface="Calibri"/>
              <a:sym typeface="Calibri"/>
            </a:endParaRPr>
          </a:p>
        </p:txBody>
      </p:sp>
      <p:sp>
        <p:nvSpPr>
          <p:cNvPr id="114" name="Google Shape;114;p6"/>
          <p:cNvSpPr/>
          <p:nvPr/>
        </p:nvSpPr>
        <p:spPr>
          <a:xfrm>
            <a:off x="4663440"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Maria’s profile, as President, carries the commercial story: 25+ years building prestige beauty brands, Saujet signed as launch partner, boutiques in New York and Amsterdam ready to stock, and two pre-mortems behind the plan. The message for investors who want demand first.</a:t>
            </a:r>
            <a:endParaRPr b="0" i="0" sz="1100" u="none" cap="none" strike="noStrike">
              <a:solidFill>
                <a:schemeClr val="dk1"/>
              </a:solidFill>
              <a:latin typeface="Calibri"/>
              <a:ea typeface="Calibri"/>
              <a:cs typeface="Calibri"/>
              <a:sym typeface="Calibri"/>
            </a:endParaRPr>
          </a:p>
        </p:txBody>
      </p:sp>
      <p:sp>
        <p:nvSpPr>
          <p:cNvPr id="115" name="Google Shape;115;p6"/>
          <p:cNvSpPr/>
          <p:nvPr/>
        </p:nvSpPr>
        <p:spPr>
          <a:xfrm>
            <a:off x="8302752"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8531352"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RAIN  ·  BRAND &amp; REACH</a:t>
            </a:r>
            <a:endParaRPr b="0" i="0" sz="1400" u="none" cap="none" strike="noStrike">
              <a:solidFill>
                <a:schemeClr val="dk1"/>
              </a:solidFill>
              <a:latin typeface="Calibri"/>
              <a:ea typeface="Calibri"/>
              <a:cs typeface="Calibri"/>
              <a:sym typeface="Calibri"/>
            </a:endParaRPr>
          </a:p>
        </p:txBody>
      </p:sp>
      <p:sp>
        <p:nvSpPr>
          <p:cNvPr id="117" name="Google Shape;117;p6"/>
          <p:cNvSpPr/>
          <p:nvPr/>
        </p:nvSpPr>
        <p:spPr>
          <a:xfrm>
            <a:off x="8531352"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Rain Hannah, PointNine’s Chief Brand Ambassador, reaches investors the founders’ profiles won’t: lifestyle, entertainment and consumer capital from her circle across film, music, sports and business. </a:t>
            </a:r>
            <a:endParaRPr b="0" i="0" sz="1100" u="none" cap="none" strike="noStrike">
              <a:solidFill>
                <a:schemeClr val="dk1"/>
              </a:solidFill>
              <a:latin typeface="Calibri"/>
              <a:ea typeface="Calibri"/>
              <a:cs typeface="Calibri"/>
              <a:sym typeface="Calibri"/>
            </a:endParaRPr>
          </a:p>
        </p:txBody>
      </p:sp>
      <p:sp>
        <p:nvSpPr>
          <p:cNvPr id="118" name="Google Shape;118;p6"/>
          <p:cNvSpPr/>
          <p:nvPr/>
        </p:nvSpPr>
        <p:spPr>
          <a:xfrm>
            <a:off x="566928" y="4663440"/>
            <a:ext cx="11338560" cy="1691640"/>
          </a:xfrm>
          <a:prstGeom prst="roundRect">
            <a:avLst>
              <a:gd fmla="val 4865"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795528" y="4828032"/>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400"/>
              <a:buFont typeface="Arial"/>
              <a:buNone/>
            </a:pPr>
            <a:r>
              <a:rPr b="1" i="0" lang="en-US" sz="1400" u="none" cap="none" strike="noStrike">
                <a:solidFill>
                  <a:srgbClr val="7C6CFF"/>
                </a:solidFill>
                <a:latin typeface="Arial"/>
                <a:ea typeface="Arial"/>
                <a:cs typeface="Arial"/>
                <a:sym typeface="Arial"/>
              </a:rPr>
              <a:t>WHY ONE RETAINER COVERS ALL THREE</a:t>
            </a:r>
            <a:endParaRPr b="0" i="0" sz="1400" u="none" cap="none" strike="noStrike">
              <a:solidFill>
                <a:schemeClr val="dk1"/>
              </a:solidFill>
              <a:latin typeface="Calibri"/>
              <a:ea typeface="Calibri"/>
              <a:cs typeface="Calibri"/>
              <a:sym typeface="Calibri"/>
            </a:endParaRPr>
          </a:p>
        </p:txBody>
      </p:sp>
      <p:sp>
        <p:nvSpPr>
          <p:cNvPr id="120" name="Google Shape;120;p6"/>
          <p:cNvSpPr/>
          <p:nvPr/>
        </p:nvSpPr>
        <p:spPr>
          <a:xfrm>
            <a:off x="795528" y="5175504"/>
            <a:ext cx="10881360" cy="10515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One dedicated account manager, one CRM, one weekly report split by profile. Three senders with different backgrounds widen the range of investors who respond, by geography, age and network, without tripling the work on your side. We’ll also add company pages for past ventures so investors who click through find the track record. The profile-to-message mapping above is our starting assumption; we confirm it with you in onboarding.</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pic>
        <p:nvPicPr>
          <p:cNvPr descr="/home/claude/brand/clean/logo_header.png" id="125" name="Google Shape;125;p7"/>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126" name="Google Shape;126;p7"/>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127" name="Google Shape;127;p7"/>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How We Fill Your Calendar</a:t>
            </a:r>
            <a:endParaRPr b="0" i="0" sz="3800" u="none" cap="none" strike="noStrike">
              <a:solidFill>
                <a:schemeClr val="dk1"/>
              </a:solidFill>
              <a:latin typeface="Calibri"/>
              <a:ea typeface="Calibri"/>
              <a:cs typeface="Calibri"/>
              <a:sym typeface="Calibri"/>
            </a:endParaRPr>
          </a:p>
        </p:txBody>
      </p:sp>
      <p:sp>
        <p:nvSpPr>
          <p:cNvPr id="128" name="Google Shape;128;p7"/>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SIX STEPS, ONE PAGE</a:t>
            </a:r>
            <a:endParaRPr b="0" i="0" sz="1400" u="none" cap="none" strike="noStrike">
              <a:solidFill>
                <a:schemeClr val="dk1"/>
              </a:solidFill>
              <a:latin typeface="Calibri"/>
              <a:ea typeface="Calibri"/>
              <a:cs typeface="Calibri"/>
              <a:sym typeface="Calibri"/>
            </a:endParaRPr>
          </a:p>
        </p:txBody>
      </p:sp>
      <p:sp>
        <p:nvSpPr>
          <p:cNvPr id="129" name="Google Shape;129;p7"/>
          <p:cNvSpPr/>
          <p:nvPr/>
        </p:nvSpPr>
        <p:spPr>
          <a:xfrm>
            <a:off x="566928" y="2057400"/>
            <a:ext cx="3593592" cy="14173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795528" y="2185416"/>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300"/>
              <a:buFont typeface="Arial"/>
              <a:buNone/>
            </a:pPr>
            <a:r>
              <a:rPr b="1" i="0" lang="en-US" sz="1300" u="none" cap="none" strike="noStrike">
                <a:solidFill>
                  <a:srgbClr val="43D5FF"/>
                </a:solidFill>
                <a:latin typeface="Arial"/>
                <a:ea typeface="Arial"/>
                <a:cs typeface="Arial"/>
                <a:sym typeface="Arial"/>
              </a:rPr>
              <a:t>1  ·  MULTI-SOURCE DATA</a:t>
            </a:r>
            <a:endParaRPr b="0" i="0" sz="1300" u="none" cap="none" strike="noStrike">
              <a:solidFill>
                <a:schemeClr val="dk1"/>
              </a:solidFill>
              <a:latin typeface="Calibri"/>
              <a:ea typeface="Calibri"/>
              <a:cs typeface="Calibri"/>
              <a:sym typeface="Calibri"/>
            </a:endParaRPr>
          </a:p>
        </p:txBody>
      </p:sp>
      <p:sp>
        <p:nvSpPr>
          <p:cNvPr id="131" name="Google Shape;131;p7"/>
          <p:cNvSpPr/>
          <p:nvPr/>
        </p:nvSpPr>
        <p:spPr>
          <a:xfrm>
            <a:off x="795528" y="2496312"/>
            <a:ext cx="3136392"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Sales Navigator, your own lists and past conversations, our 1</a:t>
            </a:r>
            <a:r>
              <a:rPr lang="en-US" sz="1050">
                <a:solidFill>
                  <a:srgbClr val="FFFFFF"/>
                </a:solidFill>
              </a:rPr>
              <a:t>2</a:t>
            </a:r>
            <a:r>
              <a:rPr b="0" i="0" lang="en-US" sz="1050" u="none" cap="none" strike="noStrike">
                <a:solidFill>
                  <a:srgbClr val="FFFFFF"/>
                </a:solidFill>
                <a:latin typeface="Arial"/>
                <a:ea typeface="Arial"/>
                <a:cs typeface="Arial"/>
                <a:sym typeface="Arial"/>
              </a:rPr>
              <a:t>k+ investor database, the 84k-subscriber Startup Deal Desk newsletter, and the events your targets attend.</a:t>
            </a:r>
            <a:endParaRPr b="0" i="0" sz="1050" u="none" cap="none" strike="noStrike">
              <a:solidFill>
                <a:schemeClr val="dk1"/>
              </a:solidFill>
              <a:latin typeface="Calibri"/>
              <a:ea typeface="Calibri"/>
              <a:cs typeface="Calibri"/>
              <a:sym typeface="Calibri"/>
            </a:endParaRPr>
          </a:p>
        </p:txBody>
      </p:sp>
      <p:sp>
        <p:nvSpPr>
          <p:cNvPr id="132" name="Google Shape;132;p7"/>
          <p:cNvSpPr/>
          <p:nvPr/>
        </p:nvSpPr>
        <p:spPr>
          <a:xfrm>
            <a:off x="4434840" y="2057400"/>
            <a:ext cx="3593592" cy="14173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4663440" y="2185416"/>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300"/>
              <a:buFont typeface="Arial"/>
              <a:buNone/>
            </a:pPr>
            <a:r>
              <a:rPr b="1" i="0" lang="en-US" sz="1300" u="none" cap="none" strike="noStrike">
                <a:solidFill>
                  <a:srgbClr val="43D5FF"/>
                </a:solidFill>
                <a:latin typeface="Arial"/>
                <a:ea typeface="Arial"/>
                <a:cs typeface="Arial"/>
                <a:sym typeface="Arial"/>
              </a:rPr>
              <a:t>2  ·  SIGNAL FILTERING</a:t>
            </a:r>
            <a:endParaRPr b="0" i="0" sz="1300" u="none" cap="none" strike="noStrike">
              <a:solidFill>
                <a:schemeClr val="dk1"/>
              </a:solidFill>
              <a:latin typeface="Calibri"/>
              <a:ea typeface="Calibri"/>
              <a:cs typeface="Calibri"/>
              <a:sym typeface="Calibri"/>
            </a:endParaRPr>
          </a:p>
        </p:txBody>
      </p:sp>
      <p:sp>
        <p:nvSpPr>
          <p:cNvPr id="134" name="Google Shape;134;p7"/>
          <p:cNvSpPr/>
          <p:nvPr/>
        </p:nvSpPr>
        <p:spPr>
          <a:xfrm>
            <a:off x="4663440" y="2496312"/>
            <a:ext cx="3136392"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Deal history and live engagement outweigh job titles. Brokers, funding agents, advisor-only contacts and “investors” who are selling services are filtered out.</a:t>
            </a:r>
            <a:endParaRPr b="0" i="0" sz="1050" u="none" cap="none" strike="noStrike">
              <a:solidFill>
                <a:schemeClr val="dk1"/>
              </a:solidFill>
              <a:latin typeface="Calibri"/>
              <a:ea typeface="Calibri"/>
              <a:cs typeface="Calibri"/>
              <a:sym typeface="Calibri"/>
            </a:endParaRPr>
          </a:p>
        </p:txBody>
      </p:sp>
      <p:sp>
        <p:nvSpPr>
          <p:cNvPr id="135" name="Google Shape;135;p7"/>
          <p:cNvSpPr/>
          <p:nvPr/>
        </p:nvSpPr>
        <p:spPr>
          <a:xfrm>
            <a:off x="8302752" y="2057400"/>
            <a:ext cx="3593592" cy="14173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8531352" y="2185416"/>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300"/>
              <a:buFont typeface="Arial"/>
              <a:buNone/>
            </a:pPr>
            <a:r>
              <a:rPr b="1" i="0" lang="en-US" sz="1300" u="none" cap="none" strike="noStrike">
                <a:solidFill>
                  <a:srgbClr val="43D5FF"/>
                </a:solidFill>
                <a:latin typeface="Arial"/>
                <a:ea typeface="Arial"/>
                <a:cs typeface="Arial"/>
                <a:sym typeface="Arial"/>
              </a:rPr>
              <a:t>3  ·  ICP SCORING</a:t>
            </a:r>
            <a:endParaRPr b="0" i="0" sz="1300" u="none" cap="none" strike="noStrike">
              <a:solidFill>
                <a:schemeClr val="dk1"/>
              </a:solidFill>
              <a:latin typeface="Calibri"/>
              <a:ea typeface="Calibri"/>
              <a:cs typeface="Calibri"/>
              <a:sym typeface="Calibri"/>
            </a:endParaRPr>
          </a:p>
        </p:txBody>
      </p:sp>
      <p:sp>
        <p:nvSpPr>
          <p:cNvPr id="137" name="Google Shape;137;p7"/>
          <p:cNvSpPr/>
          <p:nvPr/>
        </p:nvSpPr>
        <p:spPr>
          <a:xfrm>
            <a:off x="8531352" y="2496312"/>
            <a:ext cx="3136392"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Every contact scored high, medium or low fit against a scorecard built with you. High fit goes first. Scripts A/B tested against real replies.</a:t>
            </a:r>
            <a:endParaRPr b="0" i="0" sz="1050" u="none" cap="none" strike="noStrike">
              <a:solidFill>
                <a:schemeClr val="dk1"/>
              </a:solidFill>
              <a:latin typeface="Calibri"/>
              <a:ea typeface="Calibri"/>
              <a:cs typeface="Calibri"/>
              <a:sym typeface="Calibri"/>
            </a:endParaRPr>
          </a:p>
        </p:txBody>
      </p:sp>
      <p:sp>
        <p:nvSpPr>
          <p:cNvPr id="138" name="Google Shape;138;p7"/>
          <p:cNvSpPr/>
          <p:nvPr/>
        </p:nvSpPr>
        <p:spPr>
          <a:xfrm>
            <a:off x="566928" y="3611880"/>
            <a:ext cx="3593592" cy="14173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795528" y="3739896"/>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300"/>
              <a:buFont typeface="Arial"/>
              <a:buNone/>
            </a:pPr>
            <a:r>
              <a:rPr b="1" i="0" lang="en-US" sz="1300" u="none" cap="none" strike="noStrike">
                <a:solidFill>
                  <a:srgbClr val="43D5FF"/>
                </a:solidFill>
                <a:latin typeface="Arial"/>
                <a:ea typeface="Arial"/>
                <a:cs typeface="Arial"/>
                <a:sym typeface="Arial"/>
              </a:rPr>
              <a:t>4  ·  MANUAL REVIEW</a:t>
            </a:r>
            <a:endParaRPr b="0" i="0" sz="1300" u="none" cap="none" strike="noStrike">
              <a:solidFill>
                <a:schemeClr val="dk1"/>
              </a:solidFill>
              <a:latin typeface="Calibri"/>
              <a:ea typeface="Calibri"/>
              <a:cs typeface="Calibri"/>
              <a:sym typeface="Calibri"/>
            </a:endParaRPr>
          </a:p>
        </p:txBody>
      </p:sp>
      <p:sp>
        <p:nvSpPr>
          <p:cNvPr id="140" name="Google Shape;140;p7"/>
          <p:cNvSpPr/>
          <p:nvPr/>
        </p:nvSpPr>
        <p:spPr>
          <a:xfrm>
            <a:off x="795528" y="4050792"/>
            <a:ext cx="3136392"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A dedicated account manager hand-checks every high-fit profile before a message goes out, and learns your story well enough to tell it in your voice.</a:t>
            </a:r>
            <a:endParaRPr b="0" i="0" sz="1050" u="none" cap="none" strike="noStrike">
              <a:solidFill>
                <a:schemeClr val="dk1"/>
              </a:solidFill>
              <a:latin typeface="Calibri"/>
              <a:ea typeface="Calibri"/>
              <a:cs typeface="Calibri"/>
              <a:sym typeface="Calibri"/>
            </a:endParaRPr>
          </a:p>
        </p:txBody>
      </p:sp>
      <p:sp>
        <p:nvSpPr>
          <p:cNvPr id="141" name="Google Shape;141;p7"/>
          <p:cNvSpPr/>
          <p:nvPr/>
        </p:nvSpPr>
        <p:spPr>
          <a:xfrm>
            <a:off x="4434840" y="3611880"/>
            <a:ext cx="3593592" cy="14173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4663440" y="3739896"/>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300"/>
              <a:buFont typeface="Arial"/>
              <a:buNone/>
            </a:pPr>
            <a:r>
              <a:rPr b="1" i="0" lang="en-US" sz="1300" u="none" cap="none" strike="noStrike">
                <a:solidFill>
                  <a:srgbClr val="43D5FF"/>
                </a:solidFill>
                <a:latin typeface="Arial"/>
                <a:ea typeface="Arial"/>
                <a:cs typeface="Arial"/>
                <a:sym typeface="Arial"/>
              </a:rPr>
              <a:t>5  ·  PRE-CALL QUALIFICATION</a:t>
            </a:r>
            <a:endParaRPr b="0" i="0" sz="1300" u="none" cap="none" strike="noStrike">
              <a:solidFill>
                <a:schemeClr val="dk1"/>
              </a:solidFill>
              <a:latin typeface="Calibri"/>
              <a:ea typeface="Calibri"/>
              <a:cs typeface="Calibri"/>
              <a:sym typeface="Calibri"/>
            </a:endParaRPr>
          </a:p>
        </p:txBody>
      </p:sp>
      <p:sp>
        <p:nvSpPr>
          <p:cNvPr id="143" name="Google Shape;143;p7"/>
          <p:cNvSpPr/>
          <p:nvPr/>
        </p:nvSpPr>
        <p:spPr>
          <a:xfrm>
            <a:off x="4663440" y="4050792"/>
            <a:ext cx="3136392"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Every booking routes through a short form: accreditation, check size, timeline, sectors. A briefing before every call; soft letdowns for the wrong fit.</a:t>
            </a:r>
            <a:endParaRPr b="0" i="0" sz="1050" u="none" cap="none" strike="noStrike">
              <a:solidFill>
                <a:schemeClr val="dk1"/>
              </a:solidFill>
              <a:latin typeface="Calibri"/>
              <a:ea typeface="Calibri"/>
              <a:cs typeface="Calibri"/>
              <a:sym typeface="Calibri"/>
            </a:endParaRPr>
          </a:p>
        </p:txBody>
      </p:sp>
      <p:sp>
        <p:nvSpPr>
          <p:cNvPr id="144" name="Google Shape;144;p7"/>
          <p:cNvSpPr/>
          <p:nvPr/>
        </p:nvSpPr>
        <p:spPr>
          <a:xfrm>
            <a:off x="8302752" y="3611880"/>
            <a:ext cx="3593592" cy="14173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8531352" y="3739896"/>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300"/>
              <a:buFont typeface="Arial"/>
              <a:buNone/>
            </a:pPr>
            <a:r>
              <a:rPr b="1" i="0" lang="en-US" sz="1300" u="none" cap="none" strike="noStrike">
                <a:solidFill>
                  <a:srgbClr val="43D5FF"/>
                </a:solidFill>
                <a:latin typeface="Arial"/>
                <a:ea typeface="Arial"/>
                <a:cs typeface="Arial"/>
                <a:sym typeface="Arial"/>
              </a:rPr>
              <a:t>6  ·  YOUR FINAL APPROVAL</a:t>
            </a:r>
            <a:endParaRPr b="0" i="0" sz="1300" u="none" cap="none" strike="noStrike">
              <a:solidFill>
                <a:schemeClr val="dk1"/>
              </a:solidFill>
              <a:latin typeface="Calibri"/>
              <a:ea typeface="Calibri"/>
              <a:cs typeface="Calibri"/>
              <a:sym typeface="Calibri"/>
            </a:endParaRPr>
          </a:p>
        </p:txBody>
      </p:sp>
      <p:sp>
        <p:nvSpPr>
          <p:cNvPr id="146" name="Google Shape;146;p7"/>
          <p:cNvSpPr/>
          <p:nvPr/>
        </p:nvSpPr>
        <p:spPr>
          <a:xfrm>
            <a:off x="8531352" y="4050792"/>
            <a:ext cx="3136392"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Accept, vet further or decline every meeting. Shared CRM from day one, weekly reporting, monthly strategy calls. If something isn’t working, you hear it from us first.</a:t>
            </a:r>
            <a:endParaRPr b="0" i="0" sz="1050" u="none" cap="none" strike="noStrike">
              <a:solidFill>
                <a:schemeClr val="dk1"/>
              </a:solidFill>
              <a:latin typeface="Calibri"/>
              <a:ea typeface="Calibri"/>
              <a:cs typeface="Calibri"/>
              <a:sym typeface="Calibri"/>
            </a:endParaRPr>
          </a:p>
        </p:txBody>
      </p:sp>
      <p:sp>
        <p:nvSpPr>
          <p:cNvPr id="147" name="Google Shape;147;p7"/>
          <p:cNvSpPr/>
          <p:nvPr/>
        </p:nvSpPr>
        <p:spPr>
          <a:xfrm>
            <a:off x="566928" y="5212080"/>
            <a:ext cx="11338560" cy="1143000"/>
          </a:xfrm>
          <a:prstGeom prst="roundRect">
            <a:avLst>
              <a:gd fmla="val 4865"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795528" y="534009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400"/>
              <a:buFont typeface="Arial"/>
              <a:buNone/>
            </a:pPr>
            <a:r>
              <a:rPr b="1" i="0" lang="en-US" sz="1400" u="none" cap="none" strike="noStrike">
                <a:solidFill>
                  <a:srgbClr val="7C6CFF"/>
                </a:solidFill>
                <a:latin typeface="Arial"/>
                <a:ea typeface="Arial"/>
                <a:cs typeface="Arial"/>
                <a:sym typeface="Arial"/>
              </a:rPr>
              <a:t>THE FLOW</a:t>
            </a:r>
            <a:endParaRPr b="0" i="0" sz="1400" u="none" cap="none" strike="noStrike">
              <a:solidFill>
                <a:schemeClr val="dk1"/>
              </a:solidFill>
              <a:latin typeface="Calibri"/>
              <a:ea typeface="Calibri"/>
              <a:cs typeface="Calibri"/>
              <a:sym typeface="Calibri"/>
            </a:endParaRPr>
          </a:p>
        </p:txBody>
      </p:sp>
      <p:sp>
        <p:nvSpPr>
          <p:cNvPr id="149" name="Google Shape;149;p7"/>
          <p:cNvSpPr/>
          <p:nvPr/>
        </p:nvSpPr>
        <p:spPr>
          <a:xfrm>
            <a:off x="795528" y="5632704"/>
            <a:ext cx="10881360" cy="6400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Multi-source data → signal filters → ICP scoring → manual review → pre-call qualification → your approval. Outreach only happens after the first four steps; a meeting only lands after all six. The briefing you receive before every call is on the next page.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pic>
        <p:nvPicPr>
          <p:cNvPr descr="/home/claude/brand/clean/logo_header.png" id="154" name="Google Shape;154;p8"/>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155" name="Google Shape;155;p8"/>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156" name="Google Shape;156;p8"/>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The Call Briefing</a:t>
            </a:r>
            <a:endParaRPr b="0" i="0" sz="3800" u="none" cap="none" strike="noStrike">
              <a:solidFill>
                <a:schemeClr val="dk1"/>
              </a:solidFill>
              <a:latin typeface="Calibri"/>
              <a:ea typeface="Calibri"/>
              <a:cs typeface="Calibri"/>
              <a:sym typeface="Calibri"/>
            </a:endParaRPr>
          </a:p>
        </p:txBody>
      </p:sp>
      <p:sp>
        <p:nvSpPr>
          <p:cNvPr id="157" name="Google Shape;157;p8"/>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WHAT LANDS IN YOUR INBOX BEFORE EVERY MEETING  ·  A REAL ONE, NAMES WITHHELD</a:t>
            </a:r>
            <a:endParaRPr b="0" i="0" sz="1400" u="none" cap="none" strike="noStrike">
              <a:solidFill>
                <a:schemeClr val="dk1"/>
              </a:solidFill>
              <a:latin typeface="Calibri"/>
              <a:ea typeface="Calibri"/>
              <a:cs typeface="Calibri"/>
              <a:sym typeface="Calibri"/>
            </a:endParaRPr>
          </a:p>
        </p:txBody>
      </p:sp>
      <p:sp>
        <p:nvSpPr>
          <p:cNvPr id="158" name="Google Shape;158;p8"/>
          <p:cNvSpPr/>
          <p:nvPr/>
        </p:nvSpPr>
        <p:spPr>
          <a:xfrm>
            <a:off x="566928" y="1965960"/>
            <a:ext cx="7452360" cy="4617720"/>
          </a:xfrm>
          <a:prstGeom prst="roundRect">
            <a:avLst>
              <a:gd fmla="val 25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txBox="1"/>
          <p:nvPr/>
        </p:nvSpPr>
        <p:spPr>
          <a:xfrm>
            <a:off x="822960" y="2103120"/>
            <a:ext cx="6940296" cy="25603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A1A2E"/>
              </a:buClr>
              <a:buSzPts val="1150"/>
              <a:buFont typeface="Arial"/>
              <a:buNone/>
            </a:pPr>
            <a:r>
              <a:rPr b="1" i="0" lang="en-US" sz="1150" u="none" cap="none" strike="noStrike">
                <a:solidFill>
                  <a:srgbClr val="1A1A2E"/>
                </a:solidFill>
                <a:latin typeface="Arial"/>
                <a:ea typeface="Arial"/>
                <a:cs typeface="Arial"/>
                <a:sym typeface="Arial"/>
              </a:rPr>
              <a:t>CONFIRMED MEETING: New Scheduled Call – [Prospect]</a:t>
            </a:r>
            <a:endParaRPr b="0" i="0" sz="1150" u="none" cap="none" strike="noStrike">
              <a:solidFill>
                <a:schemeClr val="dk1"/>
              </a:solidFill>
              <a:latin typeface="Calibri"/>
              <a:ea typeface="Calibri"/>
              <a:cs typeface="Calibri"/>
              <a:sym typeface="Calibri"/>
            </a:endParaRPr>
          </a:p>
        </p:txBody>
      </p:sp>
      <p:sp>
        <p:nvSpPr>
          <p:cNvPr id="160" name="Google Shape;160;p8"/>
          <p:cNvSpPr txBox="1"/>
          <p:nvPr/>
        </p:nvSpPr>
        <p:spPr>
          <a:xfrm>
            <a:off x="822960" y="2359152"/>
            <a:ext cx="6940296" cy="1828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F6368"/>
              </a:buClr>
              <a:buSzPts val="800"/>
              <a:buFont typeface="Arial"/>
              <a:buNone/>
            </a:pPr>
            <a:r>
              <a:rPr b="0" i="0" lang="en-US" sz="800" u="none" cap="none" strike="noStrike">
                <a:solidFill>
                  <a:srgbClr val="5F6368"/>
                </a:solidFill>
                <a:latin typeface="Arial"/>
                <a:ea typeface="Arial"/>
                <a:cs typeface="Arial"/>
                <a:sym typeface="Arial"/>
              </a:rPr>
              <a:t>From: your ThinkFISH account manager   ·   To: you   ·   Cc: Myra Grama, Freizle Abarrientos   ·   Thu, Sep 17, 2026, 6:26 PM</a:t>
            </a:r>
            <a:endParaRPr b="0" i="0" sz="800" u="none" cap="none" strike="noStrike">
              <a:solidFill>
                <a:schemeClr val="dk1"/>
              </a:solidFill>
              <a:latin typeface="Calibri"/>
              <a:ea typeface="Calibri"/>
              <a:cs typeface="Calibri"/>
              <a:sym typeface="Calibri"/>
            </a:endParaRPr>
          </a:p>
        </p:txBody>
      </p:sp>
      <p:sp>
        <p:nvSpPr>
          <p:cNvPr id="161" name="Google Shape;161;p8"/>
          <p:cNvSpPr/>
          <p:nvPr/>
        </p:nvSpPr>
        <p:spPr>
          <a:xfrm>
            <a:off x="822960" y="2596896"/>
            <a:ext cx="6940296" cy="13716"/>
          </a:xfrm>
          <a:prstGeom prst="rect">
            <a:avLst/>
          </a:prstGeom>
          <a:solidFill>
            <a:srgbClr val="DADC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txBox="1"/>
          <p:nvPr/>
        </p:nvSpPr>
        <p:spPr>
          <a:xfrm>
            <a:off x="822960" y="2688336"/>
            <a:ext cx="6940296"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333333"/>
              </a:buClr>
              <a:buSzPts val="850"/>
              <a:buFont typeface="Arial"/>
              <a:buNone/>
            </a:pPr>
            <a:r>
              <a:rPr b="0" i="0" lang="en-US" sz="850" u="none" cap="none" strike="noStrike">
                <a:solidFill>
                  <a:srgbClr val="333333"/>
                </a:solidFill>
                <a:latin typeface="Arial"/>
                <a:ea typeface="Arial"/>
                <a:cs typeface="Arial"/>
                <a:sym typeface="Arial"/>
              </a:rPr>
              <a:t>Here is the booking summary for your upcoming call with [Prospect] on Tuesday, September 22, at 5:30pm ET. This meeting came through outbound LinkedIn outreach, and is categorized under </a:t>
            </a:r>
            <a:r>
              <a:rPr b="1" i="0" lang="en-US" sz="850" u="none" cap="none" strike="noStrike">
                <a:solidFill>
                  <a:srgbClr val="333333"/>
                </a:solidFill>
                <a:latin typeface="Arial"/>
                <a:ea typeface="Arial"/>
                <a:cs typeface="Arial"/>
                <a:sym typeface="Arial"/>
              </a:rPr>
              <a:t>Segment A (Hospitality-Connected Investors)</a:t>
            </a:r>
            <a:r>
              <a:rPr b="0" i="0" lang="en-US" sz="850" u="none" cap="none" strike="noStrike">
                <a:solidFill>
                  <a:srgbClr val="333333"/>
                </a:solidFill>
                <a:latin typeface="Arial"/>
                <a:ea typeface="Arial"/>
                <a:cs typeface="Arial"/>
                <a:sym typeface="Arial"/>
              </a:rPr>
              <a:t>, with secondary alignment to </a:t>
            </a:r>
            <a:r>
              <a:rPr b="1" i="0" lang="en-US" sz="850" u="none" cap="none" strike="noStrike">
                <a:solidFill>
                  <a:srgbClr val="333333"/>
                </a:solidFill>
                <a:latin typeface="Arial"/>
                <a:ea typeface="Arial"/>
                <a:cs typeface="Arial"/>
                <a:sym typeface="Arial"/>
              </a:rPr>
              <a:t>Segment C (Operator-Turned-Investor / High-Income Professional)</a:t>
            </a:r>
            <a:r>
              <a:rPr b="0" i="0" lang="en-US" sz="850" u="none" cap="none" strike="noStrike">
                <a:solidFill>
                  <a:srgbClr val="333333"/>
                </a:solidFill>
                <a:latin typeface="Arial"/>
                <a:ea typeface="Arial"/>
                <a:cs typeface="Arial"/>
                <a:sym typeface="Arial"/>
              </a:rPr>
              <a:t>.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b="0" i="0" sz="850" u="none" cap="none" strike="noStrike">
              <a:solidFill>
                <a:schemeClr val="dk1"/>
              </a:solidFill>
              <a:latin typeface="Calibri"/>
              <a:ea typeface="Calibri"/>
              <a:cs typeface="Calibri"/>
              <a:sym typeface="Calibri"/>
            </a:endParaRPr>
          </a:p>
        </p:txBody>
      </p:sp>
      <p:sp>
        <p:nvSpPr>
          <p:cNvPr id="163" name="Google Shape;163;p8"/>
          <p:cNvSpPr txBox="1"/>
          <p:nvPr/>
        </p:nvSpPr>
        <p:spPr>
          <a:xfrm>
            <a:off x="822960" y="3456432"/>
            <a:ext cx="6940296" cy="8686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2E"/>
              </a:buClr>
              <a:buSzPts val="850"/>
              <a:buFont typeface="Arial"/>
              <a:buNone/>
            </a:pPr>
            <a:r>
              <a:rPr b="1" i="0" lang="en-US" sz="850" u="none" cap="none" strike="noStrike">
                <a:solidFill>
                  <a:srgbClr val="1A1A2E"/>
                </a:solidFill>
                <a:latin typeface="Arial"/>
                <a:ea typeface="Arial"/>
                <a:cs typeface="Arial"/>
                <a:sym typeface="Arial"/>
              </a:rPr>
              <a:t>Summary of why he’s a good fit:</a:t>
            </a:r>
            <a:endParaRPr b="0" i="0" sz="850" u="none" cap="none" strike="noStrike">
              <a:solidFill>
                <a:schemeClr val="dk1"/>
              </a:solidFill>
              <a:latin typeface="Calibri"/>
              <a:ea typeface="Calibri"/>
              <a:cs typeface="Calibri"/>
              <a:sym typeface="Calibri"/>
            </a:endParaRPr>
          </a:p>
          <a:p>
            <a:pPr indent="0" lvl="0" marL="0" marR="0" rtl="0" algn="l">
              <a:lnSpc>
                <a:spcPct val="110000"/>
              </a:lnSpc>
              <a:spcBef>
                <a:spcPts val="150"/>
              </a:spcBef>
              <a:spcAft>
                <a:spcPts val="0"/>
              </a:spcAft>
              <a:buClr>
                <a:srgbClr val="333333"/>
              </a:buClr>
              <a:buSzPts val="850"/>
              <a:buFont typeface="Arial"/>
              <a:buNone/>
            </a:pPr>
            <a:r>
              <a:rPr b="0" i="0" lang="en-US" sz="850" u="none" cap="none" strike="noStrike">
                <a:solidFill>
                  <a:srgbClr val="333333"/>
                </a:solidFill>
                <a:latin typeface="Arial"/>
                <a:ea typeface="Arial"/>
                <a:cs typeface="Arial"/>
                <a:sym typeface="Arial"/>
              </a:rPr>
              <a:t>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b="1" i="0" lang="en-US" sz="850" u="none" cap="none" strike="noStrike">
                <a:solidFill>
                  <a:srgbClr val="333333"/>
                </a:solidFill>
                <a:latin typeface="Arial"/>
                <a:ea typeface="Arial"/>
                <a:cs typeface="Arial"/>
                <a:sym typeface="Arial"/>
              </a:rPr>
              <a:t>His own qualifying answers reflect that: he marked himself as not accredited but also selected a $25K–$50K check size, direct investment, and a 30–90 day timeline</a:t>
            </a:r>
            <a:r>
              <a:rPr b="0" i="0" lang="en-US" sz="850" u="none" cap="none" strike="noStrike">
                <a:solidFill>
                  <a:srgbClr val="333333"/>
                </a:solidFill>
                <a:latin typeface="Arial"/>
                <a:ea typeface="Arial"/>
                <a:cs typeface="Arial"/>
                <a:sym typeface="Arial"/>
              </a:rPr>
              <a:t>, an inconsistency worth being aware of going in. He also selected Advisor/Consultant as his partnership interest, so the call may land better framed as an operator/advisory conversation.</a:t>
            </a:r>
            <a:endParaRPr b="0" i="0" sz="850" u="none" cap="none" strike="noStrike">
              <a:solidFill>
                <a:schemeClr val="dk1"/>
              </a:solidFill>
              <a:latin typeface="Calibri"/>
              <a:ea typeface="Calibri"/>
              <a:cs typeface="Calibri"/>
              <a:sym typeface="Calibri"/>
            </a:endParaRPr>
          </a:p>
        </p:txBody>
      </p:sp>
      <p:sp>
        <p:nvSpPr>
          <p:cNvPr id="164" name="Google Shape;164;p8"/>
          <p:cNvSpPr txBox="1"/>
          <p:nvPr/>
        </p:nvSpPr>
        <p:spPr>
          <a:xfrm>
            <a:off x="822960" y="4498848"/>
            <a:ext cx="6940296" cy="274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2E"/>
              </a:buClr>
              <a:buSzPts val="850"/>
              <a:buFont typeface="Arial"/>
              <a:buNone/>
            </a:pPr>
            <a:r>
              <a:rPr b="1" i="0" lang="en-US" sz="850" u="none" cap="none" strike="noStrike">
                <a:solidFill>
                  <a:srgbClr val="1A1A2E"/>
                </a:solidFill>
                <a:latin typeface="Arial"/>
                <a:ea typeface="Arial"/>
                <a:cs typeface="Arial"/>
                <a:sym typeface="Arial"/>
              </a:rPr>
              <a:t>Mutual Connections: </a:t>
            </a:r>
            <a:r>
              <a:rPr b="0" i="0" lang="en-US" sz="850" u="none" cap="none" strike="noStrike">
                <a:solidFill>
                  <a:srgbClr val="333333"/>
                </a:solidFill>
                <a:latin typeface="Arial"/>
                <a:ea typeface="Arial"/>
                <a:cs typeface="Arial"/>
                <a:sym typeface="Arial"/>
              </a:rPr>
              <a:t>Matthew and Cherryh.   </a:t>
            </a:r>
            <a:r>
              <a:rPr b="1" i="0" lang="en-US" sz="850" u="none" cap="none" strike="noStrike">
                <a:solidFill>
                  <a:srgbClr val="1A1A2E"/>
                </a:solidFill>
                <a:latin typeface="Arial"/>
                <a:ea typeface="Arial"/>
                <a:cs typeface="Arial"/>
                <a:sym typeface="Arial"/>
              </a:rPr>
              <a:t>Network Highlights: </a:t>
            </a:r>
            <a:r>
              <a:rPr b="0" i="0" lang="en-US" sz="850" u="none" cap="none" strike="noStrike">
                <a:solidFill>
                  <a:srgbClr val="333333"/>
                </a:solidFill>
                <a:latin typeface="Arial"/>
                <a:ea typeface="Arial"/>
                <a:cs typeface="Arial"/>
                <a:sym typeface="Arial"/>
              </a:rPr>
              <a:t>4,251 followers, active on LinkedIn engaging with colleagues’ career milestones; Cornell-affiliated.</a:t>
            </a:r>
            <a:endParaRPr b="0" i="0" sz="850" u="none" cap="none" strike="noStrike">
              <a:solidFill>
                <a:schemeClr val="dk1"/>
              </a:solidFill>
              <a:latin typeface="Calibri"/>
              <a:ea typeface="Calibri"/>
              <a:cs typeface="Calibri"/>
              <a:sym typeface="Calibri"/>
            </a:endParaRPr>
          </a:p>
        </p:txBody>
      </p:sp>
      <p:sp>
        <p:nvSpPr>
          <p:cNvPr id="165" name="Google Shape;165;p8"/>
          <p:cNvSpPr txBox="1"/>
          <p:nvPr/>
        </p:nvSpPr>
        <p:spPr>
          <a:xfrm>
            <a:off x="822960" y="4846320"/>
            <a:ext cx="6940296" cy="51206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2E"/>
              </a:buClr>
              <a:buSzPts val="850"/>
              <a:buFont typeface="Arial"/>
              <a:buNone/>
            </a:pPr>
            <a:r>
              <a:rPr b="1" i="0" lang="en-US" sz="850" u="none" cap="none" strike="noStrike">
                <a:solidFill>
                  <a:srgbClr val="1A1A2E"/>
                </a:solidFill>
                <a:latin typeface="Arial"/>
                <a:ea typeface="Arial"/>
                <a:cs typeface="Arial"/>
                <a:sym typeface="Arial"/>
              </a:rPr>
              <a:t>Affiliations &amp; notable initiatives: </a:t>
            </a:r>
            <a:r>
              <a:rPr b="0" i="0" lang="en-US" sz="850" u="none" cap="none" strike="noStrike">
                <a:solidFill>
                  <a:srgbClr val="333333"/>
                </a:solidFill>
                <a:latin typeface="Arial"/>
                <a:ea typeface="Arial"/>
                <a:cs typeface="Arial"/>
                <a:sym typeface="Arial"/>
              </a:rPr>
              <a:t>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b="0" i="0" sz="850" u="none" cap="none" strike="noStrike">
              <a:solidFill>
                <a:schemeClr val="dk1"/>
              </a:solidFill>
              <a:latin typeface="Calibri"/>
              <a:ea typeface="Calibri"/>
              <a:cs typeface="Calibri"/>
              <a:sym typeface="Calibri"/>
            </a:endParaRPr>
          </a:p>
        </p:txBody>
      </p:sp>
      <p:sp>
        <p:nvSpPr>
          <p:cNvPr id="166" name="Google Shape;166;p8"/>
          <p:cNvSpPr txBox="1"/>
          <p:nvPr/>
        </p:nvSpPr>
        <p:spPr>
          <a:xfrm>
            <a:off x="822960" y="5449824"/>
            <a:ext cx="6940296" cy="713232"/>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A1A2E"/>
              </a:buClr>
              <a:buSzPts val="800"/>
              <a:buFont typeface="Arial"/>
              <a:buNone/>
            </a:pPr>
            <a:r>
              <a:rPr b="1" i="0" lang="en-US" sz="800" u="none" cap="none" strike="noStrike">
                <a:solidFill>
                  <a:srgbClr val="1A1A2E"/>
                </a:solidFill>
                <a:latin typeface="Arial"/>
                <a:ea typeface="Arial"/>
                <a:cs typeface="Arial"/>
                <a:sym typeface="Arial"/>
              </a:rPr>
              <a:t>Conversation Thread:</a:t>
            </a:r>
            <a:endParaRPr b="0" i="0" sz="800" u="none" cap="none" strike="noStrike">
              <a:solidFill>
                <a:schemeClr val="dk1"/>
              </a:solidFill>
              <a:latin typeface="Calibri"/>
              <a:ea typeface="Calibri"/>
              <a:cs typeface="Calibri"/>
              <a:sym typeface="Calibri"/>
            </a:endParaRPr>
          </a:p>
          <a:p>
            <a:pPr indent="0" lvl="0" marL="0" marR="0" rtl="0" algn="l">
              <a:lnSpc>
                <a:spcPct val="108000"/>
              </a:lnSpc>
              <a:spcBef>
                <a:spcPts val="100"/>
              </a:spcBef>
              <a:spcAft>
                <a:spcPts val="0"/>
              </a:spcAft>
              <a:buClr>
                <a:srgbClr val="333333"/>
              </a:buClr>
              <a:buSzPts val="800"/>
              <a:buFont typeface="Arial"/>
              <a:buNone/>
            </a:pPr>
            <a:r>
              <a:rPr b="1" i="1" lang="en-US" sz="800" u="none" cap="none" strike="noStrike">
                <a:solidFill>
                  <a:srgbClr val="333333"/>
                </a:solidFill>
                <a:latin typeface="Arial"/>
                <a:ea typeface="Arial"/>
                <a:cs typeface="Arial"/>
                <a:sym typeface="Arial"/>
              </a:rPr>
              <a:t>Prospect: </a:t>
            </a:r>
            <a:r>
              <a:rPr b="0" i="1" lang="en-US" sz="800" u="none" cap="none" strike="noStrike">
                <a:solidFill>
                  <a:srgbClr val="333333"/>
                </a:solidFill>
                <a:latin typeface="Arial"/>
                <a:ea typeface="Arial"/>
                <a:cs typeface="Arial"/>
                <a:sym typeface="Arial"/>
              </a:rPr>
              <a:t>“…Not sure the additional 50 sq meters a luggage storage room would change the hotel P&amp;L much if any. I’m no longer your target audience… Let me know if helpful to chat.”</a:t>
            </a:r>
            <a:endParaRPr b="0" i="0" sz="800" u="none" cap="none" strike="noStrike">
              <a:solidFill>
                <a:schemeClr val="dk1"/>
              </a:solidFill>
              <a:latin typeface="Calibri"/>
              <a:ea typeface="Calibri"/>
              <a:cs typeface="Calibri"/>
              <a:sym typeface="Calibri"/>
            </a:endParaRPr>
          </a:p>
          <a:p>
            <a:pPr indent="0" lvl="0" marL="0" marR="0" rtl="0" algn="l">
              <a:lnSpc>
                <a:spcPct val="108000"/>
              </a:lnSpc>
              <a:spcBef>
                <a:spcPts val="100"/>
              </a:spcBef>
              <a:spcAft>
                <a:spcPts val="0"/>
              </a:spcAft>
              <a:buClr>
                <a:srgbClr val="333333"/>
              </a:buClr>
              <a:buSzPts val="800"/>
              <a:buFont typeface="Arial"/>
              <a:buNone/>
            </a:pPr>
            <a:r>
              <a:rPr b="1" i="1" lang="en-US" sz="800" u="none" cap="none" strike="noStrike">
                <a:solidFill>
                  <a:srgbClr val="333333"/>
                </a:solidFill>
                <a:latin typeface="Arial"/>
                <a:ea typeface="Arial"/>
                <a:cs typeface="Arial"/>
                <a:sym typeface="Arial"/>
              </a:rPr>
              <a:t>Founder: </a:t>
            </a:r>
            <a:r>
              <a:rPr b="0" i="1" lang="en-US" sz="800" u="none" cap="none" strike="noStrike">
                <a:solidFill>
                  <a:srgbClr val="333333"/>
                </a:solidFill>
                <a:latin typeface="Arial"/>
                <a:ea typeface="Arial"/>
                <a:cs typeface="Arial"/>
                <a:sym typeface="Arial"/>
              </a:rPr>
              <a:t>“…To be upfront, this outreach is part of a raise we’re running, not a property-pilot pitch… Given your background, I’d genuinely value your take on it from that angle.”</a:t>
            </a:r>
            <a:endParaRPr b="0" i="0" sz="800" u="none" cap="none" strike="noStrike">
              <a:solidFill>
                <a:schemeClr val="dk1"/>
              </a:solidFill>
              <a:latin typeface="Calibri"/>
              <a:ea typeface="Calibri"/>
              <a:cs typeface="Calibri"/>
              <a:sym typeface="Calibri"/>
            </a:endParaRPr>
          </a:p>
          <a:p>
            <a:pPr indent="0" lvl="0" marL="0" marR="0" rtl="0" algn="l">
              <a:lnSpc>
                <a:spcPct val="108000"/>
              </a:lnSpc>
              <a:spcBef>
                <a:spcPts val="100"/>
              </a:spcBef>
              <a:spcAft>
                <a:spcPts val="0"/>
              </a:spcAft>
              <a:buClr>
                <a:srgbClr val="333333"/>
              </a:buClr>
              <a:buSzPts val="800"/>
              <a:buFont typeface="Arial"/>
              <a:buNone/>
            </a:pPr>
            <a:r>
              <a:rPr b="1" i="1" lang="en-US" sz="800" u="none" cap="none" strike="noStrike">
                <a:solidFill>
                  <a:srgbClr val="333333"/>
                </a:solidFill>
                <a:latin typeface="Arial"/>
                <a:ea typeface="Arial"/>
                <a:cs typeface="Arial"/>
                <a:sym typeface="Arial"/>
              </a:rPr>
              <a:t>Prospect: </a:t>
            </a:r>
            <a:r>
              <a:rPr b="0" i="1" lang="en-US" sz="800" u="none" cap="none" strike="noStrike">
                <a:solidFill>
                  <a:srgbClr val="333333"/>
                </a:solidFill>
                <a:latin typeface="Arial"/>
                <a:ea typeface="Arial"/>
                <a:cs typeface="Arial"/>
                <a:sym typeface="Arial"/>
              </a:rPr>
              <a:t>“Love it. Let’s connect.”  …  “Perfect. Sent. Looking forward.”</a:t>
            </a:r>
            <a:endParaRPr b="0" i="0" sz="800" u="none" cap="none" strike="noStrike">
              <a:solidFill>
                <a:schemeClr val="dk1"/>
              </a:solidFill>
              <a:latin typeface="Calibri"/>
              <a:ea typeface="Calibri"/>
              <a:cs typeface="Calibri"/>
              <a:sym typeface="Calibri"/>
            </a:endParaRPr>
          </a:p>
        </p:txBody>
      </p:sp>
      <p:sp>
        <p:nvSpPr>
          <p:cNvPr id="167" name="Google Shape;167;p8"/>
          <p:cNvSpPr txBox="1"/>
          <p:nvPr/>
        </p:nvSpPr>
        <p:spPr>
          <a:xfrm>
            <a:off x="822960" y="6272784"/>
            <a:ext cx="6940296" cy="1828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A1A2E"/>
              </a:buClr>
              <a:buSzPts val="850"/>
              <a:buFont typeface="Arial"/>
              <a:buNone/>
            </a:pPr>
            <a:r>
              <a:rPr b="1" i="0" lang="en-US" sz="850" u="none" cap="none" strike="noStrike">
                <a:solidFill>
                  <a:srgbClr val="1A1A2E"/>
                </a:solidFill>
                <a:latin typeface="Arial"/>
                <a:ea typeface="Arial"/>
                <a:cs typeface="Arial"/>
                <a:sym typeface="Arial"/>
              </a:rPr>
              <a:t>LinkedIn Profile: </a:t>
            </a:r>
            <a:r>
              <a:rPr b="0" i="0" lang="en-US" sz="850" u="none" cap="none" strike="noStrike">
                <a:solidFill>
                  <a:srgbClr val="1A73E8"/>
                </a:solidFill>
                <a:latin typeface="Arial"/>
                <a:ea typeface="Arial"/>
                <a:cs typeface="Arial"/>
                <a:sym typeface="Arial"/>
              </a:rPr>
              <a:t>full profile attached below</a:t>
            </a:r>
            <a:r>
              <a:rPr b="1" i="0" lang="en-US" sz="850" u="none" cap="none" strike="noStrike">
                <a:solidFill>
                  <a:srgbClr val="1A1A2E"/>
                </a:solidFill>
                <a:latin typeface="Arial"/>
                <a:ea typeface="Arial"/>
                <a:cs typeface="Arial"/>
                <a:sym typeface="Arial"/>
              </a:rPr>
              <a:t>     Calendly booking: </a:t>
            </a:r>
            <a:r>
              <a:rPr b="0" i="0" lang="en-US" sz="850" u="none" cap="none" strike="noStrike">
                <a:solidFill>
                  <a:srgbClr val="1A73E8"/>
                </a:solidFill>
                <a:latin typeface="Arial"/>
                <a:ea typeface="Arial"/>
                <a:cs typeface="Arial"/>
                <a:sym typeface="Arial"/>
              </a:rPr>
              <a:t>confirmed for Tue, Sep 22, 5:30pm ET</a:t>
            </a:r>
            <a:endParaRPr b="0" i="0" sz="850" u="none" cap="none" strike="noStrike">
              <a:solidFill>
                <a:schemeClr val="dk1"/>
              </a:solidFill>
              <a:latin typeface="Calibri"/>
              <a:ea typeface="Calibri"/>
              <a:cs typeface="Calibri"/>
              <a:sym typeface="Calibri"/>
            </a:endParaRPr>
          </a:p>
        </p:txBody>
      </p:sp>
      <p:sp>
        <p:nvSpPr>
          <p:cNvPr id="168" name="Google Shape;168;p8"/>
          <p:cNvSpPr/>
          <p:nvPr/>
        </p:nvSpPr>
        <p:spPr>
          <a:xfrm>
            <a:off x="8083296" y="2706624"/>
            <a:ext cx="329184" cy="182880"/>
          </a:xfrm>
          <a:prstGeom prst="leftArrow">
            <a:avLst>
              <a:gd fmla="val 50000" name="adj1"/>
              <a:gd fmla="val 50000" name="adj2"/>
            </a:avLst>
          </a:prstGeom>
          <a:solidFill>
            <a:srgbClr val="43D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txBox="1"/>
          <p:nvPr/>
        </p:nvSpPr>
        <p:spPr>
          <a:xfrm>
            <a:off x="8522208" y="2670048"/>
            <a:ext cx="3108960" cy="21945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3D5FF"/>
              </a:buClr>
              <a:buSzPts val="1050"/>
              <a:buFont typeface="Arial"/>
              <a:buNone/>
            </a:pPr>
            <a:r>
              <a:rPr b="1" i="0" lang="en-US" sz="1050" u="none" cap="none" strike="noStrike">
                <a:solidFill>
                  <a:srgbClr val="43D5FF"/>
                </a:solidFill>
                <a:latin typeface="Arial"/>
                <a:ea typeface="Arial"/>
                <a:cs typeface="Arial"/>
                <a:sym typeface="Arial"/>
              </a:rPr>
              <a:t>SEGMENT FIT, STATED</a:t>
            </a:r>
            <a:endParaRPr b="0" i="0" sz="1050" u="none" cap="none" strike="noStrike">
              <a:solidFill>
                <a:schemeClr val="dk1"/>
              </a:solidFill>
              <a:latin typeface="Calibri"/>
              <a:ea typeface="Calibri"/>
              <a:cs typeface="Calibri"/>
              <a:sym typeface="Calibri"/>
            </a:endParaRPr>
          </a:p>
        </p:txBody>
      </p:sp>
      <p:sp>
        <p:nvSpPr>
          <p:cNvPr id="170" name="Google Shape;170;p8"/>
          <p:cNvSpPr txBox="1"/>
          <p:nvPr/>
        </p:nvSpPr>
        <p:spPr>
          <a:xfrm>
            <a:off x="8522208" y="2907792"/>
            <a:ext cx="3108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950"/>
              <a:buFont typeface="Arial"/>
              <a:buNone/>
            </a:pPr>
            <a:r>
              <a:rPr b="0" i="0" lang="en-US" sz="950" u="none" cap="none" strike="noStrike">
                <a:solidFill>
                  <a:srgbClr val="FFFFFF"/>
                </a:solidFill>
                <a:latin typeface="Arial"/>
                <a:ea typeface="Arial"/>
                <a:cs typeface="Arial"/>
                <a:sym typeface="Arial"/>
              </a:rPr>
              <a:t>Which of your ICP segments they matched and how the conversation got to a booking, so nothing is a surprise on the call.</a:t>
            </a:r>
            <a:endParaRPr b="0" i="0" sz="950" u="none" cap="none" strike="noStrike">
              <a:solidFill>
                <a:schemeClr val="dk1"/>
              </a:solidFill>
              <a:latin typeface="Calibri"/>
              <a:ea typeface="Calibri"/>
              <a:cs typeface="Calibri"/>
              <a:sym typeface="Calibri"/>
            </a:endParaRPr>
          </a:p>
        </p:txBody>
      </p:sp>
      <p:sp>
        <p:nvSpPr>
          <p:cNvPr id="171" name="Google Shape;171;p8"/>
          <p:cNvSpPr/>
          <p:nvPr/>
        </p:nvSpPr>
        <p:spPr>
          <a:xfrm>
            <a:off x="8083296" y="3675888"/>
            <a:ext cx="329184" cy="182880"/>
          </a:xfrm>
          <a:prstGeom prst="leftArrow">
            <a:avLst>
              <a:gd fmla="val 50000" name="adj1"/>
              <a:gd fmla="val 50000" name="adj2"/>
            </a:avLst>
          </a:prstGeom>
          <a:solidFill>
            <a:srgbClr val="43D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txBox="1"/>
          <p:nvPr/>
        </p:nvSpPr>
        <p:spPr>
          <a:xfrm>
            <a:off x="8522208" y="3639312"/>
            <a:ext cx="3108960" cy="21945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3D5FF"/>
              </a:buClr>
              <a:buSzPts val="1050"/>
              <a:buFont typeface="Arial"/>
              <a:buNone/>
            </a:pPr>
            <a:r>
              <a:rPr b="1" i="0" lang="en-US" sz="1050" u="none" cap="none" strike="noStrike">
                <a:solidFill>
                  <a:srgbClr val="43D5FF"/>
                </a:solidFill>
                <a:latin typeface="Arial"/>
                <a:ea typeface="Arial"/>
                <a:cs typeface="Arial"/>
                <a:sym typeface="Arial"/>
              </a:rPr>
              <a:t>WHY THEY’RE WORTH YOUR TIME</a:t>
            </a:r>
            <a:endParaRPr b="0" i="0" sz="1050" u="none" cap="none" strike="noStrike">
              <a:solidFill>
                <a:schemeClr val="dk1"/>
              </a:solidFill>
              <a:latin typeface="Calibri"/>
              <a:ea typeface="Calibri"/>
              <a:cs typeface="Calibri"/>
              <a:sym typeface="Calibri"/>
            </a:endParaRPr>
          </a:p>
        </p:txBody>
      </p:sp>
      <p:sp>
        <p:nvSpPr>
          <p:cNvPr id="173" name="Google Shape;173;p8"/>
          <p:cNvSpPr txBox="1"/>
          <p:nvPr/>
        </p:nvSpPr>
        <p:spPr>
          <a:xfrm>
            <a:off x="8522208" y="3877056"/>
            <a:ext cx="3108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950"/>
              <a:buFont typeface="Arial"/>
              <a:buNone/>
            </a:pPr>
            <a:r>
              <a:rPr b="0" i="0" lang="en-US" sz="950" u="none" cap="none" strike="noStrike">
                <a:solidFill>
                  <a:srgbClr val="FFFFFF"/>
                </a:solidFill>
                <a:latin typeface="Arial"/>
                <a:ea typeface="Arial"/>
                <a:cs typeface="Arial"/>
                <a:sym typeface="Arial"/>
              </a:rPr>
              <a:t>Background, their own qualifying answers and an honest read on how to frame the call, inconsistencies included.</a:t>
            </a:r>
            <a:endParaRPr b="0" i="0" sz="950" u="none" cap="none" strike="noStrike">
              <a:solidFill>
                <a:schemeClr val="dk1"/>
              </a:solidFill>
              <a:latin typeface="Calibri"/>
              <a:ea typeface="Calibri"/>
              <a:cs typeface="Calibri"/>
              <a:sym typeface="Calibri"/>
            </a:endParaRPr>
          </a:p>
        </p:txBody>
      </p:sp>
      <p:sp>
        <p:nvSpPr>
          <p:cNvPr id="174" name="Google Shape;174;p8"/>
          <p:cNvSpPr/>
          <p:nvPr/>
        </p:nvSpPr>
        <p:spPr>
          <a:xfrm>
            <a:off x="8083296" y="4718304"/>
            <a:ext cx="329184" cy="182880"/>
          </a:xfrm>
          <a:prstGeom prst="leftArrow">
            <a:avLst>
              <a:gd fmla="val 50000" name="adj1"/>
              <a:gd fmla="val 50000" name="adj2"/>
            </a:avLst>
          </a:prstGeom>
          <a:solidFill>
            <a:srgbClr val="43D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txBox="1"/>
          <p:nvPr/>
        </p:nvSpPr>
        <p:spPr>
          <a:xfrm>
            <a:off x="8522208" y="4681728"/>
            <a:ext cx="3108960" cy="21945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3D5FF"/>
              </a:buClr>
              <a:buSzPts val="1050"/>
              <a:buFont typeface="Arial"/>
              <a:buNone/>
            </a:pPr>
            <a:r>
              <a:rPr b="1" i="0" lang="en-US" sz="1050" u="none" cap="none" strike="noStrike">
                <a:solidFill>
                  <a:srgbClr val="43D5FF"/>
                </a:solidFill>
                <a:latin typeface="Arial"/>
                <a:ea typeface="Arial"/>
                <a:cs typeface="Arial"/>
                <a:sym typeface="Arial"/>
              </a:rPr>
              <a:t>WARM PATHS IN + TRACK RECORD</a:t>
            </a:r>
            <a:endParaRPr b="0" i="0" sz="1050" u="none" cap="none" strike="noStrike">
              <a:solidFill>
                <a:schemeClr val="dk1"/>
              </a:solidFill>
              <a:latin typeface="Calibri"/>
              <a:ea typeface="Calibri"/>
              <a:cs typeface="Calibri"/>
              <a:sym typeface="Calibri"/>
            </a:endParaRPr>
          </a:p>
        </p:txBody>
      </p:sp>
      <p:sp>
        <p:nvSpPr>
          <p:cNvPr id="176" name="Google Shape;176;p8"/>
          <p:cNvSpPr txBox="1"/>
          <p:nvPr/>
        </p:nvSpPr>
        <p:spPr>
          <a:xfrm>
            <a:off x="8522208" y="4919472"/>
            <a:ext cx="3108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950"/>
              <a:buFont typeface="Arial"/>
              <a:buNone/>
            </a:pPr>
            <a:r>
              <a:rPr b="0" i="0" lang="en-US" sz="950" u="none" cap="none" strike="noStrike">
                <a:solidFill>
                  <a:srgbClr val="FFFFFF"/>
                </a:solidFill>
                <a:latin typeface="Arial"/>
                <a:ea typeface="Arial"/>
                <a:cs typeface="Arial"/>
                <a:sym typeface="Arial"/>
              </a:rPr>
              <a:t>Mutual connections, shared schools, roles, affiliations and initiatives that matter to you, each checked by a person.</a:t>
            </a:r>
            <a:endParaRPr b="0" i="0" sz="950" u="none" cap="none" strike="noStrike">
              <a:solidFill>
                <a:schemeClr val="dk1"/>
              </a:solidFill>
              <a:latin typeface="Calibri"/>
              <a:ea typeface="Calibri"/>
              <a:cs typeface="Calibri"/>
              <a:sym typeface="Calibri"/>
            </a:endParaRPr>
          </a:p>
        </p:txBody>
      </p:sp>
      <p:sp>
        <p:nvSpPr>
          <p:cNvPr id="177" name="Google Shape;177;p8"/>
          <p:cNvSpPr/>
          <p:nvPr/>
        </p:nvSpPr>
        <p:spPr>
          <a:xfrm>
            <a:off x="8083296" y="5614416"/>
            <a:ext cx="329184" cy="182880"/>
          </a:xfrm>
          <a:prstGeom prst="leftArrow">
            <a:avLst>
              <a:gd fmla="val 50000" name="adj1"/>
              <a:gd fmla="val 50000" name="adj2"/>
            </a:avLst>
          </a:prstGeom>
          <a:solidFill>
            <a:srgbClr val="43D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txBox="1"/>
          <p:nvPr/>
        </p:nvSpPr>
        <p:spPr>
          <a:xfrm>
            <a:off x="8522208" y="5577840"/>
            <a:ext cx="3108960" cy="21945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3D5FF"/>
              </a:buClr>
              <a:buSzPts val="1050"/>
              <a:buFont typeface="Arial"/>
              <a:buNone/>
            </a:pPr>
            <a:r>
              <a:rPr b="1" i="0" lang="en-US" sz="1050" u="none" cap="none" strike="noStrike">
                <a:solidFill>
                  <a:srgbClr val="43D5FF"/>
                </a:solidFill>
                <a:latin typeface="Arial"/>
                <a:ea typeface="Arial"/>
                <a:cs typeface="Arial"/>
                <a:sym typeface="Arial"/>
              </a:rPr>
              <a:t>THE WHOLE CONVERSATION</a:t>
            </a:r>
            <a:endParaRPr b="0" i="0" sz="1050" u="none" cap="none" strike="noStrike">
              <a:solidFill>
                <a:schemeClr val="dk1"/>
              </a:solidFill>
              <a:latin typeface="Calibri"/>
              <a:ea typeface="Calibri"/>
              <a:cs typeface="Calibri"/>
              <a:sym typeface="Calibri"/>
            </a:endParaRPr>
          </a:p>
        </p:txBody>
      </p:sp>
      <p:sp>
        <p:nvSpPr>
          <p:cNvPr id="179" name="Google Shape;179;p8"/>
          <p:cNvSpPr txBox="1"/>
          <p:nvPr/>
        </p:nvSpPr>
        <p:spPr>
          <a:xfrm>
            <a:off x="8522208" y="5815584"/>
            <a:ext cx="3108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950"/>
              <a:buFont typeface="Arial"/>
              <a:buNone/>
            </a:pPr>
            <a:r>
              <a:rPr b="0" i="0" lang="en-US" sz="950" u="none" cap="none" strike="noStrike">
                <a:solidFill>
                  <a:srgbClr val="FFFFFF"/>
                </a:solidFill>
                <a:latin typeface="Arial"/>
                <a:ea typeface="Arial"/>
                <a:cs typeface="Arial"/>
                <a:sym typeface="Arial"/>
              </a:rPr>
              <a:t>Every message exchanged, so you walk in knowing exactly what was said and promised.</a:t>
            </a:r>
            <a:endParaRPr b="0" i="0" sz="950" u="none" cap="none" strike="noStrike">
              <a:solidFill>
                <a:schemeClr val="dk1"/>
              </a:solidFill>
              <a:latin typeface="Calibri"/>
              <a:ea typeface="Calibri"/>
              <a:cs typeface="Calibri"/>
              <a:sym typeface="Calibri"/>
            </a:endParaRPr>
          </a:p>
        </p:txBody>
      </p:sp>
      <p:sp>
        <p:nvSpPr>
          <p:cNvPr id="180" name="Google Shape;180;p8"/>
          <p:cNvSpPr/>
          <p:nvPr/>
        </p:nvSpPr>
        <p:spPr>
          <a:xfrm>
            <a:off x="8083296" y="6309360"/>
            <a:ext cx="329184" cy="182880"/>
          </a:xfrm>
          <a:prstGeom prst="leftArrow">
            <a:avLst>
              <a:gd fmla="val 50000" name="adj1"/>
              <a:gd fmla="val 50000" name="adj2"/>
            </a:avLst>
          </a:prstGeom>
          <a:solidFill>
            <a:srgbClr val="43D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txBox="1"/>
          <p:nvPr/>
        </p:nvSpPr>
        <p:spPr>
          <a:xfrm>
            <a:off x="8522208" y="6272784"/>
            <a:ext cx="3108960" cy="21945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43D5FF"/>
              </a:buClr>
              <a:buSzPts val="1050"/>
              <a:buFont typeface="Arial"/>
              <a:buNone/>
            </a:pPr>
            <a:r>
              <a:rPr b="1" i="0" lang="en-US" sz="1050" u="none" cap="none" strike="noStrike">
                <a:solidFill>
                  <a:srgbClr val="43D5FF"/>
                </a:solidFill>
                <a:latin typeface="Arial"/>
                <a:ea typeface="Arial"/>
                <a:cs typeface="Arial"/>
                <a:sym typeface="Arial"/>
              </a:rPr>
              <a:t>PROFILE + BOOKING</a:t>
            </a:r>
            <a:endParaRPr b="0" i="0" sz="1050" u="none" cap="none" strike="noStrike">
              <a:solidFill>
                <a:schemeClr val="dk1"/>
              </a:solidFill>
              <a:latin typeface="Calibri"/>
              <a:ea typeface="Calibri"/>
              <a:cs typeface="Calibri"/>
              <a:sym typeface="Calibri"/>
            </a:endParaRPr>
          </a:p>
        </p:txBody>
      </p:sp>
      <p:sp>
        <p:nvSpPr>
          <p:cNvPr id="182" name="Google Shape;182;p8"/>
          <p:cNvSpPr txBox="1"/>
          <p:nvPr/>
        </p:nvSpPr>
        <p:spPr>
          <a:xfrm>
            <a:off x="8522208" y="6510528"/>
            <a:ext cx="3108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950"/>
              <a:buFont typeface="Arial"/>
              <a:buNone/>
            </a:pPr>
            <a:r>
              <a:rPr b="0" i="0" lang="en-US" sz="950" u="none" cap="none" strike="noStrike">
                <a:solidFill>
                  <a:srgbClr val="FFFFFF"/>
                </a:solidFill>
                <a:latin typeface="Arial"/>
                <a:ea typeface="Arial"/>
                <a:cs typeface="Arial"/>
                <a:sym typeface="Arial"/>
              </a:rPr>
              <a:t>Full profile attached; the slot is already on your calendar.</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pic>
        <p:nvPicPr>
          <p:cNvPr descr="/home/claude/brand/clean/logo_header.png" id="187" name="Google Shape;187;p9"/>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188" name="Google Shape;188;p9"/>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189" name="Google Shape;189;p9"/>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What To Expect</a:t>
            </a:r>
            <a:endParaRPr b="0" i="0" sz="3800" u="none" cap="none" strike="noStrike">
              <a:solidFill>
                <a:schemeClr val="dk1"/>
              </a:solidFill>
              <a:latin typeface="Calibri"/>
              <a:ea typeface="Calibri"/>
              <a:cs typeface="Calibri"/>
              <a:sym typeface="Calibri"/>
            </a:endParaRPr>
          </a:p>
        </p:txBody>
      </p:sp>
      <p:sp>
        <p:nvSpPr>
          <p:cNvPr id="190" name="Google Shape;190;p9"/>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VOLUME, MEETINGS, TIMING</a:t>
            </a:r>
            <a:endParaRPr b="0" i="0" sz="1400" u="none" cap="none" strike="noStrike">
              <a:solidFill>
                <a:schemeClr val="dk1"/>
              </a:solidFill>
              <a:latin typeface="Calibri"/>
              <a:ea typeface="Calibri"/>
              <a:cs typeface="Calibri"/>
              <a:sym typeface="Calibri"/>
            </a:endParaRPr>
          </a:p>
        </p:txBody>
      </p:sp>
      <p:sp>
        <p:nvSpPr>
          <p:cNvPr id="191" name="Google Shape;191;p9"/>
          <p:cNvSpPr/>
          <p:nvPr/>
        </p:nvSpPr>
        <p:spPr>
          <a:xfrm>
            <a:off x="566928" y="2103120"/>
            <a:ext cx="3593592" cy="2514600"/>
          </a:xfrm>
          <a:prstGeom prst="roundRect">
            <a:avLst>
              <a:gd fmla="val 3273"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795528" y="2286000"/>
            <a:ext cx="31363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OUTREACH VOLUME</a:t>
            </a:r>
            <a:endParaRPr b="0" i="0" sz="1250" u="none" cap="none" strike="noStrike">
              <a:solidFill>
                <a:schemeClr val="dk1"/>
              </a:solidFill>
              <a:latin typeface="Calibri"/>
              <a:ea typeface="Calibri"/>
              <a:cs typeface="Calibri"/>
              <a:sym typeface="Calibri"/>
            </a:endParaRPr>
          </a:p>
        </p:txBody>
      </p:sp>
      <p:sp>
        <p:nvSpPr>
          <p:cNvPr id="193" name="Google Shape;193;p9"/>
          <p:cNvSpPr/>
          <p:nvPr/>
        </p:nvSpPr>
        <p:spPr>
          <a:xfrm>
            <a:off x="795528" y="2560320"/>
            <a:ext cx="313639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lang="en-US" sz="4400">
                <a:solidFill>
                  <a:srgbClr val="FFFFFF"/>
                </a:solidFill>
              </a:rPr>
              <a:t>4,8</a:t>
            </a:r>
            <a:r>
              <a:rPr b="1" i="0" lang="en-US" sz="4400" u="none" cap="none" strike="noStrike">
                <a:solidFill>
                  <a:srgbClr val="FFFFFF"/>
                </a:solidFill>
                <a:latin typeface="Arial"/>
                <a:ea typeface="Arial"/>
                <a:cs typeface="Arial"/>
                <a:sym typeface="Arial"/>
              </a:rPr>
              <a:t>00+</a:t>
            </a:r>
            <a:endParaRPr b="0" i="0" sz="4400" u="none" cap="none" strike="noStrike">
              <a:solidFill>
                <a:schemeClr val="dk1"/>
              </a:solidFill>
              <a:latin typeface="Calibri"/>
              <a:ea typeface="Calibri"/>
              <a:cs typeface="Calibri"/>
              <a:sym typeface="Calibri"/>
            </a:endParaRPr>
          </a:p>
        </p:txBody>
      </p:sp>
      <p:sp>
        <p:nvSpPr>
          <p:cNvPr id="194" name="Google Shape;194;p9"/>
          <p:cNvSpPr/>
          <p:nvPr/>
        </p:nvSpPr>
        <p:spPr>
          <a:xfrm>
            <a:off x="795528" y="3255264"/>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DC"/>
              </a:buClr>
              <a:buSzPts val="1100"/>
              <a:buFont typeface="Arial"/>
              <a:buNone/>
            </a:pPr>
            <a:r>
              <a:rPr b="0" i="0" lang="en-US" sz="1100" u="none" cap="none" strike="noStrike">
                <a:solidFill>
                  <a:srgbClr val="B9BEDC"/>
                </a:solidFill>
                <a:latin typeface="Arial"/>
                <a:ea typeface="Arial"/>
                <a:cs typeface="Arial"/>
                <a:sym typeface="Arial"/>
              </a:rPr>
              <a:t>LinkedIn touches / month, three profiles</a:t>
            </a:r>
            <a:endParaRPr b="0" i="0" sz="1100" u="none" cap="none" strike="noStrike">
              <a:solidFill>
                <a:schemeClr val="dk1"/>
              </a:solidFill>
              <a:latin typeface="Calibri"/>
              <a:ea typeface="Calibri"/>
              <a:cs typeface="Calibri"/>
              <a:sym typeface="Calibri"/>
            </a:endParaRPr>
          </a:p>
        </p:txBody>
      </p:sp>
      <p:sp>
        <p:nvSpPr>
          <p:cNvPr id="195" name="Google Shape;195;p9"/>
          <p:cNvSpPr/>
          <p:nvPr/>
        </p:nvSpPr>
        <p:spPr>
          <a:xfrm>
            <a:off x="795528" y="3566160"/>
            <a:ext cx="3136392" cy="8686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We aim to send 600–800 InMails and 600–800 connection invites per profile every month from Brian’s, Maria’s and Rain’s accounts, once warmed up. Every touch scored and hand-reviewed first.</a:t>
            </a:r>
            <a:endParaRPr b="0" i="0" sz="1050" u="none" cap="none" strike="noStrike">
              <a:solidFill>
                <a:schemeClr val="dk1"/>
              </a:solidFill>
              <a:latin typeface="Calibri"/>
              <a:ea typeface="Calibri"/>
              <a:cs typeface="Calibri"/>
              <a:sym typeface="Calibri"/>
            </a:endParaRPr>
          </a:p>
        </p:txBody>
      </p:sp>
      <p:sp>
        <p:nvSpPr>
          <p:cNvPr id="196" name="Google Shape;196;p9"/>
          <p:cNvSpPr/>
          <p:nvPr/>
        </p:nvSpPr>
        <p:spPr>
          <a:xfrm>
            <a:off x="4434840" y="2103120"/>
            <a:ext cx="3593592" cy="2514600"/>
          </a:xfrm>
          <a:prstGeom prst="roundRect">
            <a:avLst>
              <a:gd fmla="val 3273"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4663440" y="2286000"/>
            <a:ext cx="31363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QUALIFIED MEETINGS</a:t>
            </a:r>
            <a:endParaRPr b="0" i="0" sz="1250" u="none" cap="none" strike="noStrike">
              <a:solidFill>
                <a:schemeClr val="dk1"/>
              </a:solidFill>
              <a:latin typeface="Calibri"/>
              <a:ea typeface="Calibri"/>
              <a:cs typeface="Calibri"/>
              <a:sym typeface="Calibri"/>
            </a:endParaRPr>
          </a:p>
        </p:txBody>
      </p:sp>
      <p:sp>
        <p:nvSpPr>
          <p:cNvPr id="198" name="Google Shape;198;p9"/>
          <p:cNvSpPr/>
          <p:nvPr/>
        </p:nvSpPr>
        <p:spPr>
          <a:xfrm>
            <a:off x="4663440" y="2560320"/>
            <a:ext cx="313639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3–6</a:t>
            </a:r>
            <a:endParaRPr b="0" i="0" sz="4400" u="none" cap="none" strike="noStrike">
              <a:solidFill>
                <a:schemeClr val="dk1"/>
              </a:solidFill>
              <a:latin typeface="Calibri"/>
              <a:ea typeface="Calibri"/>
              <a:cs typeface="Calibri"/>
              <a:sym typeface="Calibri"/>
            </a:endParaRPr>
          </a:p>
        </p:txBody>
      </p:sp>
      <p:sp>
        <p:nvSpPr>
          <p:cNvPr id="199" name="Google Shape;199;p9"/>
          <p:cNvSpPr/>
          <p:nvPr/>
        </p:nvSpPr>
        <p:spPr>
          <a:xfrm>
            <a:off x="4663440" y="3255264"/>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DC"/>
              </a:buClr>
              <a:buSzPts val="1100"/>
              <a:buFont typeface="Arial"/>
              <a:buNone/>
            </a:pPr>
            <a:r>
              <a:rPr b="0" i="0" lang="en-US" sz="1100" u="none" cap="none" strike="noStrike">
                <a:solidFill>
                  <a:srgbClr val="B9BEDC"/>
                </a:solidFill>
                <a:latin typeface="Arial"/>
                <a:ea typeface="Arial"/>
                <a:cs typeface="Arial"/>
                <a:sym typeface="Arial"/>
              </a:rPr>
              <a:t>per week at steady state (month 2 onward)</a:t>
            </a:r>
            <a:endParaRPr b="0" i="0" sz="1100" u="none" cap="none" strike="noStrike">
              <a:solidFill>
                <a:schemeClr val="dk1"/>
              </a:solidFill>
              <a:latin typeface="Calibri"/>
              <a:ea typeface="Calibri"/>
              <a:cs typeface="Calibri"/>
              <a:sym typeface="Calibri"/>
            </a:endParaRPr>
          </a:p>
        </p:txBody>
      </p:sp>
      <p:sp>
        <p:nvSpPr>
          <p:cNvPr id="200" name="Google Shape;200;p9"/>
          <p:cNvSpPr/>
          <p:nvPr/>
        </p:nvSpPr>
        <p:spPr>
          <a:xfrm>
            <a:off x="4663440" y="3566160"/>
            <a:ext cx="3136392" cy="8686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Conservatively 1–2 per profile per week once calibrated, screened against your $250K minimum. Not a guarantee, but the range we deliver consistently.</a:t>
            </a:r>
            <a:endParaRPr b="0" i="0" sz="1050" u="none" cap="none" strike="noStrike">
              <a:solidFill>
                <a:schemeClr val="dk1"/>
              </a:solidFill>
              <a:latin typeface="Calibri"/>
              <a:ea typeface="Calibri"/>
              <a:cs typeface="Calibri"/>
              <a:sym typeface="Calibri"/>
            </a:endParaRPr>
          </a:p>
        </p:txBody>
      </p:sp>
      <p:sp>
        <p:nvSpPr>
          <p:cNvPr id="201" name="Google Shape;201;p9"/>
          <p:cNvSpPr/>
          <p:nvPr/>
        </p:nvSpPr>
        <p:spPr>
          <a:xfrm>
            <a:off x="8302752" y="2103120"/>
            <a:ext cx="3593592" cy="2514600"/>
          </a:xfrm>
          <a:prstGeom prst="roundRect">
            <a:avLst>
              <a:gd fmla="val 3273"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8531352" y="2286000"/>
            <a:ext cx="31363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TIME TO FIRST MEETINGS</a:t>
            </a:r>
            <a:endParaRPr b="0" i="0" sz="1250" u="none" cap="none" strike="noStrike">
              <a:solidFill>
                <a:schemeClr val="dk1"/>
              </a:solidFill>
              <a:latin typeface="Calibri"/>
              <a:ea typeface="Calibri"/>
              <a:cs typeface="Calibri"/>
              <a:sym typeface="Calibri"/>
            </a:endParaRPr>
          </a:p>
        </p:txBody>
      </p:sp>
      <p:sp>
        <p:nvSpPr>
          <p:cNvPr id="203" name="Google Shape;203;p9"/>
          <p:cNvSpPr/>
          <p:nvPr/>
        </p:nvSpPr>
        <p:spPr>
          <a:xfrm>
            <a:off x="8531352" y="2560320"/>
            <a:ext cx="313639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3–4</a:t>
            </a:r>
            <a:endParaRPr b="0" i="0" sz="4400" u="none" cap="none" strike="noStrike">
              <a:solidFill>
                <a:schemeClr val="dk1"/>
              </a:solidFill>
              <a:latin typeface="Calibri"/>
              <a:ea typeface="Calibri"/>
              <a:cs typeface="Calibri"/>
              <a:sym typeface="Calibri"/>
            </a:endParaRPr>
          </a:p>
        </p:txBody>
      </p:sp>
      <p:sp>
        <p:nvSpPr>
          <p:cNvPr id="204" name="Google Shape;204;p9"/>
          <p:cNvSpPr/>
          <p:nvPr/>
        </p:nvSpPr>
        <p:spPr>
          <a:xfrm>
            <a:off x="8531352" y="3255264"/>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DC"/>
              </a:buClr>
              <a:buSzPts val="1100"/>
              <a:buFont typeface="Arial"/>
              <a:buNone/>
            </a:pPr>
            <a:r>
              <a:rPr b="0" i="0" lang="en-US" sz="1100" u="none" cap="none" strike="noStrike">
                <a:solidFill>
                  <a:srgbClr val="B9BEDC"/>
                </a:solidFill>
                <a:latin typeface="Arial"/>
                <a:ea typeface="Arial"/>
                <a:cs typeface="Arial"/>
                <a:sym typeface="Arial"/>
              </a:rPr>
              <a:t>weeks from kickoff to first booked calls</a:t>
            </a:r>
            <a:endParaRPr b="0" i="0" sz="1100" u="none" cap="none" strike="noStrike">
              <a:solidFill>
                <a:schemeClr val="dk1"/>
              </a:solidFill>
              <a:latin typeface="Calibri"/>
              <a:ea typeface="Calibri"/>
              <a:cs typeface="Calibri"/>
              <a:sym typeface="Calibri"/>
            </a:endParaRPr>
          </a:p>
        </p:txBody>
      </p:sp>
      <p:sp>
        <p:nvSpPr>
          <p:cNvPr id="205" name="Google Shape;205;p9"/>
          <p:cNvSpPr/>
          <p:nvPr/>
        </p:nvSpPr>
        <p:spPr>
          <a:xfrm>
            <a:off x="8531352" y="3566160"/>
            <a:ext cx="3136392" cy="8686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Weeks one and two are setup: ICP, audiences, scripts, profile warm-up. Live outreach starts in week three, and the first replies and bookings follow within days.</a:t>
            </a:r>
            <a:endParaRPr b="0" i="0" sz="1050" u="none" cap="none" strike="noStrike">
              <a:solidFill>
                <a:schemeClr val="dk1"/>
              </a:solidFill>
              <a:latin typeface="Calibri"/>
              <a:ea typeface="Calibri"/>
              <a:cs typeface="Calibri"/>
              <a:sym typeface="Calibri"/>
            </a:endParaRPr>
          </a:p>
        </p:txBody>
      </p:sp>
      <p:sp>
        <p:nvSpPr>
          <p:cNvPr id="206" name="Google Shape;206;p9"/>
          <p:cNvSpPr/>
          <p:nvPr/>
        </p:nvSpPr>
        <p:spPr>
          <a:xfrm>
            <a:off x="566928" y="4846320"/>
            <a:ext cx="11338560" cy="1463040"/>
          </a:xfrm>
          <a:prstGeom prst="roundRect">
            <a:avLst>
              <a:gd fmla="val 5625"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795528" y="5010912"/>
            <a:ext cx="10881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200"/>
              <a:buFont typeface="Arial"/>
              <a:buNone/>
            </a:pPr>
            <a:r>
              <a:rPr b="1" i="0" lang="en-US" sz="1200" u="none" cap="none" strike="noStrike">
                <a:solidFill>
                  <a:srgbClr val="7C6CFF"/>
                </a:solidFill>
                <a:latin typeface="Arial"/>
                <a:ea typeface="Arial"/>
                <a:cs typeface="Arial"/>
                <a:sym typeface="Arial"/>
              </a:rPr>
              <a:t>WHAT “QUALIFIED” MEANS, AND THE HONEST TIMELINE</a:t>
            </a:r>
            <a:endParaRPr b="0" i="0" sz="1200" u="none" cap="none" strike="noStrike">
              <a:solidFill>
                <a:schemeClr val="dk1"/>
              </a:solidFill>
              <a:latin typeface="Calibri"/>
              <a:ea typeface="Calibri"/>
              <a:cs typeface="Calibri"/>
              <a:sym typeface="Calibri"/>
            </a:endParaRPr>
          </a:p>
        </p:txBody>
      </p:sp>
      <p:sp>
        <p:nvSpPr>
          <p:cNvPr id="208" name="Google Shape;208;p9"/>
          <p:cNvSpPr/>
          <p:nvPr/>
        </p:nvSpPr>
        <p:spPr>
          <a:xfrm>
            <a:off x="795528" y="5321808"/>
            <a:ext cx="10881360" cy="8686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150"/>
              <a:buFont typeface="Arial"/>
              <a:buNone/>
            </a:pPr>
            <a:r>
              <a:rPr b="0" i="0" lang="en-US" sz="1150" u="none" cap="none" strike="noStrike">
                <a:solidFill>
                  <a:srgbClr val="FFFFFF"/>
                </a:solidFill>
                <a:latin typeface="Arial"/>
                <a:ea typeface="Arial"/>
                <a:cs typeface="Arial"/>
                <a:sym typeface="Arial"/>
              </a:rPr>
              <a:t>A qualified meeting is a high-net-worth individual, fund or family office with a verified history of similar investments, who passed scoring and human review, completed the self-qualification form on booking, and whose briefing you approved. Pre-revenue raises historically take 6–12 months from first outreach to capital in the bank. We’ll have the right investors on your calendars quickly; the close depends on your process and their diligence, and we’d rather you hear that from us now.</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 name="Shape 212"/>
        <p:cNvGrpSpPr/>
        <p:nvPr/>
      </p:nvGrpSpPr>
      <p:grpSpPr>
        <a:xfrm>
          <a:off x="0" y="0"/>
          <a:ext cx="0" cy="0"/>
          <a:chOff x="0" y="0"/>
          <a:chExt cx="0" cy="0"/>
        </a:xfrm>
      </p:grpSpPr>
      <p:pic>
        <p:nvPicPr>
          <p:cNvPr descr="/home/claude/brand/clean/logo_header.png" id="213" name="Google Shape;213;p10"/>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214" name="Google Shape;214;p10"/>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215" name="Google Shape;215;p10"/>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Your First 90 Days</a:t>
            </a:r>
            <a:endParaRPr b="0" i="0" sz="3800" u="none" cap="none" strike="noStrike">
              <a:solidFill>
                <a:schemeClr val="dk1"/>
              </a:solidFill>
              <a:latin typeface="Calibri"/>
              <a:ea typeface="Calibri"/>
              <a:cs typeface="Calibri"/>
              <a:sym typeface="Calibri"/>
            </a:endParaRPr>
          </a:p>
        </p:txBody>
      </p:sp>
      <p:sp>
        <p:nvSpPr>
          <p:cNvPr id="216" name="Google Shape;216;p10"/>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WHAT HAPPENS, AND WHEN</a:t>
            </a:r>
            <a:endParaRPr b="0" i="0" sz="1400" u="none" cap="none" strike="noStrike">
              <a:solidFill>
                <a:schemeClr val="dk1"/>
              </a:solidFill>
              <a:latin typeface="Calibri"/>
              <a:ea typeface="Calibri"/>
              <a:cs typeface="Calibri"/>
              <a:sym typeface="Calibri"/>
            </a:endParaRPr>
          </a:p>
        </p:txBody>
      </p:sp>
      <p:sp>
        <p:nvSpPr>
          <p:cNvPr id="217" name="Google Shape;217;p10"/>
          <p:cNvSpPr/>
          <p:nvPr/>
        </p:nvSpPr>
        <p:spPr>
          <a:xfrm>
            <a:off x="566928" y="2148840"/>
            <a:ext cx="2724912" cy="2642616"/>
          </a:xfrm>
          <a:prstGeom prst="roundRect">
            <a:avLst>
              <a:gd fmla="val 3114"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768096" y="2350008"/>
            <a:ext cx="23225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00"/>
              <a:buFont typeface="Arial"/>
              <a:buNone/>
            </a:pPr>
            <a:r>
              <a:rPr b="1" i="0" lang="en-US" sz="1200" u="none" cap="none" strike="noStrike">
                <a:solidFill>
                  <a:srgbClr val="43D5FF"/>
                </a:solidFill>
                <a:latin typeface="Arial"/>
                <a:ea typeface="Arial"/>
                <a:cs typeface="Arial"/>
                <a:sym typeface="Arial"/>
              </a:rPr>
              <a:t>WEEKS 1-2  ·  LATE OCT</a:t>
            </a:r>
            <a:endParaRPr b="0" i="0" sz="1200" u="none" cap="none" strike="noStrike">
              <a:solidFill>
                <a:schemeClr val="dk1"/>
              </a:solidFill>
              <a:latin typeface="Calibri"/>
              <a:ea typeface="Calibri"/>
              <a:cs typeface="Calibri"/>
              <a:sym typeface="Calibri"/>
            </a:endParaRPr>
          </a:p>
        </p:txBody>
      </p:sp>
      <p:sp>
        <p:nvSpPr>
          <p:cNvPr id="219" name="Google Shape;219;p10"/>
          <p:cNvSpPr/>
          <p:nvPr/>
        </p:nvSpPr>
        <p:spPr>
          <a:xfrm>
            <a:off x="768096" y="2660904"/>
            <a:ext cx="232257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Setup &amp; Calibration</a:t>
            </a:r>
            <a:endParaRPr b="0" i="0" sz="1600" u="none" cap="none" strike="noStrike">
              <a:solidFill>
                <a:schemeClr val="dk1"/>
              </a:solidFill>
              <a:latin typeface="Calibri"/>
              <a:ea typeface="Calibri"/>
              <a:cs typeface="Calibri"/>
              <a:sym typeface="Calibri"/>
            </a:endParaRPr>
          </a:p>
        </p:txBody>
      </p:sp>
      <p:sp>
        <p:nvSpPr>
          <p:cNvPr id="220" name="Google Shape;220;p10"/>
          <p:cNvSpPr/>
          <p:nvPr/>
        </p:nvSpPr>
        <p:spPr>
          <a:xfrm>
            <a:off x="768096" y="3337560"/>
            <a:ext cx="2359152" cy="1225296"/>
          </a:xfrm>
          <a:prstGeom prst="rect">
            <a:avLst/>
          </a:prstGeom>
          <a:noFill/>
          <a:ln>
            <a:noFill/>
          </a:ln>
        </p:spPr>
        <p:txBody>
          <a:bodyPr anchorCtr="0" anchor="t" bIns="0" lIns="0" spcFirstLastPara="1" rIns="0" wrap="square" tIns="0">
            <a:noAutofit/>
          </a:bodyPr>
          <a:lstStyle/>
          <a:p>
            <a:pPr indent="-127000" lvl="0" marL="127000" marR="0" rtl="0" algn="l">
              <a:lnSpc>
                <a:spcPct val="110000"/>
              </a:lnSpc>
              <a:spcBef>
                <a:spcPts val="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Interviews: Brian, Maria, Rain</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ICP built around $250K+ checks</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Rain’s profile built up and warmed</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Scripts approved in your voice</a:t>
            </a:r>
            <a:endParaRPr b="0" i="0" sz="1150" u="none" cap="none" strike="noStrike">
              <a:solidFill>
                <a:schemeClr val="dk1"/>
              </a:solidFill>
              <a:latin typeface="Calibri"/>
              <a:ea typeface="Calibri"/>
              <a:cs typeface="Calibri"/>
              <a:sym typeface="Calibri"/>
            </a:endParaRPr>
          </a:p>
        </p:txBody>
      </p:sp>
      <p:sp>
        <p:nvSpPr>
          <p:cNvPr id="221" name="Google Shape;221;p10"/>
          <p:cNvSpPr/>
          <p:nvPr/>
        </p:nvSpPr>
        <p:spPr>
          <a:xfrm>
            <a:off x="3447288" y="2148840"/>
            <a:ext cx="2724912" cy="2642616"/>
          </a:xfrm>
          <a:prstGeom prst="roundRect">
            <a:avLst>
              <a:gd fmla="val 3114"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3648456" y="2350008"/>
            <a:ext cx="23225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00"/>
              <a:buFont typeface="Arial"/>
              <a:buNone/>
            </a:pPr>
            <a:r>
              <a:rPr b="1" i="0" lang="en-US" sz="1200" u="none" cap="none" strike="noStrike">
                <a:solidFill>
                  <a:srgbClr val="43D5FF"/>
                </a:solidFill>
                <a:latin typeface="Arial"/>
                <a:ea typeface="Arial"/>
                <a:cs typeface="Arial"/>
                <a:sym typeface="Arial"/>
              </a:rPr>
              <a:t>WEEKS 3-4  ·  MID NOV</a:t>
            </a:r>
            <a:endParaRPr b="0" i="0" sz="1200" u="none" cap="none" strike="noStrike">
              <a:solidFill>
                <a:schemeClr val="dk1"/>
              </a:solidFill>
              <a:latin typeface="Calibri"/>
              <a:ea typeface="Calibri"/>
              <a:cs typeface="Calibri"/>
              <a:sym typeface="Calibri"/>
            </a:endParaRPr>
          </a:p>
        </p:txBody>
      </p:sp>
      <p:sp>
        <p:nvSpPr>
          <p:cNvPr id="223" name="Google Shape;223;p10"/>
          <p:cNvSpPr/>
          <p:nvPr/>
        </p:nvSpPr>
        <p:spPr>
          <a:xfrm>
            <a:off x="3648456" y="2660904"/>
            <a:ext cx="232257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First Live Outreach</a:t>
            </a:r>
            <a:endParaRPr b="0" i="0" sz="1600" u="none" cap="none" strike="noStrike">
              <a:solidFill>
                <a:schemeClr val="dk1"/>
              </a:solidFill>
              <a:latin typeface="Calibri"/>
              <a:ea typeface="Calibri"/>
              <a:cs typeface="Calibri"/>
              <a:sym typeface="Calibri"/>
            </a:endParaRPr>
          </a:p>
        </p:txBody>
      </p:sp>
      <p:sp>
        <p:nvSpPr>
          <p:cNvPr id="224" name="Google Shape;224;p10"/>
          <p:cNvSpPr/>
          <p:nvPr/>
        </p:nvSpPr>
        <p:spPr>
          <a:xfrm>
            <a:off x="3648456" y="3337560"/>
            <a:ext cx="2359152" cy="1225296"/>
          </a:xfrm>
          <a:prstGeom prst="rect">
            <a:avLst/>
          </a:prstGeom>
          <a:noFill/>
          <a:ln>
            <a:noFill/>
          </a:ln>
        </p:spPr>
        <p:txBody>
          <a:bodyPr anchorCtr="0" anchor="t" bIns="0" lIns="0" spcFirstLastPara="1" rIns="0" wrap="square" tIns="0">
            <a:noAutofit/>
          </a:bodyPr>
          <a:lstStyle/>
          <a:p>
            <a:pPr indent="-127000" lvl="0" marL="127000" marR="0" rtl="0" algn="l">
              <a:lnSpc>
                <a:spcPct val="110000"/>
              </a:lnSpc>
              <a:spcBef>
                <a:spcPts val="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Live on all three profiles</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First replies, first booked meetings</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A/B tests on openers per profile</a:t>
            </a:r>
            <a:endParaRPr b="0" i="0" sz="1150" u="none" cap="none" strike="noStrike">
              <a:solidFill>
                <a:schemeClr val="dk1"/>
              </a:solidFill>
              <a:latin typeface="Calibri"/>
              <a:ea typeface="Calibri"/>
              <a:cs typeface="Calibri"/>
              <a:sym typeface="Calibri"/>
            </a:endParaRPr>
          </a:p>
        </p:txBody>
      </p:sp>
      <p:sp>
        <p:nvSpPr>
          <p:cNvPr id="225" name="Google Shape;225;p10"/>
          <p:cNvSpPr/>
          <p:nvPr/>
        </p:nvSpPr>
        <p:spPr>
          <a:xfrm>
            <a:off x="6327648" y="2148840"/>
            <a:ext cx="2724912" cy="2642616"/>
          </a:xfrm>
          <a:prstGeom prst="roundRect">
            <a:avLst>
              <a:gd fmla="val 3114"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6528816" y="2350008"/>
            <a:ext cx="23225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00"/>
              <a:buFont typeface="Arial"/>
              <a:buNone/>
            </a:pPr>
            <a:r>
              <a:rPr b="1" i="0" lang="en-US" sz="1200" u="none" cap="none" strike="noStrike">
                <a:solidFill>
                  <a:srgbClr val="43D5FF"/>
                </a:solidFill>
                <a:latin typeface="Arial"/>
                <a:ea typeface="Arial"/>
                <a:cs typeface="Arial"/>
                <a:sym typeface="Arial"/>
              </a:rPr>
              <a:t>MONTH 2  ·  DECEMBER</a:t>
            </a:r>
            <a:endParaRPr b="0" i="0" sz="1200" u="none" cap="none" strike="noStrike">
              <a:solidFill>
                <a:schemeClr val="dk1"/>
              </a:solidFill>
              <a:latin typeface="Calibri"/>
              <a:ea typeface="Calibri"/>
              <a:cs typeface="Calibri"/>
              <a:sym typeface="Calibri"/>
            </a:endParaRPr>
          </a:p>
        </p:txBody>
      </p:sp>
      <p:sp>
        <p:nvSpPr>
          <p:cNvPr id="227" name="Google Shape;227;p10"/>
          <p:cNvSpPr/>
          <p:nvPr/>
        </p:nvSpPr>
        <p:spPr>
          <a:xfrm>
            <a:off x="6528816" y="2660904"/>
            <a:ext cx="232257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Steady Flow</a:t>
            </a:r>
            <a:endParaRPr b="0" i="0" sz="1600" u="none" cap="none" strike="noStrike">
              <a:solidFill>
                <a:schemeClr val="dk1"/>
              </a:solidFill>
              <a:latin typeface="Calibri"/>
              <a:ea typeface="Calibri"/>
              <a:cs typeface="Calibri"/>
              <a:sym typeface="Calibri"/>
            </a:endParaRPr>
          </a:p>
        </p:txBody>
      </p:sp>
      <p:sp>
        <p:nvSpPr>
          <p:cNvPr id="228" name="Google Shape;228;p10"/>
          <p:cNvSpPr/>
          <p:nvPr/>
        </p:nvSpPr>
        <p:spPr>
          <a:xfrm>
            <a:off x="6528816" y="3337560"/>
            <a:ext cx="2359152" cy="1225296"/>
          </a:xfrm>
          <a:prstGeom prst="rect">
            <a:avLst/>
          </a:prstGeom>
          <a:noFill/>
          <a:ln>
            <a:noFill/>
          </a:ln>
        </p:spPr>
        <p:txBody>
          <a:bodyPr anchorCtr="0" anchor="t" bIns="0" lIns="0" spcFirstLastPara="1" rIns="0" wrap="square" tIns="0">
            <a:noAutofit/>
          </a:bodyPr>
          <a:lstStyle/>
          <a:p>
            <a:pPr indent="-127000" lvl="0" marL="127000" marR="0" rtl="0" algn="l">
              <a:lnSpc>
                <a:spcPct val="110000"/>
              </a:lnSpc>
              <a:spcBef>
                <a:spcPts val="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Steady weekly flow of $250K+ investors</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Targeting tightened on real replies</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Segment reporting: what converts</a:t>
            </a:r>
            <a:endParaRPr b="0" i="0" sz="1150" u="none" cap="none" strike="noStrike">
              <a:solidFill>
                <a:schemeClr val="dk1"/>
              </a:solidFill>
              <a:latin typeface="Calibri"/>
              <a:ea typeface="Calibri"/>
              <a:cs typeface="Calibri"/>
              <a:sym typeface="Calibri"/>
            </a:endParaRPr>
          </a:p>
        </p:txBody>
      </p:sp>
      <p:sp>
        <p:nvSpPr>
          <p:cNvPr id="229" name="Google Shape;229;p10"/>
          <p:cNvSpPr/>
          <p:nvPr/>
        </p:nvSpPr>
        <p:spPr>
          <a:xfrm>
            <a:off x="9208008" y="2148840"/>
            <a:ext cx="2724912" cy="2642616"/>
          </a:xfrm>
          <a:prstGeom prst="roundRect">
            <a:avLst>
              <a:gd fmla="val 3114"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9409176" y="2350008"/>
            <a:ext cx="23225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00"/>
              <a:buFont typeface="Arial"/>
              <a:buNone/>
            </a:pPr>
            <a:r>
              <a:rPr b="1" i="0" lang="en-US" sz="1200" u="none" cap="none" strike="noStrike">
                <a:solidFill>
                  <a:srgbClr val="43D5FF"/>
                </a:solidFill>
                <a:latin typeface="Arial"/>
                <a:ea typeface="Arial"/>
                <a:cs typeface="Arial"/>
                <a:sym typeface="Arial"/>
              </a:rPr>
              <a:t>MONTH 3  ·  JANUARY</a:t>
            </a:r>
            <a:endParaRPr b="0" i="0" sz="1200" u="none" cap="none" strike="noStrike">
              <a:solidFill>
                <a:schemeClr val="dk1"/>
              </a:solidFill>
              <a:latin typeface="Calibri"/>
              <a:ea typeface="Calibri"/>
              <a:cs typeface="Calibri"/>
              <a:sym typeface="Calibri"/>
            </a:endParaRPr>
          </a:p>
        </p:txBody>
      </p:sp>
      <p:sp>
        <p:nvSpPr>
          <p:cNvPr id="231" name="Google Shape;231;p10"/>
          <p:cNvSpPr/>
          <p:nvPr/>
        </p:nvSpPr>
        <p:spPr>
          <a:xfrm>
            <a:off x="9409176" y="2660904"/>
            <a:ext cx="232257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Prove-Out</a:t>
            </a:r>
            <a:endParaRPr b="0" i="0" sz="1600" u="none" cap="none" strike="noStrike">
              <a:solidFill>
                <a:schemeClr val="dk1"/>
              </a:solidFill>
              <a:latin typeface="Calibri"/>
              <a:ea typeface="Calibri"/>
              <a:cs typeface="Calibri"/>
              <a:sym typeface="Calibri"/>
            </a:endParaRPr>
          </a:p>
        </p:txBody>
      </p:sp>
      <p:sp>
        <p:nvSpPr>
          <p:cNvPr id="232" name="Google Shape;232;p10"/>
          <p:cNvSpPr/>
          <p:nvPr/>
        </p:nvSpPr>
        <p:spPr>
          <a:xfrm>
            <a:off x="9409176" y="3337560"/>
            <a:ext cx="2359152" cy="1225296"/>
          </a:xfrm>
          <a:prstGeom prst="rect">
            <a:avLst/>
          </a:prstGeom>
          <a:noFill/>
          <a:ln>
            <a:noFill/>
          </a:ln>
        </p:spPr>
        <p:txBody>
          <a:bodyPr anchorCtr="0" anchor="t" bIns="0" lIns="0" spcFirstLastPara="1" rIns="0" wrap="square" tIns="0">
            <a:noAutofit/>
          </a:bodyPr>
          <a:lstStyle/>
          <a:p>
            <a:pPr indent="-127000" lvl="0" marL="127000" marR="0" rtl="0" algn="l">
              <a:lnSpc>
                <a:spcPct val="110000"/>
              </a:lnSpc>
              <a:spcBef>
                <a:spcPts val="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Three months of data reviewed</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Volume weighted to best segments</a:t>
            </a:r>
            <a:endParaRPr b="0" i="0" sz="1150" u="none" cap="none" strike="noStrike">
              <a:solidFill>
                <a:schemeClr val="dk1"/>
              </a:solidFill>
              <a:latin typeface="Calibri"/>
              <a:ea typeface="Calibri"/>
              <a:cs typeface="Calibri"/>
              <a:sym typeface="Calibri"/>
            </a:endParaRPr>
          </a:p>
          <a:p>
            <a:pPr indent="-127000" lvl="0" marL="127000" marR="0" rtl="0" algn="l">
              <a:lnSpc>
                <a:spcPct val="110000"/>
              </a:lnSpc>
              <a:spcBef>
                <a:spcPts val="8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Month four planned around launch</a:t>
            </a:r>
            <a:endParaRPr b="0" i="0" sz="1150" u="none" cap="none" strike="noStrike">
              <a:solidFill>
                <a:schemeClr val="dk1"/>
              </a:solidFill>
              <a:latin typeface="Calibri"/>
              <a:ea typeface="Calibri"/>
              <a:cs typeface="Calibri"/>
              <a:sym typeface="Calibri"/>
            </a:endParaRPr>
          </a:p>
        </p:txBody>
      </p:sp>
      <p:sp>
        <p:nvSpPr>
          <p:cNvPr id="233" name="Google Shape;233;p10"/>
          <p:cNvSpPr/>
          <p:nvPr/>
        </p:nvSpPr>
        <p:spPr>
          <a:xfrm>
            <a:off x="566928" y="5029200"/>
            <a:ext cx="11338560" cy="1325880"/>
          </a:xfrm>
          <a:prstGeom prst="roundRect">
            <a:avLst>
              <a:gd fmla="val 4865"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795528" y="5175504"/>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400"/>
              <a:buFont typeface="Arial"/>
              <a:buNone/>
            </a:pPr>
            <a:r>
              <a:rPr b="1" i="0" lang="en-US" sz="1400" u="none" cap="none" strike="noStrike">
                <a:solidFill>
                  <a:srgbClr val="7C6CFF"/>
                </a:solidFill>
                <a:latin typeface="Arial"/>
                <a:ea typeface="Arial"/>
                <a:cs typeface="Arial"/>
                <a:sym typeface="Arial"/>
              </a:rPr>
              <a:t>MONTH FOUR  ·  FEBRUARY</a:t>
            </a:r>
            <a:endParaRPr b="0" i="0" sz="1400" u="none" cap="none" strike="noStrike">
              <a:solidFill>
                <a:schemeClr val="dk1"/>
              </a:solidFill>
              <a:latin typeface="Calibri"/>
              <a:ea typeface="Calibri"/>
              <a:cs typeface="Calibri"/>
              <a:sym typeface="Calibri"/>
            </a:endParaRPr>
          </a:p>
        </p:txBody>
      </p:sp>
      <p:sp>
        <p:nvSpPr>
          <p:cNvPr id="235" name="Google Shape;235;p10"/>
          <p:cNvSpPr/>
          <p:nvPr/>
        </p:nvSpPr>
        <p:spPr>
          <a:xfrm>
            <a:off x="795528" y="5504688"/>
            <a:ext cx="10881360" cy="7772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The term runs four months, matched to the raise window we discussed. By the end of January you’ll have three months of real numbers on which segments and which profiles convert, and month four puts full volume behind them as the Q1 launch approaches. At the end of February we review together and decide, on data, whether to extend into the next round or the next brand.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pic>
        <p:nvPicPr>
          <p:cNvPr descr="/home/claude/brand/clean/logo_header.png" id="240" name="Google Shape;240;p11"/>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241" name="Google Shape;241;p11"/>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242" name="Google Shape;242;p11"/>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Pricing</a:t>
            </a:r>
            <a:endParaRPr b="0" i="0" sz="3800" u="none" cap="none" strike="noStrike">
              <a:solidFill>
                <a:schemeClr val="dk1"/>
              </a:solidFill>
              <a:latin typeface="Calibri"/>
              <a:ea typeface="Calibri"/>
              <a:cs typeface="Calibri"/>
              <a:sym typeface="Calibri"/>
            </a:endParaRPr>
          </a:p>
        </p:txBody>
      </p:sp>
      <p:sp>
        <p:nvSpPr>
          <p:cNvPr id="243" name="Google Shape;243;p11"/>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FLAT RETAINER. NO SETUP FEES, NO SUCCESS FEES, NO SURPRISES.</a:t>
            </a:r>
            <a:endParaRPr b="0" i="0" sz="1400" u="none" cap="none" strike="noStrike">
              <a:solidFill>
                <a:schemeClr val="dk1"/>
              </a:solidFill>
              <a:latin typeface="Calibri"/>
              <a:ea typeface="Calibri"/>
              <a:cs typeface="Calibri"/>
              <a:sym typeface="Calibri"/>
            </a:endParaRPr>
          </a:p>
        </p:txBody>
      </p:sp>
      <p:sp>
        <p:nvSpPr>
          <p:cNvPr id="244" name="Google Shape;244;p11"/>
          <p:cNvSpPr/>
          <p:nvPr/>
        </p:nvSpPr>
        <p:spPr>
          <a:xfrm>
            <a:off x="566928" y="2148840"/>
            <a:ext cx="5532120" cy="4114800"/>
          </a:xfrm>
          <a:prstGeom prst="roundRect">
            <a:avLst>
              <a:gd fmla="val 2000"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886968" y="2423160"/>
            <a:ext cx="4892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300"/>
              <a:buFont typeface="Arial"/>
              <a:buNone/>
            </a:pPr>
            <a:r>
              <a:rPr b="1" i="0" lang="en-US" sz="1300" u="none" cap="none" strike="noStrike">
                <a:solidFill>
                  <a:srgbClr val="43D5FF"/>
                </a:solidFill>
                <a:latin typeface="Arial"/>
                <a:ea typeface="Arial"/>
                <a:cs typeface="Arial"/>
                <a:sym typeface="Arial"/>
              </a:rPr>
              <a:t>THINKFISH FUNDRAISING  ·  DONE-FOR-YOU</a:t>
            </a:r>
            <a:endParaRPr b="0" i="0" sz="1300" u="none" cap="none" strike="noStrike">
              <a:solidFill>
                <a:schemeClr val="dk1"/>
              </a:solidFill>
              <a:latin typeface="Calibri"/>
              <a:ea typeface="Calibri"/>
              <a:cs typeface="Calibri"/>
              <a:sym typeface="Calibri"/>
            </a:endParaRPr>
          </a:p>
        </p:txBody>
      </p:sp>
      <p:sp>
        <p:nvSpPr>
          <p:cNvPr id="246" name="Google Shape;246;p11"/>
          <p:cNvSpPr/>
          <p:nvPr/>
        </p:nvSpPr>
        <p:spPr>
          <a:xfrm>
            <a:off x="886968" y="2770632"/>
            <a:ext cx="48920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Arial"/>
              <a:buNone/>
            </a:pPr>
            <a:r>
              <a:rPr b="1" i="0" lang="en-US" sz="4000" u="none" cap="none" strike="noStrike">
                <a:solidFill>
                  <a:srgbClr val="FFFFFF"/>
                </a:solidFill>
                <a:latin typeface="Arial"/>
                <a:ea typeface="Arial"/>
                <a:cs typeface="Arial"/>
                <a:sym typeface="Arial"/>
              </a:rPr>
              <a:t>$3,500</a:t>
            </a:r>
            <a:r>
              <a:rPr b="0" i="0" lang="en-US" sz="1400" u="none" cap="none" strike="noStrike">
                <a:solidFill>
                  <a:srgbClr val="B9BEDC"/>
                </a:solidFill>
                <a:latin typeface="Arial"/>
                <a:ea typeface="Arial"/>
                <a:cs typeface="Arial"/>
                <a:sym typeface="Arial"/>
              </a:rPr>
              <a:t>  / month</a:t>
            </a:r>
            <a:endParaRPr/>
          </a:p>
        </p:txBody>
      </p:sp>
      <p:sp>
        <p:nvSpPr>
          <p:cNvPr id="247" name="Google Shape;247;p11"/>
          <p:cNvSpPr/>
          <p:nvPr/>
        </p:nvSpPr>
        <p:spPr>
          <a:xfrm>
            <a:off x="886968" y="3520440"/>
            <a:ext cx="48920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DC"/>
              </a:buClr>
              <a:buSzPts val="1200"/>
              <a:buFont typeface="Arial"/>
              <a:buNone/>
            </a:pPr>
            <a:r>
              <a:rPr b="0" i="1" lang="en-US" sz="1200" u="none" cap="none" strike="noStrike">
                <a:solidFill>
                  <a:srgbClr val="B9BEDC"/>
                </a:solidFill>
                <a:latin typeface="Arial"/>
                <a:ea typeface="Arial"/>
                <a:cs typeface="Arial"/>
                <a:sym typeface="Arial"/>
              </a:rPr>
              <a:t>4-month term  ·  Three profiles  ·  Flat fee, nothing else</a:t>
            </a:r>
            <a:endParaRPr b="0" i="0" sz="1200" u="none" cap="none" strike="noStrike">
              <a:solidFill>
                <a:schemeClr val="dk1"/>
              </a:solidFill>
              <a:latin typeface="Calibri"/>
              <a:ea typeface="Calibri"/>
              <a:cs typeface="Calibri"/>
              <a:sym typeface="Calibri"/>
            </a:endParaRPr>
          </a:p>
        </p:txBody>
      </p:sp>
      <p:sp>
        <p:nvSpPr>
          <p:cNvPr id="248" name="Google Shape;248;p11"/>
          <p:cNvSpPr/>
          <p:nvPr/>
        </p:nvSpPr>
        <p:spPr>
          <a:xfrm>
            <a:off x="886968" y="3977640"/>
            <a:ext cx="4892040" cy="2057400"/>
          </a:xfrm>
          <a:prstGeom prst="rect">
            <a:avLst/>
          </a:prstGeom>
          <a:noFill/>
          <a:ln>
            <a:noFill/>
          </a:ln>
        </p:spPr>
        <p:txBody>
          <a:bodyPr anchorCtr="0" anchor="t" bIns="0" lIns="0" spcFirstLastPara="1" rIns="0" wrap="square" tIns="0">
            <a:noAutofit/>
          </a:bodyPr>
          <a:lstStyle/>
          <a:p>
            <a:pPr indent="-127000" lvl="0" marL="127000" marR="0" rtl="0" algn="l">
              <a:lnSpc>
                <a:spcPct val="112000"/>
              </a:lnSpc>
              <a:spcBef>
                <a:spcPts val="0"/>
              </a:spcBef>
              <a:spcAft>
                <a:spcPts val="0"/>
              </a:spcAft>
              <a:buClr>
                <a:srgbClr val="FFFFFF"/>
              </a:buClr>
              <a:buSzPts val="1250"/>
              <a:buFont typeface="Arial"/>
              <a:buChar char="•"/>
            </a:pPr>
            <a:r>
              <a:rPr b="0" i="0" lang="en-US" sz="1250" u="none" cap="none" strike="noStrike">
                <a:solidFill>
                  <a:srgbClr val="FFFFFF"/>
                </a:solidFill>
                <a:latin typeface="Arial"/>
                <a:ea typeface="Arial"/>
                <a:cs typeface="Arial"/>
                <a:sym typeface="Arial"/>
              </a:rPr>
              <a:t>Three LinkedIn profiles (Brian, Maria, Rain), fully managed</a:t>
            </a:r>
            <a:endParaRPr b="0" i="0" sz="1250" u="none" cap="none" strike="noStrike">
              <a:solidFill>
                <a:schemeClr val="dk1"/>
              </a:solidFill>
              <a:latin typeface="Calibri"/>
              <a:ea typeface="Calibri"/>
              <a:cs typeface="Calibri"/>
              <a:sym typeface="Calibri"/>
            </a:endParaRPr>
          </a:p>
          <a:p>
            <a:pPr indent="-127000" lvl="0" marL="127000" marR="0" rtl="0" algn="l">
              <a:lnSpc>
                <a:spcPct val="112000"/>
              </a:lnSpc>
              <a:spcBef>
                <a:spcPts val="800"/>
              </a:spcBef>
              <a:spcAft>
                <a:spcPts val="0"/>
              </a:spcAft>
              <a:buClr>
                <a:srgbClr val="FFFFFF"/>
              </a:buClr>
              <a:buSzPts val="1250"/>
              <a:buFont typeface="Arial"/>
              <a:buChar char="•"/>
            </a:pPr>
            <a:r>
              <a:rPr b="0" i="0" lang="en-US" sz="1250" u="none" cap="none" strike="noStrike">
                <a:solidFill>
                  <a:srgbClr val="FFFFFF"/>
                </a:solidFill>
                <a:latin typeface="Arial"/>
                <a:ea typeface="Arial"/>
                <a:cs typeface="Arial"/>
                <a:sym typeface="Arial"/>
              </a:rPr>
              <a:t>Full investor campaign execution, end to end</a:t>
            </a:r>
            <a:endParaRPr b="0" i="0" sz="1250" u="none" cap="none" strike="noStrike">
              <a:solidFill>
                <a:schemeClr val="dk1"/>
              </a:solidFill>
              <a:latin typeface="Calibri"/>
              <a:ea typeface="Calibri"/>
              <a:cs typeface="Calibri"/>
              <a:sym typeface="Calibri"/>
            </a:endParaRPr>
          </a:p>
          <a:p>
            <a:pPr indent="-127000" lvl="0" marL="127000" marR="0" rtl="0" algn="l">
              <a:lnSpc>
                <a:spcPct val="112000"/>
              </a:lnSpc>
              <a:spcBef>
                <a:spcPts val="800"/>
              </a:spcBef>
              <a:spcAft>
                <a:spcPts val="0"/>
              </a:spcAft>
              <a:buClr>
                <a:srgbClr val="FFFFFF"/>
              </a:buClr>
              <a:buSzPts val="1250"/>
              <a:buFont typeface="Arial"/>
              <a:buChar char="•"/>
            </a:pPr>
            <a:r>
              <a:rPr b="0" i="0" lang="en-US" sz="1250" u="none" cap="none" strike="noStrike">
                <a:solidFill>
                  <a:srgbClr val="FFFFFF"/>
                </a:solidFill>
                <a:latin typeface="Arial"/>
                <a:ea typeface="Arial"/>
                <a:cs typeface="Arial"/>
                <a:sym typeface="Arial"/>
              </a:rPr>
              <a:t>Outreach, inbox management &amp; follow-ups</a:t>
            </a:r>
            <a:endParaRPr b="0" i="0" sz="1250" u="none" cap="none" strike="noStrike">
              <a:solidFill>
                <a:schemeClr val="dk1"/>
              </a:solidFill>
              <a:latin typeface="Calibri"/>
              <a:ea typeface="Calibri"/>
              <a:cs typeface="Calibri"/>
              <a:sym typeface="Calibri"/>
            </a:endParaRPr>
          </a:p>
          <a:p>
            <a:pPr indent="-127000" lvl="0" marL="127000" marR="0" rtl="0" algn="l">
              <a:lnSpc>
                <a:spcPct val="112000"/>
              </a:lnSpc>
              <a:spcBef>
                <a:spcPts val="800"/>
              </a:spcBef>
              <a:spcAft>
                <a:spcPts val="0"/>
              </a:spcAft>
              <a:buClr>
                <a:srgbClr val="FFFFFF"/>
              </a:buClr>
              <a:buSzPts val="1250"/>
              <a:buFont typeface="Arial"/>
              <a:buChar char="•"/>
            </a:pPr>
            <a:r>
              <a:rPr b="0" i="0" lang="en-US" sz="1250" u="none" cap="none" strike="noStrike">
                <a:solidFill>
                  <a:srgbClr val="FFFFFF"/>
                </a:solidFill>
                <a:latin typeface="Arial"/>
                <a:ea typeface="Arial"/>
                <a:cs typeface="Arial"/>
                <a:sym typeface="Arial"/>
              </a:rPr>
              <a:t>Lead qualification, pre-call briefings &amp; scheduling</a:t>
            </a:r>
            <a:endParaRPr b="0" i="0" sz="1250" u="none" cap="none" strike="noStrike">
              <a:solidFill>
                <a:schemeClr val="dk1"/>
              </a:solidFill>
              <a:latin typeface="Calibri"/>
              <a:ea typeface="Calibri"/>
              <a:cs typeface="Calibri"/>
              <a:sym typeface="Calibri"/>
            </a:endParaRPr>
          </a:p>
          <a:p>
            <a:pPr indent="-127000" lvl="0" marL="127000" marR="0" rtl="0" algn="l">
              <a:lnSpc>
                <a:spcPct val="112000"/>
              </a:lnSpc>
              <a:spcBef>
                <a:spcPts val="800"/>
              </a:spcBef>
              <a:spcAft>
                <a:spcPts val="0"/>
              </a:spcAft>
              <a:buClr>
                <a:srgbClr val="FFFFFF"/>
              </a:buClr>
              <a:buSzPts val="1250"/>
              <a:buFont typeface="Arial"/>
              <a:buChar char="•"/>
            </a:pPr>
            <a:r>
              <a:rPr b="0" i="0" lang="en-US" sz="1250" u="none" cap="none" strike="noStrike">
                <a:solidFill>
                  <a:srgbClr val="FFFFFF"/>
                </a:solidFill>
                <a:latin typeface="Arial"/>
                <a:ea typeface="Arial"/>
                <a:cs typeface="Arial"/>
                <a:sym typeface="Arial"/>
              </a:rPr>
              <a:t>The Reef retargeting &amp; Startup Deal Desk feature</a:t>
            </a:r>
            <a:endParaRPr b="0" i="0" sz="1250" u="none" cap="none" strike="noStrike">
              <a:solidFill>
                <a:schemeClr val="dk1"/>
              </a:solidFill>
              <a:latin typeface="Calibri"/>
              <a:ea typeface="Calibri"/>
              <a:cs typeface="Calibri"/>
              <a:sym typeface="Calibri"/>
            </a:endParaRPr>
          </a:p>
          <a:p>
            <a:pPr indent="-127000" lvl="0" marL="127000" marR="0" rtl="0" algn="l">
              <a:lnSpc>
                <a:spcPct val="112000"/>
              </a:lnSpc>
              <a:spcBef>
                <a:spcPts val="800"/>
              </a:spcBef>
              <a:spcAft>
                <a:spcPts val="0"/>
              </a:spcAft>
              <a:buClr>
                <a:srgbClr val="FFFFFF"/>
              </a:buClr>
              <a:buSzPts val="1250"/>
              <a:buFont typeface="Arial"/>
              <a:buChar char="•"/>
            </a:pPr>
            <a:r>
              <a:rPr b="0" i="0" lang="en-US" sz="1250" u="none" cap="none" strike="noStrike">
                <a:solidFill>
                  <a:srgbClr val="FFFFFF"/>
                </a:solidFill>
                <a:latin typeface="Arial"/>
                <a:ea typeface="Arial"/>
                <a:cs typeface="Arial"/>
                <a:sym typeface="Arial"/>
              </a:rPr>
              <a:t>Profile optimization, including building up Rain’s</a:t>
            </a:r>
            <a:endParaRPr b="0" i="0" sz="1250" u="none" cap="none" strike="noStrike">
              <a:solidFill>
                <a:schemeClr val="dk1"/>
              </a:solidFill>
              <a:latin typeface="Calibri"/>
              <a:ea typeface="Calibri"/>
              <a:cs typeface="Calibri"/>
              <a:sym typeface="Calibri"/>
            </a:endParaRPr>
          </a:p>
          <a:p>
            <a:pPr indent="-127000" lvl="0" marL="127000" marR="0" rtl="0" algn="l">
              <a:lnSpc>
                <a:spcPct val="112000"/>
              </a:lnSpc>
              <a:spcBef>
                <a:spcPts val="800"/>
              </a:spcBef>
              <a:spcAft>
                <a:spcPts val="0"/>
              </a:spcAft>
              <a:buClr>
                <a:srgbClr val="FFFFFF"/>
              </a:buClr>
              <a:buSzPts val="1250"/>
              <a:buFont typeface="Arial"/>
              <a:buChar char="•"/>
            </a:pPr>
            <a:r>
              <a:rPr b="0" i="0" lang="en-US" sz="1250" u="none" cap="none" strike="noStrike">
                <a:solidFill>
                  <a:srgbClr val="FFFFFF"/>
                </a:solidFill>
                <a:latin typeface="Arial"/>
                <a:ea typeface="Arial"/>
                <a:cs typeface="Arial"/>
                <a:sym typeface="Arial"/>
              </a:rPr>
              <a:t>CRM, weekly reporting, A/B testing &amp; optimization</a:t>
            </a:r>
            <a:endParaRPr b="0" i="0" sz="1250" u="none" cap="none" strike="noStrike">
              <a:solidFill>
                <a:schemeClr val="dk1"/>
              </a:solidFill>
              <a:latin typeface="Calibri"/>
              <a:ea typeface="Calibri"/>
              <a:cs typeface="Calibri"/>
              <a:sym typeface="Calibri"/>
            </a:endParaRPr>
          </a:p>
        </p:txBody>
      </p:sp>
      <p:sp>
        <p:nvSpPr>
          <p:cNvPr id="249" name="Google Shape;249;p11"/>
          <p:cNvSpPr/>
          <p:nvPr/>
        </p:nvSpPr>
        <p:spPr>
          <a:xfrm>
            <a:off x="6373368" y="2148840"/>
            <a:ext cx="5532120" cy="4114800"/>
          </a:xfrm>
          <a:prstGeom prst="roundRect">
            <a:avLst>
              <a:gd fmla="val 2000"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6693408" y="2423160"/>
            <a:ext cx="4892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300"/>
              <a:buFont typeface="Arial"/>
              <a:buNone/>
            </a:pPr>
            <a:r>
              <a:rPr b="1" i="0" lang="en-US" sz="1300" u="none" cap="none" strike="noStrike">
                <a:solidFill>
                  <a:srgbClr val="43D5FF"/>
                </a:solidFill>
                <a:latin typeface="Arial"/>
                <a:ea typeface="Arial"/>
                <a:cs typeface="Arial"/>
                <a:sym typeface="Arial"/>
              </a:rPr>
              <a:t>WHAT THAT BUYS</a:t>
            </a:r>
            <a:endParaRPr b="0" i="0" sz="1300" u="none" cap="none" strike="noStrike">
              <a:solidFill>
                <a:schemeClr val="dk1"/>
              </a:solidFill>
              <a:latin typeface="Calibri"/>
              <a:ea typeface="Calibri"/>
              <a:cs typeface="Calibri"/>
              <a:sym typeface="Calibri"/>
            </a:endParaRPr>
          </a:p>
        </p:txBody>
      </p:sp>
      <p:sp>
        <p:nvSpPr>
          <p:cNvPr id="251" name="Google Shape;251;p11"/>
          <p:cNvSpPr/>
          <p:nvPr/>
        </p:nvSpPr>
        <p:spPr>
          <a:xfrm>
            <a:off x="6693408" y="2834640"/>
            <a:ext cx="4892040" cy="3291840"/>
          </a:xfrm>
          <a:prstGeom prst="rect">
            <a:avLst/>
          </a:prstGeom>
          <a:noFill/>
          <a:ln>
            <a:noFill/>
          </a:ln>
        </p:spPr>
        <p:txBody>
          <a:bodyPr anchorCtr="0" anchor="t" bIns="0" lIns="0" spcFirstLastPara="1" rIns="0" wrap="square" tIns="0">
            <a:noAutofit/>
          </a:bodyPr>
          <a:lstStyle/>
          <a:p>
            <a:pPr indent="-127000" lvl="0" marL="127000" marR="0" rtl="0" algn="l">
              <a:lnSpc>
                <a:spcPct val="112000"/>
              </a:lnSpc>
              <a:spcBef>
                <a:spcPts val="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Three senders on one retainer: three audiences, three scorecards, one team and one weekly report</a:t>
            </a:r>
            <a:endParaRPr b="0" i="0" sz="1150" u="none" cap="none" strike="noStrike">
              <a:solidFill>
                <a:schemeClr val="dk1"/>
              </a:solidFill>
              <a:latin typeface="Calibri"/>
              <a:ea typeface="Calibri"/>
              <a:cs typeface="Calibri"/>
              <a:sym typeface="Calibri"/>
            </a:endParaRPr>
          </a:p>
          <a:p>
            <a:pPr indent="-127000" lvl="0" marL="127000" marR="0" rtl="0" algn="l">
              <a:lnSpc>
                <a:spcPct val="112000"/>
              </a:lnSpc>
              <a:spcBef>
                <a:spcPts val="10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Compare: investment bankers decline sub-$10M mandates; crowdfunding platforms cost 20–30% of the raise in marketing spend</a:t>
            </a:r>
            <a:endParaRPr b="0" i="0" sz="1150" u="none" cap="none" strike="noStrike">
              <a:solidFill>
                <a:schemeClr val="dk1"/>
              </a:solidFill>
              <a:latin typeface="Calibri"/>
              <a:ea typeface="Calibri"/>
              <a:cs typeface="Calibri"/>
              <a:sym typeface="Calibri"/>
            </a:endParaRPr>
          </a:p>
          <a:p>
            <a:pPr indent="-127000" lvl="0" marL="127000" marR="0" rtl="0" algn="l">
              <a:lnSpc>
                <a:spcPct val="112000"/>
              </a:lnSpc>
              <a:spcBef>
                <a:spcPts val="10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Investors screened against your $250K minimum before they reach your calendar, so your weeks go to selling in, not sourcing</a:t>
            </a:r>
            <a:endParaRPr b="0" i="0" sz="1150" u="none" cap="none" strike="noStrike">
              <a:solidFill>
                <a:schemeClr val="dk1"/>
              </a:solidFill>
              <a:latin typeface="Calibri"/>
              <a:ea typeface="Calibri"/>
              <a:cs typeface="Calibri"/>
              <a:sym typeface="Calibri"/>
            </a:endParaRPr>
          </a:p>
          <a:p>
            <a:pPr indent="-127000" lvl="0" marL="127000" marR="0" rtl="0" algn="l">
              <a:lnSpc>
                <a:spcPct val="112000"/>
              </a:lnSpc>
              <a:spcBef>
                <a:spcPts val="1000"/>
              </a:spcBef>
              <a:spcAft>
                <a:spcPts val="0"/>
              </a:spcAft>
              <a:buClr>
                <a:srgbClr val="FFFFFF"/>
              </a:buClr>
              <a:buSzPts val="1150"/>
              <a:buFont typeface="Arial"/>
              <a:buChar char="•"/>
            </a:pPr>
            <a:r>
              <a:rPr b="0" i="0" lang="en-US" sz="1150" u="none" cap="none" strike="noStrike">
                <a:solidFill>
                  <a:srgbClr val="FFFFFF"/>
                </a:solidFill>
                <a:latin typeface="Arial"/>
                <a:ea typeface="Arial"/>
                <a:cs typeface="Arial"/>
                <a:sym typeface="Arial"/>
              </a:rPr>
              <a:t>Relationships that carry forward: an investor who passes on this round may be right for the mid-tier and mass lines in your platform plan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pic>
        <p:nvPicPr>
          <p:cNvPr descr="/home/claude/brand/clean/logo_header.png" id="256" name="Google Shape;256;p12"/>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257" name="Google Shape;257;p12"/>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258" name="Google Shape;258;p12"/>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What We Are, and What We’re Not</a:t>
            </a:r>
            <a:endParaRPr b="0" i="0" sz="3800" u="none" cap="none" strike="noStrike">
              <a:solidFill>
                <a:schemeClr val="dk1"/>
              </a:solidFill>
              <a:latin typeface="Calibri"/>
              <a:ea typeface="Calibri"/>
              <a:cs typeface="Calibri"/>
              <a:sym typeface="Calibri"/>
            </a:endParaRPr>
          </a:p>
        </p:txBody>
      </p:sp>
      <p:sp>
        <p:nvSpPr>
          <p:cNvPr id="259" name="Google Shape;259;p12"/>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THE COMPLIANCE QUESTION, ANSWERED UP FRONT</a:t>
            </a:r>
            <a:endParaRPr b="0" i="0" sz="1400" u="none" cap="none" strike="noStrike">
              <a:solidFill>
                <a:schemeClr val="dk1"/>
              </a:solidFill>
              <a:latin typeface="Calibri"/>
              <a:ea typeface="Calibri"/>
              <a:cs typeface="Calibri"/>
              <a:sym typeface="Calibri"/>
            </a:endParaRPr>
          </a:p>
        </p:txBody>
      </p:sp>
      <p:sp>
        <p:nvSpPr>
          <p:cNvPr id="260" name="Google Shape;260;p12"/>
          <p:cNvSpPr/>
          <p:nvPr/>
        </p:nvSpPr>
        <p:spPr>
          <a:xfrm>
            <a:off x="566928" y="2240280"/>
            <a:ext cx="3593592" cy="329184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p:nvPr/>
        </p:nvSpPr>
        <p:spPr>
          <a:xfrm>
            <a:off x="795528" y="2468880"/>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WHAT WE ARE</a:t>
            </a:r>
            <a:endParaRPr b="0" i="0" sz="1400" u="none" cap="none" strike="noStrike">
              <a:solidFill>
                <a:schemeClr val="dk1"/>
              </a:solidFill>
              <a:latin typeface="Calibri"/>
              <a:ea typeface="Calibri"/>
              <a:cs typeface="Calibri"/>
              <a:sym typeface="Calibri"/>
            </a:endParaRPr>
          </a:p>
        </p:txBody>
      </p:sp>
      <p:sp>
        <p:nvSpPr>
          <p:cNvPr id="262" name="Google Shape;262;p12"/>
          <p:cNvSpPr/>
          <p:nvPr/>
        </p:nvSpPr>
        <p:spPr>
          <a:xfrm>
            <a:off x="795528" y="2880360"/>
            <a:ext cx="3136392" cy="2514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 digital media and investor-relations firm. We build and run LinkedIn outreach in your name, qualify the responses, and put pre-vetted investor conversations on your calendar. Flat monthly fee, nothing else.</a:t>
            </a:r>
            <a:endParaRPr b="0" i="0" sz="1200" u="none" cap="none" strike="noStrike">
              <a:solidFill>
                <a:schemeClr val="dk1"/>
              </a:solidFill>
              <a:latin typeface="Calibri"/>
              <a:ea typeface="Calibri"/>
              <a:cs typeface="Calibri"/>
              <a:sym typeface="Calibri"/>
            </a:endParaRPr>
          </a:p>
        </p:txBody>
      </p:sp>
      <p:sp>
        <p:nvSpPr>
          <p:cNvPr id="263" name="Google Shape;263;p12"/>
          <p:cNvSpPr/>
          <p:nvPr/>
        </p:nvSpPr>
        <p:spPr>
          <a:xfrm>
            <a:off x="4434840" y="2240280"/>
            <a:ext cx="3593592" cy="329184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p:nvPr/>
        </p:nvSpPr>
        <p:spPr>
          <a:xfrm>
            <a:off x="4663440" y="2468880"/>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WHAT WE ARE NOT</a:t>
            </a:r>
            <a:endParaRPr b="0" i="0" sz="1400" u="none" cap="none" strike="noStrike">
              <a:solidFill>
                <a:schemeClr val="dk1"/>
              </a:solidFill>
              <a:latin typeface="Calibri"/>
              <a:ea typeface="Calibri"/>
              <a:cs typeface="Calibri"/>
              <a:sym typeface="Calibri"/>
            </a:endParaRPr>
          </a:p>
        </p:txBody>
      </p:sp>
      <p:sp>
        <p:nvSpPr>
          <p:cNvPr id="265" name="Google Shape;265;p12"/>
          <p:cNvSpPr/>
          <p:nvPr/>
        </p:nvSpPr>
        <p:spPr>
          <a:xfrm>
            <a:off x="4663440" y="2880360"/>
            <a:ext cx="3136392" cy="2514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Not a broker-dealer, placement agent or finder. We don’t negotiate terms, don’t take a success fee or commission, don’t touch the transaction, and don’t raise the capital. You run the conversation and you close.</a:t>
            </a:r>
            <a:endParaRPr b="0" i="0" sz="1200" u="none" cap="none" strike="noStrike">
              <a:solidFill>
                <a:schemeClr val="dk1"/>
              </a:solidFill>
              <a:latin typeface="Calibri"/>
              <a:ea typeface="Calibri"/>
              <a:cs typeface="Calibri"/>
              <a:sym typeface="Calibri"/>
            </a:endParaRPr>
          </a:p>
        </p:txBody>
      </p:sp>
      <p:sp>
        <p:nvSpPr>
          <p:cNvPr id="266" name="Google Shape;266;p12"/>
          <p:cNvSpPr/>
          <p:nvPr/>
        </p:nvSpPr>
        <p:spPr>
          <a:xfrm>
            <a:off x="8302752" y="2240280"/>
            <a:ext cx="3593592" cy="329184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8531352" y="2468880"/>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STAYING COMPLIANT</a:t>
            </a:r>
            <a:endParaRPr b="0" i="0" sz="1400" u="none" cap="none" strike="noStrike">
              <a:solidFill>
                <a:schemeClr val="dk1"/>
              </a:solidFill>
              <a:latin typeface="Calibri"/>
              <a:ea typeface="Calibri"/>
              <a:cs typeface="Calibri"/>
              <a:sym typeface="Calibri"/>
            </a:endParaRPr>
          </a:p>
        </p:txBody>
      </p:sp>
      <p:sp>
        <p:nvSpPr>
          <p:cNvPr id="268" name="Google Shape;268;p12"/>
          <p:cNvSpPr/>
          <p:nvPr/>
        </p:nvSpPr>
        <p:spPr>
          <a:xfrm>
            <a:off x="8531352" y="2880360"/>
            <a:ext cx="3136392" cy="2514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Early messages are relationship-first and high-level: no deal terms, no structure, no forecasts. Collateral only once interest is real, and you are the first to share a full deck. Every script is approved by you before it goes out.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2" name="Shape 272"/>
        <p:cNvGrpSpPr/>
        <p:nvPr/>
      </p:nvGrpSpPr>
      <p:grpSpPr>
        <a:xfrm>
          <a:off x="0" y="0"/>
          <a:ext cx="0" cy="0"/>
          <a:chOff x="0" y="0"/>
          <a:chExt cx="0" cy="0"/>
        </a:xfrm>
      </p:grpSpPr>
      <p:pic>
        <p:nvPicPr>
          <p:cNvPr descr="/home/claude/brand/clean/logo_header.png" id="273" name="Google Shape;273;p13"/>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274" name="Google Shape;274;p13"/>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275" name="Google Shape;275;p13"/>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Your Team</a:t>
            </a:r>
            <a:endParaRPr b="0" i="0" sz="3800" u="none" cap="none" strike="noStrike">
              <a:solidFill>
                <a:schemeClr val="dk1"/>
              </a:solidFill>
              <a:latin typeface="Calibri"/>
              <a:ea typeface="Calibri"/>
              <a:cs typeface="Calibri"/>
              <a:sym typeface="Calibri"/>
            </a:endParaRPr>
          </a:p>
        </p:txBody>
      </p:sp>
      <p:sp>
        <p:nvSpPr>
          <p:cNvPr id="276" name="Google Shape;276;p13"/>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WHO YOU WILL ACTUALLY BE WORKING WITH</a:t>
            </a:r>
            <a:endParaRPr b="0" i="0" sz="1400" u="none" cap="none" strike="noStrike">
              <a:solidFill>
                <a:schemeClr val="dk1"/>
              </a:solidFill>
              <a:latin typeface="Calibri"/>
              <a:ea typeface="Calibri"/>
              <a:cs typeface="Calibri"/>
              <a:sym typeface="Calibri"/>
            </a:endParaRPr>
          </a:p>
        </p:txBody>
      </p:sp>
      <p:sp>
        <p:nvSpPr>
          <p:cNvPr id="277" name="Google Shape;277;p13"/>
          <p:cNvSpPr/>
          <p:nvPr/>
        </p:nvSpPr>
        <p:spPr>
          <a:xfrm>
            <a:off x="566928"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
          <p:cNvSpPr/>
          <p:nvPr/>
        </p:nvSpPr>
        <p:spPr>
          <a:xfrm>
            <a:off x="795528"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FREIZLE ABARRIENTOS</a:t>
            </a:r>
            <a:endParaRPr b="0" i="0" sz="1400" u="none" cap="none" strike="noStrike">
              <a:solidFill>
                <a:schemeClr val="dk1"/>
              </a:solidFill>
              <a:latin typeface="Calibri"/>
              <a:ea typeface="Calibri"/>
              <a:cs typeface="Calibri"/>
              <a:sym typeface="Calibri"/>
            </a:endParaRPr>
          </a:p>
        </p:txBody>
      </p:sp>
      <p:sp>
        <p:nvSpPr>
          <p:cNvPr id="279" name="Google Shape;279;p13"/>
          <p:cNvSpPr/>
          <p:nvPr/>
        </p:nvSpPr>
        <p:spPr>
          <a:xfrm>
            <a:off x="795528"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Chief Operating Officer. Two decades across operations, business development, investor relations and client services; oversees ThinkFISH’s daily operations. Leads strategy and the ICP design, and joins your monthly strategy calls.</a:t>
            </a:r>
            <a:endParaRPr b="0" i="0" sz="1100" u="none" cap="none" strike="noStrike">
              <a:solidFill>
                <a:schemeClr val="dk1"/>
              </a:solidFill>
              <a:latin typeface="Calibri"/>
              <a:ea typeface="Calibri"/>
              <a:cs typeface="Calibri"/>
              <a:sym typeface="Calibri"/>
            </a:endParaRPr>
          </a:p>
        </p:txBody>
      </p:sp>
      <p:sp>
        <p:nvSpPr>
          <p:cNvPr id="280" name="Google Shape;280;p13"/>
          <p:cNvSpPr/>
          <p:nvPr/>
        </p:nvSpPr>
        <p:spPr>
          <a:xfrm>
            <a:off x="4434840"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3"/>
          <p:cNvSpPr/>
          <p:nvPr/>
        </p:nvSpPr>
        <p:spPr>
          <a:xfrm>
            <a:off x="4663440"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SAMANTHA COWPER</a:t>
            </a:r>
            <a:endParaRPr b="0" i="0" sz="1400" u="none" cap="none" strike="noStrike">
              <a:solidFill>
                <a:schemeClr val="dk1"/>
              </a:solidFill>
              <a:latin typeface="Calibri"/>
              <a:ea typeface="Calibri"/>
              <a:cs typeface="Calibri"/>
              <a:sym typeface="Calibri"/>
            </a:endParaRPr>
          </a:p>
        </p:txBody>
      </p:sp>
      <p:sp>
        <p:nvSpPr>
          <p:cNvPr id="282" name="Google Shape;282;p13"/>
          <p:cNvSpPr/>
          <p:nvPr/>
        </p:nvSpPr>
        <p:spPr>
          <a:xfrm>
            <a:off x="4663440"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Onboarding Manager. Runs your first two weeks: the onboarding interviews with Brian and Maria, profile optimization, the ICP and audiences, and script approval, so the campaign launches on time and in your voice.</a:t>
            </a:r>
            <a:endParaRPr b="0" i="0" sz="1100" u="none" cap="none" strike="noStrike">
              <a:solidFill>
                <a:schemeClr val="dk1"/>
              </a:solidFill>
              <a:latin typeface="Calibri"/>
              <a:ea typeface="Calibri"/>
              <a:cs typeface="Calibri"/>
              <a:sym typeface="Calibri"/>
            </a:endParaRPr>
          </a:p>
        </p:txBody>
      </p:sp>
      <p:sp>
        <p:nvSpPr>
          <p:cNvPr id="283" name="Google Shape;283;p13"/>
          <p:cNvSpPr/>
          <p:nvPr/>
        </p:nvSpPr>
        <p:spPr>
          <a:xfrm>
            <a:off x="8302752" y="2121408"/>
            <a:ext cx="3593592" cy="2331720"/>
          </a:xfrm>
          <a:prstGeom prst="roundRect">
            <a:avLst>
              <a:gd fmla="val 3529"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8531352" y="2304288"/>
            <a:ext cx="313639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MYRA GRAMA</a:t>
            </a:r>
            <a:endParaRPr b="0" i="0" sz="1400" u="none" cap="none" strike="noStrike">
              <a:solidFill>
                <a:schemeClr val="dk1"/>
              </a:solidFill>
              <a:latin typeface="Calibri"/>
              <a:ea typeface="Calibri"/>
              <a:cs typeface="Calibri"/>
              <a:sym typeface="Calibri"/>
            </a:endParaRPr>
          </a:p>
        </p:txBody>
      </p:sp>
      <p:sp>
        <p:nvSpPr>
          <p:cNvPr id="285" name="Google Shape;285;p13"/>
          <p:cNvSpPr/>
          <p:nvPr/>
        </p:nvSpPr>
        <p:spPr>
          <a:xfrm>
            <a:off x="8531352" y="2651760"/>
            <a:ext cx="3136392" cy="160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Arial"/>
              <a:buNone/>
            </a:pPr>
            <a:r>
              <a:rPr b="0" i="0" lang="en-US" sz="1100" u="none" cap="none" strike="noStrike">
                <a:solidFill>
                  <a:srgbClr val="FFFFFF"/>
                </a:solidFill>
                <a:latin typeface="Arial"/>
                <a:ea typeface="Arial"/>
                <a:cs typeface="Arial"/>
                <a:sym typeface="Arial"/>
              </a:rPr>
              <a:t>Account Director. Owns the relationship from launch onward: campaign performance, the weekly report, the monthly strategy call, and the escalation point if anything needs a pivot.</a:t>
            </a:r>
            <a:endParaRPr b="0" i="0" sz="1100" u="none" cap="none" strike="noStrike">
              <a:solidFill>
                <a:schemeClr val="dk1"/>
              </a:solidFill>
              <a:latin typeface="Calibri"/>
              <a:ea typeface="Calibri"/>
              <a:cs typeface="Calibri"/>
              <a:sym typeface="Calibri"/>
            </a:endParaRPr>
          </a:p>
        </p:txBody>
      </p:sp>
      <p:sp>
        <p:nvSpPr>
          <p:cNvPr id="286" name="Google Shape;286;p13"/>
          <p:cNvSpPr/>
          <p:nvPr/>
        </p:nvSpPr>
        <p:spPr>
          <a:xfrm>
            <a:off x="566928" y="4663440"/>
            <a:ext cx="11338560" cy="1691640"/>
          </a:xfrm>
          <a:prstGeom prst="roundRect">
            <a:avLst>
              <a:gd fmla="val 4865"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3"/>
          <p:cNvSpPr/>
          <p:nvPr/>
        </p:nvSpPr>
        <p:spPr>
          <a:xfrm>
            <a:off x="795528" y="4828032"/>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400"/>
              <a:buFont typeface="Arial"/>
              <a:buNone/>
            </a:pPr>
            <a:r>
              <a:rPr b="1" i="0" lang="en-US" sz="1400" u="none" cap="none" strike="noStrike">
                <a:solidFill>
                  <a:srgbClr val="7C6CFF"/>
                </a:solidFill>
                <a:latin typeface="Arial"/>
                <a:ea typeface="Arial"/>
                <a:cs typeface="Arial"/>
                <a:sym typeface="Arial"/>
              </a:rPr>
              <a:t>YOUR DEDICATED ACCOUNT MANAGER</a:t>
            </a:r>
            <a:endParaRPr b="0" i="0" sz="1400" u="none" cap="none" strike="noStrike">
              <a:solidFill>
                <a:schemeClr val="dk1"/>
              </a:solidFill>
              <a:latin typeface="Calibri"/>
              <a:ea typeface="Calibri"/>
              <a:cs typeface="Calibri"/>
              <a:sym typeface="Calibri"/>
            </a:endParaRPr>
          </a:p>
        </p:txBody>
      </p:sp>
      <p:sp>
        <p:nvSpPr>
          <p:cNvPr id="288" name="Google Shape;288;p13"/>
          <p:cNvSpPr/>
          <p:nvPr/>
        </p:nvSpPr>
        <p:spPr>
          <a:xfrm>
            <a:off x="795528" y="5175504"/>
            <a:ext cx="10881360" cy="10515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1250"/>
              <a:buFont typeface="Arial"/>
              <a:buNone/>
            </a:pPr>
            <a:r>
              <a:rPr b="0" i="0" lang="en-US" sz="1250" u="none" cap="none" strike="noStrike">
                <a:solidFill>
                  <a:srgbClr val="FFFFFF"/>
                </a:solidFill>
                <a:latin typeface="Arial"/>
                <a:ea typeface="Arial"/>
                <a:cs typeface="Arial"/>
                <a:sym typeface="Arial"/>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2" name="Shape 292"/>
        <p:cNvGrpSpPr/>
        <p:nvPr/>
      </p:nvGrpSpPr>
      <p:grpSpPr>
        <a:xfrm>
          <a:off x="0" y="0"/>
          <a:ext cx="0" cy="0"/>
          <a:chOff x="0" y="0"/>
          <a:chExt cx="0" cy="0"/>
        </a:xfrm>
      </p:grpSpPr>
      <p:pic>
        <p:nvPicPr>
          <p:cNvPr descr="/home/claude/brand/clean/logo_header.png" id="293" name="Google Shape;293;p15"/>
          <p:cNvPicPr preferRelativeResize="0"/>
          <p:nvPr/>
        </p:nvPicPr>
        <p:blipFill rotWithShape="1">
          <a:blip r:embed="rId4">
            <a:alphaModFix/>
          </a:blip>
          <a:srcRect b="0" l="0" r="0" t="0"/>
          <a:stretch/>
        </p:blipFill>
        <p:spPr>
          <a:xfrm>
            <a:off x="411480" y="164592"/>
            <a:ext cx="850392" cy="530352"/>
          </a:xfrm>
          <a:prstGeom prst="rect">
            <a:avLst/>
          </a:prstGeom>
          <a:noFill/>
          <a:ln>
            <a:noFill/>
          </a:ln>
        </p:spPr>
      </p:pic>
      <p:sp>
        <p:nvSpPr>
          <p:cNvPr id="294" name="Google Shape;294;p15"/>
          <p:cNvSpPr/>
          <p:nvPr/>
        </p:nvSpPr>
        <p:spPr>
          <a:xfrm>
            <a:off x="1417320" y="201168"/>
            <a:ext cx="411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0" i="0" lang="en-US" sz="1300" u="none" cap="none" strike="noStrike">
                <a:solidFill>
                  <a:srgbClr val="FFFFFF"/>
                </a:solidFill>
                <a:latin typeface="Arial"/>
                <a:ea typeface="Arial"/>
                <a:cs typeface="Arial"/>
                <a:sym typeface="Arial"/>
              </a:rPr>
              <a:t>THINKFISH LLC 2026</a:t>
            </a:r>
            <a:endParaRPr b="0" i="0" sz="1300" u="none" cap="none" strike="noStrike">
              <a:solidFill>
                <a:schemeClr val="dk1"/>
              </a:solidFill>
              <a:latin typeface="Calibri"/>
              <a:ea typeface="Calibri"/>
              <a:cs typeface="Calibri"/>
              <a:sym typeface="Calibri"/>
            </a:endParaRPr>
          </a:p>
        </p:txBody>
      </p:sp>
      <p:sp>
        <p:nvSpPr>
          <p:cNvPr id="295" name="Google Shape;295;p15"/>
          <p:cNvSpPr/>
          <p:nvPr/>
        </p:nvSpPr>
        <p:spPr>
          <a:xfrm>
            <a:off x="566928" y="868680"/>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Arial"/>
              <a:buNone/>
            </a:pPr>
            <a:r>
              <a:rPr b="1" i="0" lang="en-US" sz="3800" u="none" cap="none" strike="noStrike">
                <a:solidFill>
                  <a:srgbClr val="FFFFFF"/>
                </a:solidFill>
                <a:latin typeface="Arial"/>
                <a:ea typeface="Arial"/>
                <a:cs typeface="Arial"/>
                <a:sym typeface="Arial"/>
              </a:rPr>
              <a:t>Deliverables</a:t>
            </a:r>
            <a:endParaRPr b="0" i="0" sz="3800" u="none" cap="none" strike="noStrike">
              <a:solidFill>
                <a:schemeClr val="dk1"/>
              </a:solidFill>
              <a:latin typeface="Calibri"/>
              <a:ea typeface="Calibri"/>
              <a:cs typeface="Calibri"/>
              <a:sym typeface="Calibri"/>
            </a:endParaRPr>
          </a:p>
        </p:txBody>
      </p:sp>
      <p:sp>
        <p:nvSpPr>
          <p:cNvPr id="296" name="Google Shape;296;p15"/>
          <p:cNvSpPr/>
          <p:nvPr/>
        </p:nvSpPr>
        <p:spPr>
          <a:xfrm>
            <a:off x="594360" y="1481328"/>
            <a:ext cx="11155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400"/>
              <a:buFont typeface="Arial"/>
              <a:buNone/>
            </a:pPr>
            <a:r>
              <a:rPr b="1" i="0" lang="en-US" sz="1400" u="none" cap="none" strike="noStrike">
                <a:solidFill>
                  <a:srgbClr val="43D5FF"/>
                </a:solidFill>
                <a:latin typeface="Arial"/>
                <a:ea typeface="Arial"/>
                <a:cs typeface="Arial"/>
                <a:sym typeface="Arial"/>
              </a:rPr>
              <a:t>APPENDIX  ·  THE ENGINE BEHIND THE MEETINGS</a:t>
            </a:r>
            <a:endParaRPr b="0" i="0" sz="1400" u="none" cap="none" strike="noStrike">
              <a:solidFill>
                <a:schemeClr val="dk1"/>
              </a:solidFill>
              <a:latin typeface="Calibri"/>
              <a:ea typeface="Calibri"/>
              <a:cs typeface="Calibri"/>
              <a:sym typeface="Calibri"/>
            </a:endParaRPr>
          </a:p>
        </p:txBody>
      </p:sp>
      <p:sp>
        <p:nvSpPr>
          <p:cNvPr id="297" name="Google Shape;297;p15"/>
          <p:cNvSpPr/>
          <p:nvPr/>
        </p:nvSpPr>
        <p:spPr>
          <a:xfrm>
            <a:off x="566928" y="2103120"/>
            <a:ext cx="3593592" cy="2514600"/>
          </a:xfrm>
          <a:prstGeom prst="roundRect">
            <a:avLst>
              <a:gd fmla="val 3273"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795528" y="2286000"/>
            <a:ext cx="31363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LINKEDIN OUTREACH</a:t>
            </a:r>
            <a:endParaRPr b="0" i="0" sz="1250" u="none" cap="none" strike="noStrike">
              <a:solidFill>
                <a:schemeClr val="dk1"/>
              </a:solidFill>
              <a:latin typeface="Calibri"/>
              <a:ea typeface="Calibri"/>
              <a:cs typeface="Calibri"/>
              <a:sym typeface="Calibri"/>
            </a:endParaRPr>
          </a:p>
        </p:txBody>
      </p:sp>
      <p:sp>
        <p:nvSpPr>
          <p:cNvPr id="299" name="Google Shape;299;p15"/>
          <p:cNvSpPr/>
          <p:nvPr/>
        </p:nvSpPr>
        <p:spPr>
          <a:xfrm>
            <a:off x="795528" y="2560320"/>
            <a:ext cx="313639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lang="en-US" sz="4400">
                <a:solidFill>
                  <a:srgbClr val="FFFFFF"/>
                </a:solidFill>
              </a:rPr>
              <a:t>4,8</a:t>
            </a:r>
            <a:r>
              <a:rPr b="1" i="0" lang="en-US" sz="4400" u="none" cap="none" strike="noStrike">
                <a:solidFill>
                  <a:srgbClr val="FFFFFF"/>
                </a:solidFill>
                <a:latin typeface="Arial"/>
                <a:ea typeface="Arial"/>
                <a:cs typeface="Arial"/>
                <a:sym typeface="Arial"/>
              </a:rPr>
              <a:t>00+</a:t>
            </a:r>
            <a:endParaRPr b="0" i="0" sz="4400" u="none" cap="none" strike="noStrike">
              <a:solidFill>
                <a:schemeClr val="dk1"/>
              </a:solidFill>
              <a:latin typeface="Calibri"/>
              <a:ea typeface="Calibri"/>
              <a:cs typeface="Calibri"/>
              <a:sym typeface="Calibri"/>
            </a:endParaRPr>
          </a:p>
        </p:txBody>
      </p:sp>
      <p:sp>
        <p:nvSpPr>
          <p:cNvPr id="300" name="Google Shape;300;p15"/>
          <p:cNvSpPr/>
          <p:nvPr/>
        </p:nvSpPr>
        <p:spPr>
          <a:xfrm>
            <a:off x="795528" y="3255264"/>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DC"/>
              </a:buClr>
              <a:buSzPts val="1100"/>
              <a:buFont typeface="Arial"/>
              <a:buNone/>
            </a:pPr>
            <a:r>
              <a:rPr b="0" i="0" lang="en-US" sz="1100" u="none" cap="none" strike="noStrike">
                <a:solidFill>
                  <a:srgbClr val="B9BEDC"/>
                </a:solidFill>
                <a:latin typeface="Arial"/>
                <a:ea typeface="Arial"/>
                <a:cs typeface="Arial"/>
                <a:sym typeface="Arial"/>
              </a:rPr>
              <a:t>LinkedIn touches / month, three profiles</a:t>
            </a:r>
            <a:endParaRPr b="0" i="0" sz="1100" u="none" cap="none" strike="noStrike">
              <a:solidFill>
                <a:schemeClr val="dk1"/>
              </a:solidFill>
              <a:latin typeface="Calibri"/>
              <a:ea typeface="Calibri"/>
              <a:cs typeface="Calibri"/>
              <a:sym typeface="Calibri"/>
            </a:endParaRPr>
          </a:p>
        </p:txBody>
      </p:sp>
      <p:sp>
        <p:nvSpPr>
          <p:cNvPr id="301" name="Google Shape;301;p15"/>
          <p:cNvSpPr/>
          <p:nvPr/>
        </p:nvSpPr>
        <p:spPr>
          <a:xfrm>
            <a:off x="795528" y="3566160"/>
            <a:ext cx="3136392" cy="8686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600–800 InMails and 600–800 connection invites per profile every month, from Brian’s, Maria’s and Rain’s accounts, in your voice, once fully warmed up. Every InMail credit in your Sales Navigator plans gets used.</a:t>
            </a:r>
            <a:endParaRPr b="0" i="0" sz="1050" u="none" cap="none" strike="noStrike">
              <a:solidFill>
                <a:schemeClr val="dk1"/>
              </a:solidFill>
              <a:latin typeface="Calibri"/>
              <a:ea typeface="Calibri"/>
              <a:cs typeface="Calibri"/>
              <a:sym typeface="Calibri"/>
            </a:endParaRPr>
          </a:p>
        </p:txBody>
      </p:sp>
      <p:sp>
        <p:nvSpPr>
          <p:cNvPr id="302" name="Google Shape;302;p15"/>
          <p:cNvSpPr/>
          <p:nvPr/>
        </p:nvSpPr>
        <p:spPr>
          <a:xfrm>
            <a:off x="4434840" y="2103120"/>
            <a:ext cx="3593592" cy="2514600"/>
          </a:xfrm>
          <a:prstGeom prst="roundRect">
            <a:avLst>
              <a:gd fmla="val 3273"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4663440" y="2286000"/>
            <a:ext cx="31363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THE REEF</a:t>
            </a:r>
            <a:endParaRPr b="0" i="0" sz="1250" u="none" cap="none" strike="noStrike">
              <a:solidFill>
                <a:schemeClr val="dk1"/>
              </a:solidFill>
              <a:latin typeface="Calibri"/>
              <a:ea typeface="Calibri"/>
              <a:cs typeface="Calibri"/>
              <a:sym typeface="Calibri"/>
            </a:endParaRPr>
          </a:p>
        </p:txBody>
      </p:sp>
      <p:sp>
        <p:nvSpPr>
          <p:cNvPr id="304" name="Google Shape;304;p15"/>
          <p:cNvSpPr/>
          <p:nvPr/>
        </p:nvSpPr>
        <p:spPr>
          <a:xfrm>
            <a:off x="4663440" y="2560320"/>
            <a:ext cx="313639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1</a:t>
            </a:r>
            <a:r>
              <a:rPr b="1" lang="en-US" sz="4400">
                <a:solidFill>
                  <a:srgbClr val="FFFFFF"/>
                </a:solidFill>
              </a:rPr>
              <a:t>2</a:t>
            </a:r>
            <a:r>
              <a:rPr b="1" i="0" lang="en-US" sz="4400" u="none" cap="none" strike="noStrike">
                <a:solidFill>
                  <a:srgbClr val="FFFFFF"/>
                </a:solidFill>
                <a:latin typeface="Arial"/>
                <a:ea typeface="Arial"/>
                <a:cs typeface="Arial"/>
                <a:sym typeface="Arial"/>
              </a:rPr>
              <a:t>k+</a:t>
            </a:r>
            <a:endParaRPr b="0" i="0" sz="4400" u="none" cap="none" strike="noStrike">
              <a:solidFill>
                <a:schemeClr val="dk1"/>
              </a:solidFill>
              <a:latin typeface="Calibri"/>
              <a:ea typeface="Calibri"/>
              <a:cs typeface="Calibri"/>
              <a:sym typeface="Calibri"/>
            </a:endParaRPr>
          </a:p>
        </p:txBody>
      </p:sp>
      <p:sp>
        <p:nvSpPr>
          <p:cNvPr id="305" name="Google Shape;305;p15"/>
          <p:cNvSpPr/>
          <p:nvPr/>
        </p:nvSpPr>
        <p:spPr>
          <a:xfrm>
            <a:off x="4663440" y="3255264"/>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DC"/>
              </a:buClr>
              <a:buSzPts val="1100"/>
              <a:buFont typeface="Arial"/>
              <a:buNone/>
            </a:pPr>
            <a:r>
              <a:rPr b="0" i="0" lang="en-US" sz="1100" u="none" cap="none" strike="noStrike">
                <a:solidFill>
                  <a:srgbClr val="B9BEDC"/>
                </a:solidFill>
                <a:latin typeface="Arial"/>
                <a:ea typeface="Arial"/>
                <a:cs typeface="Arial"/>
                <a:sym typeface="Arial"/>
              </a:rPr>
              <a:t>curated investor network</a:t>
            </a:r>
            <a:endParaRPr b="0" i="0" sz="1100" u="none" cap="none" strike="noStrike">
              <a:solidFill>
                <a:schemeClr val="dk1"/>
              </a:solidFill>
              <a:latin typeface="Calibri"/>
              <a:ea typeface="Calibri"/>
              <a:cs typeface="Calibri"/>
              <a:sym typeface="Calibri"/>
            </a:endParaRPr>
          </a:p>
        </p:txBody>
      </p:sp>
      <p:sp>
        <p:nvSpPr>
          <p:cNvPr id="306" name="Google Shape;306;p15"/>
          <p:cNvSpPr/>
          <p:nvPr/>
        </p:nvSpPr>
        <p:spPr>
          <a:xfrm>
            <a:off x="4663440" y="3566160"/>
            <a:ext cx="3136392" cy="8686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Our internal network of opt-in investors actively seeking deal flow, retargeted with your raise.</a:t>
            </a:r>
            <a:endParaRPr b="0" i="0" sz="1050" u="none" cap="none" strike="noStrike">
              <a:solidFill>
                <a:schemeClr val="dk1"/>
              </a:solidFill>
              <a:latin typeface="Calibri"/>
              <a:ea typeface="Calibri"/>
              <a:cs typeface="Calibri"/>
              <a:sym typeface="Calibri"/>
            </a:endParaRPr>
          </a:p>
        </p:txBody>
      </p:sp>
      <p:sp>
        <p:nvSpPr>
          <p:cNvPr id="307" name="Google Shape;307;p15"/>
          <p:cNvSpPr/>
          <p:nvPr/>
        </p:nvSpPr>
        <p:spPr>
          <a:xfrm>
            <a:off x="8302752" y="2103120"/>
            <a:ext cx="3593592" cy="2514600"/>
          </a:xfrm>
          <a:prstGeom prst="roundRect">
            <a:avLst>
              <a:gd fmla="val 3273"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8531352" y="2286000"/>
            <a:ext cx="31363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D5FF"/>
              </a:buClr>
              <a:buSzPts val="1250"/>
              <a:buFont typeface="Arial"/>
              <a:buNone/>
            </a:pPr>
            <a:r>
              <a:rPr b="1" i="0" lang="en-US" sz="1250" u="none" cap="none" strike="noStrike">
                <a:solidFill>
                  <a:srgbClr val="43D5FF"/>
                </a:solidFill>
                <a:latin typeface="Arial"/>
                <a:ea typeface="Arial"/>
                <a:cs typeface="Arial"/>
                <a:sym typeface="Arial"/>
              </a:rPr>
              <a:t>STARTUP DEAL DESK</a:t>
            </a:r>
            <a:endParaRPr b="0" i="0" sz="1250" u="none" cap="none" strike="noStrike">
              <a:solidFill>
                <a:schemeClr val="dk1"/>
              </a:solidFill>
              <a:latin typeface="Calibri"/>
              <a:ea typeface="Calibri"/>
              <a:cs typeface="Calibri"/>
              <a:sym typeface="Calibri"/>
            </a:endParaRPr>
          </a:p>
        </p:txBody>
      </p:sp>
      <p:sp>
        <p:nvSpPr>
          <p:cNvPr id="309" name="Google Shape;309;p15"/>
          <p:cNvSpPr/>
          <p:nvPr/>
        </p:nvSpPr>
        <p:spPr>
          <a:xfrm>
            <a:off x="8531352" y="2560320"/>
            <a:ext cx="313639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84k+</a:t>
            </a:r>
            <a:endParaRPr b="0" i="0" sz="4400" u="none" cap="none" strike="noStrike">
              <a:solidFill>
                <a:schemeClr val="dk1"/>
              </a:solidFill>
              <a:latin typeface="Calibri"/>
              <a:ea typeface="Calibri"/>
              <a:cs typeface="Calibri"/>
              <a:sym typeface="Calibri"/>
            </a:endParaRPr>
          </a:p>
        </p:txBody>
      </p:sp>
      <p:sp>
        <p:nvSpPr>
          <p:cNvPr id="310" name="Google Shape;310;p15"/>
          <p:cNvSpPr/>
          <p:nvPr/>
        </p:nvSpPr>
        <p:spPr>
          <a:xfrm>
            <a:off x="8531352" y="3255264"/>
            <a:ext cx="313639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BEDC"/>
              </a:buClr>
              <a:buSzPts val="1100"/>
              <a:buFont typeface="Arial"/>
              <a:buNone/>
            </a:pPr>
            <a:r>
              <a:rPr b="0" i="0" lang="en-US" sz="1100" u="none" cap="none" strike="noStrike">
                <a:solidFill>
                  <a:srgbClr val="B9BEDC"/>
                </a:solidFill>
                <a:latin typeface="Arial"/>
                <a:ea typeface="Arial"/>
                <a:cs typeface="Arial"/>
                <a:sym typeface="Arial"/>
              </a:rPr>
              <a:t>investor subscribers</a:t>
            </a:r>
            <a:endParaRPr b="0" i="0" sz="1100" u="none" cap="none" strike="noStrike">
              <a:solidFill>
                <a:schemeClr val="dk1"/>
              </a:solidFill>
              <a:latin typeface="Calibri"/>
              <a:ea typeface="Calibri"/>
              <a:cs typeface="Calibri"/>
              <a:sym typeface="Calibri"/>
            </a:endParaRPr>
          </a:p>
        </p:txBody>
      </p:sp>
      <p:sp>
        <p:nvSpPr>
          <p:cNvPr id="311" name="Google Shape;311;p15"/>
          <p:cNvSpPr/>
          <p:nvPr/>
        </p:nvSpPr>
        <p:spPr>
          <a:xfrm>
            <a:off x="8531352" y="3566160"/>
            <a:ext cx="3136392" cy="8686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Your company featured in our investor newsletter, putting your raise in front of capital allocators at scale.</a:t>
            </a:r>
            <a:endParaRPr b="0" i="0" sz="1050" u="none" cap="none" strike="noStrike">
              <a:solidFill>
                <a:schemeClr val="dk1"/>
              </a:solidFill>
              <a:latin typeface="Calibri"/>
              <a:ea typeface="Calibri"/>
              <a:cs typeface="Calibri"/>
              <a:sym typeface="Calibri"/>
            </a:endParaRPr>
          </a:p>
        </p:txBody>
      </p:sp>
      <p:sp>
        <p:nvSpPr>
          <p:cNvPr id="312" name="Google Shape;312;p15"/>
          <p:cNvSpPr/>
          <p:nvPr/>
        </p:nvSpPr>
        <p:spPr>
          <a:xfrm>
            <a:off x="566928" y="4846320"/>
            <a:ext cx="11338560" cy="1463040"/>
          </a:xfrm>
          <a:prstGeom prst="roundRect">
            <a:avLst>
              <a:gd fmla="val 5625" name="adj"/>
            </a:avLst>
          </a:prstGeom>
          <a:solidFill>
            <a:srgbClr val="0D0D26">
              <a:alpha val="54902"/>
            </a:srgbClr>
          </a:solidFill>
          <a:ln cap="flat" cmpd="sng" w="9525">
            <a:solidFill>
              <a:srgbClr val="31316A">
                <a:alpha val="7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795528" y="501091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6CFF"/>
              </a:buClr>
              <a:buSzPts val="1200"/>
              <a:buFont typeface="Arial"/>
              <a:buNone/>
            </a:pPr>
            <a:r>
              <a:rPr b="1" i="0" lang="en-US" sz="1200" u="none" cap="none" strike="noStrike">
                <a:solidFill>
                  <a:srgbClr val="7C6CFF"/>
                </a:solidFill>
                <a:latin typeface="Arial"/>
                <a:ea typeface="Arial"/>
                <a:cs typeface="Arial"/>
                <a:sym typeface="Arial"/>
              </a:rPr>
              <a:t>FULLY MANAGED, END TO END</a:t>
            </a:r>
            <a:endParaRPr b="0" i="0" sz="1200" u="none" cap="none" strike="noStrike">
              <a:solidFill>
                <a:schemeClr val="dk1"/>
              </a:solidFill>
              <a:latin typeface="Calibri"/>
              <a:ea typeface="Calibri"/>
              <a:cs typeface="Calibri"/>
              <a:sym typeface="Calibri"/>
            </a:endParaRPr>
          </a:p>
        </p:txBody>
      </p:sp>
      <p:sp>
        <p:nvSpPr>
          <p:cNvPr id="314" name="Google Shape;314;p15"/>
          <p:cNvSpPr/>
          <p:nvPr/>
        </p:nvSpPr>
        <p:spPr>
          <a:xfrm>
            <a:off x="795528" y="5321808"/>
            <a:ext cx="10881360" cy="86868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2026-07-20T20:56:15Z</dcterms:created>
  <dc:creator>PptxGenJS</dc:creator>
</cp:coreProperties>
</file>